
<file path=[Content_Types].xml><?xml version="1.0" encoding="utf-8"?>
<Types xmlns="http://schemas.openxmlformats.org/package/2006/content-types">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E3F3C0-F696-4D66-AC03-8EB998D65B33}" v="16" dt="2026-04-21T01:48:26.70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10"/>
  </p:normalViewPr>
  <p:slideViewPr>
    <p:cSldViewPr snapToGrid="0" snapToObjects="1">
      <p:cViewPr varScale="1">
        <p:scale>
          <a:sx n="71" d="100"/>
          <a:sy n="71" d="100"/>
        </p:scale>
        <p:origin x="52" y="1076"/>
      </p:cViewPr>
      <p:guideLst/>
    </p:cSldViewPr>
  </p:slideViewPr>
  <p:notesTextViewPr>
    <p:cViewPr>
      <p:scale>
        <a:sx n="1" d="1"/>
        <a:sy n="1" d="1"/>
      </p:scale>
      <p:origin x="0" y="-936"/>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ntaphon Kitsanakarakat" userId="34fbd52d53948f28" providerId="LiveId" clId="{2ACBE802-F97E-4423-8328-9FB178187958}"/>
    <pc:docChg chg="modSld">
      <pc:chgData name="Kantaphon Kitsanakarakat" userId="34fbd52d53948f28" providerId="LiveId" clId="{2ACBE802-F97E-4423-8328-9FB178187958}" dt="2026-04-21T01:29:18.419" v="103" actId="20577"/>
      <pc:docMkLst>
        <pc:docMk/>
      </pc:docMkLst>
      <pc:sldChg chg="addSp modSp mod modNotesTx">
        <pc:chgData name="Kantaphon Kitsanakarakat" userId="34fbd52d53948f28" providerId="LiveId" clId="{2ACBE802-F97E-4423-8328-9FB178187958}" dt="2026-04-21T01:25:09.786" v="63" actId="34307"/>
        <pc:sldMkLst>
          <pc:docMk/>
          <pc:sldMk cId="0" sldId="256"/>
        </pc:sldMkLst>
        <pc:spChg chg="mod">
          <ac:chgData name="Kantaphon Kitsanakarakat" userId="34fbd52d53948f28" providerId="LiveId" clId="{2ACBE802-F97E-4423-8328-9FB178187958}" dt="2026-04-21T01:04:03.888" v="14" actId="20577"/>
          <ac:spMkLst>
            <pc:docMk/>
            <pc:sldMk cId="0" sldId="256"/>
            <ac:spMk id="6" creationId="{00000000-0000-0000-0000-000000000000}"/>
          </ac:spMkLst>
        </pc:spChg>
        <pc:spChg chg="mod">
          <ac:chgData name="Kantaphon Kitsanakarakat" userId="34fbd52d53948f28" providerId="LiveId" clId="{2ACBE802-F97E-4423-8328-9FB178187958}" dt="2026-04-21T01:04:36.603" v="60" actId="20577"/>
          <ac:spMkLst>
            <pc:docMk/>
            <pc:sldMk cId="0" sldId="256"/>
            <ac:spMk id="10" creationId="{00000000-0000-0000-0000-000000000000}"/>
          </ac:spMkLst>
        </pc:spChg>
        <pc:picChg chg="add mod">
          <ac:chgData name="Kantaphon Kitsanakarakat" userId="34fbd52d53948f28" providerId="LiveId" clId="{2ACBE802-F97E-4423-8328-9FB178187958}" dt="2026-04-21T01:25:09.786" v="63" actId="34307"/>
          <ac:picMkLst>
            <pc:docMk/>
            <pc:sldMk cId="0" sldId="256"/>
            <ac:picMk id="28" creationId="{7F146671-2029-65D2-2265-76B5F65D8E5F}"/>
          </ac:picMkLst>
        </pc:picChg>
      </pc:sldChg>
      <pc:sldChg chg="modNotesTx">
        <pc:chgData name="Kantaphon Kitsanakarakat" userId="34fbd52d53948f28" providerId="LiveId" clId="{2ACBE802-F97E-4423-8328-9FB178187958}" dt="2026-04-21T01:27:57.796" v="65" actId="20577"/>
        <pc:sldMkLst>
          <pc:docMk/>
          <pc:sldMk cId="0" sldId="262"/>
        </pc:sldMkLst>
      </pc:sldChg>
      <pc:sldChg chg="modNotesTx">
        <pc:chgData name="Kantaphon Kitsanakarakat" userId="34fbd52d53948f28" providerId="LiveId" clId="{2ACBE802-F97E-4423-8328-9FB178187958}" dt="2026-04-21T01:29:18.419" v="103" actId="20577"/>
        <pc:sldMkLst>
          <pc:docMk/>
          <pc:sldMk cId="0" sldId="264"/>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R²</c:v>
                </c:pt>
              </c:strCache>
            </c:strRef>
          </c:tx>
          <c:spPr>
            <a:solidFill>
              <a:srgbClr val="1976D2"/>
            </a:solidFill>
            <a:effectLst/>
          </c:spPr>
          <c:invertIfNegative val="0"/>
          <c:dPt>
            <c:idx val="0"/>
            <c:invertIfNegative val="0"/>
            <c:bubble3D val="0"/>
            <c:spPr>
              <a:solidFill>
                <a:srgbClr val="1976D2"/>
              </a:solidFill>
              <a:effectLst/>
            </c:spPr>
            <c:extLst>
              <c:ext xmlns:c16="http://schemas.microsoft.com/office/drawing/2014/chart" uri="{C3380CC4-5D6E-409C-BE32-E72D297353CC}">
                <c16:uniqueId val="{00000001-B4BA-48C9-B43D-FCC728F76AAF}"/>
              </c:ext>
            </c:extLst>
          </c:dPt>
          <c:dPt>
            <c:idx val="1"/>
            <c:invertIfNegative val="0"/>
            <c:bubble3D val="0"/>
            <c:spPr>
              <a:solidFill>
                <a:srgbClr val="1976D2"/>
              </a:solidFill>
              <a:effectLst/>
            </c:spPr>
            <c:extLst>
              <c:ext xmlns:c16="http://schemas.microsoft.com/office/drawing/2014/chart" uri="{C3380CC4-5D6E-409C-BE32-E72D297353CC}">
                <c16:uniqueId val="{00000003-B4BA-48C9-B43D-FCC728F76AAF}"/>
              </c:ext>
            </c:extLst>
          </c:dPt>
          <c:dPt>
            <c:idx val="2"/>
            <c:invertIfNegative val="0"/>
            <c:bubble3D val="0"/>
            <c:spPr>
              <a:solidFill>
                <a:srgbClr val="1565C0"/>
              </a:solidFill>
              <a:effectLst/>
            </c:spPr>
            <c:extLst>
              <c:ext xmlns:c16="http://schemas.microsoft.com/office/drawing/2014/chart" uri="{C3380CC4-5D6E-409C-BE32-E72D297353CC}">
                <c16:uniqueId val="{00000005-B4BA-48C9-B43D-FCC728F76AAF}"/>
              </c:ext>
            </c:extLst>
          </c:dPt>
          <c:dPt>
            <c:idx val="3"/>
            <c:invertIfNegative val="0"/>
            <c:bubble3D val="0"/>
            <c:spPr>
              <a:solidFill>
                <a:srgbClr val="0A2342"/>
              </a:solidFill>
              <a:effectLst/>
            </c:spPr>
            <c:extLst>
              <c:ext xmlns:c16="http://schemas.microsoft.com/office/drawing/2014/chart" uri="{C3380CC4-5D6E-409C-BE32-E72D297353CC}">
                <c16:uniqueId val="{00000007-B4BA-48C9-B43D-FCC728F76AAF}"/>
              </c:ext>
            </c:extLst>
          </c:dPt>
          <c:dPt>
            <c:idx val="4"/>
            <c:invertIfNegative val="0"/>
            <c:bubble3D val="0"/>
            <c:spPr>
              <a:solidFill>
                <a:srgbClr val="1565C0"/>
              </a:solidFill>
              <a:effectLst/>
            </c:spPr>
            <c:extLst>
              <c:ext xmlns:c16="http://schemas.microsoft.com/office/drawing/2014/chart" uri="{C3380CC4-5D6E-409C-BE32-E72D297353CC}">
                <c16:uniqueId val="{00000009-B4BA-48C9-B43D-FCC728F76AAF}"/>
              </c:ext>
            </c:extLst>
          </c:dPt>
          <c:dLbls>
            <c:numFmt formatCode="0.000" sourceLinked="0"/>
            <c:spPr>
              <a:noFill/>
              <a:ln>
                <a:noFill/>
              </a:ln>
              <a:effectLst/>
            </c:spPr>
            <c:txPr>
              <a:bodyPr/>
              <a:lstStyle/>
              <a:p>
                <a:pPr>
                  <a:defRPr sz="900" b="0" i="0" u="none" strike="noStrike">
                    <a:solidFill>
                      <a:srgbClr val="37474F"/>
                    </a:solidFill>
                    <a:latin typeface="Arial"/>
                  </a:defRPr>
                </a:pPr>
                <a:endParaRPr lang="th-TH"/>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LR no-lag</c:v>
                </c:pt>
                <c:pt idx="1">
                  <c:v>RF no-lag</c:v>
                </c:pt>
                <c:pt idx="2">
                  <c:v>LR w/lag</c:v>
                </c:pt>
                <c:pt idx="3">
                  <c:v>RF w/lag</c:v>
                </c:pt>
                <c:pt idx="4">
                  <c:v>LSTM</c:v>
                </c:pt>
              </c:strCache>
            </c:strRef>
          </c:cat>
          <c:val>
            <c:numRef>
              <c:f>Sheet1!$B$2:$B$6</c:f>
              <c:numCache>
                <c:formatCode>General</c:formatCode>
                <c:ptCount val="5"/>
                <c:pt idx="0">
                  <c:v>0.23100000000000001</c:v>
                </c:pt>
                <c:pt idx="1">
                  <c:v>0.95499999999999996</c:v>
                </c:pt>
                <c:pt idx="2">
                  <c:v>0.999</c:v>
                </c:pt>
                <c:pt idx="3">
                  <c:v>0.999</c:v>
                </c:pt>
                <c:pt idx="4">
                  <c:v>0.995</c:v>
                </c:pt>
              </c:numCache>
            </c:numRef>
          </c:val>
          <c:extLst>
            <c:ext xmlns:c16="http://schemas.microsoft.com/office/drawing/2014/chart" uri="{C3380CC4-5D6E-409C-BE32-E72D297353CC}">
              <c16:uniqueId val="{0000000A-B4BA-48C9-B43D-FCC728F76AAF}"/>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07D8B"/>
                </a:solidFill>
                <a:latin typeface="Arial"/>
              </a:defRPr>
            </a:pPr>
            <a:endParaRPr lang="en-US"/>
          </a:p>
        </c:txPr>
        <c:crossAx val="2094734552"/>
        <c:crosses val="autoZero"/>
        <c:auto val="1"/>
        <c:lblAlgn val="ctr"/>
        <c:lblOffset val="100"/>
        <c:noMultiLvlLbl val="1"/>
      </c:catAx>
      <c:valAx>
        <c:axId val="2094734552"/>
        <c:scaling>
          <c:orientation val="minMax"/>
          <c:max val="1.05"/>
          <c:min val="0"/>
        </c:scaling>
        <c:delete val="0"/>
        <c:axPos val="l"/>
        <c:majorGridlines>
          <c:spPr>
            <a:ln w="6350" cap="flat">
              <a:solidFill>
                <a:srgbClr val="CFD8D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07D8B"/>
                </a:solidFill>
                <a:latin typeface="Arial"/>
              </a:defRPr>
            </a:pPr>
            <a:endParaRPr lang="en-US"/>
          </a:p>
        </c:txPr>
        <c:crossAx val="2094734554"/>
        <c:crosses val="autoZero"/>
        <c:crossBetween val="between"/>
      </c:valAx>
      <c:spPr>
        <a:solidFill>
          <a:srgbClr val="F7FAFF"/>
        </a:solid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Importance</c:v>
                </c:pt>
              </c:strCache>
            </c:strRef>
          </c:tx>
          <c:spPr>
            <a:solidFill>
              <a:srgbClr val="E3F0FF"/>
            </a:solidFill>
            <a:effectLst/>
          </c:spPr>
          <c:invertIfNegative val="0"/>
          <c:dPt>
            <c:idx val="0"/>
            <c:invertIfNegative val="0"/>
            <c:bubble3D val="0"/>
            <c:extLst>
              <c:ext xmlns:c16="http://schemas.microsoft.com/office/drawing/2014/chart" uri="{C3380CC4-5D6E-409C-BE32-E72D297353CC}">
                <c16:uniqueId val="{00000001-F80A-4740-A629-C95B1D24B613}"/>
              </c:ext>
            </c:extLst>
          </c:dPt>
          <c:dPt>
            <c:idx val="1"/>
            <c:invertIfNegative val="0"/>
            <c:bubble3D val="0"/>
            <c:extLst>
              <c:ext xmlns:c16="http://schemas.microsoft.com/office/drawing/2014/chart" uri="{C3380CC4-5D6E-409C-BE32-E72D297353CC}">
                <c16:uniqueId val="{00000003-F80A-4740-A629-C95B1D24B613}"/>
              </c:ext>
            </c:extLst>
          </c:dPt>
          <c:dPt>
            <c:idx val="2"/>
            <c:invertIfNegative val="0"/>
            <c:bubble3D val="0"/>
            <c:spPr>
              <a:solidFill>
                <a:srgbClr val="1976D2"/>
              </a:solidFill>
              <a:effectLst/>
            </c:spPr>
            <c:extLst>
              <c:ext xmlns:c16="http://schemas.microsoft.com/office/drawing/2014/chart" uri="{C3380CC4-5D6E-409C-BE32-E72D297353CC}">
                <c16:uniqueId val="{00000005-F80A-4740-A629-C95B1D24B613}"/>
              </c:ext>
            </c:extLst>
          </c:dPt>
          <c:dPt>
            <c:idx val="3"/>
            <c:invertIfNegative val="0"/>
            <c:bubble3D val="0"/>
            <c:spPr>
              <a:solidFill>
                <a:srgbClr val="1976D2"/>
              </a:solidFill>
              <a:effectLst/>
            </c:spPr>
            <c:extLst>
              <c:ext xmlns:c16="http://schemas.microsoft.com/office/drawing/2014/chart" uri="{C3380CC4-5D6E-409C-BE32-E72D297353CC}">
                <c16:uniqueId val="{00000007-F80A-4740-A629-C95B1D24B613}"/>
              </c:ext>
            </c:extLst>
          </c:dPt>
          <c:dPt>
            <c:idx val="4"/>
            <c:invertIfNegative val="0"/>
            <c:bubble3D val="0"/>
            <c:spPr>
              <a:solidFill>
                <a:srgbClr val="1565C0"/>
              </a:solidFill>
              <a:effectLst/>
            </c:spPr>
            <c:extLst>
              <c:ext xmlns:c16="http://schemas.microsoft.com/office/drawing/2014/chart" uri="{C3380CC4-5D6E-409C-BE32-E72D297353CC}">
                <c16:uniqueId val="{00000009-F80A-4740-A629-C95B1D24B613}"/>
              </c:ext>
            </c:extLst>
          </c:dPt>
          <c:dPt>
            <c:idx val="5"/>
            <c:invertIfNegative val="0"/>
            <c:bubble3D val="0"/>
            <c:spPr>
              <a:solidFill>
                <a:srgbClr val="0A2342"/>
              </a:solidFill>
              <a:effectLst/>
            </c:spPr>
            <c:extLst>
              <c:ext xmlns:c16="http://schemas.microsoft.com/office/drawing/2014/chart" uri="{C3380CC4-5D6E-409C-BE32-E72D297353CC}">
                <c16:uniqueId val="{0000000B-F80A-4740-A629-C95B1D24B613}"/>
              </c:ext>
            </c:extLst>
          </c:dPt>
          <c:dLbls>
            <c:numFmt formatCode="0.00" sourceLinked="0"/>
            <c:spPr>
              <a:noFill/>
              <a:ln>
                <a:noFill/>
              </a:ln>
              <a:effectLst/>
            </c:spPr>
            <c:txPr>
              <a:bodyPr/>
              <a:lstStyle/>
              <a:p>
                <a:pPr>
                  <a:defRPr sz="950" b="0" i="0" u="none" strike="noStrike">
                    <a:solidFill>
                      <a:srgbClr val="37474F"/>
                    </a:solidFill>
                    <a:latin typeface="Arial"/>
                  </a:defRPr>
                </a:pPr>
                <a:endParaRPr lang="th-TH"/>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Season</c:v>
                </c:pt>
                <c:pt idx="1">
                  <c:v>Is_Weekend</c:v>
                </c:pt>
                <c:pt idx="2">
                  <c:v>Is_Peak</c:v>
                </c:pt>
                <c:pt idx="3">
                  <c:v>Month</c:v>
                </c:pt>
                <c:pt idx="4">
                  <c:v>Day of Week</c:v>
                </c:pt>
                <c:pt idx="5">
                  <c:v>Hour</c:v>
                </c:pt>
              </c:strCache>
            </c:strRef>
          </c:cat>
          <c:val>
            <c:numRef>
              <c:f>Sheet1!$B$2:$B$7</c:f>
              <c:numCache>
                <c:formatCode>General</c:formatCode>
                <c:ptCount val="6"/>
                <c:pt idx="0">
                  <c:v>0.02</c:v>
                </c:pt>
                <c:pt idx="1">
                  <c:v>0.04</c:v>
                </c:pt>
                <c:pt idx="2">
                  <c:v>0.06</c:v>
                </c:pt>
                <c:pt idx="3">
                  <c:v>0.08</c:v>
                </c:pt>
                <c:pt idx="4">
                  <c:v>0.28000000000000003</c:v>
                </c:pt>
                <c:pt idx="5">
                  <c:v>0.52</c:v>
                </c:pt>
              </c:numCache>
            </c:numRef>
          </c:val>
          <c:extLst>
            <c:ext xmlns:c16="http://schemas.microsoft.com/office/drawing/2014/chart" uri="{C3380CC4-5D6E-409C-BE32-E72D297353CC}">
              <c16:uniqueId val="{0000000C-F80A-4740-A629-C95B1D24B613}"/>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607D8B"/>
                </a:solidFill>
                <a:latin typeface="Arial"/>
              </a:defRPr>
            </a:pPr>
            <a:endParaRPr lang="en-US"/>
          </a:p>
        </c:txPr>
        <c:crossAx val="2094734552"/>
        <c:crosses val="autoZero"/>
        <c:auto val="1"/>
        <c:lblAlgn val="ctr"/>
        <c:lblOffset val="100"/>
        <c:noMultiLvlLbl val="1"/>
      </c:catAx>
      <c:valAx>
        <c:axId val="2094734552"/>
        <c:scaling>
          <c:orientation val="minMax"/>
          <c:max val="0.6"/>
          <c:min val="0"/>
        </c:scaling>
        <c:delete val="0"/>
        <c:axPos val="b"/>
        <c:majorGridlines>
          <c:spPr>
            <a:ln w="6350" cap="flat">
              <a:solidFill>
                <a:srgbClr val="CFD8D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07D8B"/>
                </a:solidFill>
                <a:latin typeface="Arial"/>
              </a:defRPr>
            </a:pPr>
            <a:endParaRPr lang="en-US"/>
          </a:p>
        </c:txPr>
        <c:crossAx val="2094734554"/>
        <c:crosses val="autoZero"/>
        <c:crossBetween val="between"/>
      </c:valAx>
      <c:spPr>
        <a:solidFill>
          <a:srgbClr val="F7FAFF"/>
        </a:solid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82001728"/>
      </p:ext>
    </p:extLst>
  </p:cSld>
  <p:clrMap bg1="lt1" tx1="dk1" bg2="lt2" tx2="dk2" accent1="accent1" accent2="accent2" accent3="accent3" accent4="accent4" accent5="accent5" accent6="accent6" hlink="hlink" folHlink="folHlink"/>
  <p:notes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kern="1200" dirty="0">
                <a:solidFill>
                  <a:schemeClr val="tx1"/>
                </a:solidFill>
                <a:effectLst/>
                <a:latin typeface="+mn-lt"/>
                <a:ea typeface="+mn-ea"/>
                <a:cs typeface="+mn-cs"/>
              </a:rPr>
              <a:t>Today I will present </a:t>
            </a:r>
            <a:r>
              <a:rPr lang="en-US" sz="1800" kern="1200" dirty="0" err="1">
                <a:solidFill>
                  <a:schemeClr val="tx1"/>
                </a:solidFill>
                <a:effectLst/>
                <a:latin typeface="+mn-lt"/>
                <a:ea typeface="+mn-ea"/>
                <a:cs typeface="+mn-cs"/>
              </a:rPr>
              <a:t>FlowShift</a:t>
            </a:r>
            <a:r>
              <a:rPr lang="en-US" sz="1800" kern="1200" dirty="0">
                <a:solidFill>
                  <a:schemeClr val="tx1"/>
                </a:solidFill>
                <a:effectLst/>
                <a:latin typeface="+mn-lt"/>
                <a:ea typeface="+mn-ea"/>
                <a:cs typeface="+mn-cs"/>
              </a:rPr>
              <a:t> — our project analyzing how urban traffic congestion influences public transport demand in Los Angeles.</a:t>
            </a:r>
          </a:p>
          <a:p>
            <a:r>
              <a:rPr lang="en-US" sz="1800" kern="1200" dirty="0">
                <a:solidFill>
                  <a:schemeClr val="tx1"/>
                </a:solidFill>
                <a:effectLst/>
                <a:latin typeface="+mn-lt"/>
                <a:ea typeface="+mn-ea"/>
                <a:cs typeface="+mn-cs"/>
              </a:rPr>
              <a:t>Our research question is: When does traffic congestion happen and</a:t>
            </a:r>
            <a:r>
              <a:rPr lang="th-TH" sz="1800" kern="1200" dirty="0">
                <a:solidFill>
                  <a:schemeClr val="tx1"/>
                </a:solidFill>
                <a:effectLst/>
                <a:latin typeface="+mn-lt"/>
                <a:ea typeface="+mn-ea"/>
                <a:cs typeface="+mn-cs"/>
              </a:rPr>
              <a:t> </a:t>
            </a:r>
            <a:r>
              <a:rPr lang="en-US" sz="1800" kern="1200" dirty="0">
                <a:solidFill>
                  <a:schemeClr val="tx1"/>
                </a:solidFill>
                <a:effectLst/>
                <a:latin typeface="+mn-lt"/>
                <a:ea typeface="+mn-ea"/>
                <a:cs typeface="+mn-cs"/>
              </a:rPr>
              <a:t> do people switch to public transport when roads become congested, and by how much?</a:t>
            </a:r>
          </a:p>
          <a:p>
            <a:r>
              <a:rPr lang="en-US" sz="1800" kern="1200" dirty="0">
                <a:solidFill>
                  <a:schemeClr val="tx1"/>
                </a:solidFill>
                <a:effectLst/>
                <a:latin typeface="+mn-lt"/>
                <a:ea typeface="+mn-ea"/>
                <a:cs typeface="+mn-cs"/>
              </a:rPr>
              <a:t>To answer this, we used large-scale data from over 8,600 freeway sensors and public transit ridership across 20 agencies, covering the full year of 2021.</a:t>
            </a:r>
          </a:p>
          <a:p>
            <a:endParaRPr lang="en-US" sz="18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tx1"/>
                </a:solidFill>
                <a:effectLst/>
                <a:latin typeface="+mn-lt"/>
                <a:ea typeface="+mn-ea"/>
                <a:cs typeface="+mn-cs"/>
              </a:rPr>
              <a:t>Traffic congestion costs California billions annually. Our analysis creates a triple-win: government agencies can use our congestion classifier as an early warning system, companies can use our flow forecasts for route optimization, and commuters benefit from shorter travel times and lower emissions when congestion is predicted before it happens.</a:t>
            </a:r>
          </a:p>
          <a:p>
            <a:endParaRPr lang="en-US" sz="18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tx1"/>
                </a:solidFill>
                <a:effectLst/>
                <a:latin typeface="+mn-lt"/>
                <a:ea typeface="+mn-ea"/>
                <a:cs typeface="+mn-cs"/>
              </a:rPr>
              <a:t>This slide shows our end-to-end pipeline. We go from data collection, through preprocessing and exploration, to statistical testing, machine learning models, and time series forecasting. Each step builds on the previous one, and I will walk through the key findings from each stage.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kern="1200" dirty="0">
                <a:solidFill>
                  <a:schemeClr val="tx1"/>
                </a:solidFill>
                <a:effectLst/>
                <a:latin typeface="+mn-lt"/>
                <a:ea typeface="+mn-ea"/>
                <a:cs typeface="+mn-cs"/>
              </a:rPr>
              <a:t>We used two complementary datasets.</a:t>
            </a:r>
          </a:p>
          <a:p>
            <a:r>
              <a:rPr lang="en-US" sz="1800" kern="1200" dirty="0">
                <a:solidFill>
                  <a:schemeClr val="tx1"/>
                </a:solidFill>
                <a:effectLst/>
                <a:latin typeface="+mn-lt"/>
                <a:ea typeface="+mn-ea"/>
                <a:cs typeface="+mn-cs"/>
              </a:rPr>
              <a:t>The first is traffic flow data from the </a:t>
            </a:r>
            <a:r>
              <a:rPr lang="en-US" sz="1800" kern="1200" dirty="0" err="1">
                <a:solidFill>
                  <a:schemeClr val="tx1"/>
                </a:solidFill>
                <a:effectLst/>
                <a:latin typeface="+mn-lt"/>
                <a:ea typeface="+mn-ea"/>
                <a:cs typeface="+mn-cs"/>
              </a:rPr>
              <a:t>LargeST</a:t>
            </a:r>
            <a:r>
              <a:rPr lang="en-US" sz="1800" kern="1200" dirty="0">
                <a:solidFill>
                  <a:schemeClr val="tx1"/>
                </a:solidFill>
                <a:effectLst/>
                <a:latin typeface="+mn-lt"/>
                <a:ea typeface="+mn-ea"/>
                <a:cs typeface="+mn-cs"/>
              </a:rPr>
              <a:t> benchmark — 8,600 freeway sensors across California, recording vehicle counts every 5 minutes for all of 2021. That gives us over 900 million observations.</a:t>
            </a:r>
          </a:p>
          <a:p>
            <a:r>
              <a:rPr lang="en-US" sz="1800" kern="1200" dirty="0">
                <a:solidFill>
                  <a:schemeClr val="tx1"/>
                </a:solidFill>
                <a:effectLst/>
                <a:latin typeface="+mn-lt"/>
                <a:ea typeface="+mn-ea"/>
                <a:cs typeface="+mn-cs"/>
              </a:rPr>
              <a:t>The second is public transit ridership from the National Transit Database — monthly unlinked passenger trips across 20 Los Angeles transit agencies, covering 8 modes including bus, light rail, and heavy rail.</a:t>
            </a:r>
          </a:p>
          <a:p>
            <a:r>
              <a:rPr lang="en-US" sz="1800" kern="1200" dirty="0">
                <a:solidFill>
                  <a:schemeClr val="tx1"/>
                </a:solidFill>
                <a:effectLst/>
                <a:latin typeface="+mn-lt"/>
                <a:ea typeface="+mn-ea"/>
                <a:cs typeface="+mn-cs"/>
              </a:rPr>
              <a:t>By merging these at the monthly level, we can directly compare traffic congestion with public transport usage over time.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kern="1200" dirty="0">
                <a:solidFill>
                  <a:schemeClr val="tx1"/>
                </a:solidFill>
                <a:effectLst/>
                <a:latin typeface="+mn-lt"/>
                <a:ea typeface="+mn-ea"/>
                <a:cs typeface="+mn-cs"/>
              </a:rPr>
              <a:t>Before analysis, we cleaned the data.</a:t>
            </a:r>
          </a:p>
          <a:p>
            <a:r>
              <a:rPr lang="en-US" sz="1800" kern="1200" dirty="0">
                <a:solidFill>
                  <a:schemeClr val="tx1"/>
                </a:solidFill>
                <a:effectLst/>
                <a:latin typeface="+mn-lt"/>
                <a:ea typeface="+mn-ea"/>
                <a:cs typeface="+mn-cs"/>
              </a:rPr>
              <a:t>We checked missing values — the overall missing rate was only 0.94%, but 91 sensors had more than 20% missing data, so we dropped those and kept 8,509 reliable sensors.</a:t>
            </a:r>
          </a:p>
          <a:p>
            <a:r>
              <a:rPr lang="en-US" sz="1800" kern="1200" dirty="0">
                <a:solidFill>
                  <a:schemeClr val="tx1"/>
                </a:solidFill>
                <a:effectLst/>
                <a:latin typeface="+mn-lt"/>
                <a:ea typeface="+mn-ea"/>
                <a:cs typeface="+mn-cs"/>
              </a:rPr>
              <a:t>For outlier detection, we used the 3-sigma principle from the lecture and replaced over 920,000 outlier readings.</a:t>
            </a:r>
          </a:p>
          <a:p>
            <a:r>
              <a:rPr lang="en-US" sz="1800" kern="1200" dirty="0">
                <a:solidFill>
                  <a:schemeClr val="tx1"/>
                </a:solidFill>
                <a:effectLst/>
                <a:latin typeface="+mn-lt"/>
                <a:ea typeface="+mn-ea"/>
                <a:cs typeface="+mn-cs"/>
              </a:rPr>
              <a:t>Then we engineered features: temporal features like hour, day of week, and season; a congestion flag based on the 75th percentile of total flow; and lag features at 5-minute, 1-hour, and 1-day intervals to capture autocorrelation.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kern="1200" dirty="0">
                <a:solidFill>
                  <a:schemeClr val="tx1"/>
                </a:solidFill>
                <a:effectLst/>
                <a:latin typeface="+mn-lt"/>
                <a:ea typeface="+mn-ea"/>
                <a:cs typeface="+mn-cs"/>
              </a:rPr>
              <a:t>From our exploratory analysis, we see clear daily patterns.</a:t>
            </a:r>
          </a:p>
          <a:p>
            <a:r>
              <a:rPr lang="en-US" sz="1800" kern="1200" dirty="0">
                <a:solidFill>
                  <a:schemeClr val="tx1"/>
                </a:solidFill>
                <a:effectLst/>
                <a:latin typeface="+mn-lt"/>
                <a:ea typeface="+mn-ea"/>
                <a:cs typeface="+mn-cs"/>
              </a:rPr>
              <a:t>Weekdays show two peaks — a morning commute around 8 AM and an evening commute at 5 to 6 PM. Both breach the congestion threshold shown by the red dashed line.</a:t>
            </a:r>
          </a:p>
          <a:p>
            <a:r>
              <a:rPr lang="en-US" sz="1800" kern="1200" dirty="0">
                <a:solidFill>
                  <a:schemeClr val="tx1"/>
                </a:solidFill>
                <a:effectLst/>
                <a:latin typeface="+mn-lt"/>
                <a:ea typeface="+mn-ea"/>
                <a:cs typeface="+mn-cs"/>
              </a:rPr>
              <a:t>Weekends show a single, gentler midday rise that stays below the threshold. This confirms that traffic is strongly driven by daily work routines.</a:t>
            </a:r>
          </a:p>
          <a:p>
            <a:r>
              <a:rPr lang="en-US" sz="1800" kern="1200" dirty="0">
                <a:solidFill>
                  <a:schemeClr val="tx1"/>
                </a:solidFill>
                <a:effectLst/>
                <a:latin typeface="+mn-lt"/>
                <a:ea typeface="+mn-ea"/>
                <a:cs typeface="+mn-cs"/>
              </a:rPr>
              <a:t>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kern="1200" dirty="0">
                <a:solidFill>
                  <a:schemeClr val="tx1"/>
                </a:solidFill>
                <a:effectLst/>
                <a:latin typeface="+mn-lt"/>
                <a:ea typeface="+mn-ea"/>
                <a:cs typeface="+mn-cs"/>
              </a:rPr>
              <a:t>The heatmap makes this even clearer. Each cell shows average flow for a specific hour and day combination. Darker blue means more traffic.</a:t>
            </a:r>
          </a:p>
          <a:p>
            <a:r>
              <a:rPr lang="en-US" sz="1800" kern="1200" dirty="0">
                <a:solidFill>
                  <a:schemeClr val="tx1"/>
                </a:solidFill>
                <a:effectLst/>
                <a:latin typeface="+mn-lt"/>
                <a:ea typeface="+mn-ea"/>
                <a:cs typeface="+mn-cs"/>
              </a:rPr>
              <a:t>The standout finding is that Friday 5-to-7 PM is the most congested period of the entire week. Weekend traffic is uniformly 9.6% lower than weekday average.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kern="1200" dirty="0">
                <a:solidFill>
                  <a:schemeClr val="tx1"/>
                </a:solidFill>
                <a:effectLst/>
                <a:latin typeface="+mn-lt"/>
                <a:ea typeface="+mn-ea"/>
                <a:cs typeface="+mn-cs"/>
              </a:rPr>
              <a:t>Let me summarize four key findings from our exploration.</a:t>
            </a:r>
          </a:p>
          <a:p>
            <a:r>
              <a:rPr lang="en-US" sz="1800" kern="1200" dirty="0">
                <a:solidFill>
                  <a:schemeClr val="tx1"/>
                </a:solidFill>
                <a:effectLst/>
                <a:latin typeface="+mn-lt"/>
                <a:ea typeface="+mn-ea"/>
                <a:cs typeface="+mn-cs"/>
              </a:rPr>
              <a:t>First, weekday twin peaks — morning and evening rush hours consistently breach the congestion threshold.</a:t>
            </a:r>
          </a:p>
          <a:p>
            <a:r>
              <a:rPr lang="en-US" sz="1800" kern="1200" dirty="0">
                <a:solidFill>
                  <a:schemeClr val="tx1"/>
                </a:solidFill>
                <a:effectLst/>
                <a:latin typeface="+mn-lt"/>
                <a:ea typeface="+mn-ea"/>
                <a:cs typeface="+mn-cs"/>
              </a:rPr>
              <a:t>Second, Friday PM is the worst — the heatmap confirms this as the peak congestion window.</a:t>
            </a:r>
          </a:p>
          <a:p>
            <a:r>
              <a:rPr lang="en-US" sz="1800" kern="1200" dirty="0">
                <a:solidFill>
                  <a:schemeClr val="tx1"/>
                </a:solidFill>
                <a:effectLst/>
                <a:latin typeface="+mn-lt"/>
                <a:ea typeface="+mn-ea"/>
                <a:cs typeface="+mn-cs"/>
              </a:rPr>
              <a:t>Third, congestion climbed from 10.5% in January to 29.6% in June, tracking pandemic recovery throughout 2021.</a:t>
            </a:r>
          </a:p>
          <a:p>
            <a:endParaRPr lang="en-US" sz="18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tx1"/>
                </a:solidFill>
                <a:effectLst/>
                <a:latin typeface="+mn-lt"/>
                <a:ea typeface="+mn-ea"/>
                <a:cs typeface="+mn-cs"/>
              </a:rPr>
              <a:t>And fourth, traffic shows very strong autocorrelation — lag-1 correlation is 0.999, and even one day ago the correlation is 0.946. This is important because it tells us how much of our model’s accuracy comes from just knowing recent traffic versus understanding structural patterns.</a:t>
            </a:r>
          </a:p>
          <a:p>
            <a:endParaRPr lang="en-US" sz="18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kern="1200" dirty="0">
                <a:solidFill>
                  <a:schemeClr val="tx1"/>
                </a:solidFill>
                <a:effectLst/>
                <a:latin typeface="+mn-lt"/>
                <a:ea typeface="+mn-ea"/>
                <a:cs typeface="+mn-cs"/>
              </a:rPr>
              <a:t>This slide answers our main research question.</a:t>
            </a:r>
          </a:p>
          <a:p>
            <a:r>
              <a:rPr lang="en-US" sz="1800" kern="1200" dirty="0">
                <a:solidFill>
                  <a:schemeClr val="tx1"/>
                </a:solidFill>
                <a:effectLst/>
                <a:latin typeface="+mn-lt"/>
                <a:ea typeface="+mn-ea"/>
                <a:cs typeface="+mn-cs"/>
              </a:rPr>
              <a:t>We found a strong positive correlation between congestion and ridership, with a Pearson r of 0.73 and p-value below 0.01.</a:t>
            </a:r>
          </a:p>
          <a:p>
            <a:r>
              <a:rPr lang="en-US" sz="1800" kern="1200" dirty="0">
                <a:solidFill>
                  <a:schemeClr val="tx1"/>
                </a:solidFill>
                <a:effectLst/>
                <a:latin typeface="+mn-lt"/>
                <a:ea typeface="+mn-ea"/>
                <a:cs typeface="+mn-cs"/>
              </a:rPr>
              <a:t>Ridership grew 68% from January to October, while congestion rates also climbed throughout the year.</a:t>
            </a:r>
          </a:p>
          <a:p>
            <a:r>
              <a:rPr lang="en-US" sz="1800" kern="1200" dirty="0">
                <a:solidFill>
                  <a:schemeClr val="tx1"/>
                </a:solidFill>
                <a:effectLst/>
                <a:latin typeface="+mn-lt"/>
                <a:ea typeface="+mn-ea"/>
                <a:cs typeface="+mn-cs"/>
              </a:rPr>
              <a:t>However, we need to be honest here — both variables increased together because of pandemic recovery, not necessarily because people switched from cars to transit. The OLS R² of 0.579 means congestion explains about 58% of ridership variation, but establishing true causality would require methods beyond this course, like instrumental variables or natural experiments.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kern="1200" dirty="0">
                <a:solidFill>
                  <a:schemeClr val="tx1"/>
                </a:solidFill>
                <a:effectLst/>
                <a:latin typeface="+mn-lt"/>
                <a:ea typeface="+mn-ea"/>
                <a:cs typeface="+mn-cs"/>
              </a:rPr>
              <a:t>Now Lets focus on traffic congestion</a:t>
            </a:r>
          </a:p>
          <a:p>
            <a:endParaRPr lang="en-US" sz="1800" kern="1200" dirty="0">
              <a:solidFill>
                <a:schemeClr val="tx1"/>
              </a:solidFill>
              <a:effectLst/>
              <a:latin typeface="+mn-lt"/>
              <a:ea typeface="+mn-ea"/>
              <a:cs typeface="+mn-cs"/>
            </a:endParaRPr>
          </a:p>
          <a:p>
            <a:r>
              <a:rPr lang="en-US" sz="1800" kern="1200" dirty="0">
                <a:solidFill>
                  <a:schemeClr val="tx1"/>
                </a:solidFill>
                <a:effectLst/>
                <a:latin typeface="+mn-lt"/>
                <a:ea typeface="+mn-ea"/>
                <a:cs typeface="+mn-cs"/>
              </a:rPr>
              <a:t>We conducted formal hypothesis tests to validate our observations.</a:t>
            </a:r>
          </a:p>
          <a:p>
            <a:r>
              <a:rPr lang="en-US" sz="1800" kern="1200" dirty="0">
                <a:solidFill>
                  <a:schemeClr val="tx1"/>
                </a:solidFill>
                <a:effectLst/>
                <a:latin typeface="+mn-lt"/>
                <a:ea typeface="+mn-ea"/>
                <a:cs typeface="+mn-cs"/>
              </a:rPr>
              <a:t>Welch’s t-test confirmed that weekday traffic is significantly higher than weekend traffic — a 9.6% difference with p-value essentially zero.</a:t>
            </a:r>
          </a:p>
          <a:p>
            <a:r>
              <a:rPr lang="en-US" sz="1800" kern="1200" dirty="0">
                <a:solidFill>
                  <a:schemeClr val="tx1"/>
                </a:solidFill>
                <a:effectLst/>
                <a:latin typeface="+mn-lt"/>
                <a:ea typeface="+mn-ea"/>
                <a:cs typeface="+mn-cs"/>
              </a:rPr>
              <a:t>Peak hours carry 41.9% more traffic than off-peak, also highly significant.</a:t>
            </a:r>
          </a:p>
          <a:p>
            <a:r>
              <a:rPr lang="en-US" sz="1800" kern="1200" dirty="0">
                <a:solidFill>
                  <a:schemeClr val="tx1"/>
                </a:solidFill>
                <a:effectLst/>
                <a:latin typeface="+mn-lt"/>
                <a:ea typeface="+mn-ea"/>
                <a:cs typeface="+mn-cs"/>
              </a:rPr>
              <a:t>And the ADF test confirms our time series is stationary, which means we can apply ARIMA directly without additional differencing.</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kern="1200" dirty="0">
                <a:solidFill>
                  <a:schemeClr val="tx1"/>
                </a:solidFill>
                <a:effectLst/>
                <a:latin typeface="+mn-lt"/>
                <a:ea typeface="+mn-ea"/>
                <a:cs typeface="+mn-cs"/>
              </a:rPr>
              <a:t>Now the modeling. We tested six models in two groups, and the reason for this split is the most important finding of our project.</a:t>
            </a:r>
          </a:p>
          <a:p>
            <a:r>
              <a:rPr lang="en-US" sz="1800" kern="1200" dirty="0">
                <a:solidFill>
                  <a:schemeClr val="tx1"/>
                </a:solidFill>
                <a:effectLst/>
                <a:latin typeface="+mn-lt"/>
                <a:ea typeface="+mn-ea"/>
                <a:cs typeface="+mn-cs"/>
              </a:rPr>
              <a:t>We chose Linear Regression as a baseline — it’s the simplest model and tells us if the relationship is linear. We chose Random Forest because it captures non-linear patterns like rush hour curves.</a:t>
            </a:r>
          </a:p>
          <a:p>
            <a:r>
              <a:rPr lang="en-US" sz="1800" kern="1200" dirty="0">
                <a:solidFill>
                  <a:schemeClr val="tx1"/>
                </a:solidFill>
                <a:effectLst/>
                <a:latin typeface="+mn-lt"/>
                <a:ea typeface="+mn-ea"/>
                <a:cs typeface="+mn-cs"/>
              </a:rPr>
              <a:t>Group A includes lag features — flow from 5 minutes, 1 hour, and 1 day ago. Group B uses only calendar features like hour and day of week.</a:t>
            </a:r>
          </a:p>
          <a:p>
            <a:r>
              <a:rPr lang="en-US" sz="1800" kern="1200" dirty="0">
                <a:solidFill>
                  <a:schemeClr val="tx1"/>
                </a:solidFill>
                <a:effectLst/>
                <a:latin typeface="+mn-lt"/>
                <a:ea typeface="+mn-ea"/>
                <a:cs typeface="+mn-cs"/>
              </a:rPr>
              <a:t>The key result: Linear Regression R² drops from 0.999 to 0.231 when we remove lag features. This proves that 77% of the model’s accuracy comes from autocorrelation — just knowing the road was busy 5 minutes ago. Random Forest without lags still achieves 0.955, showing it can learn the non-linear time-of-day structure that linear models cannot.</a:t>
            </a:r>
          </a:p>
          <a:p>
            <a:r>
              <a:rPr lang="en-US" sz="1800" kern="1200" dirty="0">
                <a:solidFill>
                  <a:schemeClr val="tx1"/>
                </a:solidFill>
                <a:effectLst/>
                <a:latin typeface="+mn-lt"/>
                <a:ea typeface="+mn-ea"/>
                <a:cs typeface="+mn-cs"/>
              </a:rPr>
              <a:t>The no-lag R² of 0.955 is the realistic prediction benchmark — it tells us how well we can forecast traffic before it happens.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kern="1200" dirty="0">
                <a:solidFill>
                  <a:schemeClr val="tx1"/>
                </a:solidFill>
                <a:effectLst/>
                <a:latin typeface="+mn-lt"/>
                <a:ea typeface="+mn-ea"/>
                <a:cs typeface="+mn-cs"/>
              </a:rPr>
              <a:t>The R² comparison makes this visually clear. With lag features, everything is near 1.0. Without lags, only Random Forest maintains strong performance.</a:t>
            </a:r>
          </a:p>
          <a:p>
            <a:r>
              <a:rPr lang="en-US" sz="1800" kern="1200" dirty="0">
                <a:solidFill>
                  <a:schemeClr val="tx1"/>
                </a:solidFill>
                <a:effectLst/>
                <a:latin typeface="+mn-lt"/>
                <a:ea typeface="+mn-ea"/>
                <a:cs typeface="+mn-cs"/>
              </a:rPr>
              <a:t>The feature importance chart shows that hour of the day contributes over 50% of the model’s prediction power, confirming that traffic is fundamentally driven by daily routines.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kern="1200" dirty="0">
                <a:solidFill>
                  <a:schemeClr val="tx1"/>
                </a:solidFill>
                <a:effectLst/>
                <a:latin typeface="+mn-lt"/>
                <a:ea typeface="+mn-ea"/>
                <a:cs typeface="+mn-cs"/>
              </a:rPr>
              <a:t>For classification, we predict whether traffic is congested or free-flowing.</a:t>
            </a:r>
          </a:p>
          <a:p>
            <a:r>
              <a:rPr lang="en-US" sz="1800" kern="1200" dirty="0">
                <a:solidFill>
                  <a:schemeClr val="tx1"/>
                </a:solidFill>
                <a:effectLst/>
                <a:latin typeface="+mn-lt"/>
                <a:ea typeface="+mn-ea"/>
                <a:cs typeface="+mn-cs"/>
              </a:rPr>
              <a:t>We chose three algorithms, Decision Tree because it’s interpretable — we can see which features split the data. KNN as a distance-based approach. And Random Forest for the best overall accuracy.</a:t>
            </a:r>
          </a:p>
          <a:p>
            <a:r>
              <a:rPr lang="en-US" sz="1800" kern="1200" dirty="0">
                <a:solidFill>
                  <a:schemeClr val="tx1"/>
                </a:solidFill>
                <a:effectLst/>
                <a:latin typeface="+mn-lt"/>
                <a:ea typeface="+mn-ea"/>
                <a:cs typeface="+mn-cs"/>
              </a:rPr>
              <a:t>We deliberately used only calendar features here — no lags — to prove that congestion is predictable from the time and day alone. All three models achieve AUC above 0.92, with Decision Tree reaching 0.959.</a:t>
            </a:r>
          </a:p>
          <a:p>
            <a:r>
              <a:rPr lang="en-US" sz="1800" kern="1200" dirty="0">
                <a:solidFill>
                  <a:schemeClr val="tx1"/>
                </a:solidFill>
                <a:effectLst/>
                <a:latin typeface="+mn-lt"/>
                <a:ea typeface="+mn-ea"/>
                <a:cs typeface="+mn-cs"/>
              </a:rPr>
              <a:t>The ROC curves show all models far above the random guess diagonal. The practical meaning is that a traffic management center could predict congestion before it happens, using only a clock and calendar.</a:t>
            </a:r>
          </a:p>
          <a:p>
            <a:r>
              <a:rPr lang="en-US" sz="1800" kern="1200" dirty="0">
                <a:solidFill>
                  <a:schemeClr val="tx1"/>
                </a:solidFill>
                <a:effectLst/>
                <a:latin typeface="+mn-lt"/>
                <a:ea typeface="+mn-ea"/>
                <a:cs typeface="+mn-cs"/>
              </a:rPr>
              <a:t>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kern="1200" dirty="0">
                <a:solidFill>
                  <a:schemeClr val="tx1"/>
                </a:solidFill>
                <a:effectLst/>
                <a:latin typeface="+mn-lt"/>
                <a:ea typeface="+mn-ea"/>
                <a:cs typeface="+mn-cs"/>
              </a:rPr>
              <a:t>We used K-Means clustering to discover natural groupings among sensors. We chose K-Means because sensors naturally form groups by traffic volume — the elbow method and silhouette score both pointed to k=2, confirming two distinct archetypes: high-flow urban corridors concentrated in LA and the Bay Area, and lower-flow peripheral routes.</a:t>
            </a:r>
          </a:p>
          <a:p>
            <a:r>
              <a:rPr lang="en-US" sz="1800" kern="1200" dirty="0">
                <a:solidFill>
                  <a:schemeClr val="tx1"/>
                </a:solidFill>
                <a:effectLst/>
                <a:latin typeface="+mn-lt"/>
                <a:ea typeface="+mn-ea"/>
                <a:cs typeface="+mn-cs"/>
              </a:rPr>
              <a:t>For time series, we compared ARIMA and LSTM. We chose ARIMA because it’s the classical method from Chapter 7 that captures linear autocorrelation. LSTM is a deep learning approach that can learn non-linear temporal patterns, trained on our RTX 4070 GPU with CUDA.</a:t>
            </a:r>
          </a:p>
          <a:p>
            <a:r>
              <a:rPr lang="en-US" sz="1800" kern="1200" dirty="0">
                <a:solidFill>
                  <a:schemeClr val="tx1"/>
                </a:solidFill>
                <a:effectLst/>
                <a:latin typeface="+mn-lt"/>
                <a:ea typeface="+mn-ea"/>
                <a:cs typeface="+mn-cs"/>
              </a:rPr>
              <a:t>Interestingly, ARIMA with rolling 1-step forecast achieves MAE of 19,851 — actually beating LSTM’s 48,443. This is because ARIMA re-observes actual data at each step, while LSTM was trained once on historical data.</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kern="1200" dirty="0">
                <a:solidFill>
                  <a:schemeClr val="tx1"/>
                </a:solidFill>
                <a:effectLst/>
                <a:latin typeface="+mn-lt"/>
                <a:ea typeface="+mn-ea"/>
                <a:cs typeface="+mn-cs"/>
              </a:rPr>
              <a:t>To conclude with four key takeaways.</a:t>
            </a:r>
          </a:p>
          <a:p>
            <a:r>
              <a:rPr lang="en-US" sz="1800" kern="1200" dirty="0">
                <a:solidFill>
                  <a:schemeClr val="tx1"/>
                </a:solidFill>
                <a:effectLst/>
                <a:latin typeface="+mn-lt"/>
                <a:ea typeface="+mn-ea"/>
                <a:cs typeface="+mn-cs"/>
              </a:rPr>
              <a:t>First, congestion and public transport ridership are positively correlated at r equals 0.73, though both were driven upward by pandemic recovery in 2021.</a:t>
            </a:r>
          </a:p>
          <a:p>
            <a:r>
              <a:rPr lang="en-US" sz="1800" kern="1200" dirty="0">
                <a:solidFill>
                  <a:schemeClr val="tx1"/>
                </a:solidFill>
                <a:effectLst/>
                <a:latin typeface="+mn-lt"/>
                <a:ea typeface="+mn-ea"/>
                <a:cs typeface="+mn-cs"/>
              </a:rPr>
              <a:t>Second, Random Forest with lag features is the best model at R² of 0.999, but without lags the realistic benchmark is R² of 0.955 — and this is the actionable prediction because you can plan for Tuesday 8 AM before it happens.</a:t>
            </a:r>
          </a:p>
          <a:p>
            <a:r>
              <a:rPr lang="en-US" sz="1800" kern="1200" dirty="0">
                <a:solidFill>
                  <a:schemeClr val="tx1"/>
                </a:solidFill>
                <a:effectLst/>
                <a:latin typeface="+mn-lt"/>
                <a:ea typeface="+mn-ea"/>
                <a:cs typeface="+mn-cs"/>
              </a:rPr>
              <a:t>Third, congestion is highly predictable from calendar features alone, with AUC above 0.95 — confirming the strong time structure in traffic data.</a:t>
            </a:r>
          </a:p>
          <a:p>
            <a:r>
              <a:rPr lang="en-US" sz="1800" kern="1200" dirty="0">
                <a:solidFill>
                  <a:schemeClr val="tx1"/>
                </a:solidFill>
                <a:effectLst/>
                <a:latin typeface="+mn-lt"/>
                <a:ea typeface="+mn-ea"/>
                <a:cs typeface="+mn-cs"/>
              </a:rPr>
              <a:t>Fourth, K-Means reveals two sensor archetypes. For future work, we suggest spatial joins to transit stops and causal inference methods to separate pandemic recovery from genuine modal shift.</a:t>
            </a:r>
          </a:p>
          <a:p>
            <a:r>
              <a:rPr lang="en-US" sz="1800" kern="1200">
                <a:solidFill>
                  <a:schemeClr val="tx1"/>
                </a:solidFill>
                <a:effectLst/>
                <a:latin typeface="+mn-lt"/>
                <a:ea typeface="+mn-ea"/>
                <a:cs typeface="+mn-cs"/>
              </a:rPr>
              <a:t>Thank you.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3840480" cy="5143500"/>
          </a:xfrm>
          <a:prstGeom prst="rect">
            <a:avLst/>
          </a:prstGeom>
          <a:solidFill>
            <a:srgbClr val="0A2342"/>
          </a:solidFill>
          <a:ln/>
        </p:spPr>
        <p:txBody>
          <a:bodyPr/>
          <a:lstStyle/>
          <a:p>
            <a:endParaRPr lang="th-TH"/>
          </a:p>
        </p:txBody>
      </p:sp>
      <p:sp>
        <p:nvSpPr>
          <p:cNvPr id="3" name="Shape 1"/>
          <p:cNvSpPr/>
          <p:nvPr/>
        </p:nvSpPr>
        <p:spPr>
          <a:xfrm>
            <a:off x="3840480" y="0"/>
            <a:ext cx="64008" cy="5143500"/>
          </a:xfrm>
          <a:prstGeom prst="rect">
            <a:avLst/>
          </a:prstGeom>
          <a:solidFill>
            <a:srgbClr val="1565C0"/>
          </a:solidFill>
          <a:ln/>
        </p:spPr>
        <p:txBody>
          <a:bodyPr/>
          <a:lstStyle/>
          <a:p>
            <a:endParaRPr lang="th-TH"/>
          </a:p>
        </p:txBody>
      </p:sp>
      <p:sp>
        <p:nvSpPr>
          <p:cNvPr id="4" name="Text 2"/>
          <p:cNvSpPr/>
          <p:nvPr/>
        </p:nvSpPr>
        <p:spPr>
          <a:xfrm>
            <a:off x="411480" y="822960"/>
            <a:ext cx="3246120" cy="822960"/>
          </a:xfrm>
          <a:prstGeom prst="rect">
            <a:avLst/>
          </a:prstGeom>
          <a:noFill/>
          <a:ln/>
        </p:spPr>
        <p:txBody>
          <a:bodyPr wrap="square" lIns="0" tIns="0" rIns="0" bIns="0" rtlCol="0" anchor="ctr"/>
          <a:lstStyle/>
          <a:p>
            <a:pPr marL="0" indent="0">
              <a:buNone/>
            </a:pPr>
            <a:r>
              <a:rPr lang="en-US" sz="4000" b="1" kern="0" spc="200" dirty="0">
                <a:solidFill>
                  <a:srgbClr val="FFFFFF"/>
                </a:solidFill>
                <a:latin typeface="Calibri" pitchFamily="34" charset="0"/>
                <a:ea typeface="Calibri" pitchFamily="34" charset="-122"/>
                <a:cs typeface="Calibri" pitchFamily="34" charset="-120"/>
              </a:rPr>
              <a:t>FlowShift</a:t>
            </a:r>
            <a:endParaRPr lang="en-US" sz="4000" dirty="0"/>
          </a:p>
        </p:txBody>
      </p:sp>
      <p:sp>
        <p:nvSpPr>
          <p:cNvPr id="5" name="Shape 3"/>
          <p:cNvSpPr/>
          <p:nvPr/>
        </p:nvSpPr>
        <p:spPr>
          <a:xfrm>
            <a:off x="411480" y="1719072"/>
            <a:ext cx="2377440" cy="41148"/>
          </a:xfrm>
          <a:prstGeom prst="rect">
            <a:avLst/>
          </a:prstGeom>
          <a:solidFill>
            <a:srgbClr val="1976D2"/>
          </a:solidFill>
          <a:ln/>
        </p:spPr>
        <p:txBody>
          <a:bodyPr/>
          <a:lstStyle/>
          <a:p>
            <a:endParaRPr lang="th-TH"/>
          </a:p>
        </p:txBody>
      </p:sp>
      <p:sp>
        <p:nvSpPr>
          <p:cNvPr id="6" name="Text 4"/>
          <p:cNvSpPr/>
          <p:nvPr/>
        </p:nvSpPr>
        <p:spPr>
          <a:xfrm>
            <a:off x="411480" y="1828800"/>
            <a:ext cx="3246120" cy="1280160"/>
          </a:xfrm>
          <a:prstGeom prst="rect">
            <a:avLst/>
          </a:prstGeom>
          <a:noFill/>
          <a:ln/>
        </p:spPr>
        <p:txBody>
          <a:bodyPr wrap="square" lIns="0" tIns="0" rIns="0" bIns="0" rtlCol="0" anchor="ctr"/>
          <a:lstStyle/>
          <a:p>
            <a:pPr marL="0" indent="0">
              <a:lnSpc>
                <a:spcPct val="130000"/>
              </a:lnSpc>
              <a:buNone/>
            </a:pPr>
            <a:r>
              <a:rPr lang="en-US" sz="1300" dirty="0">
                <a:solidFill>
                  <a:srgbClr val="BBDEFB"/>
                </a:solidFill>
                <a:latin typeface="Calibri" pitchFamily="34" charset="0"/>
                <a:ea typeface="Calibri" pitchFamily="34" charset="-122"/>
                <a:cs typeface="Calibri" pitchFamily="34" charset="-120"/>
              </a:rPr>
              <a:t>Analyzing Urban Traffic</a:t>
            </a:r>
            <a:endParaRPr lang="en-US" sz="1300" dirty="0"/>
          </a:p>
          <a:p>
            <a:pPr marL="0" indent="0">
              <a:lnSpc>
                <a:spcPct val="130000"/>
              </a:lnSpc>
              <a:buNone/>
            </a:pPr>
            <a:r>
              <a:rPr lang="en-US" sz="1300" dirty="0">
                <a:solidFill>
                  <a:srgbClr val="BBDEFB"/>
                </a:solidFill>
                <a:latin typeface="Calibri" pitchFamily="34" charset="0"/>
                <a:ea typeface="Calibri" pitchFamily="34" charset="-122"/>
                <a:cs typeface="Calibri" pitchFamily="34" charset="-120"/>
              </a:rPr>
              <a:t>Congestion and how it Influences Public</a:t>
            </a:r>
            <a:endParaRPr lang="en-US" sz="1300" dirty="0"/>
          </a:p>
          <a:p>
            <a:pPr marL="0" indent="0">
              <a:lnSpc>
                <a:spcPct val="130000"/>
              </a:lnSpc>
              <a:buNone/>
            </a:pPr>
            <a:r>
              <a:rPr lang="en-US" sz="1300" dirty="0">
                <a:solidFill>
                  <a:srgbClr val="BBDEFB"/>
                </a:solidFill>
                <a:latin typeface="Calibri" pitchFamily="34" charset="0"/>
                <a:ea typeface="Calibri" pitchFamily="34" charset="-122"/>
                <a:cs typeface="Calibri" pitchFamily="34" charset="-120"/>
              </a:rPr>
              <a:t>Transport Demand in Los Angeles</a:t>
            </a:r>
            <a:endParaRPr lang="en-US" sz="1300" dirty="0"/>
          </a:p>
        </p:txBody>
      </p:sp>
      <p:sp>
        <p:nvSpPr>
          <p:cNvPr id="7" name="Text 5"/>
          <p:cNvSpPr/>
          <p:nvPr/>
        </p:nvSpPr>
        <p:spPr>
          <a:xfrm>
            <a:off x="411480" y="3383280"/>
            <a:ext cx="3246120" cy="594360"/>
          </a:xfrm>
          <a:prstGeom prst="rect">
            <a:avLst/>
          </a:prstGeom>
          <a:noFill/>
          <a:ln/>
        </p:spPr>
        <p:txBody>
          <a:bodyPr wrap="square" lIns="0" tIns="0" rIns="0" bIns="0" rtlCol="0" anchor="ctr"/>
          <a:lstStyle/>
          <a:p>
            <a:pPr marL="0" indent="0">
              <a:lnSpc>
                <a:spcPct val="140000"/>
              </a:lnSpc>
              <a:buNone/>
            </a:pPr>
            <a:r>
              <a:rPr lang="en-US" sz="950" dirty="0">
                <a:solidFill>
                  <a:srgbClr val="BBDEFB"/>
                </a:solidFill>
                <a:latin typeface="Calibri" pitchFamily="34" charset="0"/>
                <a:ea typeface="Calibri" pitchFamily="34" charset="-122"/>
                <a:cs typeface="Calibri" pitchFamily="34" charset="-120"/>
              </a:rPr>
              <a:t>Dataset: Large-ST (ca_his_raw_2021.h5)  +  NTD Ridership</a:t>
            </a:r>
            <a:endParaRPr lang="en-US" sz="950" dirty="0"/>
          </a:p>
          <a:p>
            <a:pPr marL="0" indent="0">
              <a:lnSpc>
                <a:spcPct val="140000"/>
              </a:lnSpc>
              <a:buNone/>
            </a:pPr>
            <a:r>
              <a:rPr lang="en-US" sz="950" dirty="0">
                <a:solidFill>
                  <a:srgbClr val="BBDEFB"/>
                </a:solidFill>
                <a:latin typeface="Calibri" pitchFamily="34" charset="0"/>
                <a:ea typeface="Calibri" pitchFamily="34" charset="-122"/>
                <a:cs typeface="Calibri" pitchFamily="34" charset="-120"/>
              </a:rPr>
              <a:t>Course: Data Science and Algorithms  —  BIT CS</a:t>
            </a:r>
            <a:endParaRPr lang="en-US" sz="950" dirty="0"/>
          </a:p>
        </p:txBody>
      </p:sp>
      <p:sp>
        <p:nvSpPr>
          <p:cNvPr id="8" name="Shape 6"/>
          <p:cNvSpPr/>
          <p:nvPr/>
        </p:nvSpPr>
        <p:spPr>
          <a:xfrm>
            <a:off x="4206240" y="914400"/>
            <a:ext cx="4663440" cy="1371600"/>
          </a:xfrm>
          <a:prstGeom prst="rect">
            <a:avLst/>
          </a:prstGeom>
          <a:solidFill>
            <a:srgbClr val="E3F0FF"/>
          </a:solidFill>
          <a:ln w="12700">
            <a:solidFill>
              <a:srgbClr val="1565C0"/>
            </a:solidFill>
            <a:prstDash val="solid"/>
          </a:ln>
        </p:spPr>
        <p:txBody>
          <a:bodyPr/>
          <a:lstStyle/>
          <a:p>
            <a:endParaRPr lang="th-TH"/>
          </a:p>
        </p:txBody>
      </p:sp>
      <p:sp>
        <p:nvSpPr>
          <p:cNvPr id="9" name="Text 7"/>
          <p:cNvSpPr/>
          <p:nvPr/>
        </p:nvSpPr>
        <p:spPr>
          <a:xfrm>
            <a:off x="4343400" y="987552"/>
            <a:ext cx="4389120" cy="320040"/>
          </a:xfrm>
          <a:prstGeom prst="rect">
            <a:avLst/>
          </a:prstGeom>
          <a:noFill/>
          <a:ln/>
        </p:spPr>
        <p:txBody>
          <a:bodyPr wrap="square" lIns="0" tIns="0" rIns="0" bIns="0" rtlCol="0" anchor="ctr"/>
          <a:lstStyle/>
          <a:p>
            <a:pPr marL="0" indent="0">
              <a:buNone/>
            </a:pPr>
            <a:r>
              <a:rPr lang="en-US" sz="1100" b="1" dirty="0">
                <a:solidFill>
                  <a:srgbClr val="1565C0"/>
                </a:solidFill>
                <a:latin typeface="Calibri" pitchFamily="34" charset="0"/>
                <a:ea typeface="Calibri" pitchFamily="34" charset="-122"/>
                <a:cs typeface="Calibri" pitchFamily="34" charset="-120"/>
              </a:rPr>
              <a:t>Research Question</a:t>
            </a:r>
            <a:endParaRPr lang="en-US" sz="1100" dirty="0"/>
          </a:p>
        </p:txBody>
      </p:sp>
      <p:sp>
        <p:nvSpPr>
          <p:cNvPr id="10" name="Text 8"/>
          <p:cNvSpPr/>
          <p:nvPr/>
        </p:nvSpPr>
        <p:spPr>
          <a:xfrm>
            <a:off x="4343400" y="1325880"/>
            <a:ext cx="4389120" cy="822960"/>
          </a:xfrm>
          <a:prstGeom prst="rect">
            <a:avLst/>
          </a:prstGeom>
          <a:noFill/>
          <a:ln/>
        </p:spPr>
        <p:txBody>
          <a:bodyPr wrap="square" lIns="0" tIns="0" rIns="0" bIns="0" rtlCol="0" anchor="ctr"/>
          <a:lstStyle/>
          <a:p>
            <a:pPr marL="0" indent="0">
              <a:lnSpc>
                <a:spcPct val="135000"/>
              </a:lnSpc>
              <a:buNone/>
            </a:pPr>
            <a:r>
              <a:rPr lang="en-US" sz="1250" i="1" dirty="0">
                <a:solidFill>
                  <a:srgbClr val="0A2342"/>
                </a:solidFill>
                <a:latin typeface="Calibri" pitchFamily="34" charset="0"/>
                <a:ea typeface="Calibri" pitchFamily="34" charset="-122"/>
                <a:cs typeface="Calibri" pitchFamily="34" charset="-120"/>
              </a:rPr>
              <a:t>When does Traffic congestion happen ?</a:t>
            </a:r>
          </a:p>
          <a:p>
            <a:pPr marL="0" indent="0">
              <a:lnSpc>
                <a:spcPct val="135000"/>
              </a:lnSpc>
              <a:buNone/>
            </a:pPr>
            <a:r>
              <a:rPr lang="en-US" sz="1250" i="1" dirty="0">
                <a:solidFill>
                  <a:srgbClr val="0A2342"/>
                </a:solidFill>
                <a:latin typeface="Calibri" pitchFamily="34" charset="0"/>
                <a:ea typeface="Calibri" pitchFamily="34" charset="-122"/>
                <a:cs typeface="Calibri" pitchFamily="34" charset="-120"/>
              </a:rPr>
              <a:t>Do people switch to public transport when roads get congested — and by how much?</a:t>
            </a:r>
            <a:endParaRPr lang="en-US" sz="1250" dirty="0"/>
          </a:p>
        </p:txBody>
      </p:sp>
      <p:sp>
        <p:nvSpPr>
          <p:cNvPr id="11" name="Shape 9"/>
          <p:cNvSpPr/>
          <p:nvPr/>
        </p:nvSpPr>
        <p:spPr>
          <a:xfrm>
            <a:off x="4206240" y="2606040"/>
            <a:ext cx="1078992" cy="1097280"/>
          </a:xfrm>
          <a:prstGeom prst="rect">
            <a:avLst/>
          </a:prstGeom>
          <a:solidFill>
            <a:srgbClr val="FFFFFF"/>
          </a:solidFill>
          <a:ln w="9525">
            <a:solidFill>
              <a:srgbClr val="CFD8DC"/>
            </a:solidFill>
            <a:prstDash val="solid"/>
          </a:ln>
          <a:effectLst>
            <a:outerShdw blurRad="63500" dist="25400" dir="8100000" algn="bl" rotWithShape="0">
              <a:srgbClr val="000000">
                <a:alpha val="10000"/>
              </a:srgbClr>
            </a:outerShdw>
          </a:effectLst>
        </p:spPr>
        <p:txBody>
          <a:bodyPr/>
          <a:lstStyle/>
          <a:p>
            <a:endParaRPr lang="th-TH"/>
          </a:p>
        </p:txBody>
      </p:sp>
      <p:sp>
        <p:nvSpPr>
          <p:cNvPr id="12" name="Shape 10"/>
          <p:cNvSpPr/>
          <p:nvPr/>
        </p:nvSpPr>
        <p:spPr>
          <a:xfrm>
            <a:off x="4206240" y="2606040"/>
            <a:ext cx="1078992" cy="54864"/>
          </a:xfrm>
          <a:prstGeom prst="rect">
            <a:avLst/>
          </a:prstGeom>
          <a:solidFill>
            <a:srgbClr val="1565C0"/>
          </a:solidFill>
          <a:ln/>
        </p:spPr>
        <p:txBody>
          <a:bodyPr/>
          <a:lstStyle/>
          <a:p>
            <a:endParaRPr lang="th-TH"/>
          </a:p>
        </p:txBody>
      </p:sp>
      <p:sp>
        <p:nvSpPr>
          <p:cNvPr id="13" name="Text 11"/>
          <p:cNvSpPr/>
          <p:nvPr/>
        </p:nvSpPr>
        <p:spPr>
          <a:xfrm>
            <a:off x="4279392" y="2715768"/>
            <a:ext cx="932688" cy="570586"/>
          </a:xfrm>
          <a:prstGeom prst="rect">
            <a:avLst/>
          </a:prstGeom>
          <a:noFill/>
          <a:ln/>
        </p:spPr>
        <p:txBody>
          <a:bodyPr wrap="square" lIns="0" tIns="0" rIns="0" bIns="0" rtlCol="0" anchor="ctr"/>
          <a:lstStyle/>
          <a:p>
            <a:pPr marL="0" indent="0" algn="ctr">
              <a:buNone/>
            </a:pPr>
            <a:r>
              <a:rPr lang="en-US" sz="2200" b="1" dirty="0">
                <a:solidFill>
                  <a:srgbClr val="1565C0"/>
                </a:solidFill>
                <a:latin typeface="Calibri" pitchFamily="34" charset="0"/>
                <a:ea typeface="Calibri" pitchFamily="34" charset="-122"/>
                <a:cs typeface="Calibri" pitchFamily="34" charset="-120"/>
              </a:rPr>
              <a:t>8,600</a:t>
            </a:r>
            <a:endParaRPr lang="en-US" sz="2200" dirty="0"/>
          </a:p>
        </p:txBody>
      </p:sp>
      <p:sp>
        <p:nvSpPr>
          <p:cNvPr id="14" name="Text 12"/>
          <p:cNvSpPr/>
          <p:nvPr/>
        </p:nvSpPr>
        <p:spPr>
          <a:xfrm>
            <a:off x="4279392" y="3242462"/>
            <a:ext cx="932688" cy="416966"/>
          </a:xfrm>
          <a:prstGeom prst="rect">
            <a:avLst/>
          </a:prstGeom>
          <a:noFill/>
          <a:ln/>
        </p:spPr>
        <p:txBody>
          <a:bodyPr wrap="square" lIns="0" tIns="0" rIns="0" bIns="0" rtlCol="0" anchor="t"/>
          <a:lstStyle/>
          <a:p>
            <a:pPr marL="0" indent="0" algn="ctr">
              <a:buNone/>
            </a:pPr>
            <a:r>
              <a:rPr lang="en-US" sz="1000" dirty="0">
                <a:solidFill>
                  <a:srgbClr val="607D8B"/>
                </a:solidFill>
                <a:latin typeface="Calibri" pitchFamily="34" charset="0"/>
                <a:ea typeface="Calibri" pitchFamily="34" charset="-122"/>
                <a:cs typeface="Calibri" pitchFamily="34" charset="-120"/>
              </a:rPr>
              <a:t>Freeway Sensors</a:t>
            </a:r>
            <a:endParaRPr lang="en-US" sz="1000" dirty="0"/>
          </a:p>
        </p:txBody>
      </p:sp>
      <p:sp>
        <p:nvSpPr>
          <p:cNvPr id="15" name="Shape 13"/>
          <p:cNvSpPr/>
          <p:nvPr/>
        </p:nvSpPr>
        <p:spPr>
          <a:xfrm>
            <a:off x="5394960" y="2606040"/>
            <a:ext cx="1078992" cy="1097280"/>
          </a:xfrm>
          <a:prstGeom prst="rect">
            <a:avLst/>
          </a:prstGeom>
          <a:solidFill>
            <a:srgbClr val="FFFFFF"/>
          </a:solidFill>
          <a:ln w="9525">
            <a:solidFill>
              <a:srgbClr val="CFD8DC"/>
            </a:solidFill>
            <a:prstDash val="solid"/>
          </a:ln>
          <a:effectLst>
            <a:outerShdw blurRad="63500" dist="25400" dir="8100000" algn="bl" rotWithShape="0">
              <a:srgbClr val="000000">
                <a:alpha val="10000"/>
              </a:srgbClr>
            </a:outerShdw>
          </a:effectLst>
        </p:spPr>
        <p:txBody>
          <a:bodyPr/>
          <a:lstStyle/>
          <a:p>
            <a:endParaRPr lang="th-TH"/>
          </a:p>
        </p:txBody>
      </p:sp>
      <p:sp>
        <p:nvSpPr>
          <p:cNvPr id="16" name="Shape 14"/>
          <p:cNvSpPr/>
          <p:nvPr/>
        </p:nvSpPr>
        <p:spPr>
          <a:xfrm>
            <a:off x="5394960" y="2606040"/>
            <a:ext cx="1078992" cy="54864"/>
          </a:xfrm>
          <a:prstGeom prst="rect">
            <a:avLst/>
          </a:prstGeom>
          <a:solidFill>
            <a:srgbClr val="1565C0"/>
          </a:solidFill>
          <a:ln/>
        </p:spPr>
        <p:txBody>
          <a:bodyPr/>
          <a:lstStyle/>
          <a:p>
            <a:endParaRPr lang="th-TH"/>
          </a:p>
        </p:txBody>
      </p:sp>
      <p:sp>
        <p:nvSpPr>
          <p:cNvPr id="17" name="Text 15"/>
          <p:cNvSpPr/>
          <p:nvPr/>
        </p:nvSpPr>
        <p:spPr>
          <a:xfrm>
            <a:off x="5468112" y="2715768"/>
            <a:ext cx="932688" cy="570586"/>
          </a:xfrm>
          <a:prstGeom prst="rect">
            <a:avLst/>
          </a:prstGeom>
          <a:noFill/>
          <a:ln/>
        </p:spPr>
        <p:txBody>
          <a:bodyPr wrap="square" lIns="0" tIns="0" rIns="0" bIns="0" rtlCol="0" anchor="ctr"/>
          <a:lstStyle/>
          <a:p>
            <a:pPr marL="0" indent="0" algn="ctr">
              <a:buNone/>
            </a:pPr>
            <a:r>
              <a:rPr lang="en-US" sz="2200" b="1" dirty="0">
                <a:solidFill>
                  <a:srgbClr val="1565C0"/>
                </a:solidFill>
                <a:latin typeface="Calibri" pitchFamily="34" charset="0"/>
                <a:ea typeface="Calibri" pitchFamily="34" charset="-122"/>
                <a:cs typeface="Calibri" pitchFamily="34" charset="-120"/>
              </a:rPr>
              <a:t>105,120</a:t>
            </a:r>
            <a:endParaRPr lang="en-US" sz="2200" dirty="0"/>
          </a:p>
        </p:txBody>
      </p:sp>
      <p:sp>
        <p:nvSpPr>
          <p:cNvPr id="18" name="Text 16"/>
          <p:cNvSpPr/>
          <p:nvPr/>
        </p:nvSpPr>
        <p:spPr>
          <a:xfrm>
            <a:off x="5468112" y="3242462"/>
            <a:ext cx="932688" cy="416966"/>
          </a:xfrm>
          <a:prstGeom prst="rect">
            <a:avLst/>
          </a:prstGeom>
          <a:noFill/>
          <a:ln/>
        </p:spPr>
        <p:txBody>
          <a:bodyPr wrap="square" lIns="0" tIns="0" rIns="0" bIns="0" rtlCol="0" anchor="t"/>
          <a:lstStyle/>
          <a:p>
            <a:pPr marL="0" indent="0" algn="ctr">
              <a:buNone/>
            </a:pPr>
            <a:r>
              <a:rPr lang="en-US" sz="1000" dirty="0">
                <a:solidFill>
                  <a:srgbClr val="607D8B"/>
                </a:solidFill>
                <a:latin typeface="Calibri" pitchFamily="34" charset="0"/>
                <a:ea typeface="Calibri" pitchFamily="34" charset="-122"/>
                <a:cs typeface="Calibri" pitchFamily="34" charset="-120"/>
              </a:rPr>
              <a:t>Timestamps</a:t>
            </a:r>
            <a:endParaRPr lang="en-US" sz="1000" dirty="0"/>
          </a:p>
        </p:txBody>
      </p:sp>
      <p:sp>
        <p:nvSpPr>
          <p:cNvPr id="19" name="Shape 17"/>
          <p:cNvSpPr/>
          <p:nvPr/>
        </p:nvSpPr>
        <p:spPr>
          <a:xfrm>
            <a:off x="6583680" y="2606040"/>
            <a:ext cx="1078992" cy="1097280"/>
          </a:xfrm>
          <a:prstGeom prst="rect">
            <a:avLst/>
          </a:prstGeom>
          <a:solidFill>
            <a:srgbClr val="FFFFFF"/>
          </a:solidFill>
          <a:ln w="9525">
            <a:solidFill>
              <a:srgbClr val="CFD8DC"/>
            </a:solidFill>
            <a:prstDash val="solid"/>
          </a:ln>
          <a:effectLst>
            <a:outerShdw blurRad="63500" dist="25400" dir="8100000" algn="bl" rotWithShape="0">
              <a:srgbClr val="000000">
                <a:alpha val="10000"/>
              </a:srgbClr>
            </a:outerShdw>
          </a:effectLst>
        </p:spPr>
        <p:txBody>
          <a:bodyPr/>
          <a:lstStyle/>
          <a:p>
            <a:endParaRPr lang="th-TH"/>
          </a:p>
        </p:txBody>
      </p:sp>
      <p:sp>
        <p:nvSpPr>
          <p:cNvPr id="20" name="Shape 18"/>
          <p:cNvSpPr/>
          <p:nvPr/>
        </p:nvSpPr>
        <p:spPr>
          <a:xfrm>
            <a:off x="6583680" y="2606040"/>
            <a:ext cx="1078992" cy="54864"/>
          </a:xfrm>
          <a:prstGeom prst="rect">
            <a:avLst/>
          </a:prstGeom>
          <a:solidFill>
            <a:srgbClr val="1565C0"/>
          </a:solidFill>
          <a:ln/>
        </p:spPr>
        <p:txBody>
          <a:bodyPr/>
          <a:lstStyle/>
          <a:p>
            <a:endParaRPr lang="th-TH"/>
          </a:p>
        </p:txBody>
      </p:sp>
      <p:sp>
        <p:nvSpPr>
          <p:cNvPr id="21" name="Text 19"/>
          <p:cNvSpPr/>
          <p:nvPr/>
        </p:nvSpPr>
        <p:spPr>
          <a:xfrm>
            <a:off x="6656832" y="2715768"/>
            <a:ext cx="932688" cy="570586"/>
          </a:xfrm>
          <a:prstGeom prst="rect">
            <a:avLst/>
          </a:prstGeom>
          <a:noFill/>
          <a:ln/>
        </p:spPr>
        <p:txBody>
          <a:bodyPr wrap="square" lIns="0" tIns="0" rIns="0" bIns="0" rtlCol="0" anchor="ctr"/>
          <a:lstStyle/>
          <a:p>
            <a:pPr marL="0" indent="0" algn="ctr">
              <a:buNone/>
            </a:pPr>
            <a:r>
              <a:rPr lang="en-US" sz="2200" b="1" dirty="0">
                <a:solidFill>
                  <a:srgbClr val="1565C0"/>
                </a:solidFill>
                <a:latin typeface="Calibri" pitchFamily="34" charset="0"/>
                <a:ea typeface="Calibri" pitchFamily="34" charset="-122"/>
                <a:cs typeface="Calibri" pitchFamily="34" charset="-120"/>
              </a:rPr>
              <a:t>310.8M</a:t>
            </a:r>
            <a:endParaRPr lang="en-US" sz="2200" dirty="0"/>
          </a:p>
        </p:txBody>
      </p:sp>
      <p:sp>
        <p:nvSpPr>
          <p:cNvPr id="22" name="Text 20"/>
          <p:cNvSpPr/>
          <p:nvPr/>
        </p:nvSpPr>
        <p:spPr>
          <a:xfrm>
            <a:off x="6656832" y="3242462"/>
            <a:ext cx="932688" cy="416966"/>
          </a:xfrm>
          <a:prstGeom prst="rect">
            <a:avLst/>
          </a:prstGeom>
          <a:noFill/>
          <a:ln/>
        </p:spPr>
        <p:txBody>
          <a:bodyPr wrap="square" lIns="0" tIns="0" rIns="0" bIns="0" rtlCol="0" anchor="t"/>
          <a:lstStyle/>
          <a:p>
            <a:pPr marL="0" indent="0" algn="ctr">
              <a:buNone/>
            </a:pPr>
            <a:r>
              <a:rPr lang="en-US" sz="1000" dirty="0">
                <a:solidFill>
                  <a:srgbClr val="607D8B"/>
                </a:solidFill>
                <a:latin typeface="Calibri" pitchFamily="34" charset="0"/>
                <a:ea typeface="Calibri" pitchFamily="34" charset="-122"/>
                <a:cs typeface="Calibri" pitchFamily="34" charset="-120"/>
              </a:rPr>
              <a:t>Annual UPT</a:t>
            </a:r>
            <a:endParaRPr lang="en-US" sz="1000" dirty="0"/>
          </a:p>
        </p:txBody>
      </p:sp>
      <p:sp>
        <p:nvSpPr>
          <p:cNvPr id="23" name="Shape 21"/>
          <p:cNvSpPr/>
          <p:nvPr/>
        </p:nvSpPr>
        <p:spPr>
          <a:xfrm>
            <a:off x="7772400" y="2606040"/>
            <a:ext cx="1078992" cy="1097280"/>
          </a:xfrm>
          <a:prstGeom prst="rect">
            <a:avLst/>
          </a:prstGeom>
          <a:solidFill>
            <a:srgbClr val="FFFFFF"/>
          </a:solidFill>
          <a:ln w="9525">
            <a:solidFill>
              <a:srgbClr val="CFD8DC"/>
            </a:solidFill>
            <a:prstDash val="solid"/>
          </a:ln>
          <a:effectLst>
            <a:outerShdw blurRad="63500" dist="25400" dir="8100000" algn="bl" rotWithShape="0">
              <a:srgbClr val="000000">
                <a:alpha val="10000"/>
              </a:srgbClr>
            </a:outerShdw>
          </a:effectLst>
        </p:spPr>
        <p:txBody>
          <a:bodyPr/>
          <a:lstStyle/>
          <a:p>
            <a:endParaRPr lang="th-TH"/>
          </a:p>
        </p:txBody>
      </p:sp>
      <p:sp>
        <p:nvSpPr>
          <p:cNvPr id="24" name="Shape 22"/>
          <p:cNvSpPr/>
          <p:nvPr/>
        </p:nvSpPr>
        <p:spPr>
          <a:xfrm>
            <a:off x="7772400" y="2606040"/>
            <a:ext cx="1078992" cy="54864"/>
          </a:xfrm>
          <a:prstGeom prst="rect">
            <a:avLst/>
          </a:prstGeom>
          <a:solidFill>
            <a:srgbClr val="1565C0"/>
          </a:solidFill>
          <a:ln/>
        </p:spPr>
        <p:txBody>
          <a:bodyPr/>
          <a:lstStyle/>
          <a:p>
            <a:endParaRPr lang="th-TH"/>
          </a:p>
        </p:txBody>
      </p:sp>
      <p:sp>
        <p:nvSpPr>
          <p:cNvPr id="25" name="Text 23"/>
          <p:cNvSpPr/>
          <p:nvPr/>
        </p:nvSpPr>
        <p:spPr>
          <a:xfrm>
            <a:off x="7845552" y="2715768"/>
            <a:ext cx="932688" cy="570586"/>
          </a:xfrm>
          <a:prstGeom prst="rect">
            <a:avLst/>
          </a:prstGeom>
          <a:noFill/>
          <a:ln/>
        </p:spPr>
        <p:txBody>
          <a:bodyPr wrap="square" lIns="0" tIns="0" rIns="0" bIns="0" rtlCol="0" anchor="ctr"/>
          <a:lstStyle/>
          <a:p>
            <a:pPr marL="0" indent="0" algn="ctr">
              <a:buNone/>
            </a:pPr>
            <a:r>
              <a:rPr lang="en-US" sz="2200" b="1" dirty="0">
                <a:solidFill>
                  <a:srgbClr val="1565C0"/>
                </a:solidFill>
                <a:latin typeface="Calibri" pitchFamily="34" charset="0"/>
                <a:ea typeface="Calibri" pitchFamily="34" charset="-122"/>
                <a:cs typeface="Calibri" pitchFamily="34" charset="-120"/>
              </a:rPr>
              <a:t>20</a:t>
            </a:r>
            <a:endParaRPr lang="en-US" sz="2200" dirty="0"/>
          </a:p>
        </p:txBody>
      </p:sp>
      <p:sp>
        <p:nvSpPr>
          <p:cNvPr id="26" name="Text 24"/>
          <p:cNvSpPr/>
          <p:nvPr/>
        </p:nvSpPr>
        <p:spPr>
          <a:xfrm>
            <a:off x="7845552" y="3242462"/>
            <a:ext cx="932688" cy="416966"/>
          </a:xfrm>
          <a:prstGeom prst="rect">
            <a:avLst/>
          </a:prstGeom>
          <a:noFill/>
          <a:ln/>
        </p:spPr>
        <p:txBody>
          <a:bodyPr wrap="square" lIns="0" tIns="0" rIns="0" bIns="0" rtlCol="0" anchor="t"/>
          <a:lstStyle/>
          <a:p>
            <a:pPr marL="0" indent="0" algn="ctr">
              <a:buNone/>
            </a:pPr>
            <a:r>
              <a:rPr lang="en-US" sz="1000" dirty="0">
                <a:solidFill>
                  <a:srgbClr val="607D8B"/>
                </a:solidFill>
                <a:latin typeface="Calibri" pitchFamily="34" charset="0"/>
                <a:ea typeface="Calibri" pitchFamily="34" charset="-122"/>
                <a:cs typeface="Calibri" pitchFamily="34" charset="-120"/>
              </a:rPr>
              <a:t>Transit Agencies</a:t>
            </a:r>
            <a:endParaRPr lang="en-US" sz="1000" dirty="0"/>
          </a:p>
        </p:txBody>
      </p:sp>
      <p:sp>
        <p:nvSpPr>
          <p:cNvPr id="27" name="Text 25"/>
          <p:cNvSpPr/>
          <p:nvPr/>
        </p:nvSpPr>
        <p:spPr>
          <a:xfrm>
            <a:off x="4206240" y="3931920"/>
            <a:ext cx="4663440" cy="274320"/>
          </a:xfrm>
          <a:prstGeom prst="rect">
            <a:avLst/>
          </a:prstGeom>
          <a:noFill/>
          <a:ln/>
        </p:spPr>
        <p:txBody>
          <a:bodyPr wrap="square" lIns="0" tIns="0" rIns="0" bIns="0" rtlCol="0" anchor="ctr"/>
          <a:lstStyle/>
          <a:p>
            <a:pPr marL="0" indent="0" algn="ctr">
              <a:buNone/>
            </a:pPr>
            <a:r>
              <a:rPr lang="en-US" sz="900" dirty="0">
                <a:solidFill>
                  <a:srgbClr val="607D8B"/>
                </a:solidFill>
                <a:latin typeface="Calibri" pitchFamily="34" charset="0"/>
                <a:ea typeface="Calibri" pitchFamily="34" charset="-122"/>
                <a:cs typeface="Calibri" pitchFamily="34" charset="-120"/>
              </a:rPr>
              <a:t>Full Year 2021  •  California Freeway Network  •  Los Angeles Metro Area</a:t>
            </a:r>
            <a:endParaRPr lang="en-US" sz="900" dirty="0"/>
          </a:p>
        </p:txBody>
      </p:sp>
      <p:pic>
        <p:nvPicPr>
          <p:cNvPr id="28" name="Camera 27">
            <a:extLst>
              <a:ext uri="{FF2B5EF4-FFF2-40B4-BE49-F238E27FC236}">
                <a16:creationId xmlns:a16="http://schemas.microsoft.com/office/drawing/2014/main" id="{7F146671-2029-65D2-2265-76B5F65D8E5F}"/>
              </a:ext>
            </a:extLst>
          </p:cNvPr>
          <p:cNvPicPr>
            <a:picLocks noChangeAspect="1"/>
            <a:extLst>
              <a:ext uri="{51228E76-BA90-4043-B771-695A4F85340A}">
                <alf:liveFeedProps xmlns:alf="http://schemas.microsoft.com/office/drawing/2021/livefeed"/>
              </a:ext>
            </a:extLst>
          </p:cNvPicPr>
          <p:nvPr/>
        </p:nvPicPr>
        <p:blipFill>
          <a:blip>
            <a:extLst>
              <a:ext uri="{96DAC541-7B7A-43D3-8B79-37D633B846F1}">
                <asvg:svgBlip xmlns:asvg="http://schemas.microsoft.com/office/drawing/2016/SVG/main" r:embed="rId3"/>
              </a:ext>
            </a:extLst>
          </a:blip>
          <a:stretch>
            <a:fillRect/>
          </a:stretch>
        </p:blipFill>
        <p:spPr>
          <a:xfrm>
            <a:off x="7539228" y="3538728"/>
            <a:ext cx="1543050" cy="1543050"/>
          </a:xfrm>
          <a:prstGeom prst="ellipse">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A2342"/>
          </a:solidFill>
          <a:ln/>
        </p:spPr>
        <p:txBody>
          <a:bodyPr/>
          <a:lstStyle/>
          <a:p>
            <a:endParaRPr lang="th-TH"/>
          </a:p>
        </p:txBody>
      </p:sp>
      <p:sp>
        <p:nvSpPr>
          <p:cNvPr id="3" name="Shape 1"/>
          <p:cNvSpPr/>
          <p:nvPr/>
        </p:nvSpPr>
        <p:spPr>
          <a:xfrm>
            <a:off x="0" y="960120"/>
            <a:ext cx="9144000" cy="41148"/>
          </a:xfrm>
          <a:prstGeom prst="rect">
            <a:avLst/>
          </a:prstGeom>
          <a:solidFill>
            <a:srgbClr val="1976D2"/>
          </a:solidFill>
          <a:ln/>
        </p:spPr>
        <p:txBody>
          <a:bodyPr/>
          <a:lstStyle/>
          <a:p>
            <a:endParaRPr lang="th-TH"/>
          </a:p>
        </p:txBody>
      </p:sp>
      <p:sp>
        <p:nvSpPr>
          <p:cNvPr id="4" name="Text 2"/>
          <p:cNvSpPr/>
          <p:nvPr/>
        </p:nvSpPr>
        <p:spPr>
          <a:xfrm>
            <a:off x="411480" y="91440"/>
            <a:ext cx="7955280" cy="502920"/>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Analysis Pipeline</a:t>
            </a:r>
            <a:endParaRPr lang="en-US" sz="2000" dirty="0"/>
          </a:p>
        </p:txBody>
      </p:sp>
      <p:sp>
        <p:nvSpPr>
          <p:cNvPr id="5" name="Text 3"/>
          <p:cNvSpPr/>
          <p:nvPr/>
        </p:nvSpPr>
        <p:spPr>
          <a:xfrm>
            <a:off x="411480" y="576072"/>
            <a:ext cx="8046720" cy="320040"/>
          </a:xfrm>
          <a:prstGeom prst="rect">
            <a:avLst/>
          </a:prstGeom>
          <a:noFill/>
          <a:ln/>
        </p:spPr>
        <p:txBody>
          <a:bodyPr wrap="square" lIns="0" tIns="0" rIns="0" bIns="0" rtlCol="0" anchor="ctr"/>
          <a:lstStyle/>
          <a:p>
            <a:pPr marL="0" indent="0">
              <a:buNone/>
            </a:pPr>
            <a:r>
              <a:rPr lang="en-US" sz="1100" dirty="0">
                <a:solidFill>
                  <a:srgbClr val="BBDEFB"/>
                </a:solidFill>
                <a:latin typeface="Calibri" pitchFamily="34" charset="0"/>
                <a:ea typeface="Calibri" pitchFamily="34" charset="-122"/>
                <a:cs typeface="Calibri" pitchFamily="34" charset="-120"/>
              </a:rPr>
              <a:t>End-to-end methodology: from raw sensor data to actionable insights</a:t>
            </a:r>
            <a:endParaRPr lang="en-US" sz="1100" dirty="0"/>
          </a:p>
        </p:txBody>
      </p:sp>
      <p:sp>
        <p:nvSpPr>
          <p:cNvPr id="6" name="Shape 4"/>
          <p:cNvSpPr/>
          <p:nvPr/>
        </p:nvSpPr>
        <p:spPr>
          <a:xfrm>
            <a:off x="8641080" y="201168"/>
            <a:ext cx="347472" cy="347472"/>
          </a:xfrm>
          <a:prstGeom prst="ellipse">
            <a:avLst/>
          </a:prstGeom>
          <a:solidFill>
            <a:srgbClr val="1976D2"/>
          </a:solidFill>
          <a:ln/>
        </p:spPr>
        <p:txBody>
          <a:bodyPr/>
          <a:lstStyle/>
          <a:p>
            <a:endParaRPr lang="th-TH"/>
          </a:p>
        </p:txBody>
      </p:sp>
      <p:sp>
        <p:nvSpPr>
          <p:cNvPr id="7" name="Shape 5"/>
          <p:cNvSpPr/>
          <p:nvPr/>
        </p:nvSpPr>
        <p:spPr>
          <a:xfrm>
            <a:off x="0" y="4850892"/>
            <a:ext cx="9144000" cy="292608"/>
          </a:xfrm>
          <a:prstGeom prst="rect">
            <a:avLst/>
          </a:prstGeom>
          <a:solidFill>
            <a:srgbClr val="E3F0FF"/>
          </a:solidFill>
          <a:ln/>
        </p:spPr>
        <p:txBody>
          <a:bodyPr/>
          <a:lstStyle/>
          <a:p>
            <a:endParaRPr lang="th-TH"/>
          </a:p>
        </p:txBody>
      </p:sp>
      <p:sp>
        <p:nvSpPr>
          <p:cNvPr id="8" name="Text 6"/>
          <p:cNvSpPr/>
          <p:nvPr/>
        </p:nvSpPr>
        <p:spPr>
          <a:xfrm>
            <a:off x="320040" y="4869180"/>
            <a:ext cx="7315200" cy="256032"/>
          </a:xfrm>
          <a:prstGeom prst="rect">
            <a:avLst/>
          </a:prstGeom>
          <a:noFill/>
          <a:ln/>
        </p:spPr>
        <p:txBody>
          <a:bodyPr wrap="square" lIns="0" tIns="0" rIns="0" bIns="0" rtlCol="0" anchor="ctr"/>
          <a:lstStyle/>
          <a:p>
            <a:pPr marL="0" indent="0">
              <a:buNone/>
            </a:pPr>
            <a:r>
              <a:rPr lang="en-US" sz="850" dirty="0">
                <a:solidFill>
                  <a:srgbClr val="607D8B"/>
                </a:solidFill>
                <a:latin typeface="Calibri" pitchFamily="34" charset="0"/>
                <a:ea typeface="Calibri" pitchFamily="34" charset="-122"/>
                <a:cs typeface="Calibri" pitchFamily="34" charset="-120"/>
              </a:rPr>
              <a:t>FlowShift  |  Urban Traffic &amp; Transit Demand — Los Angeles 2021</a:t>
            </a:r>
            <a:endParaRPr lang="en-US" sz="850" dirty="0"/>
          </a:p>
        </p:txBody>
      </p:sp>
      <p:sp>
        <p:nvSpPr>
          <p:cNvPr id="9" name="Text 7"/>
          <p:cNvSpPr/>
          <p:nvPr/>
        </p:nvSpPr>
        <p:spPr>
          <a:xfrm>
            <a:off x="8503920" y="4869180"/>
            <a:ext cx="502920" cy="256032"/>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2 / 15</a:t>
            </a:r>
            <a:endParaRPr lang="en-US" sz="850" dirty="0"/>
          </a:p>
        </p:txBody>
      </p:sp>
      <p:sp>
        <p:nvSpPr>
          <p:cNvPr id="10" name="Shape 8"/>
          <p:cNvSpPr/>
          <p:nvPr/>
        </p:nvSpPr>
        <p:spPr>
          <a:xfrm>
            <a:off x="292608" y="1371600"/>
            <a:ext cx="1088136" cy="2926080"/>
          </a:xfrm>
          <a:prstGeom prst="rect">
            <a:avLst/>
          </a:prstGeom>
          <a:solidFill>
            <a:srgbClr val="FFFFFF"/>
          </a:solidFill>
          <a:ln w="9525">
            <a:solidFill>
              <a:srgbClr val="CFD8DC"/>
            </a:solidFill>
            <a:prstDash val="solid"/>
          </a:ln>
          <a:effectLst>
            <a:outerShdw blurRad="63500" dist="25400" dir="8100000" algn="bl" rotWithShape="0">
              <a:srgbClr val="000000">
                <a:alpha val="10000"/>
              </a:srgbClr>
            </a:outerShdw>
          </a:effectLst>
        </p:spPr>
        <p:txBody>
          <a:bodyPr/>
          <a:lstStyle/>
          <a:p>
            <a:endParaRPr lang="th-TH"/>
          </a:p>
        </p:txBody>
      </p:sp>
      <p:sp>
        <p:nvSpPr>
          <p:cNvPr id="11" name="Shape 9"/>
          <p:cNvSpPr/>
          <p:nvPr/>
        </p:nvSpPr>
        <p:spPr>
          <a:xfrm>
            <a:off x="292608" y="1371600"/>
            <a:ext cx="1088136" cy="54864"/>
          </a:xfrm>
          <a:prstGeom prst="rect">
            <a:avLst/>
          </a:prstGeom>
          <a:solidFill>
            <a:srgbClr val="1565C0"/>
          </a:solidFill>
          <a:ln/>
        </p:spPr>
        <p:txBody>
          <a:bodyPr/>
          <a:lstStyle/>
          <a:p>
            <a:endParaRPr lang="th-TH"/>
          </a:p>
        </p:txBody>
      </p:sp>
      <p:sp>
        <p:nvSpPr>
          <p:cNvPr id="12" name="Shape 10"/>
          <p:cNvSpPr/>
          <p:nvPr/>
        </p:nvSpPr>
        <p:spPr>
          <a:xfrm>
            <a:off x="608076" y="1508760"/>
            <a:ext cx="457200" cy="457200"/>
          </a:xfrm>
          <a:prstGeom prst="ellipse">
            <a:avLst/>
          </a:prstGeom>
          <a:solidFill>
            <a:srgbClr val="0A2342"/>
          </a:solidFill>
          <a:ln/>
        </p:spPr>
        <p:txBody>
          <a:bodyPr/>
          <a:lstStyle/>
          <a:p>
            <a:endParaRPr lang="th-TH"/>
          </a:p>
        </p:txBody>
      </p:sp>
      <p:sp>
        <p:nvSpPr>
          <p:cNvPr id="13" name="Text 11"/>
          <p:cNvSpPr/>
          <p:nvPr/>
        </p:nvSpPr>
        <p:spPr>
          <a:xfrm>
            <a:off x="608076" y="1508760"/>
            <a:ext cx="45720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01</a:t>
            </a:r>
            <a:endParaRPr lang="en-US" sz="1100" dirty="0"/>
          </a:p>
        </p:txBody>
      </p:sp>
      <p:sp>
        <p:nvSpPr>
          <p:cNvPr id="14" name="Text 12"/>
          <p:cNvSpPr/>
          <p:nvPr/>
        </p:nvSpPr>
        <p:spPr>
          <a:xfrm>
            <a:off x="338328" y="2057400"/>
            <a:ext cx="996696" cy="594360"/>
          </a:xfrm>
          <a:prstGeom prst="rect">
            <a:avLst/>
          </a:prstGeom>
          <a:noFill/>
          <a:ln/>
        </p:spPr>
        <p:txBody>
          <a:bodyPr wrap="square" lIns="0" tIns="0" rIns="0" bIns="0" rtlCol="0" anchor="ctr"/>
          <a:lstStyle/>
          <a:p>
            <a:pPr marL="0" indent="0" algn="ctr">
              <a:buNone/>
            </a:pPr>
            <a:r>
              <a:rPr lang="en-US" sz="1100" b="1" dirty="0">
                <a:solidFill>
                  <a:srgbClr val="0A2342"/>
                </a:solidFill>
                <a:latin typeface="Calibri" pitchFamily="34" charset="0"/>
                <a:ea typeface="Calibri" pitchFamily="34" charset="-122"/>
                <a:cs typeface="Calibri" pitchFamily="34" charset="-120"/>
              </a:rPr>
              <a:t>Data</a:t>
            </a:r>
            <a:endParaRPr lang="en-US" sz="1100" dirty="0"/>
          </a:p>
          <a:p>
            <a:pPr marL="0" indent="0" algn="ctr">
              <a:buNone/>
            </a:pPr>
            <a:r>
              <a:rPr lang="en-US" sz="1100" b="1" dirty="0">
                <a:solidFill>
                  <a:srgbClr val="0A2342"/>
                </a:solidFill>
                <a:latin typeface="Calibri" pitchFamily="34" charset="0"/>
                <a:ea typeface="Calibri" pitchFamily="34" charset="-122"/>
                <a:cs typeface="Calibri" pitchFamily="34" charset="-120"/>
              </a:rPr>
              <a:t>Collection</a:t>
            </a:r>
            <a:endParaRPr lang="en-US" sz="1100" dirty="0"/>
          </a:p>
        </p:txBody>
      </p:sp>
      <p:sp>
        <p:nvSpPr>
          <p:cNvPr id="15" name="Text 13"/>
          <p:cNvSpPr/>
          <p:nvPr/>
        </p:nvSpPr>
        <p:spPr>
          <a:xfrm>
            <a:off x="347472" y="2788920"/>
            <a:ext cx="978408" cy="402336"/>
          </a:xfrm>
          <a:prstGeom prst="rect">
            <a:avLst/>
          </a:prstGeom>
          <a:noFill/>
          <a:ln/>
        </p:spPr>
        <p:txBody>
          <a:bodyPr wrap="square" lIns="0" tIns="0" rIns="0" bIns="0" rtlCol="0" anchor="ctr"/>
          <a:lstStyle/>
          <a:p>
            <a:pPr marL="0" indent="0" algn="ctr">
              <a:buNone/>
            </a:pPr>
            <a:r>
              <a:rPr lang="en-US" sz="950" dirty="0">
                <a:solidFill>
                  <a:srgbClr val="37474F"/>
                </a:solidFill>
                <a:latin typeface="Calibri" pitchFamily="34" charset="0"/>
                <a:ea typeface="Calibri" pitchFamily="34" charset="-122"/>
                <a:cs typeface="Calibri" pitchFamily="34" charset="-120"/>
              </a:rPr>
              <a:t>Large-ST HDF5</a:t>
            </a:r>
            <a:endParaRPr lang="en-US" sz="950" dirty="0"/>
          </a:p>
        </p:txBody>
      </p:sp>
      <p:sp>
        <p:nvSpPr>
          <p:cNvPr id="16" name="Text 14"/>
          <p:cNvSpPr/>
          <p:nvPr/>
        </p:nvSpPr>
        <p:spPr>
          <a:xfrm>
            <a:off x="347472" y="3246120"/>
            <a:ext cx="978408" cy="402336"/>
          </a:xfrm>
          <a:prstGeom prst="rect">
            <a:avLst/>
          </a:prstGeom>
          <a:noFill/>
          <a:ln/>
        </p:spPr>
        <p:txBody>
          <a:bodyPr wrap="square" lIns="0" tIns="0" rIns="0" bIns="0" rtlCol="0" anchor="ctr"/>
          <a:lstStyle/>
          <a:p>
            <a:pPr marL="0" indent="0" algn="ctr">
              <a:buNone/>
            </a:pPr>
            <a:r>
              <a:rPr lang="en-US" sz="950" dirty="0">
                <a:solidFill>
                  <a:srgbClr val="37474F"/>
                </a:solidFill>
                <a:latin typeface="Calibri" pitchFamily="34" charset="0"/>
                <a:ea typeface="Calibri" pitchFamily="34" charset="-122"/>
                <a:cs typeface="Calibri" pitchFamily="34" charset="-120"/>
              </a:rPr>
              <a:t>NTD Ridership CSV</a:t>
            </a:r>
            <a:endParaRPr lang="en-US" sz="950" dirty="0"/>
          </a:p>
        </p:txBody>
      </p:sp>
      <p:sp>
        <p:nvSpPr>
          <p:cNvPr id="17" name="Text 15"/>
          <p:cNvSpPr/>
          <p:nvPr/>
        </p:nvSpPr>
        <p:spPr>
          <a:xfrm>
            <a:off x="347472" y="3703320"/>
            <a:ext cx="978408" cy="402336"/>
          </a:xfrm>
          <a:prstGeom prst="rect">
            <a:avLst/>
          </a:prstGeom>
          <a:noFill/>
          <a:ln/>
        </p:spPr>
        <p:txBody>
          <a:bodyPr wrap="square" lIns="0" tIns="0" rIns="0" bIns="0" rtlCol="0" anchor="ctr"/>
          <a:lstStyle/>
          <a:p>
            <a:pPr marL="0" indent="0" algn="ctr">
              <a:buNone/>
            </a:pPr>
            <a:r>
              <a:rPr lang="en-US" sz="950" dirty="0">
                <a:solidFill>
                  <a:srgbClr val="37474F"/>
                </a:solidFill>
                <a:latin typeface="Calibri" pitchFamily="34" charset="0"/>
                <a:ea typeface="Calibri" pitchFamily="34" charset="-122"/>
                <a:cs typeface="Calibri" pitchFamily="34" charset="-120"/>
              </a:rPr>
              <a:t>ca_meta.csv</a:t>
            </a:r>
            <a:endParaRPr lang="en-US" sz="950" dirty="0"/>
          </a:p>
        </p:txBody>
      </p:sp>
      <p:sp>
        <p:nvSpPr>
          <p:cNvPr id="18" name="Shape 16"/>
          <p:cNvSpPr/>
          <p:nvPr/>
        </p:nvSpPr>
        <p:spPr>
          <a:xfrm>
            <a:off x="1389888" y="2254910"/>
            <a:ext cx="45720" cy="91440"/>
          </a:xfrm>
          <a:prstGeom prst="rect">
            <a:avLst/>
          </a:prstGeom>
          <a:solidFill>
            <a:srgbClr val="1976D2"/>
          </a:solidFill>
          <a:ln/>
        </p:spPr>
        <p:txBody>
          <a:bodyPr/>
          <a:lstStyle/>
          <a:p>
            <a:endParaRPr lang="th-TH"/>
          </a:p>
        </p:txBody>
      </p:sp>
      <p:sp>
        <p:nvSpPr>
          <p:cNvPr id="19" name="Text 17"/>
          <p:cNvSpPr/>
          <p:nvPr/>
        </p:nvSpPr>
        <p:spPr>
          <a:xfrm>
            <a:off x="1380744" y="2172614"/>
            <a:ext cx="91440" cy="219456"/>
          </a:xfrm>
          <a:prstGeom prst="rect">
            <a:avLst/>
          </a:prstGeom>
          <a:noFill/>
          <a:ln/>
        </p:spPr>
        <p:txBody>
          <a:bodyPr wrap="square" lIns="0" tIns="0" rIns="0" bIns="0" rtlCol="0" anchor="ctr"/>
          <a:lstStyle/>
          <a:p>
            <a:pPr marL="0" indent="0" algn="ctr">
              <a:buNone/>
            </a:pPr>
            <a:r>
              <a:rPr lang="en-US" sz="1600" b="1" dirty="0">
                <a:solidFill>
                  <a:srgbClr val="1976D2"/>
                </a:solidFill>
                <a:latin typeface="Calibri" pitchFamily="34" charset="0"/>
                <a:ea typeface="Calibri" pitchFamily="34" charset="-122"/>
                <a:cs typeface="Calibri" pitchFamily="34" charset="-120"/>
              </a:rPr>
              <a:t>›</a:t>
            </a:r>
            <a:endParaRPr lang="en-US" sz="1600" dirty="0"/>
          </a:p>
        </p:txBody>
      </p:sp>
      <p:sp>
        <p:nvSpPr>
          <p:cNvPr id="20" name="Shape 18"/>
          <p:cNvSpPr/>
          <p:nvPr/>
        </p:nvSpPr>
        <p:spPr>
          <a:xfrm>
            <a:off x="1453896" y="1371600"/>
            <a:ext cx="1088136" cy="2926080"/>
          </a:xfrm>
          <a:prstGeom prst="rect">
            <a:avLst/>
          </a:prstGeom>
          <a:solidFill>
            <a:srgbClr val="FFFFFF"/>
          </a:solidFill>
          <a:ln w="9525">
            <a:solidFill>
              <a:srgbClr val="CFD8DC"/>
            </a:solidFill>
            <a:prstDash val="solid"/>
          </a:ln>
          <a:effectLst>
            <a:outerShdw blurRad="63500" dist="25400" dir="8100000" algn="bl" rotWithShape="0">
              <a:srgbClr val="000000">
                <a:alpha val="10000"/>
              </a:srgbClr>
            </a:outerShdw>
          </a:effectLst>
        </p:spPr>
        <p:txBody>
          <a:bodyPr/>
          <a:lstStyle/>
          <a:p>
            <a:endParaRPr lang="th-TH"/>
          </a:p>
        </p:txBody>
      </p:sp>
      <p:sp>
        <p:nvSpPr>
          <p:cNvPr id="21" name="Shape 19"/>
          <p:cNvSpPr/>
          <p:nvPr/>
        </p:nvSpPr>
        <p:spPr>
          <a:xfrm>
            <a:off x="1453896" y="1371600"/>
            <a:ext cx="1088136" cy="54864"/>
          </a:xfrm>
          <a:prstGeom prst="rect">
            <a:avLst/>
          </a:prstGeom>
          <a:solidFill>
            <a:srgbClr val="1565C0"/>
          </a:solidFill>
          <a:ln/>
        </p:spPr>
        <p:txBody>
          <a:bodyPr/>
          <a:lstStyle/>
          <a:p>
            <a:endParaRPr lang="th-TH"/>
          </a:p>
        </p:txBody>
      </p:sp>
      <p:sp>
        <p:nvSpPr>
          <p:cNvPr id="22" name="Shape 20"/>
          <p:cNvSpPr/>
          <p:nvPr/>
        </p:nvSpPr>
        <p:spPr>
          <a:xfrm>
            <a:off x="1769364" y="1508760"/>
            <a:ext cx="457200" cy="457200"/>
          </a:xfrm>
          <a:prstGeom prst="ellipse">
            <a:avLst/>
          </a:prstGeom>
          <a:solidFill>
            <a:srgbClr val="0A2342"/>
          </a:solidFill>
          <a:ln/>
        </p:spPr>
        <p:txBody>
          <a:bodyPr/>
          <a:lstStyle/>
          <a:p>
            <a:endParaRPr lang="th-TH"/>
          </a:p>
        </p:txBody>
      </p:sp>
      <p:sp>
        <p:nvSpPr>
          <p:cNvPr id="23" name="Text 21"/>
          <p:cNvSpPr/>
          <p:nvPr/>
        </p:nvSpPr>
        <p:spPr>
          <a:xfrm>
            <a:off x="1769364" y="1508760"/>
            <a:ext cx="45720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02</a:t>
            </a:r>
            <a:endParaRPr lang="en-US" sz="1100" dirty="0"/>
          </a:p>
        </p:txBody>
      </p:sp>
      <p:sp>
        <p:nvSpPr>
          <p:cNvPr id="24" name="Text 22"/>
          <p:cNvSpPr/>
          <p:nvPr/>
        </p:nvSpPr>
        <p:spPr>
          <a:xfrm>
            <a:off x="1499616" y="2057400"/>
            <a:ext cx="996696" cy="594360"/>
          </a:xfrm>
          <a:prstGeom prst="rect">
            <a:avLst/>
          </a:prstGeom>
          <a:noFill/>
          <a:ln/>
        </p:spPr>
        <p:txBody>
          <a:bodyPr wrap="square" lIns="0" tIns="0" rIns="0" bIns="0" rtlCol="0" anchor="ctr"/>
          <a:lstStyle/>
          <a:p>
            <a:pPr marL="0" indent="0" algn="ctr">
              <a:buNone/>
            </a:pPr>
            <a:r>
              <a:rPr lang="en-US" sz="1100" b="1" dirty="0">
                <a:solidFill>
                  <a:srgbClr val="0A2342"/>
                </a:solidFill>
                <a:latin typeface="Calibri" pitchFamily="34" charset="0"/>
                <a:ea typeface="Calibri" pitchFamily="34" charset="-122"/>
                <a:cs typeface="Calibri" pitchFamily="34" charset="-120"/>
              </a:rPr>
              <a:t>Preprocessing</a:t>
            </a:r>
            <a:endParaRPr lang="en-US" sz="1100" dirty="0"/>
          </a:p>
        </p:txBody>
      </p:sp>
      <p:sp>
        <p:nvSpPr>
          <p:cNvPr id="25" name="Text 23"/>
          <p:cNvSpPr/>
          <p:nvPr/>
        </p:nvSpPr>
        <p:spPr>
          <a:xfrm>
            <a:off x="1508760" y="2788920"/>
            <a:ext cx="978408" cy="402336"/>
          </a:xfrm>
          <a:prstGeom prst="rect">
            <a:avLst/>
          </a:prstGeom>
          <a:noFill/>
          <a:ln/>
        </p:spPr>
        <p:txBody>
          <a:bodyPr wrap="square" lIns="0" tIns="0" rIns="0" bIns="0" rtlCol="0" anchor="ctr"/>
          <a:lstStyle/>
          <a:p>
            <a:pPr marL="0" indent="0" algn="ctr">
              <a:buNone/>
            </a:pPr>
            <a:r>
              <a:rPr lang="en-US" sz="950" dirty="0">
                <a:solidFill>
                  <a:srgbClr val="37474F"/>
                </a:solidFill>
                <a:latin typeface="Calibri" pitchFamily="34" charset="0"/>
                <a:ea typeface="Calibri" pitchFamily="34" charset="-122"/>
                <a:cs typeface="Calibri" pitchFamily="34" charset="-120"/>
              </a:rPr>
              <a:t>Missing imputation</a:t>
            </a:r>
            <a:endParaRPr lang="en-US" sz="950" dirty="0"/>
          </a:p>
        </p:txBody>
      </p:sp>
      <p:sp>
        <p:nvSpPr>
          <p:cNvPr id="26" name="Text 24"/>
          <p:cNvSpPr/>
          <p:nvPr/>
        </p:nvSpPr>
        <p:spPr>
          <a:xfrm>
            <a:off x="1508760" y="3246120"/>
            <a:ext cx="978408" cy="402336"/>
          </a:xfrm>
          <a:prstGeom prst="rect">
            <a:avLst/>
          </a:prstGeom>
          <a:noFill/>
          <a:ln/>
        </p:spPr>
        <p:txBody>
          <a:bodyPr wrap="square" lIns="0" tIns="0" rIns="0" bIns="0" rtlCol="0" anchor="ctr"/>
          <a:lstStyle/>
          <a:p>
            <a:pPr marL="0" indent="0" algn="ctr">
              <a:buNone/>
            </a:pPr>
            <a:r>
              <a:rPr lang="en-US" sz="950" dirty="0">
                <a:solidFill>
                  <a:srgbClr val="37474F"/>
                </a:solidFill>
                <a:latin typeface="Calibri" pitchFamily="34" charset="0"/>
                <a:ea typeface="Calibri" pitchFamily="34" charset="-122"/>
                <a:cs typeface="Calibri" pitchFamily="34" charset="-120"/>
              </a:rPr>
              <a:t>Outlier removal (3σ)</a:t>
            </a:r>
            <a:endParaRPr lang="en-US" sz="950" dirty="0"/>
          </a:p>
        </p:txBody>
      </p:sp>
      <p:sp>
        <p:nvSpPr>
          <p:cNvPr id="27" name="Text 25"/>
          <p:cNvSpPr/>
          <p:nvPr/>
        </p:nvSpPr>
        <p:spPr>
          <a:xfrm>
            <a:off x="1508760" y="3703320"/>
            <a:ext cx="978408" cy="402336"/>
          </a:xfrm>
          <a:prstGeom prst="rect">
            <a:avLst/>
          </a:prstGeom>
          <a:noFill/>
          <a:ln/>
        </p:spPr>
        <p:txBody>
          <a:bodyPr wrap="square" lIns="0" tIns="0" rIns="0" bIns="0" rtlCol="0" anchor="ctr"/>
          <a:lstStyle/>
          <a:p>
            <a:pPr marL="0" indent="0" algn="ctr">
              <a:buNone/>
            </a:pPr>
            <a:r>
              <a:rPr lang="en-US" sz="950" dirty="0">
                <a:solidFill>
                  <a:srgbClr val="37474F"/>
                </a:solidFill>
                <a:latin typeface="Calibri" pitchFamily="34" charset="0"/>
                <a:ea typeface="Calibri" pitchFamily="34" charset="-122"/>
                <a:cs typeface="Calibri" pitchFamily="34" charset="-120"/>
              </a:rPr>
              <a:t>Feature engineering</a:t>
            </a:r>
            <a:endParaRPr lang="en-US" sz="950" dirty="0"/>
          </a:p>
        </p:txBody>
      </p:sp>
      <p:sp>
        <p:nvSpPr>
          <p:cNvPr id="28" name="Shape 26"/>
          <p:cNvSpPr/>
          <p:nvPr/>
        </p:nvSpPr>
        <p:spPr>
          <a:xfrm>
            <a:off x="2551176" y="2254910"/>
            <a:ext cx="45720" cy="91440"/>
          </a:xfrm>
          <a:prstGeom prst="rect">
            <a:avLst/>
          </a:prstGeom>
          <a:solidFill>
            <a:srgbClr val="1976D2"/>
          </a:solidFill>
          <a:ln/>
        </p:spPr>
        <p:txBody>
          <a:bodyPr/>
          <a:lstStyle/>
          <a:p>
            <a:endParaRPr lang="th-TH"/>
          </a:p>
        </p:txBody>
      </p:sp>
      <p:sp>
        <p:nvSpPr>
          <p:cNvPr id="29" name="Text 27"/>
          <p:cNvSpPr/>
          <p:nvPr/>
        </p:nvSpPr>
        <p:spPr>
          <a:xfrm>
            <a:off x="2542032" y="2172614"/>
            <a:ext cx="91440" cy="219456"/>
          </a:xfrm>
          <a:prstGeom prst="rect">
            <a:avLst/>
          </a:prstGeom>
          <a:noFill/>
          <a:ln/>
        </p:spPr>
        <p:txBody>
          <a:bodyPr wrap="square" lIns="0" tIns="0" rIns="0" bIns="0" rtlCol="0" anchor="ctr"/>
          <a:lstStyle/>
          <a:p>
            <a:pPr marL="0" indent="0" algn="ctr">
              <a:buNone/>
            </a:pPr>
            <a:r>
              <a:rPr lang="en-US" sz="1600" b="1" dirty="0">
                <a:solidFill>
                  <a:srgbClr val="1976D2"/>
                </a:solidFill>
                <a:latin typeface="Calibri" pitchFamily="34" charset="0"/>
                <a:ea typeface="Calibri" pitchFamily="34" charset="-122"/>
                <a:cs typeface="Calibri" pitchFamily="34" charset="-120"/>
              </a:rPr>
              <a:t>›</a:t>
            </a:r>
            <a:endParaRPr lang="en-US" sz="1600" dirty="0"/>
          </a:p>
        </p:txBody>
      </p:sp>
      <p:sp>
        <p:nvSpPr>
          <p:cNvPr id="30" name="Shape 28"/>
          <p:cNvSpPr/>
          <p:nvPr/>
        </p:nvSpPr>
        <p:spPr>
          <a:xfrm>
            <a:off x="2615184" y="1371600"/>
            <a:ext cx="1088136" cy="2926080"/>
          </a:xfrm>
          <a:prstGeom prst="rect">
            <a:avLst/>
          </a:prstGeom>
          <a:solidFill>
            <a:srgbClr val="FFFFFF"/>
          </a:solidFill>
          <a:ln w="9525">
            <a:solidFill>
              <a:srgbClr val="CFD8DC"/>
            </a:solidFill>
            <a:prstDash val="solid"/>
          </a:ln>
          <a:effectLst>
            <a:outerShdw blurRad="63500" dist="25400" dir="8100000" algn="bl" rotWithShape="0">
              <a:srgbClr val="000000">
                <a:alpha val="10000"/>
              </a:srgbClr>
            </a:outerShdw>
          </a:effectLst>
        </p:spPr>
        <p:txBody>
          <a:bodyPr/>
          <a:lstStyle/>
          <a:p>
            <a:endParaRPr lang="th-TH"/>
          </a:p>
        </p:txBody>
      </p:sp>
      <p:sp>
        <p:nvSpPr>
          <p:cNvPr id="31" name="Shape 29"/>
          <p:cNvSpPr/>
          <p:nvPr/>
        </p:nvSpPr>
        <p:spPr>
          <a:xfrm>
            <a:off x="2615184" y="1371600"/>
            <a:ext cx="1088136" cy="54864"/>
          </a:xfrm>
          <a:prstGeom prst="rect">
            <a:avLst/>
          </a:prstGeom>
          <a:solidFill>
            <a:srgbClr val="1565C0"/>
          </a:solidFill>
          <a:ln/>
        </p:spPr>
        <p:txBody>
          <a:bodyPr/>
          <a:lstStyle/>
          <a:p>
            <a:endParaRPr lang="th-TH"/>
          </a:p>
        </p:txBody>
      </p:sp>
      <p:sp>
        <p:nvSpPr>
          <p:cNvPr id="32" name="Shape 30"/>
          <p:cNvSpPr/>
          <p:nvPr/>
        </p:nvSpPr>
        <p:spPr>
          <a:xfrm>
            <a:off x="2930652" y="1508760"/>
            <a:ext cx="457200" cy="457200"/>
          </a:xfrm>
          <a:prstGeom prst="ellipse">
            <a:avLst/>
          </a:prstGeom>
          <a:solidFill>
            <a:srgbClr val="0A2342"/>
          </a:solidFill>
          <a:ln/>
        </p:spPr>
        <p:txBody>
          <a:bodyPr/>
          <a:lstStyle/>
          <a:p>
            <a:endParaRPr lang="th-TH"/>
          </a:p>
        </p:txBody>
      </p:sp>
      <p:sp>
        <p:nvSpPr>
          <p:cNvPr id="33" name="Text 31"/>
          <p:cNvSpPr/>
          <p:nvPr/>
        </p:nvSpPr>
        <p:spPr>
          <a:xfrm>
            <a:off x="2930652" y="1508760"/>
            <a:ext cx="45720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03</a:t>
            </a:r>
            <a:endParaRPr lang="en-US" sz="1100" dirty="0"/>
          </a:p>
        </p:txBody>
      </p:sp>
      <p:sp>
        <p:nvSpPr>
          <p:cNvPr id="34" name="Text 32"/>
          <p:cNvSpPr/>
          <p:nvPr/>
        </p:nvSpPr>
        <p:spPr>
          <a:xfrm>
            <a:off x="2660904" y="2057400"/>
            <a:ext cx="996696" cy="594360"/>
          </a:xfrm>
          <a:prstGeom prst="rect">
            <a:avLst/>
          </a:prstGeom>
          <a:noFill/>
          <a:ln/>
        </p:spPr>
        <p:txBody>
          <a:bodyPr wrap="square" lIns="0" tIns="0" rIns="0" bIns="0" rtlCol="0" anchor="ctr"/>
          <a:lstStyle/>
          <a:p>
            <a:pPr marL="0" indent="0" algn="ctr">
              <a:buNone/>
            </a:pPr>
            <a:r>
              <a:rPr lang="en-US" sz="1100" b="1" dirty="0">
                <a:solidFill>
                  <a:srgbClr val="0A2342"/>
                </a:solidFill>
                <a:latin typeface="Calibri" pitchFamily="34" charset="0"/>
                <a:ea typeface="Calibri" pitchFamily="34" charset="-122"/>
                <a:cs typeface="Calibri" pitchFamily="34" charset="-120"/>
              </a:rPr>
              <a:t>Exploratory</a:t>
            </a:r>
            <a:endParaRPr lang="en-US" sz="1100" dirty="0"/>
          </a:p>
          <a:p>
            <a:pPr marL="0" indent="0" algn="ctr">
              <a:buNone/>
            </a:pPr>
            <a:r>
              <a:rPr lang="en-US" sz="1100" b="1" dirty="0">
                <a:solidFill>
                  <a:srgbClr val="0A2342"/>
                </a:solidFill>
                <a:latin typeface="Calibri" pitchFamily="34" charset="0"/>
                <a:ea typeface="Calibri" pitchFamily="34" charset="-122"/>
                <a:cs typeface="Calibri" pitchFamily="34" charset="-120"/>
              </a:rPr>
              <a:t>EDA</a:t>
            </a:r>
            <a:endParaRPr lang="en-US" sz="1100" dirty="0"/>
          </a:p>
        </p:txBody>
      </p:sp>
      <p:sp>
        <p:nvSpPr>
          <p:cNvPr id="35" name="Text 33"/>
          <p:cNvSpPr/>
          <p:nvPr/>
        </p:nvSpPr>
        <p:spPr>
          <a:xfrm>
            <a:off x="2670048" y="2788920"/>
            <a:ext cx="978408" cy="402336"/>
          </a:xfrm>
          <a:prstGeom prst="rect">
            <a:avLst/>
          </a:prstGeom>
          <a:noFill/>
          <a:ln/>
        </p:spPr>
        <p:txBody>
          <a:bodyPr wrap="square" lIns="0" tIns="0" rIns="0" bIns="0" rtlCol="0" anchor="ctr"/>
          <a:lstStyle/>
          <a:p>
            <a:pPr marL="0" indent="0" algn="ctr">
              <a:buNone/>
            </a:pPr>
            <a:r>
              <a:rPr lang="en-US" sz="950" dirty="0">
                <a:solidFill>
                  <a:srgbClr val="37474F"/>
                </a:solidFill>
                <a:latin typeface="Calibri" pitchFamily="34" charset="0"/>
                <a:ea typeface="Calibri" pitchFamily="34" charset="-122"/>
                <a:cs typeface="Calibri" pitchFamily="34" charset="-120"/>
              </a:rPr>
              <a:t>Flow distributions</a:t>
            </a:r>
            <a:endParaRPr lang="en-US" sz="950" dirty="0"/>
          </a:p>
        </p:txBody>
      </p:sp>
      <p:sp>
        <p:nvSpPr>
          <p:cNvPr id="36" name="Text 34"/>
          <p:cNvSpPr/>
          <p:nvPr/>
        </p:nvSpPr>
        <p:spPr>
          <a:xfrm>
            <a:off x="2670048" y="3246120"/>
            <a:ext cx="978408" cy="402336"/>
          </a:xfrm>
          <a:prstGeom prst="rect">
            <a:avLst/>
          </a:prstGeom>
          <a:noFill/>
          <a:ln/>
        </p:spPr>
        <p:txBody>
          <a:bodyPr wrap="square" lIns="0" tIns="0" rIns="0" bIns="0" rtlCol="0" anchor="ctr"/>
          <a:lstStyle/>
          <a:p>
            <a:pPr marL="0" indent="0" algn="ctr">
              <a:buNone/>
            </a:pPr>
            <a:r>
              <a:rPr lang="en-US" sz="950" dirty="0">
                <a:solidFill>
                  <a:srgbClr val="37474F"/>
                </a:solidFill>
                <a:latin typeface="Calibri" pitchFamily="34" charset="0"/>
                <a:ea typeface="Calibri" pitchFamily="34" charset="-122"/>
                <a:cs typeface="Calibri" pitchFamily="34" charset="-120"/>
              </a:rPr>
              <a:t>Temporal heatmaps</a:t>
            </a:r>
            <a:endParaRPr lang="en-US" sz="950" dirty="0"/>
          </a:p>
        </p:txBody>
      </p:sp>
      <p:sp>
        <p:nvSpPr>
          <p:cNvPr id="37" name="Text 35"/>
          <p:cNvSpPr/>
          <p:nvPr/>
        </p:nvSpPr>
        <p:spPr>
          <a:xfrm>
            <a:off x="2670048" y="3703320"/>
            <a:ext cx="978408" cy="402336"/>
          </a:xfrm>
          <a:prstGeom prst="rect">
            <a:avLst/>
          </a:prstGeom>
          <a:noFill/>
          <a:ln/>
        </p:spPr>
        <p:txBody>
          <a:bodyPr wrap="square" lIns="0" tIns="0" rIns="0" bIns="0" rtlCol="0" anchor="ctr"/>
          <a:lstStyle/>
          <a:p>
            <a:pPr marL="0" indent="0" algn="ctr">
              <a:buNone/>
            </a:pPr>
            <a:r>
              <a:rPr lang="en-US" sz="950" dirty="0">
                <a:solidFill>
                  <a:srgbClr val="37474F"/>
                </a:solidFill>
                <a:latin typeface="Calibri" pitchFamily="34" charset="0"/>
                <a:ea typeface="Calibri" pitchFamily="34" charset="-122"/>
                <a:cs typeface="Calibri" pitchFamily="34" charset="-120"/>
              </a:rPr>
              <a:t>Ridership trends</a:t>
            </a:r>
            <a:endParaRPr lang="en-US" sz="950" dirty="0"/>
          </a:p>
        </p:txBody>
      </p:sp>
      <p:sp>
        <p:nvSpPr>
          <p:cNvPr id="38" name="Shape 36"/>
          <p:cNvSpPr/>
          <p:nvPr/>
        </p:nvSpPr>
        <p:spPr>
          <a:xfrm>
            <a:off x="3712464" y="2254910"/>
            <a:ext cx="45720" cy="91440"/>
          </a:xfrm>
          <a:prstGeom prst="rect">
            <a:avLst/>
          </a:prstGeom>
          <a:solidFill>
            <a:srgbClr val="1976D2"/>
          </a:solidFill>
          <a:ln/>
        </p:spPr>
        <p:txBody>
          <a:bodyPr/>
          <a:lstStyle/>
          <a:p>
            <a:endParaRPr lang="th-TH"/>
          </a:p>
        </p:txBody>
      </p:sp>
      <p:sp>
        <p:nvSpPr>
          <p:cNvPr id="39" name="Text 37"/>
          <p:cNvSpPr/>
          <p:nvPr/>
        </p:nvSpPr>
        <p:spPr>
          <a:xfrm>
            <a:off x="3703320" y="2172614"/>
            <a:ext cx="91440" cy="219456"/>
          </a:xfrm>
          <a:prstGeom prst="rect">
            <a:avLst/>
          </a:prstGeom>
          <a:noFill/>
          <a:ln/>
        </p:spPr>
        <p:txBody>
          <a:bodyPr wrap="square" lIns="0" tIns="0" rIns="0" bIns="0" rtlCol="0" anchor="ctr"/>
          <a:lstStyle/>
          <a:p>
            <a:pPr marL="0" indent="0" algn="ctr">
              <a:buNone/>
            </a:pPr>
            <a:r>
              <a:rPr lang="en-US" sz="1600" b="1" dirty="0">
                <a:solidFill>
                  <a:srgbClr val="1976D2"/>
                </a:solidFill>
                <a:latin typeface="Calibri" pitchFamily="34" charset="0"/>
                <a:ea typeface="Calibri" pitchFamily="34" charset="-122"/>
                <a:cs typeface="Calibri" pitchFamily="34" charset="-120"/>
              </a:rPr>
              <a:t>›</a:t>
            </a:r>
            <a:endParaRPr lang="en-US" sz="1600" dirty="0"/>
          </a:p>
        </p:txBody>
      </p:sp>
      <p:sp>
        <p:nvSpPr>
          <p:cNvPr id="40" name="Shape 38"/>
          <p:cNvSpPr/>
          <p:nvPr/>
        </p:nvSpPr>
        <p:spPr>
          <a:xfrm>
            <a:off x="3776472" y="1371600"/>
            <a:ext cx="1088136" cy="2926080"/>
          </a:xfrm>
          <a:prstGeom prst="rect">
            <a:avLst/>
          </a:prstGeom>
          <a:solidFill>
            <a:srgbClr val="FFFFFF"/>
          </a:solidFill>
          <a:ln w="9525">
            <a:solidFill>
              <a:srgbClr val="CFD8DC"/>
            </a:solidFill>
            <a:prstDash val="solid"/>
          </a:ln>
          <a:effectLst>
            <a:outerShdw blurRad="63500" dist="25400" dir="8100000" algn="bl" rotWithShape="0">
              <a:srgbClr val="000000">
                <a:alpha val="10000"/>
              </a:srgbClr>
            </a:outerShdw>
          </a:effectLst>
        </p:spPr>
        <p:txBody>
          <a:bodyPr/>
          <a:lstStyle/>
          <a:p>
            <a:endParaRPr lang="th-TH"/>
          </a:p>
        </p:txBody>
      </p:sp>
      <p:sp>
        <p:nvSpPr>
          <p:cNvPr id="41" name="Shape 39"/>
          <p:cNvSpPr/>
          <p:nvPr/>
        </p:nvSpPr>
        <p:spPr>
          <a:xfrm>
            <a:off x="3776472" y="1371600"/>
            <a:ext cx="1088136" cy="54864"/>
          </a:xfrm>
          <a:prstGeom prst="rect">
            <a:avLst/>
          </a:prstGeom>
          <a:solidFill>
            <a:srgbClr val="1565C0"/>
          </a:solidFill>
          <a:ln/>
        </p:spPr>
        <p:txBody>
          <a:bodyPr/>
          <a:lstStyle/>
          <a:p>
            <a:endParaRPr lang="th-TH"/>
          </a:p>
        </p:txBody>
      </p:sp>
      <p:sp>
        <p:nvSpPr>
          <p:cNvPr id="42" name="Shape 40"/>
          <p:cNvSpPr/>
          <p:nvPr/>
        </p:nvSpPr>
        <p:spPr>
          <a:xfrm>
            <a:off x="4091940" y="1508760"/>
            <a:ext cx="457200" cy="457200"/>
          </a:xfrm>
          <a:prstGeom prst="ellipse">
            <a:avLst/>
          </a:prstGeom>
          <a:solidFill>
            <a:srgbClr val="0A2342"/>
          </a:solidFill>
          <a:ln/>
        </p:spPr>
        <p:txBody>
          <a:bodyPr/>
          <a:lstStyle/>
          <a:p>
            <a:endParaRPr lang="th-TH"/>
          </a:p>
        </p:txBody>
      </p:sp>
      <p:sp>
        <p:nvSpPr>
          <p:cNvPr id="43" name="Text 41"/>
          <p:cNvSpPr/>
          <p:nvPr/>
        </p:nvSpPr>
        <p:spPr>
          <a:xfrm>
            <a:off x="4091940" y="1508760"/>
            <a:ext cx="45720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04</a:t>
            </a:r>
            <a:endParaRPr lang="en-US" sz="1100" dirty="0"/>
          </a:p>
        </p:txBody>
      </p:sp>
      <p:sp>
        <p:nvSpPr>
          <p:cNvPr id="44" name="Text 42"/>
          <p:cNvSpPr/>
          <p:nvPr/>
        </p:nvSpPr>
        <p:spPr>
          <a:xfrm>
            <a:off x="3822192" y="2057400"/>
            <a:ext cx="996696" cy="594360"/>
          </a:xfrm>
          <a:prstGeom prst="rect">
            <a:avLst/>
          </a:prstGeom>
          <a:noFill/>
          <a:ln/>
        </p:spPr>
        <p:txBody>
          <a:bodyPr wrap="square" lIns="0" tIns="0" rIns="0" bIns="0" rtlCol="0" anchor="ctr"/>
          <a:lstStyle/>
          <a:p>
            <a:pPr marL="0" indent="0" algn="ctr">
              <a:buNone/>
            </a:pPr>
            <a:r>
              <a:rPr lang="en-US" sz="1100" b="1" dirty="0">
                <a:solidFill>
                  <a:srgbClr val="0A2342"/>
                </a:solidFill>
                <a:latin typeface="Calibri" pitchFamily="34" charset="0"/>
                <a:ea typeface="Calibri" pitchFamily="34" charset="-122"/>
                <a:cs typeface="Calibri" pitchFamily="34" charset="-120"/>
              </a:rPr>
              <a:t>Statistical</a:t>
            </a:r>
            <a:endParaRPr lang="en-US" sz="1100" dirty="0"/>
          </a:p>
          <a:p>
            <a:pPr marL="0" indent="0" algn="ctr">
              <a:buNone/>
            </a:pPr>
            <a:r>
              <a:rPr lang="en-US" sz="1100" b="1" dirty="0">
                <a:solidFill>
                  <a:srgbClr val="0A2342"/>
                </a:solidFill>
                <a:latin typeface="Calibri" pitchFamily="34" charset="0"/>
                <a:ea typeface="Calibri" pitchFamily="34" charset="-122"/>
                <a:cs typeface="Calibri" pitchFamily="34" charset="-120"/>
              </a:rPr>
              <a:t>Tests</a:t>
            </a:r>
            <a:endParaRPr lang="en-US" sz="1100" dirty="0"/>
          </a:p>
        </p:txBody>
      </p:sp>
      <p:sp>
        <p:nvSpPr>
          <p:cNvPr id="45" name="Text 43"/>
          <p:cNvSpPr/>
          <p:nvPr/>
        </p:nvSpPr>
        <p:spPr>
          <a:xfrm>
            <a:off x="3831336" y="2788920"/>
            <a:ext cx="978408" cy="402336"/>
          </a:xfrm>
          <a:prstGeom prst="rect">
            <a:avLst/>
          </a:prstGeom>
          <a:noFill/>
          <a:ln/>
        </p:spPr>
        <p:txBody>
          <a:bodyPr wrap="square" lIns="0" tIns="0" rIns="0" bIns="0" rtlCol="0" anchor="ctr"/>
          <a:lstStyle/>
          <a:p>
            <a:pPr marL="0" indent="0" algn="ctr">
              <a:buNone/>
            </a:pPr>
            <a:r>
              <a:rPr lang="en-US" sz="950" dirty="0">
                <a:solidFill>
                  <a:srgbClr val="37474F"/>
                </a:solidFill>
                <a:latin typeface="Calibri" pitchFamily="34" charset="0"/>
                <a:ea typeface="Calibri" pitchFamily="34" charset="-122"/>
                <a:cs typeface="Calibri" pitchFamily="34" charset="-120"/>
              </a:rPr>
              <a:t>Pearson &amp; Spearman</a:t>
            </a:r>
            <a:endParaRPr lang="en-US" sz="950" dirty="0"/>
          </a:p>
        </p:txBody>
      </p:sp>
      <p:sp>
        <p:nvSpPr>
          <p:cNvPr id="46" name="Text 44"/>
          <p:cNvSpPr/>
          <p:nvPr/>
        </p:nvSpPr>
        <p:spPr>
          <a:xfrm>
            <a:off x="3831336" y="3246120"/>
            <a:ext cx="978408" cy="402336"/>
          </a:xfrm>
          <a:prstGeom prst="rect">
            <a:avLst/>
          </a:prstGeom>
          <a:noFill/>
          <a:ln/>
        </p:spPr>
        <p:txBody>
          <a:bodyPr wrap="square" lIns="0" tIns="0" rIns="0" bIns="0" rtlCol="0" anchor="ctr"/>
          <a:lstStyle/>
          <a:p>
            <a:pPr marL="0" indent="0" algn="ctr">
              <a:buNone/>
            </a:pPr>
            <a:r>
              <a:rPr lang="en-US" sz="950" dirty="0">
                <a:solidFill>
                  <a:srgbClr val="37474F"/>
                </a:solidFill>
                <a:latin typeface="Calibri" pitchFamily="34" charset="0"/>
                <a:ea typeface="Calibri" pitchFamily="34" charset="-122"/>
                <a:cs typeface="Calibri" pitchFamily="34" charset="-120"/>
              </a:rPr>
              <a:t>Welch t-tests</a:t>
            </a:r>
            <a:endParaRPr lang="en-US" sz="950" dirty="0"/>
          </a:p>
        </p:txBody>
      </p:sp>
      <p:sp>
        <p:nvSpPr>
          <p:cNvPr id="47" name="Text 45"/>
          <p:cNvSpPr/>
          <p:nvPr/>
        </p:nvSpPr>
        <p:spPr>
          <a:xfrm>
            <a:off x="3831336" y="3703320"/>
            <a:ext cx="978408" cy="402336"/>
          </a:xfrm>
          <a:prstGeom prst="rect">
            <a:avLst/>
          </a:prstGeom>
          <a:noFill/>
          <a:ln/>
        </p:spPr>
        <p:txBody>
          <a:bodyPr wrap="square" lIns="0" tIns="0" rIns="0" bIns="0" rtlCol="0" anchor="ctr"/>
          <a:lstStyle/>
          <a:p>
            <a:pPr marL="0" indent="0" algn="ctr">
              <a:buNone/>
            </a:pPr>
            <a:r>
              <a:rPr lang="en-US" sz="950" dirty="0">
                <a:solidFill>
                  <a:srgbClr val="37474F"/>
                </a:solidFill>
                <a:latin typeface="Calibri" pitchFamily="34" charset="0"/>
                <a:ea typeface="Calibri" pitchFamily="34" charset="-122"/>
                <a:cs typeface="Calibri" pitchFamily="34" charset="-120"/>
              </a:rPr>
              <a:t>ADF stationarity</a:t>
            </a:r>
            <a:endParaRPr lang="en-US" sz="950" dirty="0"/>
          </a:p>
        </p:txBody>
      </p:sp>
      <p:sp>
        <p:nvSpPr>
          <p:cNvPr id="48" name="Shape 46"/>
          <p:cNvSpPr/>
          <p:nvPr/>
        </p:nvSpPr>
        <p:spPr>
          <a:xfrm>
            <a:off x="4873752" y="2254910"/>
            <a:ext cx="45720" cy="91440"/>
          </a:xfrm>
          <a:prstGeom prst="rect">
            <a:avLst/>
          </a:prstGeom>
          <a:solidFill>
            <a:srgbClr val="1976D2"/>
          </a:solidFill>
          <a:ln/>
        </p:spPr>
        <p:txBody>
          <a:bodyPr/>
          <a:lstStyle/>
          <a:p>
            <a:endParaRPr lang="th-TH"/>
          </a:p>
        </p:txBody>
      </p:sp>
      <p:sp>
        <p:nvSpPr>
          <p:cNvPr id="49" name="Text 47"/>
          <p:cNvSpPr/>
          <p:nvPr/>
        </p:nvSpPr>
        <p:spPr>
          <a:xfrm>
            <a:off x="4864608" y="2172614"/>
            <a:ext cx="91440" cy="219456"/>
          </a:xfrm>
          <a:prstGeom prst="rect">
            <a:avLst/>
          </a:prstGeom>
          <a:noFill/>
          <a:ln/>
        </p:spPr>
        <p:txBody>
          <a:bodyPr wrap="square" lIns="0" tIns="0" rIns="0" bIns="0" rtlCol="0" anchor="ctr"/>
          <a:lstStyle/>
          <a:p>
            <a:pPr marL="0" indent="0" algn="ctr">
              <a:buNone/>
            </a:pPr>
            <a:r>
              <a:rPr lang="en-US" sz="1600" b="1" dirty="0">
                <a:solidFill>
                  <a:srgbClr val="1976D2"/>
                </a:solidFill>
                <a:latin typeface="Calibri" pitchFamily="34" charset="0"/>
                <a:ea typeface="Calibri" pitchFamily="34" charset="-122"/>
                <a:cs typeface="Calibri" pitchFamily="34" charset="-120"/>
              </a:rPr>
              <a:t>›</a:t>
            </a:r>
            <a:endParaRPr lang="en-US" sz="1600" dirty="0"/>
          </a:p>
        </p:txBody>
      </p:sp>
      <p:sp>
        <p:nvSpPr>
          <p:cNvPr id="50" name="Shape 48"/>
          <p:cNvSpPr/>
          <p:nvPr/>
        </p:nvSpPr>
        <p:spPr>
          <a:xfrm>
            <a:off x="4937760" y="1371600"/>
            <a:ext cx="1088136" cy="2926080"/>
          </a:xfrm>
          <a:prstGeom prst="rect">
            <a:avLst/>
          </a:prstGeom>
          <a:solidFill>
            <a:srgbClr val="FFFFFF"/>
          </a:solidFill>
          <a:ln w="9525">
            <a:solidFill>
              <a:srgbClr val="CFD8DC"/>
            </a:solidFill>
            <a:prstDash val="solid"/>
          </a:ln>
          <a:effectLst>
            <a:outerShdw blurRad="63500" dist="25400" dir="8100000" algn="bl" rotWithShape="0">
              <a:srgbClr val="000000">
                <a:alpha val="10000"/>
              </a:srgbClr>
            </a:outerShdw>
          </a:effectLst>
        </p:spPr>
        <p:txBody>
          <a:bodyPr/>
          <a:lstStyle/>
          <a:p>
            <a:endParaRPr lang="th-TH"/>
          </a:p>
        </p:txBody>
      </p:sp>
      <p:sp>
        <p:nvSpPr>
          <p:cNvPr id="51" name="Shape 49"/>
          <p:cNvSpPr/>
          <p:nvPr/>
        </p:nvSpPr>
        <p:spPr>
          <a:xfrm>
            <a:off x="4937760" y="1371600"/>
            <a:ext cx="1088136" cy="54864"/>
          </a:xfrm>
          <a:prstGeom prst="rect">
            <a:avLst/>
          </a:prstGeom>
          <a:solidFill>
            <a:srgbClr val="1565C0"/>
          </a:solidFill>
          <a:ln/>
        </p:spPr>
        <p:txBody>
          <a:bodyPr/>
          <a:lstStyle/>
          <a:p>
            <a:endParaRPr lang="th-TH"/>
          </a:p>
        </p:txBody>
      </p:sp>
      <p:sp>
        <p:nvSpPr>
          <p:cNvPr id="52" name="Shape 50"/>
          <p:cNvSpPr/>
          <p:nvPr/>
        </p:nvSpPr>
        <p:spPr>
          <a:xfrm>
            <a:off x="5253228" y="1508760"/>
            <a:ext cx="457200" cy="457200"/>
          </a:xfrm>
          <a:prstGeom prst="ellipse">
            <a:avLst/>
          </a:prstGeom>
          <a:solidFill>
            <a:srgbClr val="0A2342"/>
          </a:solidFill>
          <a:ln/>
        </p:spPr>
        <p:txBody>
          <a:bodyPr/>
          <a:lstStyle/>
          <a:p>
            <a:endParaRPr lang="th-TH"/>
          </a:p>
        </p:txBody>
      </p:sp>
      <p:sp>
        <p:nvSpPr>
          <p:cNvPr id="53" name="Text 51"/>
          <p:cNvSpPr/>
          <p:nvPr/>
        </p:nvSpPr>
        <p:spPr>
          <a:xfrm>
            <a:off x="5253228" y="1508760"/>
            <a:ext cx="45720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05</a:t>
            </a:r>
            <a:endParaRPr lang="en-US" sz="1100" dirty="0"/>
          </a:p>
        </p:txBody>
      </p:sp>
      <p:sp>
        <p:nvSpPr>
          <p:cNvPr id="54" name="Text 52"/>
          <p:cNvSpPr/>
          <p:nvPr/>
        </p:nvSpPr>
        <p:spPr>
          <a:xfrm>
            <a:off x="4983480" y="2057400"/>
            <a:ext cx="996696" cy="594360"/>
          </a:xfrm>
          <a:prstGeom prst="rect">
            <a:avLst/>
          </a:prstGeom>
          <a:noFill/>
          <a:ln/>
        </p:spPr>
        <p:txBody>
          <a:bodyPr wrap="square" lIns="0" tIns="0" rIns="0" bIns="0" rtlCol="0" anchor="ctr"/>
          <a:lstStyle/>
          <a:p>
            <a:pPr marL="0" indent="0" algn="ctr">
              <a:buNone/>
            </a:pPr>
            <a:r>
              <a:rPr lang="en-US" sz="1100" b="1" dirty="0">
                <a:solidFill>
                  <a:srgbClr val="0A2342"/>
                </a:solidFill>
                <a:latin typeface="Calibri" pitchFamily="34" charset="0"/>
                <a:ea typeface="Calibri" pitchFamily="34" charset="-122"/>
                <a:cs typeface="Calibri" pitchFamily="34" charset="-120"/>
              </a:rPr>
              <a:t>ML</a:t>
            </a:r>
            <a:endParaRPr lang="en-US" sz="1100" dirty="0"/>
          </a:p>
          <a:p>
            <a:pPr marL="0" indent="0" algn="ctr">
              <a:buNone/>
            </a:pPr>
            <a:r>
              <a:rPr lang="en-US" sz="1100" b="1" dirty="0">
                <a:solidFill>
                  <a:srgbClr val="0A2342"/>
                </a:solidFill>
                <a:latin typeface="Calibri" pitchFamily="34" charset="0"/>
                <a:ea typeface="Calibri" pitchFamily="34" charset="-122"/>
                <a:cs typeface="Calibri" pitchFamily="34" charset="-120"/>
              </a:rPr>
              <a:t>Models</a:t>
            </a:r>
            <a:endParaRPr lang="en-US" sz="1100" dirty="0"/>
          </a:p>
        </p:txBody>
      </p:sp>
      <p:sp>
        <p:nvSpPr>
          <p:cNvPr id="55" name="Text 53"/>
          <p:cNvSpPr/>
          <p:nvPr/>
        </p:nvSpPr>
        <p:spPr>
          <a:xfrm>
            <a:off x="4992624" y="2788920"/>
            <a:ext cx="978408" cy="402336"/>
          </a:xfrm>
          <a:prstGeom prst="rect">
            <a:avLst/>
          </a:prstGeom>
          <a:noFill/>
          <a:ln/>
        </p:spPr>
        <p:txBody>
          <a:bodyPr wrap="square" lIns="0" tIns="0" rIns="0" bIns="0" rtlCol="0" anchor="ctr"/>
          <a:lstStyle/>
          <a:p>
            <a:pPr marL="0" indent="0" algn="ctr">
              <a:buNone/>
            </a:pPr>
            <a:r>
              <a:rPr lang="en-US" sz="950" dirty="0">
                <a:solidFill>
                  <a:srgbClr val="37474F"/>
                </a:solidFill>
                <a:latin typeface="Calibri" pitchFamily="34" charset="0"/>
                <a:ea typeface="Calibri" pitchFamily="34" charset="-122"/>
                <a:cs typeface="Calibri" pitchFamily="34" charset="-120"/>
              </a:rPr>
              <a:t>Regression (LR, RF)</a:t>
            </a:r>
            <a:endParaRPr lang="en-US" sz="950" dirty="0"/>
          </a:p>
        </p:txBody>
      </p:sp>
      <p:sp>
        <p:nvSpPr>
          <p:cNvPr id="56" name="Text 54"/>
          <p:cNvSpPr/>
          <p:nvPr/>
        </p:nvSpPr>
        <p:spPr>
          <a:xfrm>
            <a:off x="4992624" y="3246120"/>
            <a:ext cx="978408" cy="402336"/>
          </a:xfrm>
          <a:prstGeom prst="rect">
            <a:avLst/>
          </a:prstGeom>
          <a:noFill/>
          <a:ln/>
        </p:spPr>
        <p:txBody>
          <a:bodyPr wrap="square" lIns="0" tIns="0" rIns="0" bIns="0" rtlCol="0" anchor="ctr"/>
          <a:lstStyle/>
          <a:p>
            <a:pPr marL="0" indent="0" algn="ctr">
              <a:buNone/>
            </a:pPr>
            <a:r>
              <a:rPr lang="en-US" sz="950" dirty="0">
                <a:solidFill>
                  <a:srgbClr val="37474F"/>
                </a:solidFill>
                <a:latin typeface="Calibri" pitchFamily="34" charset="0"/>
                <a:ea typeface="Calibri" pitchFamily="34" charset="-122"/>
                <a:cs typeface="Calibri" pitchFamily="34" charset="-120"/>
              </a:rPr>
              <a:t>Classification (DT,KNN,RF)</a:t>
            </a:r>
            <a:endParaRPr lang="en-US" sz="950" dirty="0"/>
          </a:p>
        </p:txBody>
      </p:sp>
      <p:sp>
        <p:nvSpPr>
          <p:cNvPr id="57" name="Text 55"/>
          <p:cNvSpPr/>
          <p:nvPr/>
        </p:nvSpPr>
        <p:spPr>
          <a:xfrm>
            <a:off x="4992624" y="3703320"/>
            <a:ext cx="978408" cy="402336"/>
          </a:xfrm>
          <a:prstGeom prst="rect">
            <a:avLst/>
          </a:prstGeom>
          <a:noFill/>
          <a:ln/>
        </p:spPr>
        <p:txBody>
          <a:bodyPr wrap="square" lIns="0" tIns="0" rIns="0" bIns="0" rtlCol="0" anchor="ctr"/>
          <a:lstStyle/>
          <a:p>
            <a:pPr marL="0" indent="0" algn="ctr">
              <a:buNone/>
            </a:pPr>
            <a:r>
              <a:rPr lang="en-US" sz="950" dirty="0">
                <a:solidFill>
                  <a:srgbClr val="37474F"/>
                </a:solidFill>
                <a:latin typeface="Calibri" pitchFamily="34" charset="0"/>
                <a:ea typeface="Calibri" pitchFamily="34" charset="-122"/>
                <a:cs typeface="Calibri" pitchFamily="34" charset="-120"/>
              </a:rPr>
              <a:t>K-Means clustering</a:t>
            </a:r>
            <a:endParaRPr lang="en-US" sz="950" dirty="0"/>
          </a:p>
        </p:txBody>
      </p:sp>
      <p:sp>
        <p:nvSpPr>
          <p:cNvPr id="58" name="Shape 56"/>
          <p:cNvSpPr/>
          <p:nvPr/>
        </p:nvSpPr>
        <p:spPr>
          <a:xfrm>
            <a:off x="6035040" y="2254910"/>
            <a:ext cx="45720" cy="91440"/>
          </a:xfrm>
          <a:prstGeom prst="rect">
            <a:avLst/>
          </a:prstGeom>
          <a:solidFill>
            <a:srgbClr val="1976D2"/>
          </a:solidFill>
          <a:ln/>
        </p:spPr>
        <p:txBody>
          <a:bodyPr/>
          <a:lstStyle/>
          <a:p>
            <a:endParaRPr lang="th-TH"/>
          </a:p>
        </p:txBody>
      </p:sp>
      <p:sp>
        <p:nvSpPr>
          <p:cNvPr id="59" name="Text 57"/>
          <p:cNvSpPr/>
          <p:nvPr/>
        </p:nvSpPr>
        <p:spPr>
          <a:xfrm>
            <a:off x="6025896" y="2172614"/>
            <a:ext cx="91440" cy="219456"/>
          </a:xfrm>
          <a:prstGeom prst="rect">
            <a:avLst/>
          </a:prstGeom>
          <a:noFill/>
          <a:ln/>
        </p:spPr>
        <p:txBody>
          <a:bodyPr wrap="square" lIns="0" tIns="0" rIns="0" bIns="0" rtlCol="0" anchor="ctr"/>
          <a:lstStyle/>
          <a:p>
            <a:pPr marL="0" indent="0" algn="ctr">
              <a:buNone/>
            </a:pPr>
            <a:r>
              <a:rPr lang="en-US" sz="1600" b="1" dirty="0">
                <a:solidFill>
                  <a:srgbClr val="1976D2"/>
                </a:solidFill>
                <a:latin typeface="Calibri" pitchFamily="34" charset="0"/>
                <a:ea typeface="Calibri" pitchFamily="34" charset="-122"/>
                <a:cs typeface="Calibri" pitchFamily="34" charset="-120"/>
              </a:rPr>
              <a:t>›</a:t>
            </a:r>
            <a:endParaRPr lang="en-US" sz="1600" dirty="0"/>
          </a:p>
        </p:txBody>
      </p:sp>
      <p:sp>
        <p:nvSpPr>
          <p:cNvPr id="60" name="Shape 58"/>
          <p:cNvSpPr/>
          <p:nvPr/>
        </p:nvSpPr>
        <p:spPr>
          <a:xfrm>
            <a:off x="6099048" y="1371600"/>
            <a:ext cx="1088136" cy="2926080"/>
          </a:xfrm>
          <a:prstGeom prst="rect">
            <a:avLst/>
          </a:prstGeom>
          <a:solidFill>
            <a:srgbClr val="FFFFFF"/>
          </a:solidFill>
          <a:ln w="9525">
            <a:solidFill>
              <a:srgbClr val="CFD8DC"/>
            </a:solidFill>
            <a:prstDash val="solid"/>
          </a:ln>
          <a:effectLst>
            <a:outerShdw blurRad="63500" dist="25400" dir="8100000" algn="bl" rotWithShape="0">
              <a:srgbClr val="000000">
                <a:alpha val="10000"/>
              </a:srgbClr>
            </a:outerShdw>
          </a:effectLst>
        </p:spPr>
        <p:txBody>
          <a:bodyPr/>
          <a:lstStyle/>
          <a:p>
            <a:endParaRPr lang="th-TH"/>
          </a:p>
        </p:txBody>
      </p:sp>
      <p:sp>
        <p:nvSpPr>
          <p:cNvPr id="61" name="Shape 59"/>
          <p:cNvSpPr/>
          <p:nvPr/>
        </p:nvSpPr>
        <p:spPr>
          <a:xfrm>
            <a:off x="6099048" y="1371600"/>
            <a:ext cx="1088136" cy="54864"/>
          </a:xfrm>
          <a:prstGeom prst="rect">
            <a:avLst/>
          </a:prstGeom>
          <a:solidFill>
            <a:srgbClr val="1565C0"/>
          </a:solidFill>
          <a:ln/>
        </p:spPr>
        <p:txBody>
          <a:bodyPr/>
          <a:lstStyle/>
          <a:p>
            <a:endParaRPr lang="th-TH"/>
          </a:p>
        </p:txBody>
      </p:sp>
      <p:sp>
        <p:nvSpPr>
          <p:cNvPr id="62" name="Shape 60"/>
          <p:cNvSpPr/>
          <p:nvPr/>
        </p:nvSpPr>
        <p:spPr>
          <a:xfrm>
            <a:off x="6414516" y="1508760"/>
            <a:ext cx="457200" cy="457200"/>
          </a:xfrm>
          <a:prstGeom prst="ellipse">
            <a:avLst/>
          </a:prstGeom>
          <a:solidFill>
            <a:srgbClr val="0A2342"/>
          </a:solidFill>
          <a:ln/>
        </p:spPr>
        <p:txBody>
          <a:bodyPr/>
          <a:lstStyle/>
          <a:p>
            <a:endParaRPr lang="th-TH"/>
          </a:p>
        </p:txBody>
      </p:sp>
      <p:sp>
        <p:nvSpPr>
          <p:cNvPr id="63" name="Text 61"/>
          <p:cNvSpPr/>
          <p:nvPr/>
        </p:nvSpPr>
        <p:spPr>
          <a:xfrm>
            <a:off x="6414516" y="1508760"/>
            <a:ext cx="45720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06</a:t>
            </a:r>
            <a:endParaRPr lang="en-US" sz="1100" dirty="0"/>
          </a:p>
        </p:txBody>
      </p:sp>
      <p:sp>
        <p:nvSpPr>
          <p:cNvPr id="64" name="Text 62"/>
          <p:cNvSpPr/>
          <p:nvPr/>
        </p:nvSpPr>
        <p:spPr>
          <a:xfrm>
            <a:off x="6144768" y="2057400"/>
            <a:ext cx="996696" cy="594360"/>
          </a:xfrm>
          <a:prstGeom prst="rect">
            <a:avLst/>
          </a:prstGeom>
          <a:noFill/>
          <a:ln/>
        </p:spPr>
        <p:txBody>
          <a:bodyPr wrap="square" lIns="0" tIns="0" rIns="0" bIns="0" rtlCol="0" anchor="ctr"/>
          <a:lstStyle/>
          <a:p>
            <a:pPr marL="0" indent="0" algn="ctr">
              <a:buNone/>
            </a:pPr>
            <a:r>
              <a:rPr lang="en-US" sz="1100" b="1" dirty="0">
                <a:solidFill>
                  <a:srgbClr val="0A2342"/>
                </a:solidFill>
                <a:latin typeface="Calibri" pitchFamily="34" charset="0"/>
                <a:ea typeface="Calibri" pitchFamily="34" charset="-122"/>
                <a:cs typeface="Calibri" pitchFamily="34" charset="-120"/>
              </a:rPr>
              <a:t>Time</a:t>
            </a:r>
            <a:endParaRPr lang="en-US" sz="1100" dirty="0"/>
          </a:p>
          <a:p>
            <a:pPr marL="0" indent="0" algn="ctr">
              <a:buNone/>
            </a:pPr>
            <a:r>
              <a:rPr lang="en-US" sz="1100" b="1" dirty="0">
                <a:solidFill>
                  <a:srgbClr val="0A2342"/>
                </a:solidFill>
                <a:latin typeface="Calibri" pitchFamily="34" charset="0"/>
                <a:ea typeface="Calibri" pitchFamily="34" charset="-122"/>
                <a:cs typeface="Calibri" pitchFamily="34" charset="-120"/>
              </a:rPr>
              <a:t>Series</a:t>
            </a:r>
            <a:endParaRPr lang="en-US" sz="1100" dirty="0"/>
          </a:p>
        </p:txBody>
      </p:sp>
      <p:sp>
        <p:nvSpPr>
          <p:cNvPr id="65" name="Text 63"/>
          <p:cNvSpPr/>
          <p:nvPr/>
        </p:nvSpPr>
        <p:spPr>
          <a:xfrm>
            <a:off x="6153912" y="2788920"/>
            <a:ext cx="978408" cy="402336"/>
          </a:xfrm>
          <a:prstGeom prst="rect">
            <a:avLst/>
          </a:prstGeom>
          <a:noFill/>
          <a:ln/>
        </p:spPr>
        <p:txBody>
          <a:bodyPr wrap="square" lIns="0" tIns="0" rIns="0" bIns="0" rtlCol="0" anchor="ctr"/>
          <a:lstStyle/>
          <a:p>
            <a:pPr marL="0" indent="0" algn="ctr">
              <a:buNone/>
            </a:pPr>
            <a:r>
              <a:rPr lang="en-US" sz="950" dirty="0">
                <a:solidFill>
                  <a:srgbClr val="37474F"/>
                </a:solidFill>
                <a:latin typeface="Calibri" pitchFamily="34" charset="0"/>
                <a:ea typeface="Calibri" pitchFamily="34" charset="-122"/>
                <a:cs typeface="Calibri" pitchFamily="34" charset="-120"/>
              </a:rPr>
              <a:t>ARIMA(2,1,2)</a:t>
            </a:r>
            <a:endParaRPr lang="en-US" sz="950" dirty="0"/>
          </a:p>
        </p:txBody>
      </p:sp>
      <p:sp>
        <p:nvSpPr>
          <p:cNvPr id="66" name="Text 64"/>
          <p:cNvSpPr/>
          <p:nvPr/>
        </p:nvSpPr>
        <p:spPr>
          <a:xfrm>
            <a:off x="6153912" y="3246120"/>
            <a:ext cx="978408" cy="402336"/>
          </a:xfrm>
          <a:prstGeom prst="rect">
            <a:avLst/>
          </a:prstGeom>
          <a:noFill/>
          <a:ln/>
        </p:spPr>
        <p:txBody>
          <a:bodyPr wrap="square" lIns="0" tIns="0" rIns="0" bIns="0" rtlCol="0" anchor="ctr"/>
          <a:lstStyle/>
          <a:p>
            <a:pPr marL="0" indent="0" algn="ctr">
              <a:buNone/>
            </a:pPr>
            <a:r>
              <a:rPr lang="en-US" sz="950" dirty="0">
                <a:solidFill>
                  <a:srgbClr val="37474F"/>
                </a:solidFill>
                <a:latin typeface="Calibri" pitchFamily="34" charset="0"/>
                <a:ea typeface="Calibri" pitchFamily="34" charset="-122"/>
                <a:cs typeface="Calibri" pitchFamily="34" charset="-120"/>
              </a:rPr>
              <a:t>LSTM (PyTorch)</a:t>
            </a:r>
            <a:endParaRPr lang="en-US" sz="950" dirty="0"/>
          </a:p>
        </p:txBody>
      </p:sp>
      <p:sp>
        <p:nvSpPr>
          <p:cNvPr id="67" name="Text 65"/>
          <p:cNvSpPr/>
          <p:nvPr/>
        </p:nvSpPr>
        <p:spPr>
          <a:xfrm>
            <a:off x="6153912" y="3703320"/>
            <a:ext cx="978408" cy="402336"/>
          </a:xfrm>
          <a:prstGeom prst="rect">
            <a:avLst/>
          </a:prstGeom>
          <a:noFill/>
          <a:ln/>
        </p:spPr>
        <p:txBody>
          <a:bodyPr wrap="square" lIns="0" tIns="0" rIns="0" bIns="0" rtlCol="0" anchor="ctr"/>
          <a:lstStyle/>
          <a:p>
            <a:pPr marL="0" indent="0" algn="ctr">
              <a:buNone/>
            </a:pPr>
            <a:r>
              <a:rPr lang="en-US" sz="950" dirty="0">
                <a:solidFill>
                  <a:srgbClr val="37474F"/>
                </a:solidFill>
                <a:latin typeface="Calibri" pitchFamily="34" charset="0"/>
                <a:ea typeface="Calibri" pitchFamily="34" charset="-122"/>
                <a:cs typeface="Calibri" pitchFamily="34" charset="-120"/>
              </a:rPr>
              <a:t>Rolling forecast</a:t>
            </a:r>
            <a:endParaRPr lang="en-US" sz="950" dirty="0"/>
          </a:p>
        </p:txBody>
      </p:sp>
      <p:sp>
        <p:nvSpPr>
          <p:cNvPr id="68" name="Shape 66"/>
          <p:cNvSpPr/>
          <p:nvPr/>
        </p:nvSpPr>
        <p:spPr>
          <a:xfrm>
            <a:off x="7196328" y="2254910"/>
            <a:ext cx="45720" cy="91440"/>
          </a:xfrm>
          <a:prstGeom prst="rect">
            <a:avLst/>
          </a:prstGeom>
          <a:solidFill>
            <a:srgbClr val="1976D2"/>
          </a:solidFill>
          <a:ln/>
        </p:spPr>
        <p:txBody>
          <a:bodyPr/>
          <a:lstStyle/>
          <a:p>
            <a:endParaRPr lang="th-TH"/>
          </a:p>
        </p:txBody>
      </p:sp>
      <p:sp>
        <p:nvSpPr>
          <p:cNvPr id="69" name="Text 67"/>
          <p:cNvSpPr/>
          <p:nvPr/>
        </p:nvSpPr>
        <p:spPr>
          <a:xfrm>
            <a:off x="7187184" y="2172614"/>
            <a:ext cx="91440" cy="219456"/>
          </a:xfrm>
          <a:prstGeom prst="rect">
            <a:avLst/>
          </a:prstGeom>
          <a:noFill/>
          <a:ln/>
        </p:spPr>
        <p:txBody>
          <a:bodyPr wrap="square" lIns="0" tIns="0" rIns="0" bIns="0" rtlCol="0" anchor="ctr"/>
          <a:lstStyle/>
          <a:p>
            <a:pPr marL="0" indent="0" algn="ctr">
              <a:buNone/>
            </a:pPr>
            <a:r>
              <a:rPr lang="en-US" sz="1600" b="1" dirty="0">
                <a:solidFill>
                  <a:srgbClr val="1976D2"/>
                </a:solidFill>
                <a:latin typeface="Calibri" pitchFamily="34" charset="0"/>
                <a:ea typeface="Calibri" pitchFamily="34" charset="-122"/>
                <a:cs typeface="Calibri" pitchFamily="34" charset="-120"/>
              </a:rPr>
              <a:t>›</a:t>
            </a:r>
            <a:endParaRPr lang="en-US" sz="1600" dirty="0"/>
          </a:p>
        </p:txBody>
      </p:sp>
      <p:sp>
        <p:nvSpPr>
          <p:cNvPr id="70" name="Shape 68"/>
          <p:cNvSpPr/>
          <p:nvPr/>
        </p:nvSpPr>
        <p:spPr>
          <a:xfrm>
            <a:off x="7260336" y="1371600"/>
            <a:ext cx="1088136" cy="2926080"/>
          </a:xfrm>
          <a:prstGeom prst="rect">
            <a:avLst/>
          </a:prstGeom>
          <a:solidFill>
            <a:srgbClr val="0A2342"/>
          </a:solidFill>
          <a:ln w="9525">
            <a:solidFill>
              <a:srgbClr val="0A2342"/>
            </a:solidFill>
            <a:prstDash val="solid"/>
          </a:ln>
          <a:effectLst>
            <a:outerShdw blurRad="63500" dist="25400" dir="8100000" algn="bl" rotWithShape="0">
              <a:srgbClr val="000000">
                <a:alpha val="10000"/>
              </a:srgbClr>
            </a:outerShdw>
          </a:effectLst>
        </p:spPr>
        <p:txBody>
          <a:bodyPr/>
          <a:lstStyle/>
          <a:p>
            <a:endParaRPr lang="th-TH"/>
          </a:p>
        </p:txBody>
      </p:sp>
      <p:sp>
        <p:nvSpPr>
          <p:cNvPr id="71" name="Shape 69"/>
          <p:cNvSpPr/>
          <p:nvPr/>
        </p:nvSpPr>
        <p:spPr>
          <a:xfrm>
            <a:off x="7260336" y="1371600"/>
            <a:ext cx="1088136" cy="54864"/>
          </a:xfrm>
          <a:prstGeom prst="rect">
            <a:avLst/>
          </a:prstGeom>
          <a:solidFill>
            <a:srgbClr val="1565C0"/>
          </a:solidFill>
          <a:ln/>
        </p:spPr>
        <p:txBody>
          <a:bodyPr/>
          <a:lstStyle/>
          <a:p>
            <a:endParaRPr lang="th-TH"/>
          </a:p>
        </p:txBody>
      </p:sp>
      <p:sp>
        <p:nvSpPr>
          <p:cNvPr id="72" name="Shape 70"/>
          <p:cNvSpPr/>
          <p:nvPr/>
        </p:nvSpPr>
        <p:spPr>
          <a:xfrm>
            <a:off x="7575804" y="1508760"/>
            <a:ext cx="457200" cy="457200"/>
          </a:xfrm>
          <a:prstGeom prst="ellipse">
            <a:avLst/>
          </a:prstGeom>
          <a:solidFill>
            <a:srgbClr val="1565C0"/>
          </a:solidFill>
          <a:ln/>
        </p:spPr>
        <p:txBody>
          <a:bodyPr/>
          <a:lstStyle/>
          <a:p>
            <a:endParaRPr lang="th-TH"/>
          </a:p>
        </p:txBody>
      </p:sp>
      <p:sp>
        <p:nvSpPr>
          <p:cNvPr id="73" name="Text 71"/>
          <p:cNvSpPr/>
          <p:nvPr/>
        </p:nvSpPr>
        <p:spPr>
          <a:xfrm>
            <a:off x="7575804" y="1508760"/>
            <a:ext cx="45720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07</a:t>
            </a:r>
            <a:endParaRPr lang="en-US" sz="1100" dirty="0"/>
          </a:p>
        </p:txBody>
      </p:sp>
      <p:sp>
        <p:nvSpPr>
          <p:cNvPr id="74" name="Text 72"/>
          <p:cNvSpPr/>
          <p:nvPr/>
        </p:nvSpPr>
        <p:spPr>
          <a:xfrm>
            <a:off x="7306056" y="2057400"/>
            <a:ext cx="996696" cy="5943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Key</a:t>
            </a:r>
            <a:endParaRPr lang="en-US" sz="1100" dirty="0"/>
          </a:p>
          <a:p>
            <a:pPr marL="0" indent="0" algn="ctr">
              <a:buNone/>
            </a:pPr>
            <a:r>
              <a:rPr lang="en-US" sz="1100" b="1" dirty="0">
                <a:solidFill>
                  <a:srgbClr val="FFFFFF"/>
                </a:solidFill>
                <a:latin typeface="Calibri" pitchFamily="34" charset="0"/>
                <a:ea typeface="Calibri" pitchFamily="34" charset="-122"/>
                <a:cs typeface="Calibri" pitchFamily="34" charset="-120"/>
              </a:rPr>
              <a:t>Insights</a:t>
            </a:r>
            <a:endParaRPr lang="en-US" sz="1100" dirty="0"/>
          </a:p>
        </p:txBody>
      </p:sp>
      <p:sp>
        <p:nvSpPr>
          <p:cNvPr id="75" name="Text 73"/>
          <p:cNvSpPr/>
          <p:nvPr/>
        </p:nvSpPr>
        <p:spPr>
          <a:xfrm>
            <a:off x="7315200" y="2788920"/>
            <a:ext cx="978408" cy="402336"/>
          </a:xfrm>
          <a:prstGeom prst="rect">
            <a:avLst/>
          </a:prstGeom>
          <a:noFill/>
          <a:ln/>
        </p:spPr>
        <p:txBody>
          <a:bodyPr wrap="square" lIns="0" tIns="0" rIns="0" bIns="0" rtlCol="0" anchor="ctr"/>
          <a:lstStyle/>
          <a:p>
            <a:pPr marL="0" indent="0" algn="ctr">
              <a:buNone/>
            </a:pPr>
            <a:r>
              <a:rPr lang="en-US" sz="950" dirty="0">
                <a:solidFill>
                  <a:srgbClr val="BBDEFB"/>
                </a:solidFill>
                <a:latin typeface="Calibri" pitchFamily="34" charset="0"/>
                <a:ea typeface="Calibri" pitchFamily="34" charset="-122"/>
                <a:cs typeface="Calibri" pitchFamily="34" charset="-120"/>
              </a:rPr>
              <a:t>r = 0.73 correlation</a:t>
            </a:r>
            <a:endParaRPr lang="en-US" sz="950" dirty="0"/>
          </a:p>
        </p:txBody>
      </p:sp>
      <p:sp>
        <p:nvSpPr>
          <p:cNvPr id="76" name="Text 74"/>
          <p:cNvSpPr/>
          <p:nvPr/>
        </p:nvSpPr>
        <p:spPr>
          <a:xfrm>
            <a:off x="7315200" y="3246120"/>
            <a:ext cx="978408" cy="402336"/>
          </a:xfrm>
          <a:prstGeom prst="rect">
            <a:avLst/>
          </a:prstGeom>
          <a:noFill/>
          <a:ln/>
        </p:spPr>
        <p:txBody>
          <a:bodyPr wrap="square" lIns="0" tIns="0" rIns="0" bIns="0" rtlCol="0" anchor="ctr"/>
          <a:lstStyle/>
          <a:p>
            <a:pPr marL="0" indent="0" algn="ctr">
              <a:buNone/>
            </a:pPr>
            <a:r>
              <a:rPr lang="en-US" sz="950" dirty="0">
                <a:solidFill>
                  <a:srgbClr val="BBDEFB"/>
                </a:solidFill>
                <a:latin typeface="Calibri" pitchFamily="34" charset="0"/>
                <a:ea typeface="Calibri" pitchFamily="34" charset="-122"/>
                <a:cs typeface="Calibri" pitchFamily="34" charset="-120"/>
              </a:rPr>
              <a:t>R² = 0.999 best model</a:t>
            </a:r>
            <a:endParaRPr lang="en-US" sz="950" dirty="0"/>
          </a:p>
        </p:txBody>
      </p:sp>
      <p:sp>
        <p:nvSpPr>
          <p:cNvPr id="77" name="Text 75"/>
          <p:cNvSpPr/>
          <p:nvPr/>
        </p:nvSpPr>
        <p:spPr>
          <a:xfrm>
            <a:off x="7315200" y="3703320"/>
            <a:ext cx="978408" cy="402336"/>
          </a:xfrm>
          <a:prstGeom prst="rect">
            <a:avLst/>
          </a:prstGeom>
          <a:noFill/>
          <a:ln/>
        </p:spPr>
        <p:txBody>
          <a:bodyPr wrap="square" lIns="0" tIns="0" rIns="0" bIns="0" rtlCol="0" anchor="ctr"/>
          <a:lstStyle/>
          <a:p>
            <a:pPr marL="0" indent="0" algn="ctr">
              <a:buNone/>
            </a:pPr>
            <a:r>
              <a:rPr lang="en-US" sz="950" dirty="0">
                <a:solidFill>
                  <a:srgbClr val="BBDEFB"/>
                </a:solidFill>
                <a:latin typeface="Calibri" pitchFamily="34" charset="0"/>
                <a:ea typeface="Calibri" pitchFamily="34" charset="-122"/>
                <a:cs typeface="Calibri" pitchFamily="34" charset="-120"/>
              </a:rPr>
              <a:t>AUC &gt; 0.95 classifiers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A2342"/>
          </a:solidFill>
          <a:ln/>
        </p:spPr>
        <p:txBody>
          <a:bodyPr/>
          <a:lstStyle/>
          <a:p>
            <a:endParaRPr lang="th-TH"/>
          </a:p>
        </p:txBody>
      </p:sp>
      <p:sp>
        <p:nvSpPr>
          <p:cNvPr id="3" name="Shape 1"/>
          <p:cNvSpPr/>
          <p:nvPr/>
        </p:nvSpPr>
        <p:spPr>
          <a:xfrm>
            <a:off x="0" y="960120"/>
            <a:ext cx="9144000" cy="41148"/>
          </a:xfrm>
          <a:prstGeom prst="rect">
            <a:avLst/>
          </a:prstGeom>
          <a:solidFill>
            <a:srgbClr val="1976D2"/>
          </a:solidFill>
          <a:ln/>
        </p:spPr>
        <p:txBody>
          <a:bodyPr/>
          <a:lstStyle/>
          <a:p>
            <a:endParaRPr lang="th-TH"/>
          </a:p>
        </p:txBody>
      </p:sp>
      <p:sp>
        <p:nvSpPr>
          <p:cNvPr id="4" name="Text 2"/>
          <p:cNvSpPr/>
          <p:nvPr/>
        </p:nvSpPr>
        <p:spPr>
          <a:xfrm>
            <a:off x="411480" y="91440"/>
            <a:ext cx="7955280" cy="502920"/>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Dataset Overview</a:t>
            </a:r>
            <a:endParaRPr lang="en-US" sz="2000" dirty="0"/>
          </a:p>
        </p:txBody>
      </p:sp>
      <p:sp>
        <p:nvSpPr>
          <p:cNvPr id="5" name="Text 3"/>
          <p:cNvSpPr/>
          <p:nvPr/>
        </p:nvSpPr>
        <p:spPr>
          <a:xfrm>
            <a:off x="411480" y="576072"/>
            <a:ext cx="8046720" cy="320040"/>
          </a:xfrm>
          <a:prstGeom prst="rect">
            <a:avLst/>
          </a:prstGeom>
          <a:noFill/>
          <a:ln/>
        </p:spPr>
        <p:txBody>
          <a:bodyPr wrap="square" lIns="0" tIns="0" rIns="0" bIns="0" rtlCol="0" anchor="ctr"/>
          <a:lstStyle/>
          <a:p>
            <a:pPr marL="0" indent="0">
              <a:buNone/>
            </a:pPr>
            <a:r>
              <a:rPr lang="en-US" sz="1100" dirty="0">
                <a:solidFill>
                  <a:srgbClr val="BBDEFB"/>
                </a:solidFill>
                <a:latin typeface="Calibri" pitchFamily="34" charset="0"/>
                <a:ea typeface="Calibri" pitchFamily="34" charset="-122"/>
                <a:cs typeface="Calibri" pitchFamily="34" charset="-120"/>
              </a:rPr>
              <a:t>Two complementary data sources merged across the full 2021 calendar year</a:t>
            </a:r>
            <a:endParaRPr lang="en-US" sz="1100" dirty="0"/>
          </a:p>
        </p:txBody>
      </p:sp>
      <p:sp>
        <p:nvSpPr>
          <p:cNvPr id="6" name="Shape 4"/>
          <p:cNvSpPr/>
          <p:nvPr/>
        </p:nvSpPr>
        <p:spPr>
          <a:xfrm>
            <a:off x="8641080" y="201168"/>
            <a:ext cx="347472" cy="347472"/>
          </a:xfrm>
          <a:prstGeom prst="ellipse">
            <a:avLst/>
          </a:prstGeom>
          <a:solidFill>
            <a:srgbClr val="1976D2"/>
          </a:solidFill>
          <a:ln/>
        </p:spPr>
        <p:txBody>
          <a:bodyPr/>
          <a:lstStyle/>
          <a:p>
            <a:endParaRPr lang="th-TH"/>
          </a:p>
        </p:txBody>
      </p:sp>
      <p:sp>
        <p:nvSpPr>
          <p:cNvPr id="7" name="Shape 5"/>
          <p:cNvSpPr/>
          <p:nvPr/>
        </p:nvSpPr>
        <p:spPr>
          <a:xfrm>
            <a:off x="0" y="4850892"/>
            <a:ext cx="9144000" cy="292608"/>
          </a:xfrm>
          <a:prstGeom prst="rect">
            <a:avLst/>
          </a:prstGeom>
          <a:solidFill>
            <a:srgbClr val="E3F0FF"/>
          </a:solidFill>
          <a:ln/>
        </p:spPr>
        <p:txBody>
          <a:bodyPr/>
          <a:lstStyle/>
          <a:p>
            <a:endParaRPr lang="th-TH"/>
          </a:p>
        </p:txBody>
      </p:sp>
      <p:sp>
        <p:nvSpPr>
          <p:cNvPr id="8" name="Text 6"/>
          <p:cNvSpPr/>
          <p:nvPr/>
        </p:nvSpPr>
        <p:spPr>
          <a:xfrm>
            <a:off x="320040" y="4869180"/>
            <a:ext cx="7315200" cy="256032"/>
          </a:xfrm>
          <a:prstGeom prst="rect">
            <a:avLst/>
          </a:prstGeom>
          <a:noFill/>
          <a:ln/>
        </p:spPr>
        <p:txBody>
          <a:bodyPr wrap="square" lIns="0" tIns="0" rIns="0" bIns="0" rtlCol="0" anchor="ctr"/>
          <a:lstStyle/>
          <a:p>
            <a:pPr marL="0" indent="0">
              <a:buNone/>
            </a:pPr>
            <a:r>
              <a:rPr lang="en-US" sz="850" dirty="0">
                <a:solidFill>
                  <a:srgbClr val="607D8B"/>
                </a:solidFill>
                <a:latin typeface="Calibri" pitchFamily="34" charset="0"/>
                <a:ea typeface="Calibri" pitchFamily="34" charset="-122"/>
                <a:cs typeface="Calibri" pitchFamily="34" charset="-120"/>
              </a:rPr>
              <a:t>FlowShift  |  Urban Traffic &amp; Transit Demand — Los Angeles 2021</a:t>
            </a:r>
            <a:endParaRPr lang="en-US" sz="850" dirty="0"/>
          </a:p>
        </p:txBody>
      </p:sp>
      <p:sp>
        <p:nvSpPr>
          <p:cNvPr id="9" name="Text 7"/>
          <p:cNvSpPr/>
          <p:nvPr/>
        </p:nvSpPr>
        <p:spPr>
          <a:xfrm>
            <a:off x="8503920" y="4869180"/>
            <a:ext cx="502920" cy="256032"/>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3 / 15</a:t>
            </a:r>
            <a:endParaRPr lang="en-US" sz="850" dirty="0"/>
          </a:p>
        </p:txBody>
      </p:sp>
      <p:sp>
        <p:nvSpPr>
          <p:cNvPr id="10" name="Shape 8"/>
          <p:cNvSpPr/>
          <p:nvPr/>
        </p:nvSpPr>
        <p:spPr>
          <a:xfrm>
            <a:off x="320040" y="1143000"/>
            <a:ext cx="3977640" cy="3429000"/>
          </a:xfrm>
          <a:prstGeom prst="rect">
            <a:avLst/>
          </a:prstGeom>
          <a:solidFill>
            <a:srgbClr val="FFFFFF"/>
          </a:solidFill>
          <a:ln w="9525">
            <a:solidFill>
              <a:srgbClr val="CFD8DC"/>
            </a:solidFill>
            <a:prstDash val="solid"/>
          </a:ln>
          <a:effectLst>
            <a:outerShdw blurRad="76200" dist="25400" dir="8100000" algn="bl" rotWithShape="0">
              <a:srgbClr val="000000">
                <a:alpha val="10000"/>
              </a:srgbClr>
            </a:outerShdw>
          </a:effectLst>
        </p:spPr>
        <p:txBody>
          <a:bodyPr/>
          <a:lstStyle/>
          <a:p>
            <a:endParaRPr lang="th-TH"/>
          </a:p>
        </p:txBody>
      </p:sp>
      <p:sp>
        <p:nvSpPr>
          <p:cNvPr id="11" name="Shape 9"/>
          <p:cNvSpPr/>
          <p:nvPr/>
        </p:nvSpPr>
        <p:spPr>
          <a:xfrm>
            <a:off x="320040" y="1143000"/>
            <a:ext cx="3977640" cy="64008"/>
          </a:xfrm>
          <a:prstGeom prst="rect">
            <a:avLst/>
          </a:prstGeom>
          <a:solidFill>
            <a:srgbClr val="1565C0"/>
          </a:solidFill>
          <a:ln/>
        </p:spPr>
        <p:txBody>
          <a:bodyPr/>
          <a:lstStyle/>
          <a:p>
            <a:endParaRPr lang="th-TH"/>
          </a:p>
        </p:txBody>
      </p:sp>
      <p:sp>
        <p:nvSpPr>
          <p:cNvPr id="12" name="Text 10"/>
          <p:cNvSpPr/>
          <p:nvPr/>
        </p:nvSpPr>
        <p:spPr>
          <a:xfrm>
            <a:off x="457200" y="1207008"/>
            <a:ext cx="3703320" cy="384048"/>
          </a:xfrm>
          <a:prstGeom prst="rect">
            <a:avLst/>
          </a:prstGeom>
          <a:noFill/>
          <a:ln/>
        </p:spPr>
        <p:txBody>
          <a:bodyPr wrap="square" lIns="0" tIns="0" rIns="0" bIns="0" rtlCol="0" anchor="ctr"/>
          <a:lstStyle/>
          <a:p>
            <a:pPr marL="0" indent="0">
              <a:buNone/>
            </a:pPr>
            <a:r>
              <a:rPr lang="en-US" sz="1300" b="1" dirty="0">
                <a:solidFill>
                  <a:srgbClr val="0A2342"/>
                </a:solidFill>
                <a:latin typeface="Calibri" pitchFamily="34" charset="0"/>
                <a:ea typeface="Calibri" pitchFamily="34" charset="-122"/>
                <a:cs typeface="Calibri" pitchFamily="34" charset="-120"/>
              </a:rPr>
              <a:t>Traffic Flow  —  Large-ST / PeMS</a:t>
            </a:r>
            <a:endParaRPr lang="en-US" sz="1300" dirty="0"/>
          </a:p>
        </p:txBody>
      </p:sp>
      <p:sp>
        <p:nvSpPr>
          <p:cNvPr id="13" name="Shape 11"/>
          <p:cNvSpPr/>
          <p:nvPr/>
        </p:nvSpPr>
        <p:spPr>
          <a:xfrm>
            <a:off x="457200" y="1691640"/>
            <a:ext cx="1097280" cy="320040"/>
          </a:xfrm>
          <a:prstGeom prst="rect">
            <a:avLst/>
          </a:prstGeom>
          <a:solidFill>
            <a:srgbClr val="E3F0FF"/>
          </a:solidFill>
          <a:ln/>
        </p:spPr>
        <p:txBody>
          <a:bodyPr/>
          <a:lstStyle/>
          <a:p>
            <a:endParaRPr lang="th-TH"/>
          </a:p>
        </p:txBody>
      </p:sp>
      <p:sp>
        <p:nvSpPr>
          <p:cNvPr id="14" name="Text 12"/>
          <p:cNvSpPr/>
          <p:nvPr/>
        </p:nvSpPr>
        <p:spPr>
          <a:xfrm>
            <a:off x="457200" y="1691640"/>
            <a:ext cx="1097280" cy="320040"/>
          </a:xfrm>
          <a:prstGeom prst="rect">
            <a:avLst/>
          </a:prstGeom>
          <a:noFill/>
          <a:ln/>
        </p:spPr>
        <p:txBody>
          <a:bodyPr wrap="square" lIns="0" tIns="0" rIns="0" bIns="0" rtlCol="0" anchor="ctr"/>
          <a:lstStyle/>
          <a:p>
            <a:pPr marL="0" indent="0" algn="ctr">
              <a:buNone/>
            </a:pPr>
            <a:r>
              <a:rPr lang="en-US" sz="1000" b="1" dirty="0">
                <a:solidFill>
                  <a:srgbClr val="1565C0"/>
                </a:solidFill>
                <a:latin typeface="Calibri" pitchFamily="34" charset="0"/>
                <a:ea typeface="Calibri" pitchFamily="34" charset="-122"/>
                <a:cs typeface="Calibri" pitchFamily="34" charset="-120"/>
              </a:rPr>
              <a:t>Sensors</a:t>
            </a:r>
            <a:endParaRPr lang="en-US" sz="1000" dirty="0"/>
          </a:p>
        </p:txBody>
      </p:sp>
      <p:sp>
        <p:nvSpPr>
          <p:cNvPr id="15" name="Text 13"/>
          <p:cNvSpPr/>
          <p:nvPr/>
        </p:nvSpPr>
        <p:spPr>
          <a:xfrm>
            <a:off x="1627632" y="1709928"/>
            <a:ext cx="2514600" cy="283464"/>
          </a:xfrm>
          <a:prstGeom prst="rect">
            <a:avLst/>
          </a:prstGeom>
          <a:noFill/>
          <a:ln/>
        </p:spPr>
        <p:txBody>
          <a:bodyPr wrap="square" lIns="0" tIns="0" rIns="0" bIns="0" rtlCol="0" anchor="ctr"/>
          <a:lstStyle/>
          <a:p>
            <a:pPr marL="0" indent="0">
              <a:buNone/>
            </a:pPr>
            <a:r>
              <a:rPr lang="en-US" sz="1100" dirty="0">
                <a:solidFill>
                  <a:srgbClr val="37474F"/>
                </a:solidFill>
                <a:latin typeface="Calibri" pitchFamily="34" charset="0"/>
                <a:ea typeface="Calibri" pitchFamily="34" charset="-122"/>
                <a:cs typeface="Calibri" pitchFamily="34" charset="-120"/>
              </a:rPr>
              <a:t>8,600 freeway sensors across California</a:t>
            </a:r>
            <a:endParaRPr lang="en-US" sz="1100" dirty="0"/>
          </a:p>
        </p:txBody>
      </p:sp>
      <p:sp>
        <p:nvSpPr>
          <p:cNvPr id="16" name="Shape 14"/>
          <p:cNvSpPr/>
          <p:nvPr/>
        </p:nvSpPr>
        <p:spPr>
          <a:xfrm>
            <a:off x="457200" y="2148840"/>
            <a:ext cx="1097280" cy="320040"/>
          </a:xfrm>
          <a:prstGeom prst="rect">
            <a:avLst/>
          </a:prstGeom>
          <a:solidFill>
            <a:srgbClr val="E3F0FF"/>
          </a:solidFill>
          <a:ln/>
        </p:spPr>
        <p:txBody>
          <a:bodyPr/>
          <a:lstStyle/>
          <a:p>
            <a:endParaRPr lang="th-TH"/>
          </a:p>
        </p:txBody>
      </p:sp>
      <p:sp>
        <p:nvSpPr>
          <p:cNvPr id="17" name="Text 15"/>
          <p:cNvSpPr/>
          <p:nvPr/>
        </p:nvSpPr>
        <p:spPr>
          <a:xfrm>
            <a:off x="457200" y="2148840"/>
            <a:ext cx="1097280" cy="320040"/>
          </a:xfrm>
          <a:prstGeom prst="rect">
            <a:avLst/>
          </a:prstGeom>
          <a:noFill/>
          <a:ln/>
        </p:spPr>
        <p:txBody>
          <a:bodyPr wrap="square" lIns="0" tIns="0" rIns="0" bIns="0" rtlCol="0" anchor="ctr"/>
          <a:lstStyle/>
          <a:p>
            <a:pPr marL="0" indent="0" algn="ctr">
              <a:buNone/>
            </a:pPr>
            <a:r>
              <a:rPr lang="en-US" sz="1000" b="1" dirty="0">
                <a:solidFill>
                  <a:srgbClr val="1565C0"/>
                </a:solidFill>
                <a:latin typeface="Calibri" pitchFamily="34" charset="0"/>
                <a:ea typeface="Calibri" pitchFamily="34" charset="-122"/>
                <a:cs typeface="Calibri" pitchFamily="34" charset="-120"/>
              </a:rPr>
              <a:t>Timestamps</a:t>
            </a:r>
            <a:endParaRPr lang="en-US" sz="1000" dirty="0"/>
          </a:p>
        </p:txBody>
      </p:sp>
      <p:sp>
        <p:nvSpPr>
          <p:cNvPr id="18" name="Text 16"/>
          <p:cNvSpPr/>
          <p:nvPr/>
        </p:nvSpPr>
        <p:spPr>
          <a:xfrm>
            <a:off x="1627632" y="2167128"/>
            <a:ext cx="2514600" cy="283464"/>
          </a:xfrm>
          <a:prstGeom prst="rect">
            <a:avLst/>
          </a:prstGeom>
          <a:noFill/>
          <a:ln/>
        </p:spPr>
        <p:txBody>
          <a:bodyPr wrap="square" lIns="0" tIns="0" rIns="0" bIns="0" rtlCol="0" anchor="ctr"/>
          <a:lstStyle/>
          <a:p>
            <a:pPr marL="0" indent="0">
              <a:buNone/>
            </a:pPr>
            <a:r>
              <a:rPr lang="en-US" sz="1100" dirty="0">
                <a:solidFill>
                  <a:srgbClr val="37474F"/>
                </a:solidFill>
                <a:latin typeface="Calibri" pitchFamily="34" charset="0"/>
                <a:ea typeface="Calibri" pitchFamily="34" charset="-122"/>
                <a:cs typeface="Calibri" pitchFamily="34" charset="-120"/>
              </a:rPr>
              <a:t>105,120 rows at 5-minute intervals</a:t>
            </a:r>
            <a:endParaRPr lang="en-US" sz="1100" dirty="0"/>
          </a:p>
        </p:txBody>
      </p:sp>
      <p:sp>
        <p:nvSpPr>
          <p:cNvPr id="19" name="Shape 17"/>
          <p:cNvSpPr/>
          <p:nvPr/>
        </p:nvSpPr>
        <p:spPr>
          <a:xfrm>
            <a:off x="457200" y="2606040"/>
            <a:ext cx="1097280" cy="320040"/>
          </a:xfrm>
          <a:prstGeom prst="rect">
            <a:avLst/>
          </a:prstGeom>
          <a:solidFill>
            <a:srgbClr val="E3F0FF"/>
          </a:solidFill>
          <a:ln/>
        </p:spPr>
        <p:txBody>
          <a:bodyPr/>
          <a:lstStyle/>
          <a:p>
            <a:endParaRPr lang="th-TH"/>
          </a:p>
        </p:txBody>
      </p:sp>
      <p:sp>
        <p:nvSpPr>
          <p:cNvPr id="20" name="Text 18"/>
          <p:cNvSpPr/>
          <p:nvPr/>
        </p:nvSpPr>
        <p:spPr>
          <a:xfrm>
            <a:off x="457200" y="2606040"/>
            <a:ext cx="1097280" cy="320040"/>
          </a:xfrm>
          <a:prstGeom prst="rect">
            <a:avLst/>
          </a:prstGeom>
          <a:noFill/>
          <a:ln/>
        </p:spPr>
        <p:txBody>
          <a:bodyPr wrap="square" lIns="0" tIns="0" rIns="0" bIns="0" rtlCol="0" anchor="ctr"/>
          <a:lstStyle/>
          <a:p>
            <a:pPr marL="0" indent="0" algn="ctr">
              <a:buNone/>
            </a:pPr>
            <a:r>
              <a:rPr lang="en-US" sz="1000" b="1" dirty="0">
                <a:solidFill>
                  <a:srgbClr val="1565C0"/>
                </a:solidFill>
                <a:latin typeface="Calibri" pitchFamily="34" charset="0"/>
                <a:ea typeface="Calibri" pitchFamily="34" charset="-122"/>
                <a:cs typeface="Calibri" pitchFamily="34" charset="-120"/>
              </a:rPr>
              <a:t>Date range</a:t>
            </a:r>
            <a:endParaRPr lang="en-US" sz="1000" dirty="0"/>
          </a:p>
        </p:txBody>
      </p:sp>
      <p:sp>
        <p:nvSpPr>
          <p:cNvPr id="21" name="Text 19"/>
          <p:cNvSpPr/>
          <p:nvPr/>
        </p:nvSpPr>
        <p:spPr>
          <a:xfrm>
            <a:off x="1627632" y="2624328"/>
            <a:ext cx="2514600" cy="283464"/>
          </a:xfrm>
          <a:prstGeom prst="rect">
            <a:avLst/>
          </a:prstGeom>
          <a:noFill/>
          <a:ln/>
        </p:spPr>
        <p:txBody>
          <a:bodyPr wrap="square" lIns="0" tIns="0" rIns="0" bIns="0" rtlCol="0" anchor="ctr"/>
          <a:lstStyle/>
          <a:p>
            <a:pPr marL="0" indent="0">
              <a:buNone/>
            </a:pPr>
            <a:r>
              <a:rPr lang="en-US" sz="1100" dirty="0">
                <a:solidFill>
                  <a:srgbClr val="37474F"/>
                </a:solidFill>
                <a:latin typeface="Calibri" pitchFamily="34" charset="0"/>
                <a:ea typeface="Calibri" pitchFamily="34" charset="-122"/>
                <a:cs typeface="Calibri" pitchFamily="34" charset="-120"/>
              </a:rPr>
              <a:t>Jan 1 – Dec 31, 2021</a:t>
            </a:r>
            <a:endParaRPr lang="en-US" sz="1100" dirty="0"/>
          </a:p>
        </p:txBody>
      </p:sp>
      <p:sp>
        <p:nvSpPr>
          <p:cNvPr id="22" name="Shape 20"/>
          <p:cNvSpPr/>
          <p:nvPr/>
        </p:nvSpPr>
        <p:spPr>
          <a:xfrm>
            <a:off x="457200" y="3063240"/>
            <a:ext cx="1097280" cy="320040"/>
          </a:xfrm>
          <a:prstGeom prst="rect">
            <a:avLst/>
          </a:prstGeom>
          <a:solidFill>
            <a:srgbClr val="E3F0FF"/>
          </a:solidFill>
          <a:ln/>
        </p:spPr>
        <p:txBody>
          <a:bodyPr/>
          <a:lstStyle/>
          <a:p>
            <a:endParaRPr lang="th-TH"/>
          </a:p>
        </p:txBody>
      </p:sp>
      <p:sp>
        <p:nvSpPr>
          <p:cNvPr id="23" name="Text 21"/>
          <p:cNvSpPr/>
          <p:nvPr/>
        </p:nvSpPr>
        <p:spPr>
          <a:xfrm>
            <a:off x="457200" y="3063240"/>
            <a:ext cx="1097280" cy="320040"/>
          </a:xfrm>
          <a:prstGeom prst="rect">
            <a:avLst/>
          </a:prstGeom>
          <a:noFill/>
          <a:ln/>
        </p:spPr>
        <p:txBody>
          <a:bodyPr wrap="square" lIns="0" tIns="0" rIns="0" bIns="0" rtlCol="0" anchor="ctr"/>
          <a:lstStyle/>
          <a:p>
            <a:pPr marL="0" indent="0" algn="ctr">
              <a:buNone/>
            </a:pPr>
            <a:r>
              <a:rPr lang="en-US" sz="1000" b="1" dirty="0">
                <a:solidFill>
                  <a:srgbClr val="1565C0"/>
                </a:solidFill>
                <a:latin typeface="Calibri" pitchFamily="34" charset="0"/>
                <a:ea typeface="Calibri" pitchFamily="34" charset="-122"/>
                <a:cs typeface="Calibri" pitchFamily="34" charset="-120"/>
              </a:rPr>
              <a:t>Data cells</a:t>
            </a:r>
            <a:endParaRPr lang="en-US" sz="1000" dirty="0"/>
          </a:p>
        </p:txBody>
      </p:sp>
      <p:sp>
        <p:nvSpPr>
          <p:cNvPr id="24" name="Text 22"/>
          <p:cNvSpPr/>
          <p:nvPr/>
        </p:nvSpPr>
        <p:spPr>
          <a:xfrm>
            <a:off x="1627632" y="3081528"/>
            <a:ext cx="2514600" cy="283464"/>
          </a:xfrm>
          <a:prstGeom prst="rect">
            <a:avLst/>
          </a:prstGeom>
          <a:noFill/>
          <a:ln/>
        </p:spPr>
        <p:txBody>
          <a:bodyPr wrap="square" lIns="0" tIns="0" rIns="0" bIns="0" rtlCol="0" anchor="ctr"/>
          <a:lstStyle/>
          <a:p>
            <a:pPr marL="0" indent="0">
              <a:buNone/>
            </a:pPr>
            <a:r>
              <a:rPr lang="en-US" sz="1100" dirty="0">
                <a:solidFill>
                  <a:srgbClr val="37474F"/>
                </a:solidFill>
                <a:latin typeface="Calibri" pitchFamily="34" charset="0"/>
                <a:ea typeface="Calibri" pitchFamily="34" charset="-122"/>
                <a:cs typeface="Calibri" pitchFamily="34" charset="-120"/>
              </a:rPr>
              <a:t>904,032,000 total observations</a:t>
            </a:r>
            <a:endParaRPr lang="en-US" sz="1100" dirty="0"/>
          </a:p>
        </p:txBody>
      </p:sp>
      <p:sp>
        <p:nvSpPr>
          <p:cNvPr id="25" name="Shape 23"/>
          <p:cNvSpPr/>
          <p:nvPr/>
        </p:nvSpPr>
        <p:spPr>
          <a:xfrm>
            <a:off x="457200" y="3520440"/>
            <a:ext cx="1097280" cy="320040"/>
          </a:xfrm>
          <a:prstGeom prst="rect">
            <a:avLst/>
          </a:prstGeom>
          <a:solidFill>
            <a:srgbClr val="E3F0FF"/>
          </a:solidFill>
          <a:ln/>
        </p:spPr>
        <p:txBody>
          <a:bodyPr/>
          <a:lstStyle/>
          <a:p>
            <a:endParaRPr lang="th-TH"/>
          </a:p>
        </p:txBody>
      </p:sp>
      <p:sp>
        <p:nvSpPr>
          <p:cNvPr id="26" name="Text 24"/>
          <p:cNvSpPr/>
          <p:nvPr/>
        </p:nvSpPr>
        <p:spPr>
          <a:xfrm>
            <a:off x="457200" y="3520440"/>
            <a:ext cx="1097280" cy="320040"/>
          </a:xfrm>
          <a:prstGeom prst="rect">
            <a:avLst/>
          </a:prstGeom>
          <a:noFill/>
          <a:ln/>
        </p:spPr>
        <p:txBody>
          <a:bodyPr wrap="square" lIns="0" tIns="0" rIns="0" bIns="0" rtlCol="0" anchor="ctr"/>
          <a:lstStyle/>
          <a:p>
            <a:pPr marL="0" indent="0" algn="ctr">
              <a:buNone/>
            </a:pPr>
            <a:r>
              <a:rPr lang="en-US" sz="1000" b="1" dirty="0">
                <a:solidFill>
                  <a:srgbClr val="1565C0"/>
                </a:solidFill>
                <a:latin typeface="Calibri" pitchFamily="34" charset="0"/>
                <a:ea typeface="Calibri" pitchFamily="34" charset="-122"/>
                <a:cs typeface="Calibri" pitchFamily="34" charset="-120"/>
              </a:rPr>
              <a:t>Districts</a:t>
            </a:r>
            <a:endParaRPr lang="en-US" sz="1000" dirty="0"/>
          </a:p>
        </p:txBody>
      </p:sp>
      <p:sp>
        <p:nvSpPr>
          <p:cNvPr id="27" name="Text 25"/>
          <p:cNvSpPr/>
          <p:nvPr/>
        </p:nvSpPr>
        <p:spPr>
          <a:xfrm>
            <a:off x="1627632" y="3538728"/>
            <a:ext cx="2514600" cy="283464"/>
          </a:xfrm>
          <a:prstGeom prst="rect">
            <a:avLst/>
          </a:prstGeom>
          <a:noFill/>
          <a:ln/>
        </p:spPr>
        <p:txBody>
          <a:bodyPr wrap="square" lIns="0" tIns="0" rIns="0" bIns="0" rtlCol="0" anchor="ctr"/>
          <a:lstStyle/>
          <a:p>
            <a:pPr marL="0" indent="0">
              <a:buNone/>
            </a:pPr>
            <a:r>
              <a:rPr lang="en-US" sz="1100" dirty="0">
                <a:solidFill>
                  <a:srgbClr val="37474F"/>
                </a:solidFill>
                <a:latin typeface="Calibri" pitchFamily="34" charset="0"/>
                <a:ea typeface="Calibri" pitchFamily="34" charset="-122"/>
                <a:cs typeface="Calibri" pitchFamily="34" charset="-120"/>
              </a:rPr>
              <a:t>9 PeMS districts covered</a:t>
            </a:r>
            <a:endParaRPr lang="en-US" sz="1100" dirty="0"/>
          </a:p>
        </p:txBody>
      </p:sp>
      <p:sp>
        <p:nvSpPr>
          <p:cNvPr id="28" name="Shape 26"/>
          <p:cNvSpPr/>
          <p:nvPr/>
        </p:nvSpPr>
        <p:spPr>
          <a:xfrm>
            <a:off x="457200" y="3977640"/>
            <a:ext cx="1097280" cy="320040"/>
          </a:xfrm>
          <a:prstGeom prst="rect">
            <a:avLst/>
          </a:prstGeom>
          <a:solidFill>
            <a:srgbClr val="E3F0FF"/>
          </a:solidFill>
          <a:ln/>
        </p:spPr>
        <p:txBody>
          <a:bodyPr/>
          <a:lstStyle/>
          <a:p>
            <a:endParaRPr lang="th-TH"/>
          </a:p>
        </p:txBody>
      </p:sp>
      <p:sp>
        <p:nvSpPr>
          <p:cNvPr id="29" name="Text 27"/>
          <p:cNvSpPr/>
          <p:nvPr/>
        </p:nvSpPr>
        <p:spPr>
          <a:xfrm>
            <a:off x="457200" y="3977640"/>
            <a:ext cx="1097280" cy="320040"/>
          </a:xfrm>
          <a:prstGeom prst="rect">
            <a:avLst/>
          </a:prstGeom>
          <a:noFill/>
          <a:ln/>
        </p:spPr>
        <p:txBody>
          <a:bodyPr wrap="square" lIns="0" tIns="0" rIns="0" bIns="0" rtlCol="0" anchor="ctr"/>
          <a:lstStyle/>
          <a:p>
            <a:pPr marL="0" indent="0" algn="ctr">
              <a:buNone/>
            </a:pPr>
            <a:r>
              <a:rPr lang="en-US" sz="1000" b="1" dirty="0">
                <a:solidFill>
                  <a:srgbClr val="1565C0"/>
                </a:solidFill>
                <a:latin typeface="Calibri" pitchFamily="34" charset="0"/>
                <a:ea typeface="Calibri" pitchFamily="34" charset="-122"/>
                <a:cs typeface="Calibri" pitchFamily="34" charset="-120"/>
              </a:rPr>
              <a:t>Unit</a:t>
            </a:r>
            <a:endParaRPr lang="en-US" sz="1000" dirty="0"/>
          </a:p>
        </p:txBody>
      </p:sp>
      <p:sp>
        <p:nvSpPr>
          <p:cNvPr id="30" name="Text 28"/>
          <p:cNvSpPr/>
          <p:nvPr/>
        </p:nvSpPr>
        <p:spPr>
          <a:xfrm>
            <a:off x="1627632" y="3995928"/>
            <a:ext cx="2514600" cy="283464"/>
          </a:xfrm>
          <a:prstGeom prst="rect">
            <a:avLst/>
          </a:prstGeom>
          <a:noFill/>
          <a:ln/>
        </p:spPr>
        <p:txBody>
          <a:bodyPr wrap="square" lIns="0" tIns="0" rIns="0" bIns="0" rtlCol="0" anchor="ctr"/>
          <a:lstStyle/>
          <a:p>
            <a:pPr marL="0" indent="0">
              <a:buNone/>
            </a:pPr>
            <a:r>
              <a:rPr lang="en-US" sz="1100" dirty="0">
                <a:solidFill>
                  <a:srgbClr val="37474F"/>
                </a:solidFill>
                <a:latin typeface="Calibri" pitchFamily="34" charset="0"/>
                <a:ea typeface="Calibri" pitchFamily="34" charset="-122"/>
                <a:cs typeface="Calibri" pitchFamily="34" charset="-120"/>
              </a:rPr>
              <a:t>Vehicles per 5-minute window</a:t>
            </a:r>
            <a:endParaRPr lang="en-US" sz="1100" dirty="0"/>
          </a:p>
        </p:txBody>
      </p:sp>
      <p:sp>
        <p:nvSpPr>
          <p:cNvPr id="31" name="Shape 29"/>
          <p:cNvSpPr/>
          <p:nvPr/>
        </p:nvSpPr>
        <p:spPr>
          <a:xfrm>
            <a:off x="4846320" y="1143000"/>
            <a:ext cx="3977640" cy="3429000"/>
          </a:xfrm>
          <a:prstGeom prst="rect">
            <a:avLst/>
          </a:prstGeom>
          <a:solidFill>
            <a:srgbClr val="FFFFFF"/>
          </a:solidFill>
          <a:ln w="9525">
            <a:solidFill>
              <a:srgbClr val="CFD8DC"/>
            </a:solidFill>
            <a:prstDash val="solid"/>
          </a:ln>
          <a:effectLst>
            <a:outerShdw blurRad="76200" dist="25400" dir="8100000" algn="bl" rotWithShape="0">
              <a:srgbClr val="000000">
                <a:alpha val="10000"/>
              </a:srgbClr>
            </a:outerShdw>
          </a:effectLst>
        </p:spPr>
        <p:txBody>
          <a:bodyPr/>
          <a:lstStyle/>
          <a:p>
            <a:endParaRPr lang="th-TH"/>
          </a:p>
        </p:txBody>
      </p:sp>
      <p:sp>
        <p:nvSpPr>
          <p:cNvPr id="32" name="Shape 30"/>
          <p:cNvSpPr/>
          <p:nvPr/>
        </p:nvSpPr>
        <p:spPr>
          <a:xfrm>
            <a:off x="4846320" y="1143000"/>
            <a:ext cx="3977640" cy="64008"/>
          </a:xfrm>
          <a:prstGeom prst="rect">
            <a:avLst/>
          </a:prstGeom>
          <a:solidFill>
            <a:srgbClr val="0A2342"/>
          </a:solidFill>
          <a:ln/>
        </p:spPr>
        <p:txBody>
          <a:bodyPr/>
          <a:lstStyle/>
          <a:p>
            <a:endParaRPr lang="th-TH"/>
          </a:p>
        </p:txBody>
      </p:sp>
      <p:sp>
        <p:nvSpPr>
          <p:cNvPr id="33" name="Text 31"/>
          <p:cNvSpPr/>
          <p:nvPr/>
        </p:nvSpPr>
        <p:spPr>
          <a:xfrm>
            <a:off x="4983480" y="1207008"/>
            <a:ext cx="3703320" cy="384048"/>
          </a:xfrm>
          <a:prstGeom prst="rect">
            <a:avLst/>
          </a:prstGeom>
          <a:noFill/>
          <a:ln/>
        </p:spPr>
        <p:txBody>
          <a:bodyPr wrap="square" lIns="0" tIns="0" rIns="0" bIns="0" rtlCol="0" anchor="ctr"/>
          <a:lstStyle/>
          <a:p>
            <a:pPr marL="0" indent="0">
              <a:buNone/>
            </a:pPr>
            <a:r>
              <a:rPr lang="en-US" sz="1300" b="1" dirty="0">
                <a:solidFill>
                  <a:srgbClr val="0A2342"/>
                </a:solidFill>
                <a:latin typeface="Calibri" pitchFamily="34" charset="0"/>
                <a:ea typeface="Calibri" pitchFamily="34" charset="-122"/>
                <a:cs typeface="Calibri" pitchFamily="34" charset="-120"/>
              </a:rPr>
              <a:t>Transit Ridership  —  NTD Monthly</a:t>
            </a:r>
            <a:endParaRPr lang="en-US" sz="1300" dirty="0"/>
          </a:p>
        </p:txBody>
      </p:sp>
      <p:sp>
        <p:nvSpPr>
          <p:cNvPr id="34" name="Shape 32"/>
          <p:cNvSpPr/>
          <p:nvPr/>
        </p:nvSpPr>
        <p:spPr>
          <a:xfrm>
            <a:off x="4983480" y="1691640"/>
            <a:ext cx="1097280" cy="320040"/>
          </a:xfrm>
          <a:prstGeom prst="rect">
            <a:avLst/>
          </a:prstGeom>
          <a:solidFill>
            <a:srgbClr val="0A2342"/>
          </a:solidFill>
          <a:ln/>
        </p:spPr>
        <p:txBody>
          <a:bodyPr/>
          <a:lstStyle/>
          <a:p>
            <a:endParaRPr lang="th-TH"/>
          </a:p>
        </p:txBody>
      </p:sp>
      <p:sp>
        <p:nvSpPr>
          <p:cNvPr id="35" name="Text 33"/>
          <p:cNvSpPr/>
          <p:nvPr/>
        </p:nvSpPr>
        <p:spPr>
          <a:xfrm>
            <a:off x="4983480" y="1691640"/>
            <a:ext cx="1097280" cy="32004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Agencies</a:t>
            </a:r>
            <a:endParaRPr lang="en-US" sz="1000" dirty="0"/>
          </a:p>
        </p:txBody>
      </p:sp>
      <p:sp>
        <p:nvSpPr>
          <p:cNvPr id="36" name="Text 34"/>
          <p:cNvSpPr/>
          <p:nvPr/>
        </p:nvSpPr>
        <p:spPr>
          <a:xfrm>
            <a:off x="6153912" y="1709928"/>
            <a:ext cx="2514600" cy="283464"/>
          </a:xfrm>
          <a:prstGeom prst="rect">
            <a:avLst/>
          </a:prstGeom>
          <a:noFill/>
          <a:ln/>
        </p:spPr>
        <p:txBody>
          <a:bodyPr wrap="square" lIns="0" tIns="0" rIns="0" bIns="0" rtlCol="0" anchor="ctr"/>
          <a:lstStyle/>
          <a:p>
            <a:pPr marL="0" indent="0">
              <a:buNone/>
            </a:pPr>
            <a:r>
              <a:rPr lang="en-US" sz="1100" dirty="0">
                <a:solidFill>
                  <a:srgbClr val="37474F"/>
                </a:solidFill>
                <a:latin typeface="Calibri" pitchFamily="34" charset="0"/>
                <a:ea typeface="Calibri" pitchFamily="34" charset="-122"/>
                <a:cs typeface="Calibri" pitchFamily="34" charset="-120"/>
              </a:rPr>
              <a:t>20 LA transit agencies</a:t>
            </a:r>
            <a:endParaRPr lang="en-US" sz="1100" dirty="0"/>
          </a:p>
        </p:txBody>
      </p:sp>
      <p:sp>
        <p:nvSpPr>
          <p:cNvPr id="37" name="Shape 35"/>
          <p:cNvSpPr/>
          <p:nvPr/>
        </p:nvSpPr>
        <p:spPr>
          <a:xfrm>
            <a:off x="4983480" y="2148840"/>
            <a:ext cx="1097280" cy="320040"/>
          </a:xfrm>
          <a:prstGeom prst="rect">
            <a:avLst/>
          </a:prstGeom>
          <a:solidFill>
            <a:srgbClr val="0A2342"/>
          </a:solidFill>
          <a:ln/>
        </p:spPr>
        <p:txBody>
          <a:bodyPr/>
          <a:lstStyle/>
          <a:p>
            <a:endParaRPr lang="th-TH"/>
          </a:p>
        </p:txBody>
      </p:sp>
      <p:sp>
        <p:nvSpPr>
          <p:cNvPr id="38" name="Text 36"/>
          <p:cNvSpPr/>
          <p:nvPr/>
        </p:nvSpPr>
        <p:spPr>
          <a:xfrm>
            <a:off x="4983480" y="2148840"/>
            <a:ext cx="1097280" cy="32004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Modes</a:t>
            </a:r>
            <a:endParaRPr lang="en-US" sz="1000" dirty="0"/>
          </a:p>
        </p:txBody>
      </p:sp>
      <p:sp>
        <p:nvSpPr>
          <p:cNvPr id="39" name="Text 37"/>
          <p:cNvSpPr/>
          <p:nvPr/>
        </p:nvSpPr>
        <p:spPr>
          <a:xfrm>
            <a:off x="6153912" y="2167128"/>
            <a:ext cx="2514600" cy="283464"/>
          </a:xfrm>
          <a:prstGeom prst="rect">
            <a:avLst/>
          </a:prstGeom>
          <a:noFill/>
          <a:ln/>
        </p:spPr>
        <p:txBody>
          <a:bodyPr wrap="square" lIns="0" tIns="0" rIns="0" bIns="0" rtlCol="0" anchor="ctr"/>
          <a:lstStyle/>
          <a:p>
            <a:pPr marL="0" indent="0">
              <a:buNone/>
            </a:pPr>
            <a:r>
              <a:rPr lang="en-US" sz="1100" dirty="0">
                <a:solidFill>
                  <a:srgbClr val="37474F"/>
                </a:solidFill>
                <a:latin typeface="Calibri" pitchFamily="34" charset="0"/>
                <a:ea typeface="Calibri" pitchFamily="34" charset="-122"/>
                <a:cs typeface="Calibri" pitchFamily="34" charset="-120"/>
              </a:rPr>
              <a:t>8 modes: HR, LR, MB, CR, DR, CB, RB, VP</a:t>
            </a:r>
            <a:endParaRPr lang="en-US" sz="1100" dirty="0"/>
          </a:p>
        </p:txBody>
      </p:sp>
      <p:sp>
        <p:nvSpPr>
          <p:cNvPr id="40" name="Shape 38"/>
          <p:cNvSpPr/>
          <p:nvPr/>
        </p:nvSpPr>
        <p:spPr>
          <a:xfrm>
            <a:off x="4983480" y="2606040"/>
            <a:ext cx="1097280" cy="320040"/>
          </a:xfrm>
          <a:prstGeom prst="rect">
            <a:avLst/>
          </a:prstGeom>
          <a:solidFill>
            <a:srgbClr val="0A2342"/>
          </a:solidFill>
          <a:ln/>
        </p:spPr>
        <p:txBody>
          <a:bodyPr/>
          <a:lstStyle/>
          <a:p>
            <a:endParaRPr lang="th-TH"/>
          </a:p>
        </p:txBody>
      </p:sp>
      <p:sp>
        <p:nvSpPr>
          <p:cNvPr id="41" name="Text 39"/>
          <p:cNvSpPr/>
          <p:nvPr/>
        </p:nvSpPr>
        <p:spPr>
          <a:xfrm>
            <a:off x="4983480" y="2606040"/>
            <a:ext cx="1097280" cy="32004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Metric</a:t>
            </a:r>
            <a:endParaRPr lang="en-US" sz="1000" dirty="0"/>
          </a:p>
        </p:txBody>
      </p:sp>
      <p:sp>
        <p:nvSpPr>
          <p:cNvPr id="42" name="Text 40"/>
          <p:cNvSpPr/>
          <p:nvPr/>
        </p:nvSpPr>
        <p:spPr>
          <a:xfrm>
            <a:off x="6153912" y="2624328"/>
            <a:ext cx="2514600" cy="283464"/>
          </a:xfrm>
          <a:prstGeom prst="rect">
            <a:avLst/>
          </a:prstGeom>
          <a:noFill/>
          <a:ln/>
        </p:spPr>
        <p:txBody>
          <a:bodyPr wrap="square" lIns="0" tIns="0" rIns="0" bIns="0" rtlCol="0" anchor="ctr"/>
          <a:lstStyle/>
          <a:p>
            <a:pPr marL="0" indent="0">
              <a:buNone/>
            </a:pPr>
            <a:r>
              <a:rPr lang="en-US" sz="1100" dirty="0">
                <a:solidFill>
                  <a:srgbClr val="37474F"/>
                </a:solidFill>
                <a:latin typeface="Calibri" pitchFamily="34" charset="0"/>
                <a:ea typeface="Calibri" pitchFamily="34" charset="-122"/>
                <a:cs typeface="Calibri" pitchFamily="34" charset="-120"/>
              </a:rPr>
              <a:t>UPT — Unlinked Passenger Trips</a:t>
            </a:r>
            <a:endParaRPr lang="en-US" sz="1100" dirty="0"/>
          </a:p>
        </p:txBody>
      </p:sp>
      <p:sp>
        <p:nvSpPr>
          <p:cNvPr id="43" name="Shape 41"/>
          <p:cNvSpPr/>
          <p:nvPr/>
        </p:nvSpPr>
        <p:spPr>
          <a:xfrm>
            <a:off x="4983480" y="3063240"/>
            <a:ext cx="1097280" cy="320040"/>
          </a:xfrm>
          <a:prstGeom prst="rect">
            <a:avLst/>
          </a:prstGeom>
          <a:solidFill>
            <a:srgbClr val="0A2342"/>
          </a:solidFill>
          <a:ln/>
        </p:spPr>
        <p:txBody>
          <a:bodyPr/>
          <a:lstStyle/>
          <a:p>
            <a:endParaRPr lang="th-TH"/>
          </a:p>
        </p:txBody>
      </p:sp>
      <p:sp>
        <p:nvSpPr>
          <p:cNvPr id="44" name="Text 42"/>
          <p:cNvSpPr/>
          <p:nvPr/>
        </p:nvSpPr>
        <p:spPr>
          <a:xfrm>
            <a:off x="4983480" y="3063240"/>
            <a:ext cx="1097280" cy="32004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Annual</a:t>
            </a:r>
            <a:endParaRPr lang="en-US" sz="1000" dirty="0"/>
          </a:p>
        </p:txBody>
      </p:sp>
      <p:sp>
        <p:nvSpPr>
          <p:cNvPr id="45" name="Text 43"/>
          <p:cNvSpPr/>
          <p:nvPr/>
        </p:nvSpPr>
        <p:spPr>
          <a:xfrm>
            <a:off x="6153912" y="3081528"/>
            <a:ext cx="2514600" cy="283464"/>
          </a:xfrm>
          <a:prstGeom prst="rect">
            <a:avLst/>
          </a:prstGeom>
          <a:noFill/>
          <a:ln/>
        </p:spPr>
        <p:txBody>
          <a:bodyPr wrap="square" lIns="0" tIns="0" rIns="0" bIns="0" rtlCol="0" anchor="ctr"/>
          <a:lstStyle/>
          <a:p>
            <a:pPr marL="0" indent="0">
              <a:buNone/>
            </a:pPr>
            <a:r>
              <a:rPr lang="en-US" sz="1100" dirty="0">
                <a:solidFill>
                  <a:srgbClr val="37474F"/>
                </a:solidFill>
                <a:latin typeface="Calibri" pitchFamily="34" charset="0"/>
                <a:ea typeface="Calibri" pitchFamily="34" charset="-122"/>
                <a:cs typeface="Calibri" pitchFamily="34" charset="-120"/>
              </a:rPr>
              <a:t>310,753,364 total UPT (2021)</a:t>
            </a:r>
            <a:endParaRPr lang="en-US" sz="1100" dirty="0"/>
          </a:p>
        </p:txBody>
      </p:sp>
      <p:sp>
        <p:nvSpPr>
          <p:cNvPr id="46" name="Shape 44"/>
          <p:cNvSpPr/>
          <p:nvPr/>
        </p:nvSpPr>
        <p:spPr>
          <a:xfrm>
            <a:off x="4983480" y="3520440"/>
            <a:ext cx="1097280" cy="320040"/>
          </a:xfrm>
          <a:prstGeom prst="rect">
            <a:avLst/>
          </a:prstGeom>
          <a:solidFill>
            <a:srgbClr val="0A2342"/>
          </a:solidFill>
          <a:ln/>
        </p:spPr>
        <p:txBody>
          <a:bodyPr/>
          <a:lstStyle/>
          <a:p>
            <a:endParaRPr lang="th-TH"/>
          </a:p>
        </p:txBody>
      </p:sp>
      <p:sp>
        <p:nvSpPr>
          <p:cNvPr id="47" name="Text 45"/>
          <p:cNvSpPr/>
          <p:nvPr/>
        </p:nvSpPr>
        <p:spPr>
          <a:xfrm>
            <a:off x="4983480" y="3520440"/>
            <a:ext cx="1097280" cy="32004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Geography</a:t>
            </a:r>
            <a:endParaRPr lang="en-US" sz="1000" dirty="0"/>
          </a:p>
        </p:txBody>
      </p:sp>
      <p:sp>
        <p:nvSpPr>
          <p:cNvPr id="48" name="Text 46"/>
          <p:cNvSpPr/>
          <p:nvPr/>
        </p:nvSpPr>
        <p:spPr>
          <a:xfrm>
            <a:off x="6153912" y="3538728"/>
            <a:ext cx="2514600" cy="283464"/>
          </a:xfrm>
          <a:prstGeom prst="rect">
            <a:avLst/>
          </a:prstGeom>
          <a:noFill/>
          <a:ln/>
        </p:spPr>
        <p:txBody>
          <a:bodyPr wrap="square" lIns="0" tIns="0" rIns="0" bIns="0" rtlCol="0" anchor="ctr"/>
          <a:lstStyle/>
          <a:p>
            <a:pPr marL="0" indent="0">
              <a:buNone/>
            </a:pPr>
            <a:r>
              <a:rPr lang="en-US" sz="1100" dirty="0">
                <a:solidFill>
                  <a:srgbClr val="37474F"/>
                </a:solidFill>
                <a:latin typeface="Calibri" pitchFamily="34" charset="0"/>
                <a:ea typeface="Calibri" pitchFamily="34" charset="-122"/>
                <a:cs typeface="Calibri" pitchFamily="34" charset="-120"/>
              </a:rPr>
              <a:t>Los Angeles Urbanized Zone (UZA)</a:t>
            </a:r>
            <a:endParaRPr lang="en-US" sz="1100" dirty="0"/>
          </a:p>
        </p:txBody>
      </p:sp>
      <p:sp>
        <p:nvSpPr>
          <p:cNvPr id="49" name="Shape 47"/>
          <p:cNvSpPr/>
          <p:nvPr/>
        </p:nvSpPr>
        <p:spPr>
          <a:xfrm>
            <a:off x="4983480" y="3977640"/>
            <a:ext cx="1097280" cy="320040"/>
          </a:xfrm>
          <a:prstGeom prst="rect">
            <a:avLst/>
          </a:prstGeom>
          <a:solidFill>
            <a:srgbClr val="0A2342"/>
          </a:solidFill>
          <a:ln/>
        </p:spPr>
        <p:txBody>
          <a:bodyPr/>
          <a:lstStyle/>
          <a:p>
            <a:endParaRPr lang="th-TH"/>
          </a:p>
        </p:txBody>
      </p:sp>
      <p:sp>
        <p:nvSpPr>
          <p:cNvPr id="50" name="Text 48"/>
          <p:cNvSpPr/>
          <p:nvPr/>
        </p:nvSpPr>
        <p:spPr>
          <a:xfrm>
            <a:off x="4983480" y="3977640"/>
            <a:ext cx="1097280" cy="32004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Frequency</a:t>
            </a:r>
            <a:endParaRPr lang="en-US" sz="1000" dirty="0"/>
          </a:p>
        </p:txBody>
      </p:sp>
      <p:sp>
        <p:nvSpPr>
          <p:cNvPr id="51" name="Text 49"/>
          <p:cNvSpPr/>
          <p:nvPr/>
        </p:nvSpPr>
        <p:spPr>
          <a:xfrm>
            <a:off x="6153912" y="3995928"/>
            <a:ext cx="2514600" cy="283464"/>
          </a:xfrm>
          <a:prstGeom prst="rect">
            <a:avLst/>
          </a:prstGeom>
          <a:noFill/>
          <a:ln/>
        </p:spPr>
        <p:txBody>
          <a:bodyPr wrap="square" lIns="0" tIns="0" rIns="0" bIns="0" rtlCol="0" anchor="ctr"/>
          <a:lstStyle/>
          <a:p>
            <a:pPr marL="0" indent="0">
              <a:buNone/>
            </a:pPr>
            <a:r>
              <a:rPr lang="en-US" sz="1100" dirty="0">
                <a:solidFill>
                  <a:srgbClr val="37474F"/>
                </a:solidFill>
                <a:latin typeface="Calibri" pitchFamily="34" charset="0"/>
                <a:ea typeface="Calibri" pitchFamily="34" charset="-122"/>
                <a:cs typeface="Calibri" pitchFamily="34" charset="-120"/>
              </a:rPr>
              <a:t>Monthly aggregates (12 records/agency)</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A2342"/>
          </a:solidFill>
          <a:ln/>
        </p:spPr>
        <p:txBody>
          <a:bodyPr/>
          <a:lstStyle/>
          <a:p>
            <a:endParaRPr lang="th-TH"/>
          </a:p>
        </p:txBody>
      </p:sp>
      <p:sp>
        <p:nvSpPr>
          <p:cNvPr id="3" name="Shape 1"/>
          <p:cNvSpPr/>
          <p:nvPr/>
        </p:nvSpPr>
        <p:spPr>
          <a:xfrm>
            <a:off x="0" y="960120"/>
            <a:ext cx="9144000" cy="41148"/>
          </a:xfrm>
          <a:prstGeom prst="rect">
            <a:avLst/>
          </a:prstGeom>
          <a:solidFill>
            <a:srgbClr val="1976D2"/>
          </a:solidFill>
          <a:ln/>
        </p:spPr>
        <p:txBody>
          <a:bodyPr/>
          <a:lstStyle/>
          <a:p>
            <a:endParaRPr lang="th-TH"/>
          </a:p>
        </p:txBody>
      </p:sp>
      <p:sp>
        <p:nvSpPr>
          <p:cNvPr id="4" name="Text 2"/>
          <p:cNvSpPr/>
          <p:nvPr/>
        </p:nvSpPr>
        <p:spPr>
          <a:xfrm>
            <a:off x="411480" y="91440"/>
            <a:ext cx="7955280" cy="502920"/>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Data Preprocessing &amp; Feature Engineering</a:t>
            </a:r>
            <a:endParaRPr lang="en-US" sz="2000" dirty="0"/>
          </a:p>
        </p:txBody>
      </p:sp>
      <p:sp>
        <p:nvSpPr>
          <p:cNvPr id="5" name="Text 3"/>
          <p:cNvSpPr/>
          <p:nvPr/>
        </p:nvSpPr>
        <p:spPr>
          <a:xfrm>
            <a:off x="411480" y="576072"/>
            <a:ext cx="8046720" cy="320040"/>
          </a:xfrm>
          <a:prstGeom prst="rect">
            <a:avLst/>
          </a:prstGeom>
          <a:noFill/>
          <a:ln/>
        </p:spPr>
        <p:txBody>
          <a:bodyPr wrap="square" lIns="0" tIns="0" rIns="0" bIns="0" rtlCol="0" anchor="ctr"/>
          <a:lstStyle/>
          <a:p>
            <a:pPr marL="0" indent="0">
              <a:buNone/>
            </a:pPr>
            <a:r>
              <a:rPr lang="en-US" sz="1100" dirty="0">
                <a:solidFill>
                  <a:srgbClr val="BBDEFB"/>
                </a:solidFill>
                <a:latin typeface="Calibri" pitchFamily="34" charset="0"/>
                <a:ea typeface="Calibri" pitchFamily="34" charset="-122"/>
                <a:cs typeface="Calibri" pitchFamily="34" charset="-120"/>
              </a:rPr>
              <a:t>Cleaning, imputation, outlier removal and derived features</a:t>
            </a:r>
            <a:endParaRPr lang="en-US" sz="1100" dirty="0"/>
          </a:p>
        </p:txBody>
      </p:sp>
      <p:sp>
        <p:nvSpPr>
          <p:cNvPr id="6" name="Shape 4"/>
          <p:cNvSpPr/>
          <p:nvPr/>
        </p:nvSpPr>
        <p:spPr>
          <a:xfrm>
            <a:off x="8641080" y="201168"/>
            <a:ext cx="347472" cy="347472"/>
          </a:xfrm>
          <a:prstGeom prst="ellipse">
            <a:avLst/>
          </a:prstGeom>
          <a:solidFill>
            <a:srgbClr val="1976D2"/>
          </a:solidFill>
          <a:ln/>
        </p:spPr>
        <p:txBody>
          <a:bodyPr/>
          <a:lstStyle/>
          <a:p>
            <a:endParaRPr lang="th-TH"/>
          </a:p>
        </p:txBody>
      </p:sp>
      <p:sp>
        <p:nvSpPr>
          <p:cNvPr id="7" name="Shape 5"/>
          <p:cNvSpPr/>
          <p:nvPr/>
        </p:nvSpPr>
        <p:spPr>
          <a:xfrm>
            <a:off x="0" y="4850892"/>
            <a:ext cx="9144000" cy="292608"/>
          </a:xfrm>
          <a:prstGeom prst="rect">
            <a:avLst/>
          </a:prstGeom>
          <a:solidFill>
            <a:srgbClr val="E3F0FF"/>
          </a:solidFill>
          <a:ln/>
        </p:spPr>
        <p:txBody>
          <a:bodyPr/>
          <a:lstStyle/>
          <a:p>
            <a:endParaRPr lang="th-TH"/>
          </a:p>
        </p:txBody>
      </p:sp>
      <p:sp>
        <p:nvSpPr>
          <p:cNvPr id="8" name="Text 6"/>
          <p:cNvSpPr/>
          <p:nvPr/>
        </p:nvSpPr>
        <p:spPr>
          <a:xfrm>
            <a:off x="320040" y="4869180"/>
            <a:ext cx="7315200" cy="256032"/>
          </a:xfrm>
          <a:prstGeom prst="rect">
            <a:avLst/>
          </a:prstGeom>
          <a:noFill/>
          <a:ln/>
        </p:spPr>
        <p:txBody>
          <a:bodyPr wrap="square" lIns="0" tIns="0" rIns="0" bIns="0" rtlCol="0" anchor="ctr"/>
          <a:lstStyle/>
          <a:p>
            <a:pPr marL="0" indent="0">
              <a:buNone/>
            </a:pPr>
            <a:r>
              <a:rPr lang="en-US" sz="850" dirty="0">
                <a:solidFill>
                  <a:srgbClr val="607D8B"/>
                </a:solidFill>
                <a:latin typeface="Calibri" pitchFamily="34" charset="0"/>
                <a:ea typeface="Calibri" pitchFamily="34" charset="-122"/>
                <a:cs typeface="Calibri" pitchFamily="34" charset="-120"/>
              </a:rPr>
              <a:t>FlowShift  |  Urban Traffic &amp; Transit Demand — Los Angeles 2021</a:t>
            </a:r>
            <a:endParaRPr lang="en-US" sz="850" dirty="0"/>
          </a:p>
        </p:txBody>
      </p:sp>
      <p:sp>
        <p:nvSpPr>
          <p:cNvPr id="9" name="Text 7"/>
          <p:cNvSpPr/>
          <p:nvPr/>
        </p:nvSpPr>
        <p:spPr>
          <a:xfrm>
            <a:off x="8503920" y="4869180"/>
            <a:ext cx="502920" cy="256032"/>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4 / 15</a:t>
            </a:r>
            <a:endParaRPr lang="en-US" sz="850" dirty="0"/>
          </a:p>
        </p:txBody>
      </p:sp>
      <p:sp>
        <p:nvSpPr>
          <p:cNvPr id="10" name="Shape 8"/>
          <p:cNvSpPr/>
          <p:nvPr/>
        </p:nvSpPr>
        <p:spPr>
          <a:xfrm>
            <a:off x="320040" y="1115568"/>
            <a:ext cx="1920240" cy="1115568"/>
          </a:xfrm>
          <a:prstGeom prst="rect">
            <a:avLst/>
          </a:prstGeom>
          <a:solidFill>
            <a:srgbClr val="FFFFFF"/>
          </a:solidFill>
          <a:ln w="9525">
            <a:solidFill>
              <a:srgbClr val="CFD8DC"/>
            </a:solidFill>
            <a:prstDash val="solid"/>
          </a:ln>
          <a:effectLst>
            <a:outerShdw blurRad="63500" dist="25400" dir="8100000" algn="bl" rotWithShape="0">
              <a:srgbClr val="000000">
                <a:alpha val="10000"/>
              </a:srgbClr>
            </a:outerShdw>
          </a:effectLst>
        </p:spPr>
        <p:txBody>
          <a:bodyPr/>
          <a:lstStyle/>
          <a:p>
            <a:endParaRPr lang="th-TH"/>
          </a:p>
        </p:txBody>
      </p:sp>
      <p:sp>
        <p:nvSpPr>
          <p:cNvPr id="11" name="Shape 9"/>
          <p:cNvSpPr/>
          <p:nvPr/>
        </p:nvSpPr>
        <p:spPr>
          <a:xfrm>
            <a:off x="320040" y="1115568"/>
            <a:ext cx="1920240" cy="54864"/>
          </a:xfrm>
          <a:prstGeom prst="rect">
            <a:avLst/>
          </a:prstGeom>
          <a:solidFill>
            <a:srgbClr val="1565C0"/>
          </a:solidFill>
          <a:ln/>
        </p:spPr>
        <p:txBody>
          <a:bodyPr/>
          <a:lstStyle/>
          <a:p>
            <a:endParaRPr lang="th-TH"/>
          </a:p>
        </p:txBody>
      </p:sp>
      <p:sp>
        <p:nvSpPr>
          <p:cNvPr id="12" name="Text 10"/>
          <p:cNvSpPr/>
          <p:nvPr/>
        </p:nvSpPr>
        <p:spPr>
          <a:xfrm>
            <a:off x="393192" y="1225296"/>
            <a:ext cx="1773936" cy="580095"/>
          </a:xfrm>
          <a:prstGeom prst="rect">
            <a:avLst/>
          </a:prstGeom>
          <a:noFill/>
          <a:ln/>
        </p:spPr>
        <p:txBody>
          <a:bodyPr wrap="square" lIns="0" tIns="0" rIns="0" bIns="0" rtlCol="0" anchor="ctr"/>
          <a:lstStyle/>
          <a:p>
            <a:pPr marL="0" indent="0" algn="ctr">
              <a:buNone/>
            </a:pPr>
            <a:r>
              <a:rPr lang="en-US" sz="2200" b="1" dirty="0">
                <a:solidFill>
                  <a:srgbClr val="1565C0"/>
                </a:solidFill>
                <a:latin typeface="Calibri" pitchFamily="34" charset="0"/>
                <a:ea typeface="Calibri" pitchFamily="34" charset="-122"/>
                <a:cs typeface="Calibri" pitchFamily="34" charset="-120"/>
              </a:rPr>
              <a:t>0.94%</a:t>
            </a:r>
            <a:endParaRPr lang="en-US" sz="2200" dirty="0"/>
          </a:p>
        </p:txBody>
      </p:sp>
      <p:sp>
        <p:nvSpPr>
          <p:cNvPr id="13" name="Text 11"/>
          <p:cNvSpPr/>
          <p:nvPr/>
        </p:nvSpPr>
        <p:spPr>
          <a:xfrm>
            <a:off x="393192" y="1762597"/>
            <a:ext cx="1773936" cy="423916"/>
          </a:xfrm>
          <a:prstGeom prst="rect">
            <a:avLst/>
          </a:prstGeom>
          <a:noFill/>
          <a:ln/>
        </p:spPr>
        <p:txBody>
          <a:bodyPr wrap="square" lIns="0" tIns="0" rIns="0" bIns="0" rtlCol="0" anchor="t"/>
          <a:lstStyle/>
          <a:p>
            <a:pPr marL="0" indent="0" algn="ctr">
              <a:buNone/>
            </a:pPr>
            <a:r>
              <a:rPr lang="en-US" sz="1000" dirty="0">
                <a:solidFill>
                  <a:srgbClr val="607D8B"/>
                </a:solidFill>
                <a:latin typeface="Calibri" pitchFamily="34" charset="0"/>
                <a:ea typeface="Calibri" pitchFamily="34" charset="-122"/>
                <a:cs typeface="Calibri" pitchFamily="34" charset="-120"/>
              </a:rPr>
              <a:t>Overall</a:t>
            </a:r>
            <a:endParaRPr lang="en-US" sz="1000" dirty="0"/>
          </a:p>
          <a:p>
            <a:pPr marL="0" indent="0" algn="ctr">
              <a:buNone/>
            </a:pPr>
            <a:r>
              <a:rPr lang="en-US" sz="1000" dirty="0">
                <a:solidFill>
                  <a:srgbClr val="607D8B"/>
                </a:solidFill>
                <a:latin typeface="Calibri" pitchFamily="34" charset="0"/>
                <a:ea typeface="Calibri" pitchFamily="34" charset="-122"/>
                <a:cs typeface="Calibri" pitchFamily="34" charset="-120"/>
              </a:rPr>
              <a:t>Missing Rate</a:t>
            </a:r>
            <a:endParaRPr lang="en-US" sz="1000" dirty="0"/>
          </a:p>
        </p:txBody>
      </p:sp>
      <p:sp>
        <p:nvSpPr>
          <p:cNvPr id="14" name="Shape 12"/>
          <p:cNvSpPr/>
          <p:nvPr/>
        </p:nvSpPr>
        <p:spPr>
          <a:xfrm>
            <a:off x="2468880" y="1115568"/>
            <a:ext cx="1920240" cy="1115568"/>
          </a:xfrm>
          <a:prstGeom prst="rect">
            <a:avLst/>
          </a:prstGeom>
          <a:solidFill>
            <a:srgbClr val="FFFFFF"/>
          </a:solidFill>
          <a:ln w="9525">
            <a:solidFill>
              <a:srgbClr val="CFD8DC"/>
            </a:solidFill>
            <a:prstDash val="solid"/>
          </a:ln>
          <a:effectLst>
            <a:outerShdw blurRad="63500" dist="25400" dir="8100000" algn="bl" rotWithShape="0">
              <a:srgbClr val="000000">
                <a:alpha val="10000"/>
              </a:srgbClr>
            </a:outerShdw>
          </a:effectLst>
        </p:spPr>
        <p:txBody>
          <a:bodyPr/>
          <a:lstStyle/>
          <a:p>
            <a:endParaRPr lang="th-TH"/>
          </a:p>
        </p:txBody>
      </p:sp>
      <p:sp>
        <p:nvSpPr>
          <p:cNvPr id="15" name="Shape 13"/>
          <p:cNvSpPr/>
          <p:nvPr/>
        </p:nvSpPr>
        <p:spPr>
          <a:xfrm>
            <a:off x="2468880" y="1115568"/>
            <a:ext cx="1920240" cy="54864"/>
          </a:xfrm>
          <a:prstGeom prst="rect">
            <a:avLst/>
          </a:prstGeom>
          <a:solidFill>
            <a:srgbClr val="0A2342"/>
          </a:solidFill>
          <a:ln/>
        </p:spPr>
        <p:txBody>
          <a:bodyPr/>
          <a:lstStyle/>
          <a:p>
            <a:endParaRPr lang="th-TH"/>
          </a:p>
        </p:txBody>
      </p:sp>
      <p:sp>
        <p:nvSpPr>
          <p:cNvPr id="16" name="Text 14"/>
          <p:cNvSpPr/>
          <p:nvPr/>
        </p:nvSpPr>
        <p:spPr>
          <a:xfrm>
            <a:off x="2542032" y="1225296"/>
            <a:ext cx="1773936" cy="580095"/>
          </a:xfrm>
          <a:prstGeom prst="rect">
            <a:avLst/>
          </a:prstGeom>
          <a:noFill/>
          <a:ln/>
        </p:spPr>
        <p:txBody>
          <a:bodyPr wrap="square" lIns="0" tIns="0" rIns="0" bIns="0" rtlCol="0" anchor="ctr"/>
          <a:lstStyle/>
          <a:p>
            <a:pPr marL="0" indent="0" algn="ctr">
              <a:buNone/>
            </a:pPr>
            <a:r>
              <a:rPr lang="en-US" sz="2200" b="1" dirty="0">
                <a:solidFill>
                  <a:srgbClr val="0A2342"/>
                </a:solidFill>
                <a:latin typeface="Calibri" pitchFamily="34" charset="0"/>
                <a:ea typeface="Calibri" pitchFamily="34" charset="-122"/>
                <a:cs typeface="Calibri" pitchFamily="34" charset="-120"/>
              </a:rPr>
              <a:t>91</a:t>
            </a:r>
            <a:endParaRPr lang="en-US" sz="2200" dirty="0"/>
          </a:p>
        </p:txBody>
      </p:sp>
      <p:sp>
        <p:nvSpPr>
          <p:cNvPr id="17" name="Text 15"/>
          <p:cNvSpPr/>
          <p:nvPr/>
        </p:nvSpPr>
        <p:spPr>
          <a:xfrm>
            <a:off x="2542032" y="1762597"/>
            <a:ext cx="1773936" cy="423916"/>
          </a:xfrm>
          <a:prstGeom prst="rect">
            <a:avLst/>
          </a:prstGeom>
          <a:noFill/>
          <a:ln/>
        </p:spPr>
        <p:txBody>
          <a:bodyPr wrap="square" lIns="0" tIns="0" rIns="0" bIns="0" rtlCol="0" anchor="t"/>
          <a:lstStyle/>
          <a:p>
            <a:pPr marL="0" indent="0" algn="ctr">
              <a:buNone/>
            </a:pPr>
            <a:r>
              <a:rPr lang="en-US" sz="1000" dirty="0">
                <a:solidFill>
                  <a:srgbClr val="607D8B"/>
                </a:solidFill>
                <a:latin typeface="Calibri" pitchFamily="34" charset="0"/>
                <a:ea typeface="Calibri" pitchFamily="34" charset="-122"/>
                <a:cs typeface="Calibri" pitchFamily="34" charset="-120"/>
              </a:rPr>
              <a:t>Sensors</a:t>
            </a:r>
            <a:endParaRPr lang="en-US" sz="1000" dirty="0"/>
          </a:p>
          <a:p>
            <a:pPr marL="0" indent="0" algn="ctr">
              <a:buNone/>
            </a:pPr>
            <a:r>
              <a:rPr lang="en-US" sz="1000" dirty="0">
                <a:solidFill>
                  <a:srgbClr val="607D8B"/>
                </a:solidFill>
                <a:latin typeface="Calibri" pitchFamily="34" charset="0"/>
                <a:ea typeface="Calibri" pitchFamily="34" charset="-122"/>
                <a:cs typeface="Calibri" pitchFamily="34" charset="-120"/>
              </a:rPr>
              <a:t>Dropped (&gt;20%)</a:t>
            </a:r>
            <a:endParaRPr lang="en-US" sz="1000" dirty="0"/>
          </a:p>
        </p:txBody>
      </p:sp>
      <p:sp>
        <p:nvSpPr>
          <p:cNvPr id="18" name="Shape 16"/>
          <p:cNvSpPr/>
          <p:nvPr/>
        </p:nvSpPr>
        <p:spPr>
          <a:xfrm>
            <a:off x="4617720" y="1115568"/>
            <a:ext cx="1920240" cy="1115568"/>
          </a:xfrm>
          <a:prstGeom prst="rect">
            <a:avLst/>
          </a:prstGeom>
          <a:solidFill>
            <a:srgbClr val="FFFFFF"/>
          </a:solidFill>
          <a:ln w="9525">
            <a:solidFill>
              <a:srgbClr val="CFD8DC"/>
            </a:solidFill>
            <a:prstDash val="solid"/>
          </a:ln>
          <a:effectLst>
            <a:outerShdw blurRad="63500" dist="25400" dir="8100000" algn="bl" rotWithShape="0">
              <a:srgbClr val="000000">
                <a:alpha val="10000"/>
              </a:srgbClr>
            </a:outerShdw>
          </a:effectLst>
        </p:spPr>
        <p:txBody>
          <a:bodyPr/>
          <a:lstStyle/>
          <a:p>
            <a:endParaRPr lang="th-TH"/>
          </a:p>
        </p:txBody>
      </p:sp>
      <p:sp>
        <p:nvSpPr>
          <p:cNvPr id="19" name="Shape 17"/>
          <p:cNvSpPr/>
          <p:nvPr/>
        </p:nvSpPr>
        <p:spPr>
          <a:xfrm>
            <a:off x="4617720" y="1115568"/>
            <a:ext cx="1920240" cy="54864"/>
          </a:xfrm>
          <a:prstGeom prst="rect">
            <a:avLst/>
          </a:prstGeom>
          <a:solidFill>
            <a:srgbClr val="1976D2"/>
          </a:solidFill>
          <a:ln/>
        </p:spPr>
        <p:txBody>
          <a:bodyPr/>
          <a:lstStyle/>
          <a:p>
            <a:endParaRPr lang="th-TH"/>
          </a:p>
        </p:txBody>
      </p:sp>
      <p:sp>
        <p:nvSpPr>
          <p:cNvPr id="20" name="Text 18"/>
          <p:cNvSpPr/>
          <p:nvPr/>
        </p:nvSpPr>
        <p:spPr>
          <a:xfrm>
            <a:off x="4690872" y="1225296"/>
            <a:ext cx="1773936" cy="580095"/>
          </a:xfrm>
          <a:prstGeom prst="rect">
            <a:avLst/>
          </a:prstGeom>
          <a:noFill/>
          <a:ln/>
        </p:spPr>
        <p:txBody>
          <a:bodyPr wrap="square" lIns="0" tIns="0" rIns="0" bIns="0" rtlCol="0" anchor="ctr"/>
          <a:lstStyle/>
          <a:p>
            <a:pPr marL="0" indent="0" algn="ctr">
              <a:buNone/>
            </a:pPr>
            <a:r>
              <a:rPr lang="en-US" sz="2200" b="1" dirty="0">
                <a:solidFill>
                  <a:srgbClr val="1976D2"/>
                </a:solidFill>
                <a:latin typeface="Calibri" pitchFamily="34" charset="0"/>
                <a:ea typeface="Calibri" pitchFamily="34" charset="-122"/>
                <a:cs typeface="Calibri" pitchFamily="34" charset="-120"/>
              </a:rPr>
              <a:t>8,509</a:t>
            </a:r>
            <a:endParaRPr lang="en-US" sz="2200" dirty="0"/>
          </a:p>
        </p:txBody>
      </p:sp>
      <p:sp>
        <p:nvSpPr>
          <p:cNvPr id="21" name="Text 19"/>
          <p:cNvSpPr/>
          <p:nvPr/>
        </p:nvSpPr>
        <p:spPr>
          <a:xfrm>
            <a:off x="4690872" y="1762597"/>
            <a:ext cx="1773936" cy="423916"/>
          </a:xfrm>
          <a:prstGeom prst="rect">
            <a:avLst/>
          </a:prstGeom>
          <a:noFill/>
          <a:ln/>
        </p:spPr>
        <p:txBody>
          <a:bodyPr wrap="square" lIns="0" tIns="0" rIns="0" bIns="0" rtlCol="0" anchor="t"/>
          <a:lstStyle/>
          <a:p>
            <a:pPr marL="0" indent="0" algn="ctr">
              <a:buNone/>
            </a:pPr>
            <a:r>
              <a:rPr lang="en-US" sz="1000" dirty="0">
                <a:solidFill>
                  <a:srgbClr val="607D8B"/>
                </a:solidFill>
                <a:latin typeface="Calibri" pitchFamily="34" charset="0"/>
                <a:ea typeface="Calibri" pitchFamily="34" charset="-122"/>
                <a:cs typeface="Calibri" pitchFamily="34" charset="-120"/>
              </a:rPr>
              <a:t>Sensors</a:t>
            </a:r>
            <a:endParaRPr lang="en-US" sz="1000" dirty="0"/>
          </a:p>
          <a:p>
            <a:pPr marL="0" indent="0" algn="ctr">
              <a:buNone/>
            </a:pPr>
            <a:r>
              <a:rPr lang="en-US" sz="1000" dirty="0">
                <a:solidFill>
                  <a:srgbClr val="607D8B"/>
                </a:solidFill>
                <a:latin typeface="Calibri" pitchFamily="34" charset="0"/>
                <a:ea typeface="Calibri" pitchFamily="34" charset="-122"/>
                <a:cs typeface="Calibri" pitchFamily="34" charset="-120"/>
              </a:rPr>
              <a:t>Retained</a:t>
            </a:r>
            <a:endParaRPr lang="en-US" sz="1000" dirty="0"/>
          </a:p>
        </p:txBody>
      </p:sp>
      <p:sp>
        <p:nvSpPr>
          <p:cNvPr id="22" name="Shape 20"/>
          <p:cNvSpPr/>
          <p:nvPr/>
        </p:nvSpPr>
        <p:spPr>
          <a:xfrm>
            <a:off x="6766560" y="1115568"/>
            <a:ext cx="1920240" cy="1115568"/>
          </a:xfrm>
          <a:prstGeom prst="rect">
            <a:avLst/>
          </a:prstGeom>
          <a:solidFill>
            <a:srgbClr val="FFFFFF"/>
          </a:solidFill>
          <a:ln w="9525">
            <a:solidFill>
              <a:srgbClr val="CFD8DC"/>
            </a:solidFill>
            <a:prstDash val="solid"/>
          </a:ln>
          <a:effectLst>
            <a:outerShdw blurRad="63500" dist="25400" dir="8100000" algn="bl" rotWithShape="0">
              <a:srgbClr val="000000">
                <a:alpha val="10000"/>
              </a:srgbClr>
            </a:outerShdw>
          </a:effectLst>
        </p:spPr>
        <p:txBody>
          <a:bodyPr/>
          <a:lstStyle/>
          <a:p>
            <a:endParaRPr lang="th-TH"/>
          </a:p>
        </p:txBody>
      </p:sp>
      <p:sp>
        <p:nvSpPr>
          <p:cNvPr id="23" name="Shape 21"/>
          <p:cNvSpPr/>
          <p:nvPr/>
        </p:nvSpPr>
        <p:spPr>
          <a:xfrm>
            <a:off x="6766560" y="1115568"/>
            <a:ext cx="1920240" cy="54864"/>
          </a:xfrm>
          <a:prstGeom prst="rect">
            <a:avLst/>
          </a:prstGeom>
          <a:solidFill>
            <a:srgbClr val="1565C0"/>
          </a:solidFill>
          <a:ln/>
        </p:spPr>
        <p:txBody>
          <a:bodyPr/>
          <a:lstStyle/>
          <a:p>
            <a:endParaRPr lang="th-TH"/>
          </a:p>
        </p:txBody>
      </p:sp>
      <p:sp>
        <p:nvSpPr>
          <p:cNvPr id="24" name="Text 22"/>
          <p:cNvSpPr/>
          <p:nvPr/>
        </p:nvSpPr>
        <p:spPr>
          <a:xfrm>
            <a:off x="6839712" y="1225296"/>
            <a:ext cx="1773936" cy="580095"/>
          </a:xfrm>
          <a:prstGeom prst="rect">
            <a:avLst/>
          </a:prstGeom>
          <a:noFill/>
          <a:ln/>
        </p:spPr>
        <p:txBody>
          <a:bodyPr wrap="square" lIns="0" tIns="0" rIns="0" bIns="0" rtlCol="0" anchor="ctr"/>
          <a:lstStyle/>
          <a:p>
            <a:pPr marL="0" indent="0" algn="ctr">
              <a:buNone/>
            </a:pPr>
            <a:r>
              <a:rPr lang="en-US" sz="2200" b="1" dirty="0">
                <a:solidFill>
                  <a:srgbClr val="1565C0"/>
                </a:solidFill>
                <a:latin typeface="Calibri" pitchFamily="34" charset="0"/>
                <a:ea typeface="Calibri" pitchFamily="34" charset="-122"/>
                <a:cs typeface="Calibri" pitchFamily="34" charset="-120"/>
              </a:rPr>
              <a:t>920,684</a:t>
            </a:r>
            <a:endParaRPr lang="en-US" sz="2200" dirty="0"/>
          </a:p>
        </p:txBody>
      </p:sp>
      <p:sp>
        <p:nvSpPr>
          <p:cNvPr id="25" name="Text 23"/>
          <p:cNvSpPr/>
          <p:nvPr/>
        </p:nvSpPr>
        <p:spPr>
          <a:xfrm>
            <a:off x="6839712" y="1762597"/>
            <a:ext cx="1773936" cy="423916"/>
          </a:xfrm>
          <a:prstGeom prst="rect">
            <a:avLst/>
          </a:prstGeom>
          <a:noFill/>
          <a:ln/>
        </p:spPr>
        <p:txBody>
          <a:bodyPr wrap="square" lIns="0" tIns="0" rIns="0" bIns="0" rtlCol="0" anchor="t"/>
          <a:lstStyle/>
          <a:p>
            <a:pPr marL="0" indent="0" algn="ctr">
              <a:buNone/>
            </a:pPr>
            <a:r>
              <a:rPr lang="en-US" sz="1000" dirty="0">
                <a:solidFill>
                  <a:srgbClr val="607D8B"/>
                </a:solidFill>
                <a:latin typeface="Calibri" pitchFamily="34" charset="0"/>
                <a:ea typeface="Calibri" pitchFamily="34" charset="-122"/>
                <a:cs typeface="Calibri" pitchFamily="34" charset="-120"/>
              </a:rPr>
              <a:t>Outliers</a:t>
            </a:r>
            <a:endParaRPr lang="en-US" sz="1000" dirty="0"/>
          </a:p>
          <a:p>
            <a:pPr marL="0" indent="0" algn="ctr">
              <a:buNone/>
            </a:pPr>
            <a:r>
              <a:rPr lang="en-US" sz="1000" dirty="0">
                <a:solidFill>
                  <a:srgbClr val="607D8B"/>
                </a:solidFill>
                <a:latin typeface="Calibri" pitchFamily="34" charset="0"/>
                <a:ea typeface="Calibri" pitchFamily="34" charset="-122"/>
                <a:cs typeface="Calibri" pitchFamily="34" charset="-120"/>
              </a:rPr>
              <a:t>Replaced (3σ)</a:t>
            </a:r>
            <a:endParaRPr lang="en-US" sz="1000" dirty="0"/>
          </a:p>
        </p:txBody>
      </p:sp>
      <p:sp>
        <p:nvSpPr>
          <p:cNvPr id="26" name="Shape 24"/>
          <p:cNvSpPr/>
          <p:nvPr/>
        </p:nvSpPr>
        <p:spPr>
          <a:xfrm>
            <a:off x="320040" y="2377440"/>
            <a:ext cx="8503920" cy="36576"/>
          </a:xfrm>
          <a:prstGeom prst="rect">
            <a:avLst/>
          </a:prstGeom>
          <a:solidFill>
            <a:srgbClr val="CFD8DC"/>
          </a:solidFill>
          <a:ln/>
        </p:spPr>
        <p:txBody>
          <a:bodyPr/>
          <a:lstStyle/>
          <a:p>
            <a:endParaRPr lang="th-TH"/>
          </a:p>
        </p:txBody>
      </p:sp>
      <p:sp>
        <p:nvSpPr>
          <p:cNvPr id="27" name="Text 25"/>
          <p:cNvSpPr/>
          <p:nvPr/>
        </p:nvSpPr>
        <p:spPr>
          <a:xfrm>
            <a:off x="320040" y="2450592"/>
            <a:ext cx="8503920" cy="329184"/>
          </a:xfrm>
          <a:prstGeom prst="rect">
            <a:avLst/>
          </a:prstGeom>
          <a:noFill/>
          <a:ln/>
        </p:spPr>
        <p:txBody>
          <a:bodyPr wrap="square" lIns="0" tIns="0" rIns="0" bIns="0" rtlCol="0" anchor="ctr"/>
          <a:lstStyle/>
          <a:p>
            <a:pPr marL="0" indent="0">
              <a:buNone/>
            </a:pPr>
            <a:r>
              <a:rPr lang="en-US" sz="1300" b="1" dirty="0">
                <a:solidFill>
                  <a:srgbClr val="0A2342"/>
                </a:solidFill>
                <a:latin typeface="Calibri" pitchFamily="34" charset="0"/>
                <a:ea typeface="Calibri" pitchFamily="34" charset="-122"/>
                <a:cs typeface="Calibri" pitchFamily="34" charset="-120"/>
              </a:rPr>
              <a:t>Feature Engineering Pipeline</a:t>
            </a:r>
            <a:endParaRPr lang="en-US" sz="1300" dirty="0"/>
          </a:p>
        </p:txBody>
      </p:sp>
      <p:sp>
        <p:nvSpPr>
          <p:cNvPr id="28" name="Shape 26"/>
          <p:cNvSpPr/>
          <p:nvPr/>
        </p:nvSpPr>
        <p:spPr>
          <a:xfrm>
            <a:off x="320040" y="2834640"/>
            <a:ext cx="1325880" cy="347472"/>
          </a:xfrm>
          <a:prstGeom prst="rect">
            <a:avLst/>
          </a:prstGeom>
          <a:solidFill>
            <a:srgbClr val="1565C0"/>
          </a:solidFill>
          <a:ln/>
        </p:spPr>
        <p:txBody>
          <a:bodyPr/>
          <a:lstStyle/>
          <a:p>
            <a:endParaRPr lang="th-TH"/>
          </a:p>
        </p:txBody>
      </p:sp>
      <p:sp>
        <p:nvSpPr>
          <p:cNvPr id="29" name="Text 27"/>
          <p:cNvSpPr/>
          <p:nvPr/>
        </p:nvSpPr>
        <p:spPr>
          <a:xfrm>
            <a:off x="320040" y="2834640"/>
            <a:ext cx="1325880" cy="34747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Temporal</a:t>
            </a:r>
            <a:endParaRPr lang="en-US" sz="1000" dirty="0"/>
          </a:p>
        </p:txBody>
      </p:sp>
      <p:sp>
        <p:nvSpPr>
          <p:cNvPr id="30" name="Shape 28"/>
          <p:cNvSpPr/>
          <p:nvPr/>
        </p:nvSpPr>
        <p:spPr>
          <a:xfrm>
            <a:off x="1664208" y="2834640"/>
            <a:ext cx="7159752" cy="347472"/>
          </a:xfrm>
          <a:prstGeom prst="rect">
            <a:avLst/>
          </a:prstGeom>
          <a:solidFill>
            <a:srgbClr val="E3F0FF"/>
          </a:solidFill>
          <a:ln w="6350">
            <a:solidFill>
              <a:srgbClr val="CFD8DC"/>
            </a:solidFill>
            <a:prstDash val="solid"/>
          </a:ln>
        </p:spPr>
        <p:txBody>
          <a:bodyPr/>
          <a:lstStyle/>
          <a:p>
            <a:endParaRPr lang="th-TH"/>
          </a:p>
        </p:txBody>
      </p:sp>
      <p:sp>
        <p:nvSpPr>
          <p:cNvPr id="31" name="Text 29"/>
          <p:cNvSpPr/>
          <p:nvPr/>
        </p:nvSpPr>
        <p:spPr>
          <a:xfrm>
            <a:off x="1755648" y="2834640"/>
            <a:ext cx="6976872" cy="347472"/>
          </a:xfrm>
          <a:prstGeom prst="rect">
            <a:avLst/>
          </a:prstGeom>
          <a:noFill/>
          <a:ln/>
        </p:spPr>
        <p:txBody>
          <a:bodyPr wrap="square" lIns="0" tIns="0" rIns="0" bIns="0" rtlCol="0" anchor="ctr"/>
          <a:lstStyle/>
          <a:p>
            <a:pPr marL="0" indent="0">
              <a:buNone/>
            </a:pPr>
            <a:r>
              <a:rPr lang="en-US" sz="1050" dirty="0">
                <a:solidFill>
                  <a:srgbClr val="37474F"/>
                </a:solidFill>
                <a:latin typeface="Calibri" pitchFamily="34" charset="0"/>
                <a:ea typeface="Calibri" pitchFamily="34" charset="-122"/>
                <a:cs typeface="Calibri" pitchFamily="34" charset="-120"/>
              </a:rPr>
              <a:t>hour · day_of_week · month · season (winter / spring / summer / fall) · is_weekend · is_peak (07–09 h, 17–19 h)</a:t>
            </a:r>
            <a:endParaRPr lang="en-US" sz="1050" dirty="0"/>
          </a:p>
        </p:txBody>
      </p:sp>
      <p:sp>
        <p:nvSpPr>
          <p:cNvPr id="32" name="Shape 30"/>
          <p:cNvSpPr/>
          <p:nvPr/>
        </p:nvSpPr>
        <p:spPr>
          <a:xfrm>
            <a:off x="320040" y="3328416"/>
            <a:ext cx="1325880" cy="347472"/>
          </a:xfrm>
          <a:prstGeom prst="rect">
            <a:avLst/>
          </a:prstGeom>
          <a:solidFill>
            <a:srgbClr val="0A2342"/>
          </a:solidFill>
          <a:ln/>
        </p:spPr>
        <p:txBody>
          <a:bodyPr/>
          <a:lstStyle/>
          <a:p>
            <a:endParaRPr lang="th-TH"/>
          </a:p>
        </p:txBody>
      </p:sp>
      <p:sp>
        <p:nvSpPr>
          <p:cNvPr id="33" name="Text 31"/>
          <p:cNvSpPr/>
          <p:nvPr/>
        </p:nvSpPr>
        <p:spPr>
          <a:xfrm>
            <a:off x="320040" y="3328416"/>
            <a:ext cx="1325880" cy="34747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Congestion</a:t>
            </a:r>
            <a:endParaRPr lang="en-US" sz="1000" dirty="0"/>
          </a:p>
        </p:txBody>
      </p:sp>
      <p:sp>
        <p:nvSpPr>
          <p:cNvPr id="34" name="Shape 32"/>
          <p:cNvSpPr/>
          <p:nvPr/>
        </p:nvSpPr>
        <p:spPr>
          <a:xfrm>
            <a:off x="1664208" y="3328416"/>
            <a:ext cx="7159752" cy="347472"/>
          </a:xfrm>
          <a:prstGeom prst="rect">
            <a:avLst/>
          </a:prstGeom>
          <a:solidFill>
            <a:srgbClr val="ECEFF1"/>
          </a:solidFill>
          <a:ln w="6350">
            <a:solidFill>
              <a:srgbClr val="CFD8DC"/>
            </a:solidFill>
            <a:prstDash val="solid"/>
          </a:ln>
        </p:spPr>
        <p:txBody>
          <a:bodyPr/>
          <a:lstStyle/>
          <a:p>
            <a:endParaRPr lang="th-TH"/>
          </a:p>
        </p:txBody>
      </p:sp>
      <p:sp>
        <p:nvSpPr>
          <p:cNvPr id="35" name="Text 33"/>
          <p:cNvSpPr/>
          <p:nvPr/>
        </p:nvSpPr>
        <p:spPr>
          <a:xfrm>
            <a:off x="1755648" y="3328416"/>
            <a:ext cx="6976872" cy="347472"/>
          </a:xfrm>
          <a:prstGeom prst="rect">
            <a:avLst/>
          </a:prstGeom>
          <a:noFill/>
          <a:ln/>
        </p:spPr>
        <p:txBody>
          <a:bodyPr wrap="square" lIns="0" tIns="0" rIns="0" bIns="0" rtlCol="0" anchor="ctr"/>
          <a:lstStyle/>
          <a:p>
            <a:pPr marL="0" indent="0">
              <a:buNone/>
            </a:pPr>
            <a:r>
              <a:rPr lang="en-US" sz="1050" dirty="0">
                <a:solidFill>
                  <a:srgbClr val="37474F"/>
                </a:solidFill>
                <a:latin typeface="Calibri" pitchFamily="34" charset="0"/>
                <a:ea typeface="Calibri" pitchFamily="34" charset="-122"/>
                <a:cs typeface="Calibri" pitchFamily="34" charset="-120"/>
              </a:rPr>
              <a:t>is_congested = 1 when total flow ≥ 75th percentile (2,765,279 veh / 5 min)  →  25% congestion rate</a:t>
            </a:r>
            <a:endParaRPr lang="en-US" sz="1050" dirty="0"/>
          </a:p>
        </p:txBody>
      </p:sp>
      <p:sp>
        <p:nvSpPr>
          <p:cNvPr id="36" name="Shape 34"/>
          <p:cNvSpPr/>
          <p:nvPr/>
        </p:nvSpPr>
        <p:spPr>
          <a:xfrm>
            <a:off x="320040" y="3822192"/>
            <a:ext cx="1325880" cy="347472"/>
          </a:xfrm>
          <a:prstGeom prst="rect">
            <a:avLst/>
          </a:prstGeom>
          <a:solidFill>
            <a:srgbClr val="1565C0"/>
          </a:solidFill>
          <a:ln/>
        </p:spPr>
        <p:txBody>
          <a:bodyPr/>
          <a:lstStyle/>
          <a:p>
            <a:endParaRPr lang="th-TH"/>
          </a:p>
        </p:txBody>
      </p:sp>
      <p:sp>
        <p:nvSpPr>
          <p:cNvPr id="37" name="Text 35"/>
          <p:cNvSpPr/>
          <p:nvPr/>
        </p:nvSpPr>
        <p:spPr>
          <a:xfrm>
            <a:off x="320040" y="3822192"/>
            <a:ext cx="1325880" cy="34747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Lag Features</a:t>
            </a:r>
            <a:endParaRPr lang="en-US" sz="1000" dirty="0"/>
          </a:p>
        </p:txBody>
      </p:sp>
      <p:sp>
        <p:nvSpPr>
          <p:cNvPr id="38" name="Shape 36"/>
          <p:cNvSpPr/>
          <p:nvPr/>
        </p:nvSpPr>
        <p:spPr>
          <a:xfrm>
            <a:off x="1664208" y="3822192"/>
            <a:ext cx="7159752" cy="347472"/>
          </a:xfrm>
          <a:prstGeom prst="rect">
            <a:avLst/>
          </a:prstGeom>
          <a:solidFill>
            <a:srgbClr val="E3F0FF"/>
          </a:solidFill>
          <a:ln w="6350">
            <a:solidFill>
              <a:srgbClr val="CFD8DC"/>
            </a:solidFill>
            <a:prstDash val="solid"/>
          </a:ln>
        </p:spPr>
        <p:txBody>
          <a:bodyPr/>
          <a:lstStyle/>
          <a:p>
            <a:endParaRPr lang="th-TH"/>
          </a:p>
        </p:txBody>
      </p:sp>
      <p:sp>
        <p:nvSpPr>
          <p:cNvPr id="39" name="Text 37"/>
          <p:cNvSpPr/>
          <p:nvPr/>
        </p:nvSpPr>
        <p:spPr>
          <a:xfrm>
            <a:off x="1755648" y="3822192"/>
            <a:ext cx="6976872" cy="347472"/>
          </a:xfrm>
          <a:prstGeom prst="rect">
            <a:avLst/>
          </a:prstGeom>
          <a:noFill/>
          <a:ln/>
        </p:spPr>
        <p:txBody>
          <a:bodyPr wrap="square" lIns="0" tIns="0" rIns="0" bIns="0" rtlCol="0" anchor="ctr"/>
          <a:lstStyle/>
          <a:p>
            <a:pPr marL="0" indent="0">
              <a:buNone/>
            </a:pPr>
            <a:r>
              <a:rPr lang="en-US" sz="1050" dirty="0">
                <a:solidFill>
                  <a:srgbClr val="37474F"/>
                </a:solidFill>
                <a:latin typeface="Calibri" pitchFamily="34" charset="0"/>
                <a:ea typeface="Calibri" pitchFamily="34" charset="-122"/>
                <a:cs typeface="Calibri" pitchFamily="34" charset="-120"/>
              </a:rPr>
              <a:t>flow_lag1 (5 min)  ·  flow_lag12 (1 hour)  ·  flow_lag288 (1 day)  — captures autocorrelation</a:t>
            </a:r>
            <a:endParaRPr lang="en-US" sz="1050" dirty="0"/>
          </a:p>
        </p:txBody>
      </p:sp>
      <p:sp>
        <p:nvSpPr>
          <p:cNvPr id="40" name="Shape 38"/>
          <p:cNvSpPr/>
          <p:nvPr/>
        </p:nvSpPr>
        <p:spPr>
          <a:xfrm>
            <a:off x="320040" y="4315968"/>
            <a:ext cx="1325880" cy="347472"/>
          </a:xfrm>
          <a:prstGeom prst="rect">
            <a:avLst/>
          </a:prstGeom>
          <a:solidFill>
            <a:srgbClr val="0A2342"/>
          </a:solidFill>
          <a:ln/>
        </p:spPr>
        <p:txBody>
          <a:bodyPr/>
          <a:lstStyle/>
          <a:p>
            <a:endParaRPr lang="th-TH"/>
          </a:p>
        </p:txBody>
      </p:sp>
      <p:sp>
        <p:nvSpPr>
          <p:cNvPr id="41" name="Text 39"/>
          <p:cNvSpPr/>
          <p:nvPr/>
        </p:nvSpPr>
        <p:spPr>
          <a:xfrm>
            <a:off x="320040" y="4315968"/>
            <a:ext cx="1325880" cy="34747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Target</a:t>
            </a:r>
            <a:endParaRPr lang="en-US" sz="1000" dirty="0"/>
          </a:p>
        </p:txBody>
      </p:sp>
      <p:sp>
        <p:nvSpPr>
          <p:cNvPr id="42" name="Shape 40"/>
          <p:cNvSpPr/>
          <p:nvPr/>
        </p:nvSpPr>
        <p:spPr>
          <a:xfrm>
            <a:off x="1664208" y="4315968"/>
            <a:ext cx="7159752" cy="347472"/>
          </a:xfrm>
          <a:prstGeom prst="rect">
            <a:avLst/>
          </a:prstGeom>
          <a:solidFill>
            <a:srgbClr val="ECEFF1"/>
          </a:solidFill>
          <a:ln w="6350">
            <a:solidFill>
              <a:srgbClr val="CFD8DC"/>
            </a:solidFill>
            <a:prstDash val="solid"/>
          </a:ln>
        </p:spPr>
        <p:txBody>
          <a:bodyPr/>
          <a:lstStyle/>
          <a:p>
            <a:endParaRPr lang="th-TH"/>
          </a:p>
        </p:txBody>
      </p:sp>
      <p:sp>
        <p:nvSpPr>
          <p:cNvPr id="43" name="Text 41"/>
          <p:cNvSpPr/>
          <p:nvPr/>
        </p:nvSpPr>
        <p:spPr>
          <a:xfrm>
            <a:off x="1755648" y="4315968"/>
            <a:ext cx="6976872" cy="347472"/>
          </a:xfrm>
          <a:prstGeom prst="rect">
            <a:avLst/>
          </a:prstGeom>
          <a:noFill/>
          <a:ln/>
        </p:spPr>
        <p:txBody>
          <a:bodyPr wrap="square" lIns="0" tIns="0" rIns="0" bIns="0" rtlCol="0" anchor="ctr"/>
          <a:lstStyle/>
          <a:p>
            <a:pPr marL="0" indent="0">
              <a:buNone/>
            </a:pPr>
            <a:r>
              <a:rPr lang="en-US" sz="1050" dirty="0">
                <a:solidFill>
                  <a:srgbClr val="37474F"/>
                </a:solidFill>
                <a:latin typeface="Calibri" pitchFamily="34" charset="0"/>
                <a:ea typeface="Calibri" pitchFamily="34" charset="-122"/>
                <a:cs typeface="Calibri" pitchFamily="34" charset="-120"/>
              </a:rPr>
              <a:t>total_flow for regression  ·  is_congested for classification</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A2342"/>
          </a:solidFill>
          <a:ln/>
        </p:spPr>
        <p:txBody>
          <a:bodyPr/>
          <a:lstStyle/>
          <a:p>
            <a:endParaRPr lang="th-TH"/>
          </a:p>
        </p:txBody>
      </p:sp>
      <p:sp>
        <p:nvSpPr>
          <p:cNvPr id="3" name="Shape 1"/>
          <p:cNvSpPr/>
          <p:nvPr/>
        </p:nvSpPr>
        <p:spPr>
          <a:xfrm>
            <a:off x="0" y="960120"/>
            <a:ext cx="9144000" cy="41148"/>
          </a:xfrm>
          <a:prstGeom prst="rect">
            <a:avLst/>
          </a:prstGeom>
          <a:solidFill>
            <a:srgbClr val="1976D2"/>
          </a:solidFill>
          <a:ln/>
        </p:spPr>
        <p:txBody>
          <a:bodyPr/>
          <a:lstStyle/>
          <a:p>
            <a:endParaRPr lang="th-TH"/>
          </a:p>
        </p:txBody>
      </p:sp>
      <p:sp>
        <p:nvSpPr>
          <p:cNvPr id="4" name="Text 2"/>
          <p:cNvSpPr/>
          <p:nvPr/>
        </p:nvSpPr>
        <p:spPr>
          <a:xfrm>
            <a:off x="411480" y="91440"/>
            <a:ext cx="7955280" cy="502920"/>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EDA — Hourly Traffic Flow Pattern</a:t>
            </a:r>
            <a:endParaRPr lang="en-US" sz="2000" dirty="0"/>
          </a:p>
        </p:txBody>
      </p:sp>
      <p:sp>
        <p:nvSpPr>
          <p:cNvPr id="5" name="Text 3"/>
          <p:cNvSpPr/>
          <p:nvPr/>
        </p:nvSpPr>
        <p:spPr>
          <a:xfrm>
            <a:off x="411480" y="576072"/>
            <a:ext cx="8046720" cy="320040"/>
          </a:xfrm>
          <a:prstGeom prst="rect">
            <a:avLst/>
          </a:prstGeom>
          <a:noFill/>
          <a:ln/>
        </p:spPr>
        <p:txBody>
          <a:bodyPr wrap="square" lIns="0" tIns="0" rIns="0" bIns="0" rtlCol="0" anchor="ctr"/>
          <a:lstStyle/>
          <a:p>
            <a:pPr marL="0" indent="0">
              <a:buNone/>
            </a:pPr>
            <a:r>
              <a:rPr lang="en-US" sz="1100" dirty="0">
                <a:solidFill>
                  <a:srgbClr val="BBDEFB"/>
                </a:solidFill>
                <a:latin typeface="Calibri" pitchFamily="34" charset="0"/>
                <a:ea typeface="Calibri" pitchFamily="34" charset="-122"/>
                <a:cs typeface="Calibri" pitchFamily="34" charset="-120"/>
              </a:rPr>
              <a:t>Average total flow per hour: weekday vs. weekend · red dashed line = congestion threshold (2.77M veh / 5 min)</a:t>
            </a:r>
            <a:endParaRPr lang="en-US" sz="1100" dirty="0"/>
          </a:p>
        </p:txBody>
      </p:sp>
      <p:sp>
        <p:nvSpPr>
          <p:cNvPr id="6" name="Shape 4"/>
          <p:cNvSpPr/>
          <p:nvPr/>
        </p:nvSpPr>
        <p:spPr>
          <a:xfrm>
            <a:off x="8641080" y="201168"/>
            <a:ext cx="347472" cy="347472"/>
          </a:xfrm>
          <a:prstGeom prst="ellipse">
            <a:avLst/>
          </a:prstGeom>
          <a:solidFill>
            <a:srgbClr val="1976D2"/>
          </a:solidFill>
          <a:ln/>
        </p:spPr>
        <p:txBody>
          <a:bodyPr/>
          <a:lstStyle/>
          <a:p>
            <a:endParaRPr lang="th-TH"/>
          </a:p>
        </p:txBody>
      </p:sp>
      <p:sp>
        <p:nvSpPr>
          <p:cNvPr id="7" name="Shape 5"/>
          <p:cNvSpPr/>
          <p:nvPr/>
        </p:nvSpPr>
        <p:spPr>
          <a:xfrm>
            <a:off x="0" y="4850892"/>
            <a:ext cx="9144000" cy="292608"/>
          </a:xfrm>
          <a:prstGeom prst="rect">
            <a:avLst/>
          </a:prstGeom>
          <a:solidFill>
            <a:srgbClr val="E3F0FF"/>
          </a:solidFill>
          <a:ln/>
        </p:spPr>
        <p:txBody>
          <a:bodyPr/>
          <a:lstStyle/>
          <a:p>
            <a:endParaRPr lang="th-TH"/>
          </a:p>
        </p:txBody>
      </p:sp>
      <p:sp>
        <p:nvSpPr>
          <p:cNvPr id="8" name="Text 6"/>
          <p:cNvSpPr/>
          <p:nvPr/>
        </p:nvSpPr>
        <p:spPr>
          <a:xfrm>
            <a:off x="320040" y="4869180"/>
            <a:ext cx="7315200" cy="256032"/>
          </a:xfrm>
          <a:prstGeom prst="rect">
            <a:avLst/>
          </a:prstGeom>
          <a:noFill/>
          <a:ln/>
        </p:spPr>
        <p:txBody>
          <a:bodyPr wrap="square" lIns="0" tIns="0" rIns="0" bIns="0" rtlCol="0" anchor="ctr"/>
          <a:lstStyle/>
          <a:p>
            <a:pPr marL="0" indent="0">
              <a:buNone/>
            </a:pPr>
            <a:r>
              <a:rPr lang="en-US" sz="850" dirty="0">
                <a:solidFill>
                  <a:srgbClr val="607D8B"/>
                </a:solidFill>
                <a:latin typeface="Calibri" pitchFamily="34" charset="0"/>
                <a:ea typeface="Calibri" pitchFamily="34" charset="-122"/>
                <a:cs typeface="Calibri" pitchFamily="34" charset="-120"/>
              </a:rPr>
              <a:t>FlowShift  |  Urban Traffic &amp; Transit Demand — Los Angeles 2021</a:t>
            </a:r>
            <a:endParaRPr lang="en-US" sz="850" dirty="0"/>
          </a:p>
        </p:txBody>
      </p:sp>
      <p:sp>
        <p:nvSpPr>
          <p:cNvPr id="9" name="Text 7"/>
          <p:cNvSpPr/>
          <p:nvPr/>
        </p:nvSpPr>
        <p:spPr>
          <a:xfrm>
            <a:off x="8503920" y="4869180"/>
            <a:ext cx="502920" cy="256032"/>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5 / 15</a:t>
            </a:r>
            <a:endParaRPr lang="en-US" sz="850" dirty="0"/>
          </a:p>
        </p:txBody>
      </p:sp>
      <p:sp>
        <p:nvSpPr>
          <p:cNvPr id="10" name="Shape 8"/>
          <p:cNvSpPr/>
          <p:nvPr/>
        </p:nvSpPr>
        <p:spPr>
          <a:xfrm>
            <a:off x="320040" y="1051560"/>
            <a:ext cx="8503920" cy="3447288"/>
          </a:xfrm>
          <a:prstGeom prst="rect">
            <a:avLst/>
          </a:prstGeom>
          <a:solidFill>
            <a:srgbClr val="FFFFFF"/>
          </a:solidFill>
          <a:ln w="9525">
            <a:solidFill>
              <a:srgbClr val="CFD8DC"/>
            </a:solidFill>
            <a:prstDash val="solid"/>
          </a:ln>
          <a:effectLst>
            <a:outerShdw blurRad="63500" dist="25400" dir="8100000" algn="bl" rotWithShape="0">
              <a:srgbClr val="000000">
                <a:alpha val="9000"/>
              </a:srgbClr>
            </a:outerShdw>
          </a:effectLst>
        </p:spPr>
        <p:txBody>
          <a:bodyPr/>
          <a:lstStyle/>
          <a:p>
            <a:endParaRPr lang="th-TH"/>
          </a:p>
        </p:txBody>
      </p:sp>
      <p:sp>
        <p:nvSpPr>
          <p:cNvPr id="11" name="Shape 9"/>
          <p:cNvSpPr/>
          <p:nvPr/>
        </p:nvSpPr>
        <p:spPr>
          <a:xfrm>
            <a:off x="1078992" y="4224528"/>
            <a:ext cx="7562088" cy="914"/>
          </a:xfrm>
          <a:prstGeom prst="line">
            <a:avLst/>
          </a:prstGeom>
          <a:noFill/>
          <a:ln w="6350">
            <a:solidFill>
              <a:srgbClr val="CFD8DC"/>
            </a:solidFill>
            <a:prstDash val="solid"/>
          </a:ln>
        </p:spPr>
        <p:txBody>
          <a:bodyPr/>
          <a:lstStyle/>
          <a:p>
            <a:endParaRPr lang="th-TH"/>
          </a:p>
        </p:txBody>
      </p:sp>
      <p:sp>
        <p:nvSpPr>
          <p:cNvPr id="12" name="Text 10"/>
          <p:cNvSpPr/>
          <p:nvPr/>
        </p:nvSpPr>
        <p:spPr>
          <a:xfrm>
            <a:off x="347472" y="4096512"/>
            <a:ext cx="685800" cy="256032"/>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0.0M</a:t>
            </a:r>
            <a:endParaRPr lang="en-US" sz="850" dirty="0"/>
          </a:p>
        </p:txBody>
      </p:sp>
      <p:sp>
        <p:nvSpPr>
          <p:cNvPr id="13" name="Shape 11"/>
          <p:cNvSpPr/>
          <p:nvPr/>
        </p:nvSpPr>
        <p:spPr>
          <a:xfrm>
            <a:off x="1078992" y="3747326"/>
            <a:ext cx="7562088" cy="914"/>
          </a:xfrm>
          <a:prstGeom prst="line">
            <a:avLst/>
          </a:prstGeom>
          <a:noFill/>
          <a:ln w="6350">
            <a:solidFill>
              <a:srgbClr val="CFD8DC"/>
            </a:solidFill>
            <a:prstDash val="solid"/>
          </a:ln>
        </p:spPr>
        <p:txBody>
          <a:bodyPr/>
          <a:lstStyle/>
          <a:p>
            <a:endParaRPr lang="th-TH"/>
          </a:p>
        </p:txBody>
      </p:sp>
      <p:sp>
        <p:nvSpPr>
          <p:cNvPr id="14" name="Text 12"/>
          <p:cNvSpPr/>
          <p:nvPr/>
        </p:nvSpPr>
        <p:spPr>
          <a:xfrm>
            <a:off x="347472" y="3619310"/>
            <a:ext cx="685800" cy="256032"/>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0.5M</a:t>
            </a:r>
            <a:endParaRPr lang="en-US" sz="850" dirty="0"/>
          </a:p>
        </p:txBody>
      </p:sp>
      <p:sp>
        <p:nvSpPr>
          <p:cNvPr id="15" name="Shape 13"/>
          <p:cNvSpPr/>
          <p:nvPr/>
        </p:nvSpPr>
        <p:spPr>
          <a:xfrm>
            <a:off x="1078992" y="3270123"/>
            <a:ext cx="7562088" cy="914"/>
          </a:xfrm>
          <a:prstGeom prst="line">
            <a:avLst/>
          </a:prstGeom>
          <a:noFill/>
          <a:ln w="6350">
            <a:solidFill>
              <a:srgbClr val="CFD8DC"/>
            </a:solidFill>
            <a:prstDash val="solid"/>
          </a:ln>
        </p:spPr>
        <p:txBody>
          <a:bodyPr/>
          <a:lstStyle/>
          <a:p>
            <a:endParaRPr lang="th-TH"/>
          </a:p>
        </p:txBody>
      </p:sp>
      <p:sp>
        <p:nvSpPr>
          <p:cNvPr id="16" name="Text 14"/>
          <p:cNvSpPr/>
          <p:nvPr/>
        </p:nvSpPr>
        <p:spPr>
          <a:xfrm>
            <a:off x="347472" y="3142107"/>
            <a:ext cx="685800" cy="256032"/>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1.0M</a:t>
            </a:r>
            <a:endParaRPr lang="en-US" sz="850" dirty="0"/>
          </a:p>
        </p:txBody>
      </p:sp>
      <p:sp>
        <p:nvSpPr>
          <p:cNvPr id="17" name="Shape 15"/>
          <p:cNvSpPr/>
          <p:nvPr/>
        </p:nvSpPr>
        <p:spPr>
          <a:xfrm>
            <a:off x="1078992" y="2792921"/>
            <a:ext cx="7562088" cy="914"/>
          </a:xfrm>
          <a:prstGeom prst="line">
            <a:avLst/>
          </a:prstGeom>
          <a:noFill/>
          <a:ln w="6350">
            <a:solidFill>
              <a:srgbClr val="CFD8DC"/>
            </a:solidFill>
            <a:prstDash val="solid"/>
          </a:ln>
        </p:spPr>
        <p:txBody>
          <a:bodyPr/>
          <a:lstStyle/>
          <a:p>
            <a:endParaRPr lang="th-TH"/>
          </a:p>
        </p:txBody>
      </p:sp>
      <p:sp>
        <p:nvSpPr>
          <p:cNvPr id="18" name="Text 16"/>
          <p:cNvSpPr/>
          <p:nvPr/>
        </p:nvSpPr>
        <p:spPr>
          <a:xfrm>
            <a:off x="347472" y="2664905"/>
            <a:ext cx="685800" cy="256032"/>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1.5M</a:t>
            </a:r>
            <a:endParaRPr lang="en-US" sz="850" dirty="0"/>
          </a:p>
        </p:txBody>
      </p:sp>
      <p:sp>
        <p:nvSpPr>
          <p:cNvPr id="19" name="Shape 17"/>
          <p:cNvSpPr/>
          <p:nvPr/>
        </p:nvSpPr>
        <p:spPr>
          <a:xfrm>
            <a:off x="1078992" y="2315718"/>
            <a:ext cx="7562088" cy="914"/>
          </a:xfrm>
          <a:prstGeom prst="line">
            <a:avLst/>
          </a:prstGeom>
          <a:noFill/>
          <a:ln w="6350">
            <a:solidFill>
              <a:srgbClr val="CFD8DC"/>
            </a:solidFill>
            <a:prstDash val="solid"/>
          </a:ln>
        </p:spPr>
        <p:txBody>
          <a:bodyPr/>
          <a:lstStyle/>
          <a:p>
            <a:endParaRPr lang="th-TH"/>
          </a:p>
        </p:txBody>
      </p:sp>
      <p:sp>
        <p:nvSpPr>
          <p:cNvPr id="20" name="Text 18"/>
          <p:cNvSpPr/>
          <p:nvPr/>
        </p:nvSpPr>
        <p:spPr>
          <a:xfrm>
            <a:off x="347472" y="2187702"/>
            <a:ext cx="685800" cy="256032"/>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2.0M</a:t>
            </a:r>
            <a:endParaRPr lang="en-US" sz="850" dirty="0"/>
          </a:p>
        </p:txBody>
      </p:sp>
      <p:sp>
        <p:nvSpPr>
          <p:cNvPr id="21" name="Shape 19"/>
          <p:cNvSpPr/>
          <p:nvPr/>
        </p:nvSpPr>
        <p:spPr>
          <a:xfrm>
            <a:off x="1078992" y="1838516"/>
            <a:ext cx="7562088" cy="914"/>
          </a:xfrm>
          <a:prstGeom prst="line">
            <a:avLst/>
          </a:prstGeom>
          <a:noFill/>
          <a:ln w="6350">
            <a:solidFill>
              <a:srgbClr val="CFD8DC"/>
            </a:solidFill>
            <a:prstDash val="solid"/>
          </a:ln>
        </p:spPr>
        <p:txBody>
          <a:bodyPr/>
          <a:lstStyle/>
          <a:p>
            <a:endParaRPr lang="th-TH"/>
          </a:p>
        </p:txBody>
      </p:sp>
      <p:sp>
        <p:nvSpPr>
          <p:cNvPr id="22" name="Text 20"/>
          <p:cNvSpPr/>
          <p:nvPr/>
        </p:nvSpPr>
        <p:spPr>
          <a:xfrm>
            <a:off x="347472" y="1710500"/>
            <a:ext cx="685800" cy="256032"/>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2.5M</a:t>
            </a:r>
            <a:endParaRPr lang="en-US" sz="850" dirty="0"/>
          </a:p>
        </p:txBody>
      </p:sp>
      <p:sp>
        <p:nvSpPr>
          <p:cNvPr id="23" name="Shape 21"/>
          <p:cNvSpPr/>
          <p:nvPr/>
        </p:nvSpPr>
        <p:spPr>
          <a:xfrm>
            <a:off x="1078992" y="1361313"/>
            <a:ext cx="7562088" cy="914"/>
          </a:xfrm>
          <a:prstGeom prst="line">
            <a:avLst/>
          </a:prstGeom>
          <a:noFill/>
          <a:ln w="6350">
            <a:solidFill>
              <a:srgbClr val="CFD8DC"/>
            </a:solidFill>
            <a:prstDash val="solid"/>
          </a:ln>
        </p:spPr>
        <p:txBody>
          <a:bodyPr/>
          <a:lstStyle/>
          <a:p>
            <a:endParaRPr lang="th-TH"/>
          </a:p>
        </p:txBody>
      </p:sp>
      <p:sp>
        <p:nvSpPr>
          <p:cNvPr id="24" name="Text 22"/>
          <p:cNvSpPr/>
          <p:nvPr/>
        </p:nvSpPr>
        <p:spPr>
          <a:xfrm>
            <a:off x="347472" y="1233297"/>
            <a:ext cx="685800" cy="256032"/>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3.0M</a:t>
            </a:r>
            <a:endParaRPr lang="en-US" sz="850" dirty="0"/>
          </a:p>
        </p:txBody>
      </p:sp>
      <p:sp>
        <p:nvSpPr>
          <p:cNvPr id="25" name="Shape 23"/>
          <p:cNvSpPr/>
          <p:nvPr/>
        </p:nvSpPr>
        <p:spPr>
          <a:xfrm>
            <a:off x="1078992" y="4224528"/>
            <a:ext cx="7562088" cy="914"/>
          </a:xfrm>
          <a:prstGeom prst="line">
            <a:avLst/>
          </a:prstGeom>
          <a:noFill/>
          <a:ln w="12700">
            <a:solidFill>
              <a:srgbClr val="CFD8DC"/>
            </a:solidFill>
            <a:prstDash val="solid"/>
          </a:ln>
        </p:spPr>
        <p:txBody>
          <a:bodyPr/>
          <a:lstStyle/>
          <a:p>
            <a:endParaRPr lang="th-TH"/>
          </a:p>
        </p:txBody>
      </p:sp>
      <p:sp>
        <p:nvSpPr>
          <p:cNvPr id="26" name="Shape 24"/>
          <p:cNvSpPr/>
          <p:nvPr/>
        </p:nvSpPr>
        <p:spPr>
          <a:xfrm>
            <a:off x="1078992" y="1170432"/>
            <a:ext cx="914" cy="3054096"/>
          </a:xfrm>
          <a:prstGeom prst="line">
            <a:avLst/>
          </a:prstGeom>
          <a:noFill/>
          <a:ln w="12700">
            <a:solidFill>
              <a:srgbClr val="CFD8DC"/>
            </a:solidFill>
            <a:prstDash val="solid"/>
          </a:ln>
        </p:spPr>
        <p:txBody>
          <a:bodyPr/>
          <a:lstStyle/>
          <a:p>
            <a:endParaRPr lang="th-TH"/>
          </a:p>
        </p:txBody>
      </p:sp>
      <p:sp>
        <p:nvSpPr>
          <p:cNvPr id="27" name="Text 25"/>
          <p:cNvSpPr/>
          <p:nvPr/>
        </p:nvSpPr>
        <p:spPr>
          <a:xfrm>
            <a:off x="896112" y="4279392"/>
            <a:ext cx="365760" cy="201168"/>
          </a:xfrm>
          <a:prstGeom prst="rect">
            <a:avLst/>
          </a:prstGeom>
          <a:noFill/>
          <a:ln/>
        </p:spPr>
        <p:txBody>
          <a:bodyPr wrap="square" lIns="0" tIns="0" rIns="0" bIns="0" rtlCol="0" anchor="ctr"/>
          <a:lstStyle/>
          <a:p>
            <a:pPr marL="0" indent="0" algn="ctr">
              <a:buNone/>
            </a:pPr>
            <a:r>
              <a:rPr lang="en-US" sz="850" dirty="0">
                <a:solidFill>
                  <a:srgbClr val="607D8B"/>
                </a:solidFill>
                <a:latin typeface="Calibri" pitchFamily="34" charset="0"/>
                <a:ea typeface="Calibri" pitchFamily="34" charset="-122"/>
                <a:cs typeface="Calibri" pitchFamily="34" charset="-120"/>
              </a:rPr>
              <a:t>0:00</a:t>
            </a:r>
            <a:endParaRPr lang="en-US" sz="850" dirty="0"/>
          </a:p>
        </p:txBody>
      </p:sp>
      <p:sp>
        <p:nvSpPr>
          <p:cNvPr id="28" name="Text 26"/>
          <p:cNvSpPr/>
          <p:nvPr/>
        </p:nvSpPr>
        <p:spPr>
          <a:xfrm>
            <a:off x="1882471" y="4279392"/>
            <a:ext cx="365760" cy="201168"/>
          </a:xfrm>
          <a:prstGeom prst="rect">
            <a:avLst/>
          </a:prstGeom>
          <a:noFill/>
          <a:ln/>
        </p:spPr>
        <p:txBody>
          <a:bodyPr wrap="square" lIns="0" tIns="0" rIns="0" bIns="0" rtlCol="0" anchor="ctr"/>
          <a:lstStyle/>
          <a:p>
            <a:pPr marL="0" indent="0" algn="ctr">
              <a:buNone/>
            </a:pPr>
            <a:r>
              <a:rPr lang="en-US" sz="850" dirty="0">
                <a:solidFill>
                  <a:srgbClr val="607D8B"/>
                </a:solidFill>
                <a:latin typeface="Calibri" pitchFamily="34" charset="0"/>
                <a:ea typeface="Calibri" pitchFamily="34" charset="-122"/>
                <a:cs typeface="Calibri" pitchFamily="34" charset="-120"/>
              </a:rPr>
              <a:t>3:00</a:t>
            </a:r>
            <a:endParaRPr lang="en-US" sz="850" dirty="0"/>
          </a:p>
        </p:txBody>
      </p:sp>
      <p:sp>
        <p:nvSpPr>
          <p:cNvPr id="29" name="Text 27"/>
          <p:cNvSpPr/>
          <p:nvPr/>
        </p:nvSpPr>
        <p:spPr>
          <a:xfrm>
            <a:off x="2868831" y="4279392"/>
            <a:ext cx="365760" cy="201168"/>
          </a:xfrm>
          <a:prstGeom prst="rect">
            <a:avLst/>
          </a:prstGeom>
          <a:noFill/>
          <a:ln/>
        </p:spPr>
        <p:txBody>
          <a:bodyPr wrap="square" lIns="0" tIns="0" rIns="0" bIns="0" rtlCol="0" anchor="ctr"/>
          <a:lstStyle/>
          <a:p>
            <a:pPr marL="0" indent="0" algn="ctr">
              <a:buNone/>
            </a:pPr>
            <a:r>
              <a:rPr lang="en-US" sz="850" dirty="0">
                <a:solidFill>
                  <a:srgbClr val="607D8B"/>
                </a:solidFill>
                <a:latin typeface="Calibri" pitchFamily="34" charset="0"/>
                <a:ea typeface="Calibri" pitchFamily="34" charset="-122"/>
                <a:cs typeface="Calibri" pitchFamily="34" charset="-120"/>
              </a:rPr>
              <a:t>6:00</a:t>
            </a:r>
            <a:endParaRPr lang="en-US" sz="850" dirty="0"/>
          </a:p>
        </p:txBody>
      </p:sp>
      <p:sp>
        <p:nvSpPr>
          <p:cNvPr id="30" name="Text 28"/>
          <p:cNvSpPr/>
          <p:nvPr/>
        </p:nvSpPr>
        <p:spPr>
          <a:xfrm>
            <a:off x="3855190" y="4279392"/>
            <a:ext cx="365760" cy="201168"/>
          </a:xfrm>
          <a:prstGeom prst="rect">
            <a:avLst/>
          </a:prstGeom>
          <a:noFill/>
          <a:ln/>
        </p:spPr>
        <p:txBody>
          <a:bodyPr wrap="square" lIns="0" tIns="0" rIns="0" bIns="0" rtlCol="0" anchor="ctr"/>
          <a:lstStyle/>
          <a:p>
            <a:pPr marL="0" indent="0" algn="ctr">
              <a:buNone/>
            </a:pPr>
            <a:r>
              <a:rPr lang="en-US" sz="850" dirty="0">
                <a:solidFill>
                  <a:srgbClr val="607D8B"/>
                </a:solidFill>
                <a:latin typeface="Calibri" pitchFamily="34" charset="0"/>
                <a:ea typeface="Calibri" pitchFamily="34" charset="-122"/>
                <a:cs typeface="Calibri" pitchFamily="34" charset="-120"/>
              </a:rPr>
              <a:t>9:00</a:t>
            </a:r>
            <a:endParaRPr lang="en-US" sz="850" dirty="0"/>
          </a:p>
        </p:txBody>
      </p:sp>
      <p:sp>
        <p:nvSpPr>
          <p:cNvPr id="31" name="Text 29"/>
          <p:cNvSpPr/>
          <p:nvPr/>
        </p:nvSpPr>
        <p:spPr>
          <a:xfrm>
            <a:off x="4841549" y="4279392"/>
            <a:ext cx="365760" cy="201168"/>
          </a:xfrm>
          <a:prstGeom prst="rect">
            <a:avLst/>
          </a:prstGeom>
          <a:noFill/>
          <a:ln/>
        </p:spPr>
        <p:txBody>
          <a:bodyPr wrap="square" lIns="0" tIns="0" rIns="0" bIns="0" rtlCol="0" anchor="ctr"/>
          <a:lstStyle/>
          <a:p>
            <a:pPr marL="0" indent="0" algn="ctr">
              <a:buNone/>
            </a:pPr>
            <a:r>
              <a:rPr lang="en-US" sz="850" dirty="0">
                <a:solidFill>
                  <a:srgbClr val="607D8B"/>
                </a:solidFill>
                <a:latin typeface="Calibri" pitchFamily="34" charset="0"/>
                <a:ea typeface="Calibri" pitchFamily="34" charset="-122"/>
                <a:cs typeface="Calibri" pitchFamily="34" charset="-120"/>
              </a:rPr>
              <a:t>12:00</a:t>
            </a:r>
            <a:endParaRPr lang="en-US" sz="850" dirty="0"/>
          </a:p>
        </p:txBody>
      </p:sp>
      <p:sp>
        <p:nvSpPr>
          <p:cNvPr id="32" name="Text 30"/>
          <p:cNvSpPr/>
          <p:nvPr/>
        </p:nvSpPr>
        <p:spPr>
          <a:xfrm>
            <a:off x="5827909" y="4279392"/>
            <a:ext cx="365760" cy="201168"/>
          </a:xfrm>
          <a:prstGeom prst="rect">
            <a:avLst/>
          </a:prstGeom>
          <a:noFill/>
          <a:ln/>
        </p:spPr>
        <p:txBody>
          <a:bodyPr wrap="square" lIns="0" tIns="0" rIns="0" bIns="0" rtlCol="0" anchor="ctr"/>
          <a:lstStyle/>
          <a:p>
            <a:pPr marL="0" indent="0" algn="ctr">
              <a:buNone/>
            </a:pPr>
            <a:r>
              <a:rPr lang="en-US" sz="850" dirty="0">
                <a:solidFill>
                  <a:srgbClr val="607D8B"/>
                </a:solidFill>
                <a:latin typeface="Calibri" pitchFamily="34" charset="0"/>
                <a:ea typeface="Calibri" pitchFamily="34" charset="-122"/>
                <a:cs typeface="Calibri" pitchFamily="34" charset="-120"/>
              </a:rPr>
              <a:t>15:00</a:t>
            </a:r>
            <a:endParaRPr lang="en-US" sz="850" dirty="0"/>
          </a:p>
        </p:txBody>
      </p:sp>
      <p:sp>
        <p:nvSpPr>
          <p:cNvPr id="33" name="Text 31"/>
          <p:cNvSpPr/>
          <p:nvPr/>
        </p:nvSpPr>
        <p:spPr>
          <a:xfrm>
            <a:off x="6814268" y="4279392"/>
            <a:ext cx="365760" cy="201168"/>
          </a:xfrm>
          <a:prstGeom prst="rect">
            <a:avLst/>
          </a:prstGeom>
          <a:noFill/>
          <a:ln/>
        </p:spPr>
        <p:txBody>
          <a:bodyPr wrap="square" lIns="0" tIns="0" rIns="0" bIns="0" rtlCol="0" anchor="ctr"/>
          <a:lstStyle/>
          <a:p>
            <a:pPr marL="0" indent="0" algn="ctr">
              <a:buNone/>
            </a:pPr>
            <a:r>
              <a:rPr lang="en-US" sz="850" dirty="0">
                <a:solidFill>
                  <a:srgbClr val="607D8B"/>
                </a:solidFill>
                <a:latin typeface="Calibri" pitchFamily="34" charset="0"/>
                <a:ea typeface="Calibri" pitchFamily="34" charset="-122"/>
                <a:cs typeface="Calibri" pitchFamily="34" charset="-120"/>
              </a:rPr>
              <a:t>18:00</a:t>
            </a:r>
            <a:endParaRPr lang="en-US" sz="850" dirty="0"/>
          </a:p>
        </p:txBody>
      </p:sp>
      <p:sp>
        <p:nvSpPr>
          <p:cNvPr id="34" name="Text 32"/>
          <p:cNvSpPr/>
          <p:nvPr/>
        </p:nvSpPr>
        <p:spPr>
          <a:xfrm>
            <a:off x="7800627" y="4279392"/>
            <a:ext cx="365760" cy="201168"/>
          </a:xfrm>
          <a:prstGeom prst="rect">
            <a:avLst/>
          </a:prstGeom>
          <a:noFill/>
          <a:ln/>
        </p:spPr>
        <p:txBody>
          <a:bodyPr wrap="square" lIns="0" tIns="0" rIns="0" bIns="0" rtlCol="0" anchor="ctr"/>
          <a:lstStyle/>
          <a:p>
            <a:pPr marL="0" indent="0" algn="ctr">
              <a:buNone/>
            </a:pPr>
            <a:r>
              <a:rPr lang="en-US" sz="850" dirty="0">
                <a:solidFill>
                  <a:srgbClr val="607D8B"/>
                </a:solidFill>
                <a:latin typeface="Calibri" pitchFamily="34" charset="0"/>
                <a:ea typeface="Calibri" pitchFamily="34" charset="-122"/>
                <a:cs typeface="Calibri" pitchFamily="34" charset="-120"/>
              </a:rPr>
              <a:t>21:00</a:t>
            </a:r>
            <a:endParaRPr lang="en-US" sz="850" dirty="0"/>
          </a:p>
        </p:txBody>
      </p:sp>
      <p:sp>
        <p:nvSpPr>
          <p:cNvPr id="35" name="Shape 33"/>
          <p:cNvSpPr/>
          <p:nvPr/>
        </p:nvSpPr>
        <p:spPr>
          <a:xfrm>
            <a:off x="1078992" y="1580826"/>
            <a:ext cx="230151" cy="914"/>
          </a:xfrm>
          <a:prstGeom prst="line">
            <a:avLst/>
          </a:prstGeom>
          <a:noFill/>
          <a:ln w="19050">
            <a:solidFill>
              <a:srgbClr val="D32F2F"/>
            </a:solidFill>
            <a:prstDash val="solid"/>
          </a:ln>
        </p:spPr>
        <p:txBody>
          <a:bodyPr/>
          <a:lstStyle/>
          <a:p>
            <a:endParaRPr lang="th-TH"/>
          </a:p>
        </p:txBody>
      </p:sp>
      <p:sp>
        <p:nvSpPr>
          <p:cNvPr id="36" name="Shape 34"/>
          <p:cNvSpPr/>
          <p:nvPr/>
        </p:nvSpPr>
        <p:spPr>
          <a:xfrm>
            <a:off x="1736565" y="1580826"/>
            <a:ext cx="230151" cy="914"/>
          </a:xfrm>
          <a:prstGeom prst="line">
            <a:avLst/>
          </a:prstGeom>
          <a:noFill/>
          <a:ln w="19050">
            <a:solidFill>
              <a:srgbClr val="D32F2F"/>
            </a:solidFill>
            <a:prstDash val="solid"/>
          </a:ln>
        </p:spPr>
        <p:txBody>
          <a:bodyPr/>
          <a:lstStyle/>
          <a:p>
            <a:endParaRPr lang="th-TH"/>
          </a:p>
        </p:txBody>
      </p:sp>
      <p:sp>
        <p:nvSpPr>
          <p:cNvPr id="37" name="Shape 35"/>
          <p:cNvSpPr/>
          <p:nvPr/>
        </p:nvSpPr>
        <p:spPr>
          <a:xfrm>
            <a:off x="2394138" y="1580826"/>
            <a:ext cx="230151" cy="914"/>
          </a:xfrm>
          <a:prstGeom prst="line">
            <a:avLst/>
          </a:prstGeom>
          <a:noFill/>
          <a:ln w="19050">
            <a:solidFill>
              <a:srgbClr val="D32F2F"/>
            </a:solidFill>
            <a:prstDash val="solid"/>
          </a:ln>
        </p:spPr>
        <p:txBody>
          <a:bodyPr/>
          <a:lstStyle/>
          <a:p>
            <a:endParaRPr lang="th-TH"/>
          </a:p>
        </p:txBody>
      </p:sp>
      <p:sp>
        <p:nvSpPr>
          <p:cNvPr id="38" name="Shape 36"/>
          <p:cNvSpPr/>
          <p:nvPr/>
        </p:nvSpPr>
        <p:spPr>
          <a:xfrm>
            <a:off x="3051711" y="1580826"/>
            <a:ext cx="230151" cy="914"/>
          </a:xfrm>
          <a:prstGeom prst="line">
            <a:avLst/>
          </a:prstGeom>
          <a:noFill/>
          <a:ln w="19050">
            <a:solidFill>
              <a:srgbClr val="D32F2F"/>
            </a:solidFill>
            <a:prstDash val="solid"/>
          </a:ln>
        </p:spPr>
        <p:txBody>
          <a:bodyPr/>
          <a:lstStyle/>
          <a:p>
            <a:endParaRPr lang="th-TH"/>
          </a:p>
        </p:txBody>
      </p:sp>
      <p:sp>
        <p:nvSpPr>
          <p:cNvPr id="39" name="Shape 37"/>
          <p:cNvSpPr/>
          <p:nvPr/>
        </p:nvSpPr>
        <p:spPr>
          <a:xfrm>
            <a:off x="3709283" y="1580826"/>
            <a:ext cx="230151" cy="914"/>
          </a:xfrm>
          <a:prstGeom prst="line">
            <a:avLst/>
          </a:prstGeom>
          <a:noFill/>
          <a:ln w="19050">
            <a:solidFill>
              <a:srgbClr val="D32F2F"/>
            </a:solidFill>
            <a:prstDash val="solid"/>
          </a:ln>
        </p:spPr>
        <p:txBody>
          <a:bodyPr/>
          <a:lstStyle/>
          <a:p>
            <a:endParaRPr lang="th-TH"/>
          </a:p>
        </p:txBody>
      </p:sp>
      <p:sp>
        <p:nvSpPr>
          <p:cNvPr id="40" name="Shape 38"/>
          <p:cNvSpPr/>
          <p:nvPr/>
        </p:nvSpPr>
        <p:spPr>
          <a:xfrm>
            <a:off x="4366856" y="1580826"/>
            <a:ext cx="230151" cy="914"/>
          </a:xfrm>
          <a:prstGeom prst="line">
            <a:avLst/>
          </a:prstGeom>
          <a:noFill/>
          <a:ln w="19050">
            <a:solidFill>
              <a:srgbClr val="D32F2F"/>
            </a:solidFill>
            <a:prstDash val="solid"/>
          </a:ln>
        </p:spPr>
        <p:txBody>
          <a:bodyPr/>
          <a:lstStyle/>
          <a:p>
            <a:endParaRPr lang="th-TH"/>
          </a:p>
        </p:txBody>
      </p:sp>
      <p:sp>
        <p:nvSpPr>
          <p:cNvPr id="41" name="Shape 39"/>
          <p:cNvSpPr/>
          <p:nvPr/>
        </p:nvSpPr>
        <p:spPr>
          <a:xfrm>
            <a:off x="5024429" y="1580826"/>
            <a:ext cx="230151" cy="914"/>
          </a:xfrm>
          <a:prstGeom prst="line">
            <a:avLst/>
          </a:prstGeom>
          <a:noFill/>
          <a:ln w="19050">
            <a:solidFill>
              <a:srgbClr val="D32F2F"/>
            </a:solidFill>
            <a:prstDash val="solid"/>
          </a:ln>
        </p:spPr>
        <p:txBody>
          <a:bodyPr/>
          <a:lstStyle/>
          <a:p>
            <a:endParaRPr lang="th-TH"/>
          </a:p>
        </p:txBody>
      </p:sp>
      <p:sp>
        <p:nvSpPr>
          <p:cNvPr id="42" name="Shape 40"/>
          <p:cNvSpPr/>
          <p:nvPr/>
        </p:nvSpPr>
        <p:spPr>
          <a:xfrm>
            <a:off x="5682002" y="1580826"/>
            <a:ext cx="230151" cy="914"/>
          </a:xfrm>
          <a:prstGeom prst="line">
            <a:avLst/>
          </a:prstGeom>
          <a:noFill/>
          <a:ln w="19050">
            <a:solidFill>
              <a:srgbClr val="D32F2F"/>
            </a:solidFill>
            <a:prstDash val="solid"/>
          </a:ln>
        </p:spPr>
        <p:txBody>
          <a:bodyPr/>
          <a:lstStyle/>
          <a:p>
            <a:endParaRPr lang="th-TH"/>
          </a:p>
        </p:txBody>
      </p:sp>
      <p:sp>
        <p:nvSpPr>
          <p:cNvPr id="43" name="Shape 41"/>
          <p:cNvSpPr/>
          <p:nvPr/>
        </p:nvSpPr>
        <p:spPr>
          <a:xfrm>
            <a:off x="6339575" y="1580826"/>
            <a:ext cx="230151" cy="914"/>
          </a:xfrm>
          <a:prstGeom prst="line">
            <a:avLst/>
          </a:prstGeom>
          <a:noFill/>
          <a:ln w="19050">
            <a:solidFill>
              <a:srgbClr val="D32F2F"/>
            </a:solidFill>
            <a:prstDash val="solid"/>
          </a:ln>
        </p:spPr>
        <p:txBody>
          <a:bodyPr/>
          <a:lstStyle/>
          <a:p>
            <a:endParaRPr lang="th-TH"/>
          </a:p>
        </p:txBody>
      </p:sp>
      <p:sp>
        <p:nvSpPr>
          <p:cNvPr id="44" name="Shape 42"/>
          <p:cNvSpPr/>
          <p:nvPr/>
        </p:nvSpPr>
        <p:spPr>
          <a:xfrm>
            <a:off x="6997148" y="1580826"/>
            <a:ext cx="230151" cy="914"/>
          </a:xfrm>
          <a:prstGeom prst="line">
            <a:avLst/>
          </a:prstGeom>
          <a:noFill/>
          <a:ln w="19050">
            <a:solidFill>
              <a:srgbClr val="D32F2F"/>
            </a:solidFill>
            <a:prstDash val="solid"/>
          </a:ln>
        </p:spPr>
        <p:txBody>
          <a:bodyPr/>
          <a:lstStyle/>
          <a:p>
            <a:endParaRPr lang="th-TH"/>
          </a:p>
        </p:txBody>
      </p:sp>
      <p:sp>
        <p:nvSpPr>
          <p:cNvPr id="45" name="Shape 43"/>
          <p:cNvSpPr/>
          <p:nvPr/>
        </p:nvSpPr>
        <p:spPr>
          <a:xfrm>
            <a:off x="7654721" y="1580826"/>
            <a:ext cx="230151" cy="914"/>
          </a:xfrm>
          <a:prstGeom prst="line">
            <a:avLst/>
          </a:prstGeom>
          <a:noFill/>
          <a:ln w="19050">
            <a:solidFill>
              <a:srgbClr val="D32F2F"/>
            </a:solidFill>
            <a:prstDash val="solid"/>
          </a:ln>
        </p:spPr>
        <p:txBody>
          <a:bodyPr/>
          <a:lstStyle/>
          <a:p>
            <a:endParaRPr lang="th-TH"/>
          </a:p>
        </p:txBody>
      </p:sp>
      <p:sp>
        <p:nvSpPr>
          <p:cNvPr id="46" name="Shape 44"/>
          <p:cNvSpPr/>
          <p:nvPr/>
        </p:nvSpPr>
        <p:spPr>
          <a:xfrm>
            <a:off x="8312294" y="1580826"/>
            <a:ext cx="230151" cy="914"/>
          </a:xfrm>
          <a:prstGeom prst="line">
            <a:avLst/>
          </a:prstGeom>
          <a:noFill/>
          <a:ln w="19050">
            <a:solidFill>
              <a:srgbClr val="D32F2F"/>
            </a:solidFill>
            <a:prstDash val="solid"/>
          </a:ln>
        </p:spPr>
        <p:txBody>
          <a:bodyPr/>
          <a:lstStyle/>
          <a:p>
            <a:endParaRPr lang="th-TH"/>
          </a:p>
        </p:txBody>
      </p:sp>
      <p:sp>
        <p:nvSpPr>
          <p:cNvPr id="47" name="Shape 45"/>
          <p:cNvSpPr/>
          <p:nvPr/>
        </p:nvSpPr>
        <p:spPr>
          <a:xfrm>
            <a:off x="1078992" y="3451460"/>
            <a:ext cx="328786" cy="181337"/>
          </a:xfrm>
          <a:prstGeom prst="line">
            <a:avLst/>
          </a:prstGeom>
          <a:noFill/>
          <a:ln w="25400">
            <a:solidFill>
              <a:srgbClr val="0A2342"/>
            </a:solidFill>
            <a:prstDash val="solid"/>
          </a:ln>
        </p:spPr>
        <p:txBody>
          <a:bodyPr/>
          <a:lstStyle/>
          <a:p>
            <a:endParaRPr lang="th-TH"/>
          </a:p>
        </p:txBody>
      </p:sp>
      <p:sp>
        <p:nvSpPr>
          <p:cNvPr id="48" name="Shape 46"/>
          <p:cNvSpPr/>
          <p:nvPr/>
        </p:nvSpPr>
        <p:spPr>
          <a:xfrm>
            <a:off x="1407778" y="3632797"/>
            <a:ext cx="328786" cy="104985"/>
          </a:xfrm>
          <a:prstGeom prst="line">
            <a:avLst/>
          </a:prstGeom>
          <a:noFill/>
          <a:ln w="25400">
            <a:solidFill>
              <a:srgbClr val="0A2342"/>
            </a:solidFill>
            <a:prstDash val="solid"/>
          </a:ln>
        </p:spPr>
        <p:txBody>
          <a:bodyPr/>
          <a:lstStyle/>
          <a:p>
            <a:endParaRPr lang="th-TH"/>
          </a:p>
        </p:txBody>
      </p:sp>
      <p:sp>
        <p:nvSpPr>
          <p:cNvPr id="49" name="Shape 47"/>
          <p:cNvSpPr/>
          <p:nvPr/>
        </p:nvSpPr>
        <p:spPr>
          <a:xfrm>
            <a:off x="1736565" y="3737781"/>
            <a:ext cx="328786" cy="28632"/>
          </a:xfrm>
          <a:prstGeom prst="line">
            <a:avLst/>
          </a:prstGeom>
          <a:noFill/>
          <a:ln w="25400">
            <a:solidFill>
              <a:srgbClr val="0A2342"/>
            </a:solidFill>
            <a:prstDash val="solid"/>
          </a:ln>
        </p:spPr>
        <p:txBody>
          <a:bodyPr/>
          <a:lstStyle/>
          <a:p>
            <a:endParaRPr lang="th-TH"/>
          </a:p>
        </p:txBody>
      </p:sp>
      <p:sp>
        <p:nvSpPr>
          <p:cNvPr id="50" name="Shape 48"/>
          <p:cNvSpPr/>
          <p:nvPr/>
        </p:nvSpPr>
        <p:spPr>
          <a:xfrm flipV="1">
            <a:off x="2065351" y="3642341"/>
            <a:ext cx="328786" cy="124073"/>
          </a:xfrm>
          <a:prstGeom prst="line">
            <a:avLst/>
          </a:prstGeom>
          <a:noFill/>
          <a:ln w="25400">
            <a:solidFill>
              <a:srgbClr val="0A2342"/>
            </a:solidFill>
            <a:prstDash val="solid"/>
          </a:ln>
        </p:spPr>
        <p:txBody>
          <a:bodyPr/>
          <a:lstStyle/>
          <a:p>
            <a:endParaRPr lang="th-TH"/>
          </a:p>
        </p:txBody>
      </p:sp>
      <p:sp>
        <p:nvSpPr>
          <p:cNvPr id="51" name="Shape 49"/>
          <p:cNvSpPr/>
          <p:nvPr/>
        </p:nvSpPr>
        <p:spPr>
          <a:xfrm flipV="1">
            <a:off x="2394138" y="3336931"/>
            <a:ext cx="328786" cy="305410"/>
          </a:xfrm>
          <a:prstGeom prst="line">
            <a:avLst/>
          </a:prstGeom>
          <a:noFill/>
          <a:ln w="25400">
            <a:solidFill>
              <a:srgbClr val="0A2342"/>
            </a:solidFill>
            <a:prstDash val="solid"/>
          </a:ln>
        </p:spPr>
        <p:txBody>
          <a:bodyPr/>
          <a:lstStyle/>
          <a:p>
            <a:endParaRPr lang="th-TH"/>
          </a:p>
        </p:txBody>
      </p:sp>
      <p:sp>
        <p:nvSpPr>
          <p:cNvPr id="52" name="Shape 50"/>
          <p:cNvSpPr/>
          <p:nvPr/>
        </p:nvSpPr>
        <p:spPr>
          <a:xfrm flipV="1">
            <a:off x="2722924" y="2888361"/>
            <a:ext cx="328786" cy="448570"/>
          </a:xfrm>
          <a:prstGeom prst="line">
            <a:avLst/>
          </a:prstGeom>
          <a:noFill/>
          <a:ln w="25400">
            <a:solidFill>
              <a:srgbClr val="0A2342"/>
            </a:solidFill>
            <a:prstDash val="solid"/>
          </a:ln>
        </p:spPr>
        <p:txBody>
          <a:bodyPr/>
          <a:lstStyle/>
          <a:p>
            <a:endParaRPr lang="th-TH"/>
          </a:p>
        </p:txBody>
      </p:sp>
      <p:sp>
        <p:nvSpPr>
          <p:cNvPr id="53" name="Shape 51"/>
          <p:cNvSpPr/>
          <p:nvPr/>
        </p:nvSpPr>
        <p:spPr>
          <a:xfrm flipV="1">
            <a:off x="3051711" y="2201189"/>
            <a:ext cx="328786" cy="687172"/>
          </a:xfrm>
          <a:prstGeom prst="line">
            <a:avLst/>
          </a:prstGeom>
          <a:noFill/>
          <a:ln w="25400">
            <a:solidFill>
              <a:srgbClr val="0A2342"/>
            </a:solidFill>
            <a:prstDash val="solid"/>
          </a:ln>
        </p:spPr>
        <p:txBody>
          <a:bodyPr/>
          <a:lstStyle/>
          <a:p>
            <a:endParaRPr lang="th-TH"/>
          </a:p>
        </p:txBody>
      </p:sp>
      <p:sp>
        <p:nvSpPr>
          <p:cNvPr id="54" name="Shape 52"/>
          <p:cNvSpPr/>
          <p:nvPr/>
        </p:nvSpPr>
        <p:spPr>
          <a:xfrm flipV="1">
            <a:off x="3380497" y="1704899"/>
            <a:ext cx="328786" cy="496291"/>
          </a:xfrm>
          <a:prstGeom prst="line">
            <a:avLst/>
          </a:prstGeom>
          <a:noFill/>
          <a:ln w="25400">
            <a:solidFill>
              <a:srgbClr val="0A2342"/>
            </a:solidFill>
            <a:prstDash val="solid"/>
          </a:ln>
        </p:spPr>
        <p:txBody>
          <a:bodyPr/>
          <a:lstStyle/>
          <a:p>
            <a:endParaRPr lang="th-TH"/>
          </a:p>
        </p:txBody>
      </p:sp>
      <p:sp>
        <p:nvSpPr>
          <p:cNvPr id="55" name="Shape 53"/>
          <p:cNvSpPr/>
          <p:nvPr/>
        </p:nvSpPr>
        <p:spPr>
          <a:xfrm>
            <a:off x="3709283" y="1704899"/>
            <a:ext cx="328786" cy="190881"/>
          </a:xfrm>
          <a:prstGeom prst="line">
            <a:avLst/>
          </a:prstGeom>
          <a:noFill/>
          <a:ln w="25400">
            <a:solidFill>
              <a:srgbClr val="0A2342"/>
            </a:solidFill>
            <a:prstDash val="solid"/>
          </a:ln>
        </p:spPr>
        <p:txBody>
          <a:bodyPr/>
          <a:lstStyle/>
          <a:p>
            <a:endParaRPr lang="th-TH"/>
          </a:p>
        </p:txBody>
      </p:sp>
      <p:sp>
        <p:nvSpPr>
          <p:cNvPr id="56" name="Shape 54"/>
          <p:cNvSpPr/>
          <p:nvPr/>
        </p:nvSpPr>
        <p:spPr>
          <a:xfrm>
            <a:off x="4038070" y="1895780"/>
            <a:ext cx="328786" cy="229057"/>
          </a:xfrm>
          <a:prstGeom prst="line">
            <a:avLst/>
          </a:prstGeom>
          <a:noFill/>
          <a:ln w="25400">
            <a:solidFill>
              <a:srgbClr val="0A2342"/>
            </a:solidFill>
            <a:prstDash val="solid"/>
          </a:ln>
        </p:spPr>
        <p:txBody>
          <a:bodyPr/>
          <a:lstStyle/>
          <a:p>
            <a:endParaRPr lang="th-TH"/>
          </a:p>
        </p:txBody>
      </p:sp>
      <p:sp>
        <p:nvSpPr>
          <p:cNvPr id="57" name="Shape 55"/>
          <p:cNvSpPr/>
          <p:nvPr/>
        </p:nvSpPr>
        <p:spPr>
          <a:xfrm flipV="1">
            <a:off x="4366856" y="2105749"/>
            <a:ext cx="328786" cy="19088"/>
          </a:xfrm>
          <a:prstGeom prst="line">
            <a:avLst/>
          </a:prstGeom>
          <a:noFill/>
          <a:ln w="25400">
            <a:solidFill>
              <a:srgbClr val="0A2342"/>
            </a:solidFill>
            <a:prstDash val="solid"/>
          </a:ln>
        </p:spPr>
        <p:txBody>
          <a:bodyPr/>
          <a:lstStyle/>
          <a:p>
            <a:endParaRPr lang="th-TH"/>
          </a:p>
        </p:txBody>
      </p:sp>
      <p:sp>
        <p:nvSpPr>
          <p:cNvPr id="58" name="Shape 56"/>
          <p:cNvSpPr/>
          <p:nvPr/>
        </p:nvSpPr>
        <p:spPr>
          <a:xfrm flipV="1">
            <a:off x="4695643" y="2029397"/>
            <a:ext cx="328786" cy="76352"/>
          </a:xfrm>
          <a:prstGeom prst="line">
            <a:avLst/>
          </a:prstGeom>
          <a:noFill/>
          <a:ln w="25400">
            <a:solidFill>
              <a:srgbClr val="0A2342"/>
            </a:solidFill>
            <a:prstDash val="solid"/>
          </a:ln>
        </p:spPr>
        <p:txBody>
          <a:bodyPr/>
          <a:lstStyle/>
          <a:p>
            <a:endParaRPr lang="th-TH"/>
          </a:p>
        </p:txBody>
      </p:sp>
      <p:sp>
        <p:nvSpPr>
          <p:cNvPr id="59" name="Shape 57"/>
          <p:cNvSpPr/>
          <p:nvPr/>
        </p:nvSpPr>
        <p:spPr>
          <a:xfrm flipV="1">
            <a:off x="5024429" y="2010308"/>
            <a:ext cx="328786" cy="19088"/>
          </a:xfrm>
          <a:prstGeom prst="line">
            <a:avLst/>
          </a:prstGeom>
          <a:noFill/>
          <a:ln w="25400">
            <a:solidFill>
              <a:srgbClr val="0A2342"/>
            </a:solidFill>
            <a:prstDash val="solid"/>
          </a:ln>
        </p:spPr>
        <p:txBody>
          <a:bodyPr/>
          <a:lstStyle/>
          <a:p>
            <a:endParaRPr lang="th-TH"/>
          </a:p>
        </p:txBody>
      </p:sp>
      <p:sp>
        <p:nvSpPr>
          <p:cNvPr id="60" name="Shape 58"/>
          <p:cNvSpPr/>
          <p:nvPr/>
        </p:nvSpPr>
        <p:spPr>
          <a:xfrm flipV="1">
            <a:off x="5353216" y="1895780"/>
            <a:ext cx="328786" cy="114529"/>
          </a:xfrm>
          <a:prstGeom prst="line">
            <a:avLst/>
          </a:prstGeom>
          <a:noFill/>
          <a:ln w="25400">
            <a:solidFill>
              <a:srgbClr val="0A2342"/>
            </a:solidFill>
            <a:prstDash val="solid"/>
          </a:ln>
        </p:spPr>
        <p:txBody>
          <a:bodyPr/>
          <a:lstStyle/>
          <a:p>
            <a:endParaRPr lang="th-TH"/>
          </a:p>
        </p:txBody>
      </p:sp>
      <p:sp>
        <p:nvSpPr>
          <p:cNvPr id="61" name="Shape 59"/>
          <p:cNvSpPr/>
          <p:nvPr/>
        </p:nvSpPr>
        <p:spPr>
          <a:xfrm flipV="1">
            <a:off x="5682002" y="1819427"/>
            <a:ext cx="328786" cy="76352"/>
          </a:xfrm>
          <a:prstGeom prst="line">
            <a:avLst/>
          </a:prstGeom>
          <a:noFill/>
          <a:ln w="25400">
            <a:solidFill>
              <a:srgbClr val="0A2342"/>
            </a:solidFill>
            <a:prstDash val="solid"/>
          </a:ln>
        </p:spPr>
        <p:txBody>
          <a:bodyPr/>
          <a:lstStyle/>
          <a:p>
            <a:endParaRPr lang="th-TH"/>
          </a:p>
        </p:txBody>
      </p:sp>
      <p:sp>
        <p:nvSpPr>
          <p:cNvPr id="62" name="Shape 60"/>
          <p:cNvSpPr/>
          <p:nvPr/>
        </p:nvSpPr>
        <p:spPr>
          <a:xfrm flipV="1">
            <a:off x="6010789" y="1647635"/>
            <a:ext cx="328786" cy="171793"/>
          </a:xfrm>
          <a:prstGeom prst="line">
            <a:avLst/>
          </a:prstGeom>
          <a:noFill/>
          <a:ln w="25400">
            <a:solidFill>
              <a:srgbClr val="0A2342"/>
            </a:solidFill>
            <a:prstDash val="solid"/>
          </a:ln>
        </p:spPr>
        <p:txBody>
          <a:bodyPr/>
          <a:lstStyle/>
          <a:p>
            <a:endParaRPr lang="th-TH"/>
          </a:p>
        </p:txBody>
      </p:sp>
      <p:sp>
        <p:nvSpPr>
          <p:cNvPr id="63" name="Shape 61"/>
          <p:cNvSpPr/>
          <p:nvPr/>
        </p:nvSpPr>
        <p:spPr>
          <a:xfrm flipV="1">
            <a:off x="6339575" y="1456754"/>
            <a:ext cx="328786" cy="190881"/>
          </a:xfrm>
          <a:prstGeom prst="line">
            <a:avLst/>
          </a:prstGeom>
          <a:noFill/>
          <a:ln w="25400">
            <a:solidFill>
              <a:srgbClr val="0A2342"/>
            </a:solidFill>
            <a:prstDash val="solid"/>
          </a:ln>
        </p:spPr>
        <p:txBody>
          <a:bodyPr/>
          <a:lstStyle/>
          <a:p>
            <a:endParaRPr lang="th-TH"/>
          </a:p>
        </p:txBody>
      </p:sp>
      <p:sp>
        <p:nvSpPr>
          <p:cNvPr id="64" name="Shape 62"/>
          <p:cNvSpPr/>
          <p:nvPr/>
        </p:nvSpPr>
        <p:spPr>
          <a:xfrm>
            <a:off x="6668361" y="1456754"/>
            <a:ext cx="328786" cy="76352"/>
          </a:xfrm>
          <a:prstGeom prst="line">
            <a:avLst/>
          </a:prstGeom>
          <a:noFill/>
          <a:ln w="25400">
            <a:solidFill>
              <a:srgbClr val="0A2342"/>
            </a:solidFill>
            <a:prstDash val="solid"/>
          </a:ln>
        </p:spPr>
        <p:txBody>
          <a:bodyPr/>
          <a:lstStyle/>
          <a:p>
            <a:endParaRPr lang="th-TH"/>
          </a:p>
        </p:txBody>
      </p:sp>
      <p:sp>
        <p:nvSpPr>
          <p:cNvPr id="65" name="Shape 63"/>
          <p:cNvSpPr/>
          <p:nvPr/>
        </p:nvSpPr>
        <p:spPr>
          <a:xfrm>
            <a:off x="6997148" y="1533106"/>
            <a:ext cx="328786" cy="276777"/>
          </a:xfrm>
          <a:prstGeom prst="line">
            <a:avLst/>
          </a:prstGeom>
          <a:noFill/>
          <a:ln w="25400">
            <a:solidFill>
              <a:srgbClr val="0A2342"/>
            </a:solidFill>
            <a:prstDash val="solid"/>
          </a:ln>
        </p:spPr>
        <p:txBody>
          <a:bodyPr/>
          <a:lstStyle/>
          <a:p>
            <a:endParaRPr lang="th-TH"/>
          </a:p>
        </p:txBody>
      </p:sp>
      <p:sp>
        <p:nvSpPr>
          <p:cNvPr id="66" name="Shape 64"/>
          <p:cNvSpPr/>
          <p:nvPr/>
        </p:nvSpPr>
        <p:spPr>
          <a:xfrm>
            <a:off x="7325934" y="1809883"/>
            <a:ext cx="328786" cy="410394"/>
          </a:xfrm>
          <a:prstGeom prst="line">
            <a:avLst/>
          </a:prstGeom>
          <a:noFill/>
          <a:ln w="25400">
            <a:solidFill>
              <a:srgbClr val="0A2342"/>
            </a:solidFill>
            <a:prstDash val="solid"/>
          </a:ln>
        </p:spPr>
        <p:txBody>
          <a:bodyPr/>
          <a:lstStyle/>
          <a:p>
            <a:endParaRPr lang="th-TH"/>
          </a:p>
        </p:txBody>
      </p:sp>
      <p:sp>
        <p:nvSpPr>
          <p:cNvPr id="67" name="Shape 65"/>
          <p:cNvSpPr/>
          <p:nvPr/>
        </p:nvSpPr>
        <p:spPr>
          <a:xfrm>
            <a:off x="7654721" y="2220278"/>
            <a:ext cx="328786" cy="267233"/>
          </a:xfrm>
          <a:prstGeom prst="line">
            <a:avLst/>
          </a:prstGeom>
          <a:noFill/>
          <a:ln w="25400">
            <a:solidFill>
              <a:srgbClr val="0A2342"/>
            </a:solidFill>
            <a:prstDash val="solid"/>
          </a:ln>
        </p:spPr>
        <p:txBody>
          <a:bodyPr/>
          <a:lstStyle/>
          <a:p>
            <a:endParaRPr lang="th-TH"/>
          </a:p>
        </p:txBody>
      </p:sp>
      <p:sp>
        <p:nvSpPr>
          <p:cNvPr id="68" name="Shape 66"/>
          <p:cNvSpPr/>
          <p:nvPr/>
        </p:nvSpPr>
        <p:spPr>
          <a:xfrm>
            <a:off x="7983507" y="2487511"/>
            <a:ext cx="328786" cy="391306"/>
          </a:xfrm>
          <a:prstGeom prst="line">
            <a:avLst/>
          </a:prstGeom>
          <a:noFill/>
          <a:ln w="25400">
            <a:solidFill>
              <a:srgbClr val="0A2342"/>
            </a:solidFill>
            <a:prstDash val="solid"/>
          </a:ln>
        </p:spPr>
        <p:txBody>
          <a:bodyPr/>
          <a:lstStyle/>
          <a:p>
            <a:endParaRPr lang="th-TH"/>
          </a:p>
        </p:txBody>
      </p:sp>
      <p:sp>
        <p:nvSpPr>
          <p:cNvPr id="69" name="Shape 67"/>
          <p:cNvSpPr/>
          <p:nvPr/>
        </p:nvSpPr>
        <p:spPr>
          <a:xfrm>
            <a:off x="8312294" y="2878817"/>
            <a:ext cx="328786" cy="372218"/>
          </a:xfrm>
          <a:prstGeom prst="line">
            <a:avLst/>
          </a:prstGeom>
          <a:noFill/>
          <a:ln w="25400">
            <a:solidFill>
              <a:srgbClr val="0A2342"/>
            </a:solidFill>
            <a:prstDash val="solid"/>
          </a:ln>
        </p:spPr>
        <p:txBody>
          <a:bodyPr/>
          <a:lstStyle/>
          <a:p>
            <a:endParaRPr lang="th-TH"/>
          </a:p>
        </p:txBody>
      </p:sp>
      <p:sp>
        <p:nvSpPr>
          <p:cNvPr id="70" name="Shape 68"/>
          <p:cNvSpPr/>
          <p:nvPr/>
        </p:nvSpPr>
        <p:spPr>
          <a:xfrm>
            <a:off x="1078992" y="3356019"/>
            <a:ext cx="328786" cy="190881"/>
          </a:xfrm>
          <a:prstGeom prst="line">
            <a:avLst/>
          </a:prstGeom>
          <a:noFill/>
          <a:ln w="25400">
            <a:solidFill>
              <a:srgbClr val="1976D2"/>
            </a:solidFill>
            <a:prstDash val="solid"/>
          </a:ln>
        </p:spPr>
        <p:txBody>
          <a:bodyPr/>
          <a:lstStyle/>
          <a:p>
            <a:endParaRPr lang="th-TH"/>
          </a:p>
        </p:txBody>
      </p:sp>
      <p:sp>
        <p:nvSpPr>
          <p:cNvPr id="71" name="Shape 69"/>
          <p:cNvSpPr/>
          <p:nvPr/>
        </p:nvSpPr>
        <p:spPr>
          <a:xfrm>
            <a:off x="1407778" y="3546900"/>
            <a:ext cx="328786" cy="114529"/>
          </a:xfrm>
          <a:prstGeom prst="line">
            <a:avLst/>
          </a:prstGeom>
          <a:noFill/>
          <a:ln w="25400">
            <a:solidFill>
              <a:srgbClr val="1976D2"/>
            </a:solidFill>
            <a:prstDash val="solid"/>
          </a:ln>
        </p:spPr>
        <p:txBody>
          <a:bodyPr/>
          <a:lstStyle/>
          <a:p>
            <a:endParaRPr lang="th-TH"/>
          </a:p>
        </p:txBody>
      </p:sp>
      <p:sp>
        <p:nvSpPr>
          <p:cNvPr id="72" name="Shape 70"/>
          <p:cNvSpPr/>
          <p:nvPr/>
        </p:nvSpPr>
        <p:spPr>
          <a:xfrm>
            <a:off x="1736565" y="3661429"/>
            <a:ext cx="328786" cy="66808"/>
          </a:xfrm>
          <a:prstGeom prst="line">
            <a:avLst/>
          </a:prstGeom>
          <a:noFill/>
          <a:ln w="25400">
            <a:solidFill>
              <a:srgbClr val="1976D2"/>
            </a:solidFill>
            <a:prstDash val="solid"/>
          </a:ln>
        </p:spPr>
        <p:txBody>
          <a:bodyPr/>
          <a:lstStyle/>
          <a:p>
            <a:endParaRPr lang="th-TH"/>
          </a:p>
        </p:txBody>
      </p:sp>
      <p:sp>
        <p:nvSpPr>
          <p:cNvPr id="73" name="Shape 71"/>
          <p:cNvSpPr/>
          <p:nvPr/>
        </p:nvSpPr>
        <p:spPr>
          <a:xfrm>
            <a:off x="2065351" y="3728237"/>
            <a:ext cx="328786" cy="914"/>
          </a:xfrm>
          <a:prstGeom prst="line">
            <a:avLst/>
          </a:prstGeom>
          <a:noFill/>
          <a:ln w="25400">
            <a:solidFill>
              <a:srgbClr val="1976D2"/>
            </a:solidFill>
            <a:prstDash val="solid"/>
          </a:ln>
        </p:spPr>
        <p:txBody>
          <a:bodyPr/>
          <a:lstStyle/>
          <a:p>
            <a:endParaRPr lang="th-TH"/>
          </a:p>
        </p:txBody>
      </p:sp>
      <p:sp>
        <p:nvSpPr>
          <p:cNvPr id="74" name="Shape 72"/>
          <p:cNvSpPr/>
          <p:nvPr/>
        </p:nvSpPr>
        <p:spPr>
          <a:xfrm flipV="1">
            <a:off x="2394138" y="3642341"/>
            <a:ext cx="328786" cy="85896"/>
          </a:xfrm>
          <a:prstGeom prst="line">
            <a:avLst/>
          </a:prstGeom>
          <a:noFill/>
          <a:ln w="25400">
            <a:solidFill>
              <a:srgbClr val="1976D2"/>
            </a:solidFill>
            <a:prstDash val="solid"/>
          </a:ln>
        </p:spPr>
        <p:txBody>
          <a:bodyPr/>
          <a:lstStyle/>
          <a:p>
            <a:endParaRPr lang="th-TH"/>
          </a:p>
        </p:txBody>
      </p:sp>
      <p:sp>
        <p:nvSpPr>
          <p:cNvPr id="75" name="Shape 73"/>
          <p:cNvSpPr/>
          <p:nvPr/>
        </p:nvSpPr>
        <p:spPr>
          <a:xfrm flipV="1">
            <a:off x="2722924" y="3441916"/>
            <a:ext cx="328786" cy="200425"/>
          </a:xfrm>
          <a:prstGeom prst="line">
            <a:avLst/>
          </a:prstGeom>
          <a:noFill/>
          <a:ln w="25400">
            <a:solidFill>
              <a:srgbClr val="1976D2"/>
            </a:solidFill>
            <a:prstDash val="solid"/>
          </a:ln>
        </p:spPr>
        <p:txBody>
          <a:bodyPr/>
          <a:lstStyle/>
          <a:p>
            <a:endParaRPr lang="th-TH"/>
          </a:p>
        </p:txBody>
      </p:sp>
      <p:sp>
        <p:nvSpPr>
          <p:cNvPr id="76" name="Shape 74"/>
          <p:cNvSpPr/>
          <p:nvPr/>
        </p:nvSpPr>
        <p:spPr>
          <a:xfrm flipV="1">
            <a:off x="3051711" y="3241491"/>
            <a:ext cx="328786" cy="200425"/>
          </a:xfrm>
          <a:prstGeom prst="line">
            <a:avLst/>
          </a:prstGeom>
          <a:noFill/>
          <a:ln w="25400">
            <a:solidFill>
              <a:srgbClr val="1976D2"/>
            </a:solidFill>
            <a:prstDash val="solid"/>
          </a:ln>
        </p:spPr>
        <p:txBody>
          <a:bodyPr/>
          <a:lstStyle/>
          <a:p>
            <a:endParaRPr lang="th-TH"/>
          </a:p>
        </p:txBody>
      </p:sp>
      <p:sp>
        <p:nvSpPr>
          <p:cNvPr id="77" name="Shape 75"/>
          <p:cNvSpPr/>
          <p:nvPr/>
        </p:nvSpPr>
        <p:spPr>
          <a:xfrm flipV="1">
            <a:off x="3380497" y="2974257"/>
            <a:ext cx="328786" cy="267233"/>
          </a:xfrm>
          <a:prstGeom prst="line">
            <a:avLst/>
          </a:prstGeom>
          <a:noFill/>
          <a:ln w="25400">
            <a:solidFill>
              <a:srgbClr val="1976D2"/>
            </a:solidFill>
            <a:prstDash val="solid"/>
          </a:ln>
        </p:spPr>
        <p:txBody>
          <a:bodyPr/>
          <a:lstStyle/>
          <a:p>
            <a:endParaRPr lang="th-TH"/>
          </a:p>
        </p:txBody>
      </p:sp>
      <p:sp>
        <p:nvSpPr>
          <p:cNvPr id="78" name="Shape 76"/>
          <p:cNvSpPr/>
          <p:nvPr/>
        </p:nvSpPr>
        <p:spPr>
          <a:xfrm flipV="1">
            <a:off x="3709283" y="2678392"/>
            <a:ext cx="328786" cy="295866"/>
          </a:xfrm>
          <a:prstGeom prst="line">
            <a:avLst/>
          </a:prstGeom>
          <a:noFill/>
          <a:ln w="25400">
            <a:solidFill>
              <a:srgbClr val="1976D2"/>
            </a:solidFill>
            <a:prstDash val="solid"/>
          </a:ln>
        </p:spPr>
        <p:txBody>
          <a:bodyPr/>
          <a:lstStyle/>
          <a:p>
            <a:endParaRPr lang="th-TH"/>
          </a:p>
        </p:txBody>
      </p:sp>
      <p:sp>
        <p:nvSpPr>
          <p:cNvPr id="79" name="Shape 77"/>
          <p:cNvSpPr/>
          <p:nvPr/>
        </p:nvSpPr>
        <p:spPr>
          <a:xfrm flipV="1">
            <a:off x="4038070" y="2411159"/>
            <a:ext cx="328786" cy="267233"/>
          </a:xfrm>
          <a:prstGeom prst="line">
            <a:avLst/>
          </a:prstGeom>
          <a:noFill/>
          <a:ln w="25400">
            <a:solidFill>
              <a:srgbClr val="1976D2"/>
            </a:solidFill>
            <a:prstDash val="solid"/>
          </a:ln>
        </p:spPr>
        <p:txBody>
          <a:bodyPr/>
          <a:lstStyle/>
          <a:p>
            <a:endParaRPr lang="th-TH"/>
          </a:p>
        </p:txBody>
      </p:sp>
      <p:sp>
        <p:nvSpPr>
          <p:cNvPr id="80" name="Shape 78"/>
          <p:cNvSpPr/>
          <p:nvPr/>
        </p:nvSpPr>
        <p:spPr>
          <a:xfrm flipV="1">
            <a:off x="4366856" y="2201189"/>
            <a:ext cx="328786" cy="209969"/>
          </a:xfrm>
          <a:prstGeom prst="line">
            <a:avLst/>
          </a:prstGeom>
          <a:noFill/>
          <a:ln w="25400">
            <a:solidFill>
              <a:srgbClr val="1976D2"/>
            </a:solidFill>
            <a:prstDash val="solid"/>
          </a:ln>
        </p:spPr>
        <p:txBody>
          <a:bodyPr/>
          <a:lstStyle/>
          <a:p>
            <a:endParaRPr lang="th-TH"/>
          </a:p>
        </p:txBody>
      </p:sp>
      <p:sp>
        <p:nvSpPr>
          <p:cNvPr id="81" name="Shape 79"/>
          <p:cNvSpPr/>
          <p:nvPr/>
        </p:nvSpPr>
        <p:spPr>
          <a:xfrm flipV="1">
            <a:off x="4695643" y="2115293"/>
            <a:ext cx="328786" cy="85896"/>
          </a:xfrm>
          <a:prstGeom prst="line">
            <a:avLst/>
          </a:prstGeom>
          <a:noFill/>
          <a:ln w="25400">
            <a:solidFill>
              <a:srgbClr val="1976D2"/>
            </a:solidFill>
            <a:prstDash val="solid"/>
          </a:ln>
        </p:spPr>
        <p:txBody>
          <a:bodyPr/>
          <a:lstStyle/>
          <a:p>
            <a:endParaRPr lang="th-TH"/>
          </a:p>
        </p:txBody>
      </p:sp>
      <p:sp>
        <p:nvSpPr>
          <p:cNvPr id="82" name="Shape 80"/>
          <p:cNvSpPr/>
          <p:nvPr/>
        </p:nvSpPr>
        <p:spPr>
          <a:xfrm flipV="1">
            <a:off x="5024429" y="2105749"/>
            <a:ext cx="328786" cy="9544"/>
          </a:xfrm>
          <a:prstGeom prst="line">
            <a:avLst/>
          </a:prstGeom>
          <a:noFill/>
          <a:ln w="25400">
            <a:solidFill>
              <a:srgbClr val="1976D2"/>
            </a:solidFill>
            <a:prstDash val="solid"/>
          </a:ln>
        </p:spPr>
        <p:txBody>
          <a:bodyPr/>
          <a:lstStyle/>
          <a:p>
            <a:endParaRPr lang="th-TH"/>
          </a:p>
        </p:txBody>
      </p:sp>
      <p:sp>
        <p:nvSpPr>
          <p:cNvPr id="83" name="Shape 81"/>
          <p:cNvSpPr/>
          <p:nvPr/>
        </p:nvSpPr>
        <p:spPr>
          <a:xfrm>
            <a:off x="5353216" y="2105749"/>
            <a:ext cx="328786" cy="9544"/>
          </a:xfrm>
          <a:prstGeom prst="line">
            <a:avLst/>
          </a:prstGeom>
          <a:noFill/>
          <a:ln w="25400">
            <a:solidFill>
              <a:srgbClr val="1976D2"/>
            </a:solidFill>
            <a:prstDash val="solid"/>
          </a:ln>
        </p:spPr>
        <p:txBody>
          <a:bodyPr/>
          <a:lstStyle/>
          <a:p>
            <a:endParaRPr lang="th-TH"/>
          </a:p>
        </p:txBody>
      </p:sp>
      <p:sp>
        <p:nvSpPr>
          <p:cNvPr id="84" name="Shape 82"/>
          <p:cNvSpPr/>
          <p:nvPr/>
        </p:nvSpPr>
        <p:spPr>
          <a:xfrm>
            <a:off x="5682002" y="2115293"/>
            <a:ext cx="328786" cy="104985"/>
          </a:xfrm>
          <a:prstGeom prst="line">
            <a:avLst/>
          </a:prstGeom>
          <a:noFill/>
          <a:ln w="25400">
            <a:solidFill>
              <a:srgbClr val="1976D2"/>
            </a:solidFill>
            <a:prstDash val="solid"/>
          </a:ln>
        </p:spPr>
        <p:txBody>
          <a:bodyPr/>
          <a:lstStyle/>
          <a:p>
            <a:endParaRPr lang="th-TH"/>
          </a:p>
        </p:txBody>
      </p:sp>
      <p:sp>
        <p:nvSpPr>
          <p:cNvPr id="85" name="Shape 83"/>
          <p:cNvSpPr/>
          <p:nvPr/>
        </p:nvSpPr>
        <p:spPr>
          <a:xfrm>
            <a:off x="6010789" y="2220278"/>
            <a:ext cx="328786" cy="95441"/>
          </a:xfrm>
          <a:prstGeom prst="line">
            <a:avLst/>
          </a:prstGeom>
          <a:noFill/>
          <a:ln w="25400">
            <a:solidFill>
              <a:srgbClr val="1976D2"/>
            </a:solidFill>
            <a:prstDash val="solid"/>
          </a:ln>
        </p:spPr>
        <p:txBody>
          <a:bodyPr/>
          <a:lstStyle/>
          <a:p>
            <a:endParaRPr lang="th-TH"/>
          </a:p>
        </p:txBody>
      </p:sp>
      <p:sp>
        <p:nvSpPr>
          <p:cNvPr id="86" name="Shape 84"/>
          <p:cNvSpPr/>
          <p:nvPr/>
        </p:nvSpPr>
        <p:spPr>
          <a:xfrm>
            <a:off x="6339575" y="2315718"/>
            <a:ext cx="328786" cy="95441"/>
          </a:xfrm>
          <a:prstGeom prst="line">
            <a:avLst/>
          </a:prstGeom>
          <a:noFill/>
          <a:ln w="25400">
            <a:solidFill>
              <a:srgbClr val="1976D2"/>
            </a:solidFill>
            <a:prstDash val="solid"/>
          </a:ln>
        </p:spPr>
        <p:txBody>
          <a:bodyPr/>
          <a:lstStyle/>
          <a:p>
            <a:endParaRPr lang="th-TH"/>
          </a:p>
        </p:txBody>
      </p:sp>
      <p:sp>
        <p:nvSpPr>
          <p:cNvPr id="87" name="Shape 85"/>
          <p:cNvSpPr/>
          <p:nvPr/>
        </p:nvSpPr>
        <p:spPr>
          <a:xfrm>
            <a:off x="6668361" y="2411159"/>
            <a:ext cx="328786" cy="76352"/>
          </a:xfrm>
          <a:prstGeom prst="line">
            <a:avLst/>
          </a:prstGeom>
          <a:noFill/>
          <a:ln w="25400">
            <a:solidFill>
              <a:srgbClr val="1976D2"/>
            </a:solidFill>
            <a:prstDash val="solid"/>
          </a:ln>
        </p:spPr>
        <p:txBody>
          <a:bodyPr/>
          <a:lstStyle/>
          <a:p>
            <a:endParaRPr lang="th-TH"/>
          </a:p>
        </p:txBody>
      </p:sp>
      <p:sp>
        <p:nvSpPr>
          <p:cNvPr id="88" name="Shape 86"/>
          <p:cNvSpPr/>
          <p:nvPr/>
        </p:nvSpPr>
        <p:spPr>
          <a:xfrm>
            <a:off x="6997148" y="2487511"/>
            <a:ext cx="328786" cy="114529"/>
          </a:xfrm>
          <a:prstGeom prst="line">
            <a:avLst/>
          </a:prstGeom>
          <a:noFill/>
          <a:ln w="25400">
            <a:solidFill>
              <a:srgbClr val="1976D2"/>
            </a:solidFill>
            <a:prstDash val="solid"/>
          </a:ln>
        </p:spPr>
        <p:txBody>
          <a:bodyPr/>
          <a:lstStyle/>
          <a:p>
            <a:endParaRPr lang="th-TH"/>
          </a:p>
        </p:txBody>
      </p:sp>
      <p:sp>
        <p:nvSpPr>
          <p:cNvPr id="89" name="Shape 87"/>
          <p:cNvSpPr/>
          <p:nvPr/>
        </p:nvSpPr>
        <p:spPr>
          <a:xfrm>
            <a:off x="7325934" y="2602040"/>
            <a:ext cx="328786" cy="171793"/>
          </a:xfrm>
          <a:prstGeom prst="line">
            <a:avLst/>
          </a:prstGeom>
          <a:noFill/>
          <a:ln w="25400">
            <a:solidFill>
              <a:srgbClr val="1976D2"/>
            </a:solidFill>
            <a:prstDash val="solid"/>
          </a:ln>
        </p:spPr>
        <p:txBody>
          <a:bodyPr/>
          <a:lstStyle/>
          <a:p>
            <a:endParaRPr lang="th-TH"/>
          </a:p>
        </p:txBody>
      </p:sp>
      <p:sp>
        <p:nvSpPr>
          <p:cNvPr id="90" name="Shape 88"/>
          <p:cNvSpPr/>
          <p:nvPr/>
        </p:nvSpPr>
        <p:spPr>
          <a:xfrm>
            <a:off x="7654721" y="2773832"/>
            <a:ext cx="328786" cy="209969"/>
          </a:xfrm>
          <a:prstGeom prst="line">
            <a:avLst/>
          </a:prstGeom>
          <a:noFill/>
          <a:ln w="25400">
            <a:solidFill>
              <a:srgbClr val="1976D2"/>
            </a:solidFill>
            <a:prstDash val="solid"/>
          </a:ln>
        </p:spPr>
        <p:txBody>
          <a:bodyPr/>
          <a:lstStyle/>
          <a:p>
            <a:endParaRPr lang="th-TH"/>
          </a:p>
        </p:txBody>
      </p:sp>
      <p:sp>
        <p:nvSpPr>
          <p:cNvPr id="91" name="Shape 89"/>
          <p:cNvSpPr/>
          <p:nvPr/>
        </p:nvSpPr>
        <p:spPr>
          <a:xfrm>
            <a:off x="7983507" y="2983802"/>
            <a:ext cx="328786" cy="181337"/>
          </a:xfrm>
          <a:prstGeom prst="line">
            <a:avLst/>
          </a:prstGeom>
          <a:noFill/>
          <a:ln w="25400">
            <a:solidFill>
              <a:srgbClr val="1976D2"/>
            </a:solidFill>
            <a:prstDash val="solid"/>
          </a:ln>
        </p:spPr>
        <p:txBody>
          <a:bodyPr/>
          <a:lstStyle/>
          <a:p>
            <a:endParaRPr lang="th-TH"/>
          </a:p>
        </p:txBody>
      </p:sp>
      <p:sp>
        <p:nvSpPr>
          <p:cNvPr id="92" name="Shape 90"/>
          <p:cNvSpPr/>
          <p:nvPr/>
        </p:nvSpPr>
        <p:spPr>
          <a:xfrm>
            <a:off x="8312294" y="3165138"/>
            <a:ext cx="328786" cy="124073"/>
          </a:xfrm>
          <a:prstGeom prst="line">
            <a:avLst/>
          </a:prstGeom>
          <a:noFill/>
          <a:ln w="25400">
            <a:solidFill>
              <a:srgbClr val="1976D2"/>
            </a:solidFill>
            <a:prstDash val="solid"/>
          </a:ln>
        </p:spPr>
        <p:txBody>
          <a:bodyPr/>
          <a:lstStyle/>
          <a:p>
            <a:endParaRPr lang="th-TH"/>
          </a:p>
        </p:txBody>
      </p:sp>
      <p:sp>
        <p:nvSpPr>
          <p:cNvPr id="93" name="Text 91"/>
          <p:cNvSpPr/>
          <p:nvPr/>
        </p:nvSpPr>
        <p:spPr>
          <a:xfrm>
            <a:off x="3389243" y="1467155"/>
            <a:ext cx="731520" cy="201168"/>
          </a:xfrm>
          <a:prstGeom prst="rect">
            <a:avLst/>
          </a:prstGeom>
          <a:noFill/>
          <a:ln/>
        </p:spPr>
        <p:txBody>
          <a:bodyPr wrap="square" lIns="0" tIns="0" rIns="0" bIns="0" rtlCol="0" anchor="ctr"/>
          <a:lstStyle/>
          <a:p>
            <a:pPr marL="0" indent="0" algn="ctr">
              <a:buNone/>
            </a:pPr>
            <a:r>
              <a:rPr lang="en-US" sz="800" b="1" dirty="0">
                <a:solidFill>
                  <a:srgbClr val="0A2342"/>
                </a:solidFill>
                <a:latin typeface="Calibri" pitchFamily="34" charset="0"/>
                <a:ea typeface="Calibri" pitchFamily="34" charset="-122"/>
                <a:cs typeface="Calibri" pitchFamily="34" charset="-120"/>
              </a:rPr>
              <a:t>AM Peak</a:t>
            </a:r>
            <a:endParaRPr lang="en-US" sz="800" dirty="0"/>
          </a:p>
        </p:txBody>
      </p:sp>
      <p:sp>
        <p:nvSpPr>
          <p:cNvPr id="94" name="Text 92"/>
          <p:cNvSpPr/>
          <p:nvPr/>
        </p:nvSpPr>
        <p:spPr>
          <a:xfrm>
            <a:off x="6348321" y="1219010"/>
            <a:ext cx="731520" cy="201168"/>
          </a:xfrm>
          <a:prstGeom prst="rect">
            <a:avLst/>
          </a:prstGeom>
          <a:noFill/>
          <a:ln/>
        </p:spPr>
        <p:txBody>
          <a:bodyPr wrap="square" lIns="0" tIns="0" rIns="0" bIns="0" rtlCol="0" anchor="ctr"/>
          <a:lstStyle/>
          <a:p>
            <a:pPr marL="0" indent="0" algn="ctr">
              <a:buNone/>
            </a:pPr>
            <a:r>
              <a:rPr lang="en-US" sz="800" b="1" dirty="0">
                <a:solidFill>
                  <a:srgbClr val="0A2342"/>
                </a:solidFill>
                <a:latin typeface="Calibri" pitchFamily="34" charset="0"/>
                <a:ea typeface="Calibri" pitchFamily="34" charset="-122"/>
                <a:cs typeface="Calibri" pitchFamily="34" charset="-120"/>
              </a:rPr>
              <a:t>PM Peak</a:t>
            </a:r>
            <a:endParaRPr lang="en-US" sz="800" dirty="0"/>
          </a:p>
        </p:txBody>
      </p:sp>
      <p:sp>
        <p:nvSpPr>
          <p:cNvPr id="95" name="Shape 93"/>
          <p:cNvSpPr/>
          <p:nvPr/>
        </p:nvSpPr>
        <p:spPr>
          <a:xfrm>
            <a:off x="1097280" y="4608576"/>
            <a:ext cx="347472" cy="914"/>
          </a:xfrm>
          <a:prstGeom prst="line">
            <a:avLst/>
          </a:prstGeom>
          <a:noFill/>
          <a:ln w="25400">
            <a:solidFill>
              <a:srgbClr val="0A2342"/>
            </a:solidFill>
            <a:prstDash val="solid"/>
          </a:ln>
        </p:spPr>
        <p:txBody>
          <a:bodyPr/>
          <a:lstStyle/>
          <a:p>
            <a:endParaRPr lang="th-TH"/>
          </a:p>
        </p:txBody>
      </p:sp>
      <p:sp>
        <p:nvSpPr>
          <p:cNvPr id="96" name="Text 94"/>
          <p:cNvSpPr/>
          <p:nvPr/>
        </p:nvSpPr>
        <p:spPr>
          <a:xfrm>
            <a:off x="1508760" y="4517136"/>
            <a:ext cx="2103120" cy="201168"/>
          </a:xfrm>
          <a:prstGeom prst="rect">
            <a:avLst/>
          </a:prstGeom>
          <a:noFill/>
          <a:ln/>
        </p:spPr>
        <p:txBody>
          <a:bodyPr wrap="square" lIns="0" tIns="0" rIns="0" bIns="0" rtlCol="0" anchor="ctr"/>
          <a:lstStyle/>
          <a:p>
            <a:pPr marL="0" indent="0">
              <a:buNone/>
            </a:pPr>
            <a:r>
              <a:rPr lang="en-US" sz="950" dirty="0">
                <a:solidFill>
                  <a:srgbClr val="37474F"/>
                </a:solidFill>
                <a:latin typeface="Calibri" pitchFamily="34" charset="0"/>
                <a:ea typeface="Calibri" pitchFamily="34" charset="-122"/>
                <a:cs typeface="Calibri" pitchFamily="34" charset="-120"/>
              </a:rPr>
              <a:t>Weekday</a:t>
            </a:r>
            <a:endParaRPr lang="en-US" sz="950" dirty="0"/>
          </a:p>
        </p:txBody>
      </p:sp>
      <p:sp>
        <p:nvSpPr>
          <p:cNvPr id="97" name="Shape 95"/>
          <p:cNvSpPr/>
          <p:nvPr/>
        </p:nvSpPr>
        <p:spPr>
          <a:xfrm>
            <a:off x="3703320" y="4608576"/>
            <a:ext cx="347472" cy="914"/>
          </a:xfrm>
          <a:prstGeom prst="line">
            <a:avLst/>
          </a:prstGeom>
          <a:noFill/>
          <a:ln w="25400">
            <a:solidFill>
              <a:srgbClr val="1976D2"/>
            </a:solidFill>
            <a:prstDash val="solid"/>
          </a:ln>
        </p:spPr>
        <p:txBody>
          <a:bodyPr/>
          <a:lstStyle/>
          <a:p>
            <a:endParaRPr lang="th-TH"/>
          </a:p>
        </p:txBody>
      </p:sp>
      <p:sp>
        <p:nvSpPr>
          <p:cNvPr id="98" name="Text 96"/>
          <p:cNvSpPr/>
          <p:nvPr/>
        </p:nvSpPr>
        <p:spPr>
          <a:xfrm>
            <a:off x="4114800" y="4517136"/>
            <a:ext cx="2103120" cy="201168"/>
          </a:xfrm>
          <a:prstGeom prst="rect">
            <a:avLst/>
          </a:prstGeom>
          <a:noFill/>
          <a:ln/>
        </p:spPr>
        <p:txBody>
          <a:bodyPr wrap="square" lIns="0" tIns="0" rIns="0" bIns="0" rtlCol="0" anchor="ctr"/>
          <a:lstStyle/>
          <a:p>
            <a:pPr marL="0" indent="0">
              <a:buNone/>
            </a:pPr>
            <a:r>
              <a:rPr lang="en-US" sz="950" dirty="0">
                <a:solidFill>
                  <a:srgbClr val="37474F"/>
                </a:solidFill>
                <a:latin typeface="Calibri" pitchFamily="34" charset="0"/>
                <a:ea typeface="Calibri" pitchFamily="34" charset="-122"/>
                <a:cs typeface="Calibri" pitchFamily="34" charset="-120"/>
              </a:rPr>
              <a:t>Weekend</a:t>
            </a:r>
            <a:endParaRPr lang="en-US" sz="950" dirty="0"/>
          </a:p>
        </p:txBody>
      </p:sp>
      <p:sp>
        <p:nvSpPr>
          <p:cNvPr id="99" name="Shape 97"/>
          <p:cNvSpPr/>
          <p:nvPr/>
        </p:nvSpPr>
        <p:spPr>
          <a:xfrm>
            <a:off x="6309360" y="4608576"/>
            <a:ext cx="347472" cy="914"/>
          </a:xfrm>
          <a:prstGeom prst="line">
            <a:avLst/>
          </a:prstGeom>
          <a:noFill/>
          <a:ln w="19050">
            <a:solidFill>
              <a:srgbClr val="D32F2F"/>
            </a:solidFill>
            <a:prstDash val="solid"/>
          </a:ln>
        </p:spPr>
        <p:txBody>
          <a:bodyPr/>
          <a:lstStyle/>
          <a:p>
            <a:endParaRPr lang="th-TH"/>
          </a:p>
        </p:txBody>
      </p:sp>
      <p:sp>
        <p:nvSpPr>
          <p:cNvPr id="100" name="Text 98"/>
          <p:cNvSpPr/>
          <p:nvPr/>
        </p:nvSpPr>
        <p:spPr>
          <a:xfrm>
            <a:off x="6720840" y="4517136"/>
            <a:ext cx="2103120" cy="201168"/>
          </a:xfrm>
          <a:prstGeom prst="rect">
            <a:avLst/>
          </a:prstGeom>
          <a:noFill/>
          <a:ln/>
        </p:spPr>
        <p:txBody>
          <a:bodyPr wrap="square" lIns="0" tIns="0" rIns="0" bIns="0" rtlCol="0" anchor="ctr"/>
          <a:lstStyle/>
          <a:p>
            <a:pPr marL="0" indent="0">
              <a:buNone/>
            </a:pPr>
            <a:r>
              <a:rPr lang="en-US" sz="950" dirty="0">
                <a:solidFill>
                  <a:srgbClr val="37474F"/>
                </a:solidFill>
                <a:latin typeface="Calibri" pitchFamily="34" charset="0"/>
                <a:ea typeface="Calibri" pitchFamily="34" charset="-122"/>
                <a:cs typeface="Calibri" pitchFamily="34" charset="-120"/>
              </a:rPr>
              <a:t>Congestion threshold (2.77M)</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A2342"/>
          </a:solidFill>
          <a:ln/>
        </p:spPr>
        <p:txBody>
          <a:bodyPr/>
          <a:lstStyle/>
          <a:p>
            <a:endParaRPr lang="th-TH"/>
          </a:p>
        </p:txBody>
      </p:sp>
      <p:sp>
        <p:nvSpPr>
          <p:cNvPr id="3" name="Shape 1"/>
          <p:cNvSpPr/>
          <p:nvPr/>
        </p:nvSpPr>
        <p:spPr>
          <a:xfrm>
            <a:off x="0" y="960120"/>
            <a:ext cx="9144000" cy="41148"/>
          </a:xfrm>
          <a:prstGeom prst="rect">
            <a:avLst/>
          </a:prstGeom>
          <a:solidFill>
            <a:srgbClr val="1976D2"/>
          </a:solidFill>
          <a:ln/>
        </p:spPr>
        <p:txBody>
          <a:bodyPr/>
          <a:lstStyle/>
          <a:p>
            <a:endParaRPr lang="th-TH"/>
          </a:p>
        </p:txBody>
      </p:sp>
      <p:sp>
        <p:nvSpPr>
          <p:cNvPr id="4" name="Text 2"/>
          <p:cNvSpPr/>
          <p:nvPr/>
        </p:nvSpPr>
        <p:spPr>
          <a:xfrm>
            <a:off x="411480" y="91440"/>
            <a:ext cx="7955280" cy="502920"/>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EDA — Traffic Flow Heatmap  (Day × Hour)</a:t>
            </a:r>
            <a:endParaRPr lang="en-US" sz="2000" dirty="0"/>
          </a:p>
        </p:txBody>
      </p:sp>
      <p:sp>
        <p:nvSpPr>
          <p:cNvPr id="5" name="Text 3"/>
          <p:cNvSpPr/>
          <p:nvPr/>
        </p:nvSpPr>
        <p:spPr>
          <a:xfrm>
            <a:off x="411480" y="576072"/>
            <a:ext cx="8046720" cy="320040"/>
          </a:xfrm>
          <a:prstGeom prst="rect">
            <a:avLst/>
          </a:prstGeom>
          <a:noFill/>
          <a:ln/>
        </p:spPr>
        <p:txBody>
          <a:bodyPr wrap="square" lIns="0" tIns="0" rIns="0" bIns="0" rtlCol="0" anchor="ctr"/>
          <a:lstStyle/>
          <a:p>
            <a:pPr marL="0" indent="0">
              <a:buNone/>
            </a:pPr>
            <a:r>
              <a:rPr lang="en-US" sz="1100" dirty="0">
                <a:solidFill>
                  <a:srgbClr val="BBDEFB"/>
                </a:solidFill>
                <a:latin typeface="Calibri" pitchFamily="34" charset="0"/>
                <a:ea typeface="Calibri" pitchFamily="34" charset="-122"/>
                <a:cs typeface="Calibri" pitchFamily="34" charset="-120"/>
              </a:rPr>
              <a:t>Darker blue = higher average flow · Friday PM shows the highest congestion of the week</a:t>
            </a:r>
            <a:endParaRPr lang="en-US" sz="1100" dirty="0"/>
          </a:p>
        </p:txBody>
      </p:sp>
      <p:sp>
        <p:nvSpPr>
          <p:cNvPr id="6" name="Shape 4"/>
          <p:cNvSpPr/>
          <p:nvPr/>
        </p:nvSpPr>
        <p:spPr>
          <a:xfrm>
            <a:off x="8641080" y="201168"/>
            <a:ext cx="347472" cy="347472"/>
          </a:xfrm>
          <a:prstGeom prst="ellipse">
            <a:avLst/>
          </a:prstGeom>
          <a:solidFill>
            <a:srgbClr val="1976D2"/>
          </a:solidFill>
          <a:ln/>
        </p:spPr>
        <p:txBody>
          <a:bodyPr/>
          <a:lstStyle/>
          <a:p>
            <a:endParaRPr lang="th-TH"/>
          </a:p>
        </p:txBody>
      </p:sp>
      <p:sp>
        <p:nvSpPr>
          <p:cNvPr id="7" name="Shape 5"/>
          <p:cNvSpPr/>
          <p:nvPr/>
        </p:nvSpPr>
        <p:spPr>
          <a:xfrm>
            <a:off x="0" y="4850892"/>
            <a:ext cx="9144000" cy="292608"/>
          </a:xfrm>
          <a:prstGeom prst="rect">
            <a:avLst/>
          </a:prstGeom>
          <a:solidFill>
            <a:srgbClr val="E3F0FF"/>
          </a:solidFill>
          <a:ln/>
        </p:spPr>
        <p:txBody>
          <a:bodyPr/>
          <a:lstStyle/>
          <a:p>
            <a:endParaRPr lang="th-TH"/>
          </a:p>
        </p:txBody>
      </p:sp>
      <p:sp>
        <p:nvSpPr>
          <p:cNvPr id="8" name="Text 6"/>
          <p:cNvSpPr/>
          <p:nvPr/>
        </p:nvSpPr>
        <p:spPr>
          <a:xfrm>
            <a:off x="320040" y="4869180"/>
            <a:ext cx="7315200" cy="256032"/>
          </a:xfrm>
          <a:prstGeom prst="rect">
            <a:avLst/>
          </a:prstGeom>
          <a:noFill/>
          <a:ln/>
        </p:spPr>
        <p:txBody>
          <a:bodyPr wrap="square" lIns="0" tIns="0" rIns="0" bIns="0" rtlCol="0" anchor="ctr"/>
          <a:lstStyle/>
          <a:p>
            <a:pPr marL="0" indent="0">
              <a:buNone/>
            </a:pPr>
            <a:r>
              <a:rPr lang="en-US" sz="850" dirty="0">
                <a:solidFill>
                  <a:srgbClr val="607D8B"/>
                </a:solidFill>
                <a:latin typeface="Calibri" pitchFamily="34" charset="0"/>
                <a:ea typeface="Calibri" pitchFamily="34" charset="-122"/>
                <a:cs typeface="Calibri" pitchFamily="34" charset="-120"/>
              </a:rPr>
              <a:t>FlowShift  |  Urban Traffic &amp; Transit Demand — Los Angeles 2021</a:t>
            </a:r>
            <a:endParaRPr lang="en-US" sz="850" dirty="0"/>
          </a:p>
        </p:txBody>
      </p:sp>
      <p:sp>
        <p:nvSpPr>
          <p:cNvPr id="9" name="Text 7"/>
          <p:cNvSpPr/>
          <p:nvPr/>
        </p:nvSpPr>
        <p:spPr>
          <a:xfrm>
            <a:off x="8503920" y="4869180"/>
            <a:ext cx="502920" cy="256032"/>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6 / 15</a:t>
            </a:r>
            <a:endParaRPr lang="en-US" sz="850" dirty="0"/>
          </a:p>
        </p:txBody>
      </p:sp>
      <p:sp>
        <p:nvSpPr>
          <p:cNvPr id="10" name="Text 8"/>
          <p:cNvSpPr/>
          <p:nvPr/>
        </p:nvSpPr>
        <p:spPr>
          <a:xfrm>
            <a:off x="73152" y="1173045"/>
            <a:ext cx="841248" cy="282158"/>
          </a:xfrm>
          <a:prstGeom prst="rect">
            <a:avLst/>
          </a:prstGeom>
          <a:noFill/>
          <a:ln/>
        </p:spPr>
        <p:txBody>
          <a:bodyPr wrap="square" lIns="0" tIns="0" rIns="0" bIns="0" rtlCol="0" anchor="ctr"/>
          <a:lstStyle/>
          <a:p>
            <a:pPr marL="0" indent="0" algn="r">
              <a:buNone/>
            </a:pPr>
            <a:r>
              <a:rPr lang="en-US" sz="950" b="1" dirty="0">
                <a:solidFill>
                  <a:srgbClr val="37474F"/>
                </a:solidFill>
                <a:latin typeface="Calibri" pitchFamily="34" charset="0"/>
                <a:ea typeface="Calibri" pitchFamily="34" charset="-122"/>
                <a:cs typeface="Calibri" pitchFamily="34" charset="-120"/>
              </a:rPr>
              <a:t>Mon</a:t>
            </a:r>
            <a:endParaRPr lang="en-US" sz="950" dirty="0"/>
          </a:p>
        </p:txBody>
      </p:sp>
      <p:sp>
        <p:nvSpPr>
          <p:cNvPr id="11" name="Text 9"/>
          <p:cNvSpPr/>
          <p:nvPr/>
        </p:nvSpPr>
        <p:spPr>
          <a:xfrm>
            <a:off x="73152" y="1643307"/>
            <a:ext cx="841248" cy="282158"/>
          </a:xfrm>
          <a:prstGeom prst="rect">
            <a:avLst/>
          </a:prstGeom>
          <a:noFill/>
          <a:ln/>
        </p:spPr>
        <p:txBody>
          <a:bodyPr wrap="square" lIns="0" tIns="0" rIns="0" bIns="0" rtlCol="0" anchor="ctr"/>
          <a:lstStyle/>
          <a:p>
            <a:pPr marL="0" indent="0" algn="r">
              <a:buNone/>
            </a:pPr>
            <a:r>
              <a:rPr lang="en-US" sz="950" b="1" dirty="0">
                <a:solidFill>
                  <a:srgbClr val="37474F"/>
                </a:solidFill>
                <a:latin typeface="Calibri" pitchFamily="34" charset="0"/>
                <a:ea typeface="Calibri" pitchFamily="34" charset="-122"/>
                <a:cs typeface="Calibri" pitchFamily="34" charset="-120"/>
              </a:rPr>
              <a:t>Tue</a:t>
            </a:r>
            <a:endParaRPr lang="en-US" sz="950" dirty="0"/>
          </a:p>
        </p:txBody>
      </p:sp>
      <p:sp>
        <p:nvSpPr>
          <p:cNvPr id="12" name="Text 10"/>
          <p:cNvSpPr/>
          <p:nvPr/>
        </p:nvSpPr>
        <p:spPr>
          <a:xfrm>
            <a:off x="73152" y="2113570"/>
            <a:ext cx="841248" cy="282158"/>
          </a:xfrm>
          <a:prstGeom prst="rect">
            <a:avLst/>
          </a:prstGeom>
          <a:noFill/>
          <a:ln/>
        </p:spPr>
        <p:txBody>
          <a:bodyPr wrap="square" lIns="0" tIns="0" rIns="0" bIns="0" rtlCol="0" anchor="ctr"/>
          <a:lstStyle/>
          <a:p>
            <a:pPr marL="0" indent="0" algn="r">
              <a:buNone/>
            </a:pPr>
            <a:r>
              <a:rPr lang="en-US" sz="950" b="1" dirty="0">
                <a:solidFill>
                  <a:srgbClr val="37474F"/>
                </a:solidFill>
                <a:latin typeface="Calibri" pitchFamily="34" charset="0"/>
                <a:ea typeface="Calibri" pitchFamily="34" charset="-122"/>
                <a:cs typeface="Calibri" pitchFamily="34" charset="-120"/>
              </a:rPr>
              <a:t>Wed</a:t>
            </a:r>
            <a:endParaRPr lang="en-US" sz="950" dirty="0"/>
          </a:p>
        </p:txBody>
      </p:sp>
      <p:sp>
        <p:nvSpPr>
          <p:cNvPr id="13" name="Text 11"/>
          <p:cNvSpPr/>
          <p:nvPr/>
        </p:nvSpPr>
        <p:spPr>
          <a:xfrm>
            <a:off x="73152" y="2583833"/>
            <a:ext cx="841248" cy="282158"/>
          </a:xfrm>
          <a:prstGeom prst="rect">
            <a:avLst/>
          </a:prstGeom>
          <a:noFill/>
          <a:ln/>
        </p:spPr>
        <p:txBody>
          <a:bodyPr wrap="square" lIns="0" tIns="0" rIns="0" bIns="0" rtlCol="0" anchor="ctr"/>
          <a:lstStyle/>
          <a:p>
            <a:pPr marL="0" indent="0" algn="r">
              <a:buNone/>
            </a:pPr>
            <a:r>
              <a:rPr lang="en-US" sz="950" b="1" dirty="0">
                <a:solidFill>
                  <a:srgbClr val="37474F"/>
                </a:solidFill>
                <a:latin typeface="Calibri" pitchFamily="34" charset="0"/>
                <a:ea typeface="Calibri" pitchFamily="34" charset="-122"/>
                <a:cs typeface="Calibri" pitchFamily="34" charset="-120"/>
              </a:rPr>
              <a:t>Thu</a:t>
            </a:r>
            <a:endParaRPr lang="en-US" sz="950" dirty="0"/>
          </a:p>
        </p:txBody>
      </p:sp>
      <p:sp>
        <p:nvSpPr>
          <p:cNvPr id="14" name="Text 12"/>
          <p:cNvSpPr/>
          <p:nvPr/>
        </p:nvSpPr>
        <p:spPr>
          <a:xfrm>
            <a:off x="73152" y="3054096"/>
            <a:ext cx="841248" cy="282158"/>
          </a:xfrm>
          <a:prstGeom prst="rect">
            <a:avLst/>
          </a:prstGeom>
          <a:noFill/>
          <a:ln/>
        </p:spPr>
        <p:txBody>
          <a:bodyPr wrap="square" lIns="0" tIns="0" rIns="0" bIns="0" rtlCol="0" anchor="ctr"/>
          <a:lstStyle/>
          <a:p>
            <a:pPr marL="0" indent="0" algn="r">
              <a:buNone/>
            </a:pPr>
            <a:r>
              <a:rPr lang="en-US" sz="950" b="1" dirty="0">
                <a:solidFill>
                  <a:srgbClr val="37474F"/>
                </a:solidFill>
                <a:latin typeface="Calibri" pitchFamily="34" charset="0"/>
                <a:ea typeface="Calibri" pitchFamily="34" charset="-122"/>
                <a:cs typeface="Calibri" pitchFamily="34" charset="-120"/>
              </a:rPr>
              <a:t>Fri</a:t>
            </a:r>
            <a:endParaRPr lang="en-US" sz="950" dirty="0"/>
          </a:p>
        </p:txBody>
      </p:sp>
      <p:sp>
        <p:nvSpPr>
          <p:cNvPr id="15" name="Text 13"/>
          <p:cNvSpPr/>
          <p:nvPr/>
        </p:nvSpPr>
        <p:spPr>
          <a:xfrm>
            <a:off x="73152" y="3524359"/>
            <a:ext cx="841248" cy="282158"/>
          </a:xfrm>
          <a:prstGeom prst="rect">
            <a:avLst/>
          </a:prstGeom>
          <a:noFill/>
          <a:ln/>
        </p:spPr>
        <p:txBody>
          <a:bodyPr wrap="square" lIns="0" tIns="0" rIns="0" bIns="0" rtlCol="0" anchor="ctr"/>
          <a:lstStyle/>
          <a:p>
            <a:pPr marL="0" indent="0" algn="r">
              <a:buNone/>
            </a:pPr>
            <a:r>
              <a:rPr lang="en-US" sz="950" b="1" dirty="0">
                <a:solidFill>
                  <a:srgbClr val="37474F"/>
                </a:solidFill>
                <a:latin typeface="Calibri" pitchFamily="34" charset="0"/>
                <a:ea typeface="Calibri" pitchFamily="34" charset="-122"/>
                <a:cs typeface="Calibri" pitchFamily="34" charset="-120"/>
              </a:rPr>
              <a:t>Sat</a:t>
            </a:r>
            <a:endParaRPr lang="en-US" sz="950" dirty="0"/>
          </a:p>
        </p:txBody>
      </p:sp>
      <p:sp>
        <p:nvSpPr>
          <p:cNvPr id="16" name="Text 14"/>
          <p:cNvSpPr/>
          <p:nvPr/>
        </p:nvSpPr>
        <p:spPr>
          <a:xfrm>
            <a:off x="73152" y="3994622"/>
            <a:ext cx="841248" cy="282158"/>
          </a:xfrm>
          <a:prstGeom prst="rect">
            <a:avLst/>
          </a:prstGeom>
          <a:noFill/>
          <a:ln/>
        </p:spPr>
        <p:txBody>
          <a:bodyPr wrap="square" lIns="0" tIns="0" rIns="0" bIns="0" rtlCol="0" anchor="ctr"/>
          <a:lstStyle/>
          <a:p>
            <a:pPr marL="0" indent="0" algn="r">
              <a:buNone/>
            </a:pPr>
            <a:r>
              <a:rPr lang="en-US" sz="950" b="1" dirty="0">
                <a:solidFill>
                  <a:srgbClr val="37474F"/>
                </a:solidFill>
                <a:latin typeface="Calibri" pitchFamily="34" charset="0"/>
                <a:ea typeface="Calibri" pitchFamily="34" charset="-122"/>
                <a:cs typeface="Calibri" pitchFamily="34" charset="-120"/>
              </a:rPr>
              <a:t>Sun</a:t>
            </a:r>
            <a:endParaRPr lang="en-US" sz="950" dirty="0"/>
          </a:p>
        </p:txBody>
      </p:sp>
      <p:sp>
        <p:nvSpPr>
          <p:cNvPr id="17" name="Shape 15"/>
          <p:cNvSpPr/>
          <p:nvPr/>
        </p:nvSpPr>
        <p:spPr>
          <a:xfrm>
            <a:off x="960120" y="1078992"/>
            <a:ext cx="322326" cy="461119"/>
          </a:xfrm>
          <a:prstGeom prst="rect">
            <a:avLst/>
          </a:prstGeom>
          <a:solidFill>
            <a:srgbClr val="B8C7D9"/>
          </a:solidFill>
          <a:ln w="3810">
            <a:solidFill>
              <a:srgbClr val="F7FAFF"/>
            </a:solidFill>
            <a:prstDash val="solid"/>
          </a:ln>
        </p:spPr>
        <p:txBody>
          <a:bodyPr/>
          <a:lstStyle/>
          <a:p>
            <a:endParaRPr lang="th-TH"/>
          </a:p>
        </p:txBody>
      </p:sp>
      <p:sp>
        <p:nvSpPr>
          <p:cNvPr id="18" name="Shape 16"/>
          <p:cNvSpPr/>
          <p:nvPr/>
        </p:nvSpPr>
        <p:spPr>
          <a:xfrm>
            <a:off x="1291590" y="1078992"/>
            <a:ext cx="322326" cy="461119"/>
          </a:xfrm>
          <a:prstGeom prst="rect">
            <a:avLst/>
          </a:prstGeom>
          <a:solidFill>
            <a:srgbClr val="C2D1E3"/>
          </a:solidFill>
          <a:ln w="3810">
            <a:solidFill>
              <a:srgbClr val="F7FAFF"/>
            </a:solidFill>
            <a:prstDash val="solid"/>
          </a:ln>
        </p:spPr>
        <p:txBody>
          <a:bodyPr/>
          <a:lstStyle/>
          <a:p>
            <a:endParaRPr lang="th-TH"/>
          </a:p>
        </p:txBody>
      </p:sp>
      <p:sp>
        <p:nvSpPr>
          <p:cNvPr id="19" name="Shape 17"/>
          <p:cNvSpPr/>
          <p:nvPr/>
        </p:nvSpPr>
        <p:spPr>
          <a:xfrm>
            <a:off x="1623060" y="1078992"/>
            <a:ext cx="322326" cy="461119"/>
          </a:xfrm>
          <a:prstGeom prst="rect">
            <a:avLst/>
          </a:prstGeom>
          <a:solidFill>
            <a:srgbClr val="C9D7E8"/>
          </a:solidFill>
          <a:ln w="3810">
            <a:solidFill>
              <a:srgbClr val="F7FAFF"/>
            </a:solidFill>
            <a:prstDash val="solid"/>
          </a:ln>
        </p:spPr>
        <p:txBody>
          <a:bodyPr/>
          <a:lstStyle/>
          <a:p>
            <a:endParaRPr lang="th-TH"/>
          </a:p>
        </p:txBody>
      </p:sp>
      <p:sp>
        <p:nvSpPr>
          <p:cNvPr id="20" name="Shape 18"/>
          <p:cNvSpPr/>
          <p:nvPr/>
        </p:nvSpPr>
        <p:spPr>
          <a:xfrm>
            <a:off x="1954530" y="1078992"/>
            <a:ext cx="322326" cy="461119"/>
          </a:xfrm>
          <a:prstGeom prst="rect">
            <a:avLst/>
          </a:prstGeom>
          <a:solidFill>
            <a:srgbClr val="CBD9EA"/>
          </a:solidFill>
          <a:ln w="3810">
            <a:solidFill>
              <a:srgbClr val="F7FAFF"/>
            </a:solidFill>
            <a:prstDash val="solid"/>
          </a:ln>
        </p:spPr>
        <p:txBody>
          <a:bodyPr/>
          <a:lstStyle/>
          <a:p>
            <a:endParaRPr lang="th-TH"/>
          </a:p>
        </p:txBody>
      </p:sp>
      <p:sp>
        <p:nvSpPr>
          <p:cNvPr id="21" name="Shape 19"/>
          <p:cNvSpPr/>
          <p:nvPr/>
        </p:nvSpPr>
        <p:spPr>
          <a:xfrm>
            <a:off x="2286000" y="1078992"/>
            <a:ext cx="322326" cy="461119"/>
          </a:xfrm>
          <a:prstGeom prst="rect">
            <a:avLst/>
          </a:prstGeom>
          <a:solidFill>
            <a:srgbClr val="C5D3E5"/>
          </a:solidFill>
          <a:ln w="3810">
            <a:solidFill>
              <a:srgbClr val="F7FAFF"/>
            </a:solidFill>
            <a:prstDash val="solid"/>
          </a:ln>
        </p:spPr>
        <p:txBody>
          <a:bodyPr/>
          <a:lstStyle/>
          <a:p>
            <a:endParaRPr lang="th-TH"/>
          </a:p>
        </p:txBody>
      </p:sp>
      <p:sp>
        <p:nvSpPr>
          <p:cNvPr id="22" name="Shape 20"/>
          <p:cNvSpPr/>
          <p:nvPr/>
        </p:nvSpPr>
        <p:spPr>
          <a:xfrm>
            <a:off x="2617470" y="1078992"/>
            <a:ext cx="322326" cy="461119"/>
          </a:xfrm>
          <a:prstGeom prst="rect">
            <a:avLst/>
          </a:prstGeom>
          <a:solidFill>
            <a:srgbClr val="B3C3D5"/>
          </a:solidFill>
          <a:ln w="3810">
            <a:solidFill>
              <a:srgbClr val="F7FAFF"/>
            </a:solidFill>
            <a:prstDash val="solid"/>
          </a:ln>
        </p:spPr>
        <p:txBody>
          <a:bodyPr/>
          <a:lstStyle/>
          <a:p>
            <a:endParaRPr lang="th-TH"/>
          </a:p>
        </p:txBody>
      </p:sp>
      <p:sp>
        <p:nvSpPr>
          <p:cNvPr id="23" name="Shape 21"/>
          <p:cNvSpPr/>
          <p:nvPr/>
        </p:nvSpPr>
        <p:spPr>
          <a:xfrm>
            <a:off x="2948940" y="1078992"/>
            <a:ext cx="322326" cy="461119"/>
          </a:xfrm>
          <a:prstGeom prst="rect">
            <a:avLst/>
          </a:prstGeom>
          <a:solidFill>
            <a:srgbClr val="91A2B7"/>
          </a:solidFill>
          <a:ln w="3810">
            <a:solidFill>
              <a:srgbClr val="F7FAFF"/>
            </a:solidFill>
            <a:prstDash val="solid"/>
          </a:ln>
        </p:spPr>
        <p:txBody>
          <a:bodyPr/>
          <a:lstStyle/>
          <a:p>
            <a:endParaRPr lang="th-TH"/>
          </a:p>
        </p:txBody>
      </p:sp>
      <p:sp>
        <p:nvSpPr>
          <p:cNvPr id="24" name="Shape 22"/>
          <p:cNvSpPr/>
          <p:nvPr/>
        </p:nvSpPr>
        <p:spPr>
          <a:xfrm>
            <a:off x="3280410" y="1078992"/>
            <a:ext cx="322326" cy="461119"/>
          </a:xfrm>
          <a:prstGeom prst="rect">
            <a:avLst/>
          </a:prstGeom>
          <a:solidFill>
            <a:srgbClr val="475C77"/>
          </a:solidFill>
          <a:ln w="3810">
            <a:solidFill>
              <a:srgbClr val="F7FAFF"/>
            </a:solidFill>
            <a:prstDash val="solid"/>
          </a:ln>
        </p:spPr>
        <p:txBody>
          <a:bodyPr/>
          <a:lstStyle/>
          <a:p>
            <a:endParaRPr lang="th-TH"/>
          </a:p>
        </p:txBody>
      </p:sp>
      <p:sp>
        <p:nvSpPr>
          <p:cNvPr id="25" name="Shape 23"/>
          <p:cNvSpPr/>
          <p:nvPr/>
        </p:nvSpPr>
        <p:spPr>
          <a:xfrm>
            <a:off x="3611880" y="1078992"/>
            <a:ext cx="322326" cy="461119"/>
          </a:xfrm>
          <a:prstGeom prst="rect">
            <a:avLst/>
          </a:prstGeom>
          <a:solidFill>
            <a:srgbClr val="243C59"/>
          </a:solidFill>
          <a:ln w="3810">
            <a:solidFill>
              <a:srgbClr val="F7FAFF"/>
            </a:solidFill>
            <a:prstDash val="solid"/>
          </a:ln>
        </p:spPr>
        <p:txBody>
          <a:bodyPr/>
          <a:lstStyle/>
          <a:p>
            <a:endParaRPr lang="th-TH"/>
          </a:p>
        </p:txBody>
      </p:sp>
      <p:sp>
        <p:nvSpPr>
          <p:cNvPr id="26" name="Shape 24"/>
          <p:cNvSpPr/>
          <p:nvPr/>
        </p:nvSpPr>
        <p:spPr>
          <a:xfrm>
            <a:off x="3943350" y="1078992"/>
            <a:ext cx="322326" cy="461119"/>
          </a:xfrm>
          <a:prstGeom prst="rect">
            <a:avLst/>
          </a:prstGeom>
          <a:solidFill>
            <a:srgbClr val="354C68"/>
          </a:solidFill>
          <a:ln w="3810">
            <a:solidFill>
              <a:srgbClr val="F7FAFF"/>
            </a:solidFill>
            <a:prstDash val="solid"/>
          </a:ln>
        </p:spPr>
        <p:txBody>
          <a:bodyPr/>
          <a:lstStyle/>
          <a:p>
            <a:endParaRPr lang="th-TH"/>
          </a:p>
        </p:txBody>
      </p:sp>
      <p:sp>
        <p:nvSpPr>
          <p:cNvPr id="27" name="Shape 25"/>
          <p:cNvSpPr/>
          <p:nvPr/>
        </p:nvSpPr>
        <p:spPr>
          <a:xfrm>
            <a:off x="4274820" y="1078992"/>
            <a:ext cx="322326" cy="461119"/>
          </a:xfrm>
          <a:prstGeom prst="rect">
            <a:avLst/>
          </a:prstGeom>
          <a:solidFill>
            <a:srgbClr val="4F657E"/>
          </a:solidFill>
          <a:ln w="3810">
            <a:solidFill>
              <a:srgbClr val="F7FAFF"/>
            </a:solidFill>
            <a:prstDash val="solid"/>
          </a:ln>
        </p:spPr>
        <p:txBody>
          <a:bodyPr/>
          <a:lstStyle/>
          <a:p>
            <a:endParaRPr lang="th-TH"/>
          </a:p>
        </p:txBody>
      </p:sp>
      <p:sp>
        <p:nvSpPr>
          <p:cNvPr id="28" name="Shape 26"/>
          <p:cNvSpPr/>
          <p:nvPr/>
        </p:nvSpPr>
        <p:spPr>
          <a:xfrm>
            <a:off x="4606290" y="1078992"/>
            <a:ext cx="322326" cy="461119"/>
          </a:xfrm>
          <a:prstGeom prst="rect">
            <a:avLst/>
          </a:prstGeom>
          <a:solidFill>
            <a:srgbClr val="566B84"/>
          </a:solidFill>
          <a:ln w="3810">
            <a:solidFill>
              <a:srgbClr val="F7FAFF"/>
            </a:solidFill>
            <a:prstDash val="solid"/>
          </a:ln>
        </p:spPr>
        <p:txBody>
          <a:bodyPr/>
          <a:lstStyle/>
          <a:p>
            <a:endParaRPr lang="th-TH"/>
          </a:p>
        </p:txBody>
      </p:sp>
      <p:sp>
        <p:nvSpPr>
          <p:cNvPr id="29" name="Shape 27"/>
          <p:cNvSpPr/>
          <p:nvPr/>
        </p:nvSpPr>
        <p:spPr>
          <a:xfrm>
            <a:off x="4937760" y="1078992"/>
            <a:ext cx="322326" cy="461119"/>
          </a:xfrm>
          <a:prstGeom prst="rect">
            <a:avLst/>
          </a:prstGeom>
          <a:solidFill>
            <a:srgbClr val="4F657E"/>
          </a:solidFill>
          <a:ln w="3810">
            <a:solidFill>
              <a:srgbClr val="F7FAFF"/>
            </a:solidFill>
            <a:prstDash val="solid"/>
          </a:ln>
        </p:spPr>
        <p:txBody>
          <a:bodyPr/>
          <a:lstStyle/>
          <a:p>
            <a:endParaRPr lang="th-TH"/>
          </a:p>
        </p:txBody>
      </p:sp>
      <p:sp>
        <p:nvSpPr>
          <p:cNvPr id="30" name="Shape 28"/>
          <p:cNvSpPr/>
          <p:nvPr/>
        </p:nvSpPr>
        <p:spPr>
          <a:xfrm>
            <a:off x="5269230" y="1078992"/>
            <a:ext cx="322326" cy="461119"/>
          </a:xfrm>
          <a:prstGeom prst="rect">
            <a:avLst/>
          </a:prstGeom>
          <a:solidFill>
            <a:srgbClr val="4F657E"/>
          </a:solidFill>
          <a:ln w="3810">
            <a:solidFill>
              <a:srgbClr val="F7FAFF"/>
            </a:solidFill>
            <a:prstDash val="solid"/>
          </a:ln>
        </p:spPr>
        <p:txBody>
          <a:bodyPr/>
          <a:lstStyle/>
          <a:p>
            <a:endParaRPr lang="th-TH"/>
          </a:p>
        </p:txBody>
      </p:sp>
      <p:sp>
        <p:nvSpPr>
          <p:cNvPr id="31" name="Shape 29"/>
          <p:cNvSpPr/>
          <p:nvPr/>
        </p:nvSpPr>
        <p:spPr>
          <a:xfrm>
            <a:off x="5600700" y="1078992"/>
            <a:ext cx="322326" cy="461119"/>
          </a:xfrm>
          <a:prstGeom prst="rect">
            <a:avLst/>
          </a:prstGeom>
          <a:solidFill>
            <a:srgbClr val="4B617B"/>
          </a:solidFill>
          <a:ln w="3810">
            <a:solidFill>
              <a:srgbClr val="F7FAFF"/>
            </a:solidFill>
            <a:prstDash val="solid"/>
          </a:ln>
        </p:spPr>
        <p:txBody>
          <a:bodyPr/>
          <a:lstStyle/>
          <a:p>
            <a:endParaRPr lang="th-TH"/>
          </a:p>
        </p:txBody>
      </p:sp>
      <p:sp>
        <p:nvSpPr>
          <p:cNvPr id="32" name="Shape 30"/>
          <p:cNvSpPr/>
          <p:nvPr/>
        </p:nvSpPr>
        <p:spPr>
          <a:xfrm>
            <a:off x="5932170" y="1078992"/>
            <a:ext cx="322326" cy="461119"/>
          </a:xfrm>
          <a:prstGeom prst="rect">
            <a:avLst/>
          </a:prstGeom>
          <a:solidFill>
            <a:srgbClr val="425873"/>
          </a:solidFill>
          <a:ln w="3810">
            <a:solidFill>
              <a:srgbClr val="F7FAFF"/>
            </a:solidFill>
            <a:prstDash val="solid"/>
          </a:ln>
        </p:spPr>
        <p:txBody>
          <a:bodyPr/>
          <a:lstStyle/>
          <a:p>
            <a:endParaRPr lang="th-TH"/>
          </a:p>
        </p:txBody>
      </p:sp>
      <p:sp>
        <p:nvSpPr>
          <p:cNvPr id="33" name="Shape 31"/>
          <p:cNvSpPr/>
          <p:nvPr/>
        </p:nvSpPr>
        <p:spPr>
          <a:xfrm>
            <a:off x="6263640" y="1078992"/>
            <a:ext cx="322326" cy="461119"/>
          </a:xfrm>
          <a:prstGeom prst="rect">
            <a:avLst/>
          </a:prstGeom>
          <a:solidFill>
            <a:srgbClr val="314864"/>
          </a:solidFill>
          <a:ln w="3810">
            <a:solidFill>
              <a:srgbClr val="F7FAFF"/>
            </a:solidFill>
            <a:prstDash val="solid"/>
          </a:ln>
        </p:spPr>
        <p:txBody>
          <a:bodyPr/>
          <a:lstStyle/>
          <a:p>
            <a:endParaRPr lang="th-TH"/>
          </a:p>
        </p:txBody>
      </p:sp>
      <p:sp>
        <p:nvSpPr>
          <p:cNvPr id="34" name="Shape 32"/>
          <p:cNvSpPr/>
          <p:nvPr/>
        </p:nvSpPr>
        <p:spPr>
          <a:xfrm>
            <a:off x="6595110" y="1078992"/>
            <a:ext cx="322326" cy="461119"/>
          </a:xfrm>
          <a:prstGeom prst="rect">
            <a:avLst/>
          </a:prstGeom>
          <a:solidFill>
            <a:srgbClr val="152D4B"/>
          </a:solidFill>
          <a:ln w="3810">
            <a:solidFill>
              <a:srgbClr val="F7FAFF"/>
            </a:solidFill>
            <a:prstDash val="solid"/>
          </a:ln>
        </p:spPr>
        <p:txBody>
          <a:bodyPr/>
          <a:lstStyle/>
          <a:p>
            <a:endParaRPr lang="th-TH"/>
          </a:p>
        </p:txBody>
      </p:sp>
      <p:sp>
        <p:nvSpPr>
          <p:cNvPr id="35" name="Shape 33"/>
          <p:cNvSpPr/>
          <p:nvPr/>
        </p:nvSpPr>
        <p:spPr>
          <a:xfrm>
            <a:off x="6926580" y="1078992"/>
            <a:ext cx="322326" cy="461119"/>
          </a:xfrm>
          <a:prstGeom prst="rect">
            <a:avLst/>
          </a:prstGeom>
          <a:solidFill>
            <a:srgbClr val="203855"/>
          </a:solidFill>
          <a:ln w="3810">
            <a:solidFill>
              <a:srgbClr val="F7FAFF"/>
            </a:solidFill>
            <a:prstDash val="solid"/>
          </a:ln>
        </p:spPr>
        <p:txBody>
          <a:bodyPr/>
          <a:lstStyle/>
          <a:p>
            <a:endParaRPr lang="th-TH"/>
          </a:p>
        </p:txBody>
      </p:sp>
      <p:sp>
        <p:nvSpPr>
          <p:cNvPr id="36" name="Shape 34"/>
          <p:cNvSpPr/>
          <p:nvPr/>
        </p:nvSpPr>
        <p:spPr>
          <a:xfrm>
            <a:off x="7258050" y="1078992"/>
            <a:ext cx="322326" cy="461119"/>
          </a:xfrm>
          <a:prstGeom prst="rect">
            <a:avLst/>
          </a:prstGeom>
          <a:solidFill>
            <a:srgbClr val="3A506C"/>
          </a:solidFill>
          <a:ln w="3810">
            <a:solidFill>
              <a:srgbClr val="F7FAFF"/>
            </a:solidFill>
            <a:prstDash val="solid"/>
          </a:ln>
        </p:spPr>
        <p:txBody>
          <a:bodyPr/>
          <a:lstStyle/>
          <a:p>
            <a:endParaRPr lang="th-TH"/>
          </a:p>
        </p:txBody>
      </p:sp>
      <p:sp>
        <p:nvSpPr>
          <p:cNvPr id="37" name="Shape 35"/>
          <p:cNvSpPr/>
          <p:nvPr/>
        </p:nvSpPr>
        <p:spPr>
          <a:xfrm>
            <a:off x="7589520" y="1078992"/>
            <a:ext cx="322326" cy="461119"/>
          </a:xfrm>
          <a:prstGeom prst="rect">
            <a:avLst/>
          </a:prstGeom>
          <a:solidFill>
            <a:srgbClr val="61758E"/>
          </a:solidFill>
          <a:ln w="3810">
            <a:solidFill>
              <a:srgbClr val="F7FAFF"/>
            </a:solidFill>
            <a:prstDash val="solid"/>
          </a:ln>
        </p:spPr>
        <p:txBody>
          <a:bodyPr/>
          <a:lstStyle/>
          <a:p>
            <a:endParaRPr lang="th-TH"/>
          </a:p>
        </p:txBody>
      </p:sp>
      <p:sp>
        <p:nvSpPr>
          <p:cNvPr id="38" name="Shape 36"/>
          <p:cNvSpPr/>
          <p:nvPr/>
        </p:nvSpPr>
        <p:spPr>
          <a:xfrm>
            <a:off x="7920990" y="1078992"/>
            <a:ext cx="322326" cy="461119"/>
          </a:xfrm>
          <a:prstGeom prst="rect">
            <a:avLst/>
          </a:prstGeom>
          <a:solidFill>
            <a:srgbClr val="8194AA"/>
          </a:solidFill>
          <a:ln w="3810">
            <a:solidFill>
              <a:srgbClr val="F7FAFF"/>
            </a:solidFill>
            <a:prstDash val="solid"/>
          </a:ln>
        </p:spPr>
        <p:txBody>
          <a:bodyPr/>
          <a:lstStyle/>
          <a:p>
            <a:endParaRPr lang="th-TH"/>
          </a:p>
        </p:txBody>
      </p:sp>
      <p:sp>
        <p:nvSpPr>
          <p:cNvPr id="39" name="Shape 37"/>
          <p:cNvSpPr/>
          <p:nvPr/>
        </p:nvSpPr>
        <p:spPr>
          <a:xfrm>
            <a:off x="8252460" y="1078992"/>
            <a:ext cx="322326" cy="461119"/>
          </a:xfrm>
          <a:prstGeom prst="rect">
            <a:avLst/>
          </a:prstGeom>
          <a:solidFill>
            <a:srgbClr val="9BACC1"/>
          </a:solidFill>
          <a:ln w="3810">
            <a:solidFill>
              <a:srgbClr val="F7FAFF"/>
            </a:solidFill>
            <a:prstDash val="solid"/>
          </a:ln>
        </p:spPr>
        <p:txBody>
          <a:bodyPr/>
          <a:lstStyle/>
          <a:p>
            <a:endParaRPr lang="th-TH"/>
          </a:p>
        </p:txBody>
      </p:sp>
      <p:sp>
        <p:nvSpPr>
          <p:cNvPr id="40" name="Shape 38"/>
          <p:cNvSpPr/>
          <p:nvPr/>
        </p:nvSpPr>
        <p:spPr>
          <a:xfrm>
            <a:off x="8583930" y="1078992"/>
            <a:ext cx="322326" cy="461119"/>
          </a:xfrm>
          <a:prstGeom prst="rect">
            <a:avLst/>
          </a:prstGeom>
          <a:solidFill>
            <a:srgbClr val="AFBFD2"/>
          </a:solidFill>
          <a:ln w="3810">
            <a:solidFill>
              <a:srgbClr val="F7FAFF"/>
            </a:solidFill>
            <a:prstDash val="solid"/>
          </a:ln>
        </p:spPr>
        <p:txBody>
          <a:bodyPr/>
          <a:lstStyle/>
          <a:p>
            <a:endParaRPr lang="th-TH"/>
          </a:p>
        </p:txBody>
      </p:sp>
      <p:sp>
        <p:nvSpPr>
          <p:cNvPr id="41" name="Shape 39"/>
          <p:cNvSpPr/>
          <p:nvPr/>
        </p:nvSpPr>
        <p:spPr>
          <a:xfrm>
            <a:off x="960120" y="1549255"/>
            <a:ext cx="322326" cy="461119"/>
          </a:xfrm>
          <a:prstGeom prst="rect">
            <a:avLst/>
          </a:prstGeom>
          <a:solidFill>
            <a:srgbClr val="BCCBDD"/>
          </a:solidFill>
          <a:ln w="3810">
            <a:solidFill>
              <a:srgbClr val="F7FAFF"/>
            </a:solidFill>
            <a:prstDash val="solid"/>
          </a:ln>
        </p:spPr>
        <p:txBody>
          <a:bodyPr/>
          <a:lstStyle/>
          <a:p>
            <a:endParaRPr lang="th-TH"/>
          </a:p>
        </p:txBody>
      </p:sp>
      <p:sp>
        <p:nvSpPr>
          <p:cNvPr id="42" name="Shape 40"/>
          <p:cNvSpPr/>
          <p:nvPr/>
        </p:nvSpPr>
        <p:spPr>
          <a:xfrm>
            <a:off x="1291590" y="1549255"/>
            <a:ext cx="322326" cy="461119"/>
          </a:xfrm>
          <a:prstGeom prst="rect">
            <a:avLst/>
          </a:prstGeom>
          <a:solidFill>
            <a:srgbClr val="C5D3E5"/>
          </a:solidFill>
          <a:ln w="3810">
            <a:solidFill>
              <a:srgbClr val="F7FAFF"/>
            </a:solidFill>
            <a:prstDash val="solid"/>
          </a:ln>
        </p:spPr>
        <p:txBody>
          <a:bodyPr/>
          <a:lstStyle/>
          <a:p>
            <a:endParaRPr lang="th-TH"/>
          </a:p>
        </p:txBody>
      </p:sp>
      <p:sp>
        <p:nvSpPr>
          <p:cNvPr id="43" name="Shape 41"/>
          <p:cNvSpPr/>
          <p:nvPr/>
        </p:nvSpPr>
        <p:spPr>
          <a:xfrm>
            <a:off x="1623060" y="1549255"/>
            <a:ext cx="322326" cy="461119"/>
          </a:xfrm>
          <a:prstGeom prst="rect">
            <a:avLst/>
          </a:prstGeom>
          <a:solidFill>
            <a:srgbClr val="CBD9EA"/>
          </a:solidFill>
          <a:ln w="3810">
            <a:solidFill>
              <a:srgbClr val="F7FAFF"/>
            </a:solidFill>
            <a:prstDash val="solid"/>
          </a:ln>
        </p:spPr>
        <p:txBody>
          <a:bodyPr/>
          <a:lstStyle/>
          <a:p>
            <a:endParaRPr lang="th-TH"/>
          </a:p>
        </p:txBody>
      </p:sp>
      <p:sp>
        <p:nvSpPr>
          <p:cNvPr id="44" name="Shape 42"/>
          <p:cNvSpPr/>
          <p:nvPr/>
        </p:nvSpPr>
        <p:spPr>
          <a:xfrm>
            <a:off x="1954530" y="1549255"/>
            <a:ext cx="322326" cy="461119"/>
          </a:xfrm>
          <a:prstGeom prst="rect">
            <a:avLst/>
          </a:prstGeom>
          <a:solidFill>
            <a:srgbClr val="CDDCEC"/>
          </a:solidFill>
          <a:ln w="3810">
            <a:solidFill>
              <a:srgbClr val="F7FAFF"/>
            </a:solidFill>
            <a:prstDash val="solid"/>
          </a:ln>
        </p:spPr>
        <p:txBody>
          <a:bodyPr/>
          <a:lstStyle/>
          <a:p>
            <a:endParaRPr lang="th-TH"/>
          </a:p>
        </p:txBody>
      </p:sp>
      <p:sp>
        <p:nvSpPr>
          <p:cNvPr id="45" name="Shape 43"/>
          <p:cNvSpPr/>
          <p:nvPr/>
        </p:nvSpPr>
        <p:spPr>
          <a:xfrm>
            <a:off x="2286000" y="1549255"/>
            <a:ext cx="322326" cy="461119"/>
          </a:xfrm>
          <a:prstGeom prst="rect">
            <a:avLst/>
          </a:prstGeom>
          <a:solidFill>
            <a:srgbClr val="C7D5E6"/>
          </a:solidFill>
          <a:ln w="3810">
            <a:solidFill>
              <a:srgbClr val="F7FAFF"/>
            </a:solidFill>
            <a:prstDash val="solid"/>
          </a:ln>
        </p:spPr>
        <p:txBody>
          <a:bodyPr/>
          <a:lstStyle/>
          <a:p>
            <a:endParaRPr lang="th-TH"/>
          </a:p>
        </p:txBody>
      </p:sp>
      <p:sp>
        <p:nvSpPr>
          <p:cNvPr id="46" name="Shape 44"/>
          <p:cNvSpPr/>
          <p:nvPr/>
        </p:nvSpPr>
        <p:spPr>
          <a:xfrm>
            <a:off x="2617470" y="1549255"/>
            <a:ext cx="322326" cy="461119"/>
          </a:xfrm>
          <a:prstGeom prst="rect">
            <a:avLst/>
          </a:prstGeom>
          <a:solidFill>
            <a:srgbClr val="B5C5D7"/>
          </a:solidFill>
          <a:ln w="3810">
            <a:solidFill>
              <a:srgbClr val="F7FAFF"/>
            </a:solidFill>
            <a:prstDash val="solid"/>
          </a:ln>
        </p:spPr>
        <p:txBody>
          <a:bodyPr/>
          <a:lstStyle/>
          <a:p>
            <a:endParaRPr lang="th-TH"/>
          </a:p>
        </p:txBody>
      </p:sp>
      <p:sp>
        <p:nvSpPr>
          <p:cNvPr id="47" name="Shape 45"/>
          <p:cNvSpPr/>
          <p:nvPr/>
        </p:nvSpPr>
        <p:spPr>
          <a:xfrm>
            <a:off x="2948940" y="1549255"/>
            <a:ext cx="322326" cy="461119"/>
          </a:xfrm>
          <a:prstGeom prst="rect">
            <a:avLst/>
          </a:prstGeom>
          <a:solidFill>
            <a:srgbClr val="8C9EB3"/>
          </a:solidFill>
          <a:ln w="3810">
            <a:solidFill>
              <a:srgbClr val="F7FAFF"/>
            </a:solidFill>
            <a:prstDash val="solid"/>
          </a:ln>
        </p:spPr>
        <p:txBody>
          <a:bodyPr/>
          <a:lstStyle/>
          <a:p>
            <a:endParaRPr lang="th-TH"/>
          </a:p>
        </p:txBody>
      </p:sp>
      <p:sp>
        <p:nvSpPr>
          <p:cNvPr id="48" name="Shape 46"/>
          <p:cNvSpPr/>
          <p:nvPr/>
        </p:nvSpPr>
        <p:spPr>
          <a:xfrm>
            <a:off x="3280410" y="1549255"/>
            <a:ext cx="322326" cy="461119"/>
          </a:xfrm>
          <a:prstGeom prst="rect">
            <a:avLst/>
          </a:prstGeom>
          <a:solidFill>
            <a:srgbClr val="425873"/>
          </a:solidFill>
          <a:ln w="3810">
            <a:solidFill>
              <a:srgbClr val="F7FAFF"/>
            </a:solidFill>
            <a:prstDash val="solid"/>
          </a:ln>
        </p:spPr>
        <p:txBody>
          <a:bodyPr/>
          <a:lstStyle/>
          <a:p>
            <a:endParaRPr lang="th-TH"/>
          </a:p>
        </p:txBody>
      </p:sp>
      <p:sp>
        <p:nvSpPr>
          <p:cNvPr id="49" name="Shape 47"/>
          <p:cNvSpPr/>
          <p:nvPr/>
        </p:nvSpPr>
        <p:spPr>
          <a:xfrm>
            <a:off x="3611880" y="1549255"/>
            <a:ext cx="322326" cy="461119"/>
          </a:xfrm>
          <a:prstGeom prst="rect">
            <a:avLst/>
          </a:prstGeom>
          <a:solidFill>
            <a:srgbClr val="203855"/>
          </a:solidFill>
          <a:ln w="3810">
            <a:solidFill>
              <a:srgbClr val="F7FAFF"/>
            </a:solidFill>
            <a:prstDash val="solid"/>
          </a:ln>
        </p:spPr>
        <p:txBody>
          <a:bodyPr/>
          <a:lstStyle/>
          <a:p>
            <a:endParaRPr lang="th-TH"/>
          </a:p>
        </p:txBody>
      </p:sp>
      <p:sp>
        <p:nvSpPr>
          <p:cNvPr id="50" name="Shape 48"/>
          <p:cNvSpPr/>
          <p:nvPr/>
        </p:nvSpPr>
        <p:spPr>
          <a:xfrm>
            <a:off x="3943350" y="1549255"/>
            <a:ext cx="322326" cy="461119"/>
          </a:xfrm>
          <a:prstGeom prst="rect">
            <a:avLst/>
          </a:prstGeom>
          <a:solidFill>
            <a:srgbClr val="314864"/>
          </a:solidFill>
          <a:ln w="3810">
            <a:solidFill>
              <a:srgbClr val="F7FAFF"/>
            </a:solidFill>
            <a:prstDash val="solid"/>
          </a:ln>
        </p:spPr>
        <p:txBody>
          <a:bodyPr/>
          <a:lstStyle/>
          <a:p>
            <a:endParaRPr lang="th-TH"/>
          </a:p>
        </p:txBody>
      </p:sp>
      <p:sp>
        <p:nvSpPr>
          <p:cNvPr id="51" name="Shape 49"/>
          <p:cNvSpPr/>
          <p:nvPr/>
        </p:nvSpPr>
        <p:spPr>
          <a:xfrm>
            <a:off x="4274820" y="1549255"/>
            <a:ext cx="322326" cy="461119"/>
          </a:xfrm>
          <a:prstGeom prst="rect">
            <a:avLst/>
          </a:prstGeom>
          <a:solidFill>
            <a:srgbClr val="4B617B"/>
          </a:solidFill>
          <a:ln w="3810">
            <a:solidFill>
              <a:srgbClr val="F7FAFF"/>
            </a:solidFill>
            <a:prstDash val="solid"/>
          </a:ln>
        </p:spPr>
        <p:txBody>
          <a:bodyPr/>
          <a:lstStyle/>
          <a:p>
            <a:endParaRPr lang="th-TH"/>
          </a:p>
        </p:txBody>
      </p:sp>
      <p:sp>
        <p:nvSpPr>
          <p:cNvPr id="52" name="Shape 50"/>
          <p:cNvSpPr/>
          <p:nvPr/>
        </p:nvSpPr>
        <p:spPr>
          <a:xfrm>
            <a:off x="4606290" y="1549255"/>
            <a:ext cx="322326" cy="461119"/>
          </a:xfrm>
          <a:prstGeom prst="rect">
            <a:avLst/>
          </a:prstGeom>
          <a:solidFill>
            <a:srgbClr val="526780"/>
          </a:solidFill>
          <a:ln w="3810">
            <a:solidFill>
              <a:srgbClr val="F7FAFF"/>
            </a:solidFill>
            <a:prstDash val="solid"/>
          </a:ln>
        </p:spPr>
        <p:txBody>
          <a:bodyPr/>
          <a:lstStyle/>
          <a:p>
            <a:endParaRPr lang="th-TH"/>
          </a:p>
        </p:txBody>
      </p:sp>
      <p:sp>
        <p:nvSpPr>
          <p:cNvPr id="53" name="Shape 51"/>
          <p:cNvSpPr/>
          <p:nvPr/>
        </p:nvSpPr>
        <p:spPr>
          <a:xfrm>
            <a:off x="4937760" y="1549255"/>
            <a:ext cx="322326" cy="461119"/>
          </a:xfrm>
          <a:prstGeom prst="rect">
            <a:avLst/>
          </a:prstGeom>
          <a:solidFill>
            <a:srgbClr val="4B617B"/>
          </a:solidFill>
          <a:ln w="3810">
            <a:solidFill>
              <a:srgbClr val="F7FAFF"/>
            </a:solidFill>
            <a:prstDash val="solid"/>
          </a:ln>
        </p:spPr>
        <p:txBody>
          <a:bodyPr/>
          <a:lstStyle/>
          <a:p>
            <a:endParaRPr lang="th-TH"/>
          </a:p>
        </p:txBody>
      </p:sp>
      <p:sp>
        <p:nvSpPr>
          <p:cNvPr id="54" name="Shape 52"/>
          <p:cNvSpPr/>
          <p:nvPr/>
        </p:nvSpPr>
        <p:spPr>
          <a:xfrm>
            <a:off x="5269230" y="1549255"/>
            <a:ext cx="322326" cy="461119"/>
          </a:xfrm>
          <a:prstGeom prst="rect">
            <a:avLst/>
          </a:prstGeom>
          <a:solidFill>
            <a:srgbClr val="4B617B"/>
          </a:solidFill>
          <a:ln w="3810">
            <a:solidFill>
              <a:srgbClr val="F7FAFF"/>
            </a:solidFill>
            <a:prstDash val="solid"/>
          </a:ln>
        </p:spPr>
        <p:txBody>
          <a:bodyPr/>
          <a:lstStyle/>
          <a:p>
            <a:endParaRPr lang="th-TH"/>
          </a:p>
        </p:txBody>
      </p:sp>
      <p:sp>
        <p:nvSpPr>
          <p:cNvPr id="55" name="Shape 53"/>
          <p:cNvSpPr/>
          <p:nvPr/>
        </p:nvSpPr>
        <p:spPr>
          <a:xfrm>
            <a:off x="5600700" y="1549255"/>
            <a:ext cx="322326" cy="461119"/>
          </a:xfrm>
          <a:prstGeom prst="rect">
            <a:avLst/>
          </a:prstGeom>
          <a:solidFill>
            <a:srgbClr val="475C77"/>
          </a:solidFill>
          <a:ln w="3810">
            <a:solidFill>
              <a:srgbClr val="F7FAFF"/>
            </a:solidFill>
            <a:prstDash val="solid"/>
          </a:ln>
        </p:spPr>
        <p:txBody>
          <a:bodyPr/>
          <a:lstStyle/>
          <a:p>
            <a:endParaRPr lang="th-TH"/>
          </a:p>
        </p:txBody>
      </p:sp>
      <p:sp>
        <p:nvSpPr>
          <p:cNvPr id="56" name="Shape 54"/>
          <p:cNvSpPr/>
          <p:nvPr/>
        </p:nvSpPr>
        <p:spPr>
          <a:xfrm>
            <a:off x="5932170" y="1549255"/>
            <a:ext cx="322326" cy="461119"/>
          </a:xfrm>
          <a:prstGeom prst="rect">
            <a:avLst/>
          </a:prstGeom>
          <a:solidFill>
            <a:srgbClr val="3E546F"/>
          </a:solidFill>
          <a:ln w="3810">
            <a:solidFill>
              <a:srgbClr val="F7FAFF"/>
            </a:solidFill>
            <a:prstDash val="solid"/>
          </a:ln>
        </p:spPr>
        <p:txBody>
          <a:bodyPr/>
          <a:lstStyle/>
          <a:p>
            <a:endParaRPr lang="th-TH"/>
          </a:p>
        </p:txBody>
      </p:sp>
      <p:sp>
        <p:nvSpPr>
          <p:cNvPr id="57" name="Shape 55"/>
          <p:cNvSpPr/>
          <p:nvPr/>
        </p:nvSpPr>
        <p:spPr>
          <a:xfrm>
            <a:off x="6263640" y="1549255"/>
            <a:ext cx="322326" cy="461119"/>
          </a:xfrm>
          <a:prstGeom prst="rect">
            <a:avLst/>
          </a:prstGeom>
          <a:solidFill>
            <a:srgbClr val="2D4460"/>
          </a:solidFill>
          <a:ln w="3810">
            <a:solidFill>
              <a:srgbClr val="F7FAFF"/>
            </a:solidFill>
            <a:prstDash val="solid"/>
          </a:ln>
        </p:spPr>
        <p:txBody>
          <a:bodyPr/>
          <a:lstStyle/>
          <a:p>
            <a:endParaRPr lang="th-TH"/>
          </a:p>
        </p:txBody>
      </p:sp>
      <p:sp>
        <p:nvSpPr>
          <p:cNvPr id="58" name="Shape 56"/>
          <p:cNvSpPr/>
          <p:nvPr/>
        </p:nvSpPr>
        <p:spPr>
          <a:xfrm>
            <a:off x="6595110" y="1549255"/>
            <a:ext cx="322326" cy="461119"/>
          </a:xfrm>
          <a:prstGeom prst="rect">
            <a:avLst/>
          </a:prstGeom>
          <a:solidFill>
            <a:srgbClr val="132B4A"/>
          </a:solidFill>
          <a:ln w="3810">
            <a:solidFill>
              <a:srgbClr val="F7FAFF"/>
            </a:solidFill>
            <a:prstDash val="solid"/>
          </a:ln>
        </p:spPr>
        <p:txBody>
          <a:bodyPr/>
          <a:lstStyle/>
          <a:p>
            <a:endParaRPr lang="th-TH"/>
          </a:p>
        </p:txBody>
      </p:sp>
      <p:sp>
        <p:nvSpPr>
          <p:cNvPr id="59" name="Shape 57"/>
          <p:cNvSpPr/>
          <p:nvPr/>
        </p:nvSpPr>
        <p:spPr>
          <a:xfrm>
            <a:off x="6926580" y="1549255"/>
            <a:ext cx="322326" cy="461119"/>
          </a:xfrm>
          <a:prstGeom prst="rect">
            <a:avLst/>
          </a:prstGeom>
          <a:solidFill>
            <a:srgbClr val="1E3553"/>
          </a:solidFill>
          <a:ln w="3810">
            <a:solidFill>
              <a:srgbClr val="F7FAFF"/>
            </a:solidFill>
            <a:prstDash val="solid"/>
          </a:ln>
        </p:spPr>
        <p:txBody>
          <a:bodyPr/>
          <a:lstStyle/>
          <a:p>
            <a:endParaRPr lang="th-TH"/>
          </a:p>
        </p:txBody>
      </p:sp>
      <p:sp>
        <p:nvSpPr>
          <p:cNvPr id="60" name="Shape 58"/>
          <p:cNvSpPr/>
          <p:nvPr/>
        </p:nvSpPr>
        <p:spPr>
          <a:xfrm>
            <a:off x="7258050" y="1549255"/>
            <a:ext cx="322326" cy="461119"/>
          </a:xfrm>
          <a:prstGeom prst="rect">
            <a:avLst/>
          </a:prstGeom>
          <a:solidFill>
            <a:srgbClr val="384E6A"/>
          </a:solidFill>
          <a:ln w="3810">
            <a:solidFill>
              <a:srgbClr val="F7FAFF"/>
            </a:solidFill>
            <a:prstDash val="solid"/>
          </a:ln>
        </p:spPr>
        <p:txBody>
          <a:bodyPr/>
          <a:lstStyle/>
          <a:p>
            <a:endParaRPr lang="th-TH"/>
          </a:p>
        </p:txBody>
      </p:sp>
      <p:sp>
        <p:nvSpPr>
          <p:cNvPr id="61" name="Shape 59"/>
          <p:cNvSpPr/>
          <p:nvPr/>
        </p:nvSpPr>
        <p:spPr>
          <a:xfrm>
            <a:off x="7589520" y="1549255"/>
            <a:ext cx="322326" cy="461119"/>
          </a:xfrm>
          <a:prstGeom prst="rect">
            <a:avLst/>
          </a:prstGeom>
          <a:solidFill>
            <a:srgbClr val="5F738C"/>
          </a:solidFill>
          <a:ln w="3810">
            <a:solidFill>
              <a:srgbClr val="F7FAFF"/>
            </a:solidFill>
            <a:prstDash val="solid"/>
          </a:ln>
        </p:spPr>
        <p:txBody>
          <a:bodyPr/>
          <a:lstStyle/>
          <a:p>
            <a:endParaRPr lang="th-TH"/>
          </a:p>
        </p:txBody>
      </p:sp>
      <p:sp>
        <p:nvSpPr>
          <p:cNvPr id="62" name="Shape 60"/>
          <p:cNvSpPr/>
          <p:nvPr/>
        </p:nvSpPr>
        <p:spPr>
          <a:xfrm>
            <a:off x="7920990" y="1549255"/>
            <a:ext cx="322326" cy="461119"/>
          </a:xfrm>
          <a:prstGeom prst="rect">
            <a:avLst/>
          </a:prstGeom>
          <a:solidFill>
            <a:srgbClr val="7F92A8"/>
          </a:solidFill>
          <a:ln w="3810">
            <a:solidFill>
              <a:srgbClr val="F7FAFF"/>
            </a:solidFill>
            <a:prstDash val="solid"/>
          </a:ln>
        </p:spPr>
        <p:txBody>
          <a:bodyPr/>
          <a:lstStyle/>
          <a:p>
            <a:endParaRPr lang="th-TH"/>
          </a:p>
        </p:txBody>
      </p:sp>
      <p:sp>
        <p:nvSpPr>
          <p:cNvPr id="63" name="Shape 61"/>
          <p:cNvSpPr/>
          <p:nvPr/>
        </p:nvSpPr>
        <p:spPr>
          <a:xfrm>
            <a:off x="8252460" y="1549255"/>
            <a:ext cx="322326" cy="461119"/>
          </a:xfrm>
          <a:prstGeom prst="rect">
            <a:avLst/>
          </a:prstGeom>
          <a:solidFill>
            <a:srgbClr val="99AABF"/>
          </a:solidFill>
          <a:ln w="3810">
            <a:solidFill>
              <a:srgbClr val="F7FAFF"/>
            </a:solidFill>
            <a:prstDash val="solid"/>
          </a:ln>
        </p:spPr>
        <p:txBody>
          <a:bodyPr/>
          <a:lstStyle/>
          <a:p>
            <a:endParaRPr lang="th-TH"/>
          </a:p>
        </p:txBody>
      </p:sp>
      <p:sp>
        <p:nvSpPr>
          <p:cNvPr id="64" name="Shape 62"/>
          <p:cNvSpPr/>
          <p:nvPr/>
        </p:nvSpPr>
        <p:spPr>
          <a:xfrm>
            <a:off x="8583930" y="1549255"/>
            <a:ext cx="322326" cy="461119"/>
          </a:xfrm>
          <a:prstGeom prst="rect">
            <a:avLst/>
          </a:prstGeom>
          <a:solidFill>
            <a:srgbClr val="B1C1D4"/>
          </a:solidFill>
          <a:ln w="3810">
            <a:solidFill>
              <a:srgbClr val="F7FAFF"/>
            </a:solidFill>
            <a:prstDash val="solid"/>
          </a:ln>
        </p:spPr>
        <p:txBody>
          <a:bodyPr/>
          <a:lstStyle/>
          <a:p>
            <a:endParaRPr lang="th-TH"/>
          </a:p>
        </p:txBody>
      </p:sp>
      <p:sp>
        <p:nvSpPr>
          <p:cNvPr id="65" name="Shape 63"/>
          <p:cNvSpPr/>
          <p:nvPr/>
        </p:nvSpPr>
        <p:spPr>
          <a:xfrm>
            <a:off x="960120" y="2019518"/>
            <a:ext cx="322326" cy="461119"/>
          </a:xfrm>
          <a:prstGeom prst="rect">
            <a:avLst/>
          </a:prstGeom>
          <a:solidFill>
            <a:srgbClr val="BAC9DB"/>
          </a:solidFill>
          <a:ln w="3810">
            <a:solidFill>
              <a:srgbClr val="F7FAFF"/>
            </a:solidFill>
            <a:prstDash val="solid"/>
          </a:ln>
        </p:spPr>
        <p:txBody>
          <a:bodyPr/>
          <a:lstStyle/>
          <a:p>
            <a:endParaRPr lang="th-TH"/>
          </a:p>
        </p:txBody>
      </p:sp>
      <p:sp>
        <p:nvSpPr>
          <p:cNvPr id="66" name="Shape 64"/>
          <p:cNvSpPr/>
          <p:nvPr/>
        </p:nvSpPr>
        <p:spPr>
          <a:xfrm>
            <a:off x="1291590" y="2019518"/>
            <a:ext cx="322326" cy="461119"/>
          </a:xfrm>
          <a:prstGeom prst="rect">
            <a:avLst/>
          </a:prstGeom>
          <a:solidFill>
            <a:srgbClr val="C5D3E5"/>
          </a:solidFill>
          <a:ln w="3810">
            <a:solidFill>
              <a:srgbClr val="F7FAFF"/>
            </a:solidFill>
            <a:prstDash val="solid"/>
          </a:ln>
        </p:spPr>
        <p:txBody>
          <a:bodyPr/>
          <a:lstStyle/>
          <a:p>
            <a:endParaRPr lang="th-TH"/>
          </a:p>
        </p:txBody>
      </p:sp>
      <p:sp>
        <p:nvSpPr>
          <p:cNvPr id="67" name="Shape 65"/>
          <p:cNvSpPr/>
          <p:nvPr/>
        </p:nvSpPr>
        <p:spPr>
          <a:xfrm>
            <a:off x="1623060" y="2019518"/>
            <a:ext cx="322326" cy="461119"/>
          </a:xfrm>
          <a:prstGeom prst="rect">
            <a:avLst/>
          </a:prstGeom>
          <a:solidFill>
            <a:srgbClr val="CBD9EA"/>
          </a:solidFill>
          <a:ln w="3810">
            <a:solidFill>
              <a:srgbClr val="F7FAFF"/>
            </a:solidFill>
            <a:prstDash val="solid"/>
          </a:ln>
        </p:spPr>
        <p:txBody>
          <a:bodyPr/>
          <a:lstStyle/>
          <a:p>
            <a:endParaRPr lang="th-TH"/>
          </a:p>
        </p:txBody>
      </p:sp>
      <p:sp>
        <p:nvSpPr>
          <p:cNvPr id="68" name="Shape 66"/>
          <p:cNvSpPr/>
          <p:nvPr/>
        </p:nvSpPr>
        <p:spPr>
          <a:xfrm>
            <a:off x="1954530" y="2019518"/>
            <a:ext cx="322326" cy="461119"/>
          </a:xfrm>
          <a:prstGeom prst="rect">
            <a:avLst/>
          </a:prstGeom>
          <a:solidFill>
            <a:srgbClr val="CDDCEC"/>
          </a:solidFill>
          <a:ln w="3810">
            <a:solidFill>
              <a:srgbClr val="F7FAFF"/>
            </a:solidFill>
            <a:prstDash val="solid"/>
          </a:ln>
        </p:spPr>
        <p:txBody>
          <a:bodyPr/>
          <a:lstStyle/>
          <a:p>
            <a:endParaRPr lang="th-TH"/>
          </a:p>
        </p:txBody>
      </p:sp>
      <p:sp>
        <p:nvSpPr>
          <p:cNvPr id="69" name="Shape 67"/>
          <p:cNvSpPr/>
          <p:nvPr/>
        </p:nvSpPr>
        <p:spPr>
          <a:xfrm>
            <a:off x="2286000" y="2019518"/>
            <a:ext cx="322326" cy="461119"/>
          </a:xfrm>
          <a:prstGeom prst="rect">
            <a:avLst/>
          </a:prstGeom>
          <a:solidFill>
            <a:srgbClr val="C7D5E6"/>
          </a:solidFill>
          <a:ln w="3810">
            <a:solidFill>
              <a:srgbClr val="F7FAFF"/>
            </a:solidFill>
            <a:prstDash val="solid"/>
          </a:ln>
        </p:spPr>
        <p:txBody>
          <a:bodyPr/>
          <a:lstStyle/>
          <a:p>
            <a:endParaRPr lang="th-TH"/>
          </a:p>
        </p:txBody>
      </p:sp>
      <p:sp>
        <p:nvSpPr>
          <p:cNvPr id="70" name="Shape 68"/>
          <p:cNvSpPr/>
          <p:nvPr/>
        </p:nvSpPr>
        <p:spPr>
          <a:xfrm>
            <a:off x="2617470" y="2019518"/>
            <a:ext cx="322326" cy="461119"/>
          </a:xfrm>
          <a:prstGeom prst="rect">
            <a:avLst/>
          </a:prstGeom>
          <a:solidFill>
            <a:srgbClr val="B3C3D5"/>
          </a:solidFill>
          <a:ln w="3810">
            <a:solidFill>
              <a:srgbClr val="F7FAFF"/>
            </a:solidFill>
            <a:prstDash val="solid"/>
          </a:ln>
        </p:spPr>
        <p:txBody>
          <a:bodyPr/>
          <a:lstStyle/>
          <a:p>
            <a:endParaRPr lang="th-TH"/>
          </a:p>
        </p:txBody>
      </p:sp>
      <p:sp>
        <p:nvSpPr>
          <p:cNvPr id="71" name="Shape 69"/>
          <p:cNvSpPr/>
          <p:nvPr/>
        </p:nvSpPr>
        <p:spPr>
          <a:xfrm>
            <a:off x="2948940" y="2019518"/>
            <a:ext cx="322326" cy="461119"/>
          </a:xfrm>
          <a:prstGeom prst="rect">
            <a:avLst/>
          </a:prstGeom>
          <a:solidFill>
            <a:srgbClr val="8A9CB2"/>
          </a:solidFill>
          <a:ln w="3810">
            <a:solidFill>
              <a:srgbClr val="F7FAFF"/>
            </a:solidFill>
            <a:prstDash val="solid"/>
          </a:ln>
        </p:spPr>
        <p:txBody>
          <a:bodyPr/>
          <a:lstStyle/>
          <a:p>
            <a:endParaRPr lang="th-TH"/>
          </a:p>
        </p:txBody>
      </p:sp>
      <p:sp>
        <p:nvSpPr>
          <p:cNvPr id="72" name="Shape 70"/>
          <p:cNvSpPr/>
          <p:nvPr/>
        </p:nvSpPr>
        <p:spPr>
          <a:xfrm>
            <a:off x="3280410" y="2019518"/>
            <a:ext cx="322326" cy="461119"/>
          </a:xfrm>
          <a:prstGeom prst="rect">
            <a:avLst/>
          </a:prstGeom>
          <a:solidFill>
            <a:srgbClr val="405671"/>
          </a:solidFill>
          <a:ln w="3810">
            <a:solidFill>
              <a:srgbClr val="F7FAFF"/>
            </a:solidFill>
            <a:prstDash val="solid"/>
          </a:ln>
        </p:spPr>
        <p:txBody>
          <a:bodyPr/>
          <a:lstStyle/>
          <a:p>
            <a:endParaRPr lang="th-TH"/>
          </a:p>
        </p:txBody>
      </p:sp>
      <p:sp>
        <p:nvSpPr>
          <p:cNvPr id="73" name="Shape 71"/>
          <p:cNvSpPr/>
          <p:nvPr/>
        </p:nvSpPr>
        <p:spPr>
          <a:xfrm>
            <a:off x="3611880" y="2019518"/>
            <a:ext cx="322326" cy="461119"/>
          </a:xfrm>
          <a:prstGeom prst="rect">
            <a:avLst/>
          </a:prstGeom>
          <a:solidFill>
            <a:srgbClr val="1E3553"/>
          </a:solidFill>
          <a:ln w="3810">
            <a:solidFill>
              <a:srgbClr val="F7FAFF"/>
            </a:solidFill>
            <a:prstDash val="solid"/>
          </a:ln>
        </p:spPr>
        <p:txBody>
          <a:bodyPr/>
          <a:lstStyle/>
          <a:p>
            <a:endParaRPr lang="th-TH"/>
          </a:p>
        </p:txBody>
      </p:sp>
      <p:sp>
        <p:nvSpPr>
          <p:cNvPr id="74" name="Shape 72"/>
          <p:cNvSpPr/>
          <p:nvPr/>
        </p:nvSpPr>
        <p:spPr>
          <a:xfrm>
            <a:off x="3943350" y="2019518"/>
            <a:ext cx="322326" cy="461119"/>
          </a:xfrm>
          <a:prstGeom prst="rect">
            <a:avLst/>
          </a:prstGeom>
          <a:solidFill>
            <a:srgbClr val="2F4662"/>
          </a:solidFill>
          <a:ln w="3810">
            <a:solidFill>
              <a:srgbClr val="F7FAFF"/>
            </a:solidFill>
            <a:prstDash val="solid"/>
          </a:ln>
        </p:spPr>
        <p:txBody>
          <a:bodyPr/>
          <a:lstStyle/>
          <a:p>
            <a:endParaRPr lang="th-TH"/>
          </a:p>
        </p:txBody>
      </p:sp>
      <p:sp>
        <p:nvSpPr>
          <p:cNvPr id="75" name="Shape 73"/>
          <p:cNvSpPr/>
          <p:nvPr/>
        </p:nvSpPr>
        <p:spPr>
          <a:xfrm>
            <a:off x="4274820" y="2019518"/>
            <a:ext cx="322326" cy="461119"/>
          </a:xfrm>
          <a:prstGeom prst="rect">
            <a:avLst/>
          </a:prstGeom>
          <a:solidFill>
            <a:srgbClr val="495E79"/>
          </a:solidFill>
          <a:ln w="3810">
            <a:solidFill>
              <a:srgbClr val="F7FAFF"/>
            </a:solidFill>
            <a:prstDash val="solid"/>
          </a:ln>
        </p:spPr>
        <p:txBody>
          <a:bodyPr/>
          <a:lstStyle/>
          <a:p>
            <a:endParaRPr lang="th-TH"/>
          </a:p>
        </p:txBody>
      </p:sp>
      <p:sp>
        <p:nvSpPr>
          <p:cNvPr id="76" name="Shape 74"/>
          <p:cNvSpPr/>
          <p:nvPr/>
        </p:nvSpPr>
        <p:spPr>
          <a:xfrm>
            <a:off x="4606290" y="2019518"/>
            <a:ext cx="322326" cy="461119"/>
          </a:xfrm>
          <a:prstGeom prst="rect">
            <a:avLst/>
          </a:prstGeom>
          <a:solidFill>
            <a:srgbClr val="4F657E"/>
          </a:solidFill>
          <a:ln w="3810">
            <a:solidFill>
              <a:srgbClr val="F7FAFF"/>
            </a:solidFill>
            <a:prstDash val="solid"/>
          </a:ln>
        </p:spPr>
        <p:txBody>
          <a:bodyPr/>
          <a:lstStyle/>
          <a:p>
            <a:endParaRPr lang="th-TH"/>
          </a:p>
        </p:txBody>
      </p:sp>
      <p:sp>
        <p:nvSpPr>
          <p:cNvPr id="77" name="Shape 75"/>
          <p:cNvSpPr/>
          <p:nvPr/>
        </p:nvSpPr>
        <p:spPr>
          <a:xfrm>
            <a:off x="4937760" y="2019518"/>
            <a:ext cx="322326" cy="461119"/>
          </a:xfrm>
          <a:prstGeom prst="rect">
            <a:avLst/>
          </a:prstGeom>
          <a:solidFill>
            <a:srgbClr val="495E79"/>
          </a:solidFill>
          <a:ln w="3810">
            <a:solidFill>
              <a:srgbClr val="F7FAFF"/>
            </a:solidFill>
            <a:prstDash val="solid"/>
          </a:ln>
        </p:spPr>
        <p:txBody>
          <a:bodyPr/>
          <a:lstStyle/>
          <a:p>
            <a:endParaRPr lang="th-TH"/>
          </a:p>
        </p:txBody>
      </p:sp>
      <p:sp>
        <p:nvSpPr>
          <p:cNvPr id="78" name="Shape 76"/>
          <p:cNvSpPr/>
          <p:nvPr/>
        </p:nvSpPr>
        <p:spPr>
          <a:xfrm>
            <a:off x="5269230" y="2019518"/>
            <a:ext cx="322326" cy="461119"/>
          </a:xfrm>
          <a:prstGeom prst="rect">
            <a:avLst/>
          </a:prstGeom>
          <a:solidFill>
            <a:srgbClr val="495E79"/>
          </a:solidFill>
          <a:ln w="3810">
            <a:solidFill>
              <a:srgbClr val="F7FAFF"/>
            </a:solidFill>
            <a:prstDash val="solid"/>
          </a:ln>
        </p:spPr>
        <p:txBody>
          <a:bodyPr/>
          <a:lstStyle/>
          <a:p>
            <a:endParaRPr lang="th-TH"/>
          </a:p>
        </p:txBody>
      </p:sp>
      <p:sp>
        <p:nvSpPr>
          <p:cNvPr id="79" name="Shape 77"/>
          <p:cNvSpPr/>
          <p:nvPr/>
        </p:nvSpPr>
        <p:spPr>
          <a:xfrm>
            <a:off x="5600700" y="2019518"/>
            <a:ext cx="322326" cy="461119"/>
          </a:xfrm>
          <a:prstGeom prst="rect">
            <a:avLst/>
          </a:prstGeom>
          <a:solidFill>
            <a:srgbClr val="455A75"/>
          </a:solidFill>
          <a:ln w="3810">
            <a:solidFill>
              <a:srgbClr val="F7FAFF"/>
            </a:solidFill>
            <a:prstDash val="solid"/>
          </a:ln>
        </p:spPr>
        <p:txBody>
          <a:bodyPr/>
          <a:lstStyle/>
          <a:p>
            <a:endParaRPr lang="th-TH"/>
          </a:p>
        </p:txBody>
      </p:sp>
      <p:sp>
        <p:nvSpPr>
          <p:cNvPr id="80" name="Shape 78"/>
          <p:cNvSpPr/>
          <p:nvPr/>
        </p:nvSpPr>
        <p:spPr>
          <a:xfrm>
            <a:off x="5932170" y="2019518"/>
            <a:ext cx="322326" cy="461119"/>
          </a:xfrm>
          <a:prstGeom prst="rect">
            <a:avLst/>
          </a:prstGeom>
          <a:solidFill>
            <a:srgbClr val="3C526D"/>
          </a:solidFill>
          <a:ln w="3810">
            <a:solidFill>
              <a:srgbClr val="F7FAFF"/>
            </a:solidFill>
            <a:prstDash val="solid"/>
          </a:ln>
        </p:spPr>
        <p:txBody>
          <a:bodyPr/>
          <a:lstStyle/>
          <a:p>
            <a:endParaRPr lang="th-TH"/>
          </a:p>
        </p:txBody>
      </p:sp>
      <p:sp>
        <p:nvSpPr>
          <p:cNvPr id="81" name="Shape 79"/>
          <p:cNvSpPr/>
          <p:nvPr/>
        </p:nvSpPr>
        <p:spPr>
          <a:xfrm>
            <a:off x="6263640" y="2019518"/>
            <a:ext cx="322326" cy="461119"/>
          </a:xfrm>
          <a:prstGeom prst="rect">
            <a:avLst/>
          </a:prstGeom>
          <a:solidFill>
            <a:srgbClr val="2B425E"/>
          </a:solidFill>
          <a:ln w="3810">
            <a:solidFill>
              <a:srgbClr val="F7FAFF"/>
            </a:solidFill>
            <a:prstDash val="solid"/>
          </a:ln>
        </p:spPr>
        <p:txBody>
          <a:bodyPr/>
          <a:lstStyle/>
          <a:p>
            <a:endParaRPr lang="th-TH"/>
          </a:p>
        </p:txBody>
      </p:sp>
      <p:sp>
        <p:nvSpPr>
          <p:cNvPr id="82" name="Shape 80"/>
          <p:cNvSpPr/>
          <p:nvPr/>
        </p:nvSpPr>
        <p:spPr>
          <a:xfrm>
            <a:off x="6595110" y="2019518"/>
            <a:ext cx="322326" cy="461119"/>
          </a:xfrm>
          <a:prstGeom prst="rect">
            <a:avLst/>
          </a:prstGeom>
          <a:solidFill>
            <a:srgbClr val="112948"/>
          </a:solidFill>
          <a:ln w="3810">
            <a:solidFill>
              <a:srgbClr val="F7FAFF"/>
            </a:solidFill>
            <a:prstDash val="solid"/>
          </a:ln>
        </p:spPr>
        <p:txBody>
          <a:bodyPr/>
          <a:lstStyle/>
          <a:p>
            <a:endParaRPr lang="th-TH"/>
          </a:p>
        </p:txBody>
      </p:sp>
      <p:sp>
        <p:nvSpPr>
          <p:cNvPr id="83" name="Shape 81"/>
          <p:cNvSpPr/>
          <p:nvPr/>
        </p:nvSpPr>
        <p:spPr>
          <a:xfrm>
            <a:off x="6926580" y="2019518"/>
            <a:ext cx="322326" cy="461119"/>
          </a:xfrm>
          <a:prstGeom prst="rect">
            <a:avLst/>
          </a:prstGeom>
          <a:solidFill>
            <a:srgbClr val="1B3351"/>
          </a:solidFill>
          <a:ln w="3810">
            <a:solidFill>
              <a:srgbClr val="F7FAFF"/>
            </a:solidFill>
            <a:prstDash val="solid"/>
          </a:ln>
        </p:spPr>
        <p:txBody>
          <a:bodyPr/>
          <a:lstStyle/>
          <a:p>
            <a:endParaRPr lang="th-TH"/>
          </a:p>
        </p:txBody>
      </p:sp>
      <p:sp>
        <p:nvSpPr>
          <p:cNvPr id="84" name="Shape 82"/>
          <p:cNvSpPr/>
          <p:nvPr/>
        </p:nvSpPr>
        <p:spPr>
          <a:xfrm>
            <a:off x="7258050" y="2019518"/>
            <a:ext cx="322326" cy="461119"/>
          </a:xfrm>
          <a:prstGeom prst="rect">
            <a:avLst/>
          </a:prstGeom>
          <a:solidFill>
            <a:srgbClr val="354C68"/>
          </a:solidFill>
          <a:ln w="3810">
            <a:solidFill>
              <a:srgbClr val="F7FAFF"/>
            </a:solidFill>
            <a:prstDash val="solid"/>
          </a:ln>
        </p:spPr>
        <p:txBody>
          <a:bodyPr/>
          <a:lstStyle/>
          <a:p>
            <a:endParaRPr lang="th-TH"/>
          </a:p>
        </p:txBody>
      </p:sp>
      <p:sp>
        <p:nvSpPr>
          <p:cNvPr id="85" name="Shape 83"/>
          <p:cNvSpPr/>
          <p:nvPr/>
        </p:nvSpPr>
        <p:spPr>
          <a:xfrm>
            <a:off x="7589520" y="2019518"/>
            <a:ext cx="322326" cy="461119"/>
          </a:xfrm>
          <a:prstGeom prst="rect">
            <a:avLst/>
          </a:prstGeom>
          <a:solidFill>
            <a:srgbClr val="5C718A"/>
          </a:solidFill>
          <a:ln w="3810">
            <a:solidFill>
              <a:srgbClr val="F7FAFF"/>
            </a:solidFill>
            <a:prstDash val="solid"/>
          </a:ln>
        </p:spPr>
        <p:txBody>
          <a:bodyPr/>
          <a:lstStyle/>
          <a:p>
            <a:endParaRPr lang="th-TH"/>
          </a:p>
        </p:txBody>
      </p:sp>
      <p:sp>
        <p:nvSpPr>
          <p:cNvPr id="86" name="Shape 84"/>
          <p:cNvSpPr/>
          <p:nvPr/>
        </p:nvSpPr>
        <p:spPr>
          <a:xfrm>
            <a:off x="7920990" y="2019518"/>
            <a:ext cx="322326" cy="461119"/>
          </a:xfrm>
          <a:prstGeom prst="rect">
            <a:avLst/>
          </a:prstGeom>
          <a:solidFill>
            <a:srgbClr val="7D90A6"/>
          </a:solidFill>
          <a:ln w="3810">
            <a:solidFill>
              <a:srgbClr val="F7FAFF"/>
            </a:solidFill>
            <a:prstDash val="solid"/>
          </a:ln>
        </p:spPr>
        <p:txBody>
          <a:bodyPr/>
          <a:lstStyle/>
          <a:p>
            <a:endParaRPr lang="th-TH"/>
          </a:p>
        </p:txBody>
      </p:sp>
      <p:sp>
        <p:nvSpPr>
          <p:cNvPr id="87" name="Shape 85"/>
          <p:cNvSpPr/>
          <p:nvPr/>
        </p:nvSpPr>
        <p:spPr>
          <a:xfrm>
            <a:off x="8252460" y="2019518"/>
            <a:ext cx="322326" cy="461119"/>
          </a:xfrm>
          <a:prstGeom prst="rect">
            <a:avLst/>
          </a:prstGeom>
          <a:solidFill>
            <a:srgbClr val="97A8BD"/>
          </a:solidFill>
          <a:ln w="3810">
            <a:solidFill>
              <a:srgbClr val="F7FAFF"/>
            </a:solidFill>
            <a:prstDash val="solid"/>
          </a:ln>
        </p:spPr>
        <p:txBody>
          <a:bodyPr/>
          <a:lstStyle/>
          <a:p>
            <a:endParaRPr lang="th-TH"/>
          </a:p>
        </p:txBody>
      </p:sp>
      <p:sp>
        <p:nvSpPr>
          <p:cNvPr id="88" name="Shape 86"/>
          <p:cNvSpPr/>
          <p:nvPr/>
        </p:nvSpPr>
        <p:spPr>
          <a:xfrm>
            <a:off x="8583930" y="2019518"/>
            <a:ext cx="322326" cy="461119"/>
          </a:xfrm>
          <a:prstGeom prst="rect">
            <a:avLst/>
          </a:prstGeom>
          <a:solidFill>
            <a:srgbClr val="AFBFD2"/>
          </a:solidFill>
          <a:ln w="3810">
            <a:solidFill>
              <a:srgbClr val="F7FAFF"/>
            </a:solidFill>
            <a:prstDash val="solid"/>
          </a:ln>
        </p:spPr>
        <p:txBody>
          <a:bodyPr/>
          <a:lstStyle/>
          <a:p>
            <a:endParaRPr lang="th-TH"/>
          </a:p>
        </p:txBody>
      </p:sp>
      <p:sp>
        <p:nvSpPr>
          <p:cNvPr id="89" name="Shape 87"/>
          <p:cNvSpPr/>
          <p:nvPr/>
        </p:nvSpPr>
        <p:spPr>
          <a:xfrm>
            <a:off x="960120" y="2489781"/>
            <a:ext cx="322326" cy="461119"/>
          </a:xfrm>
          <a:prstGeom prst="rect">
            <a:avLst/>
          </a:prstGeom>
          <a:solidFill>
            <a:srgbClr val="B8C7D9"/>
          </a:solidFill>
          <a:ln w="3810">
            <a:solidFill>
              <a:srgbClr val="F7FAFF"/>
            </a:solidFill>
            <a:prstDash val="solid"/>
          </a:ln>
        </p:spPr>
        <p:txBody>
          <a:bodyPr/>
          <a:lstStyle/>
          <a:p>
            <a:endParaRPr lang="th-TH"/>
          </a:p>
        </p:txBody>
      </p:sp>
      <p:sp>
        <p:nvSpPr>
          <p:cNvPr id="90" name="Shape 88"/>
          <p:cNvSpPr/>
          <p:nvPr/>
        </p:nvSpPr>
        <p:spPr>
          <a:xfrm>
            <a:off x="1291590" y="2489781"/>
            <a:ext cx="322326" cy="461119"/>
          </a:xfrm>
          <a:prstGeom prst="rect">
            <a:avLst/>
          </a:prstGeom>
          <a:solidFill>
            <a:srgbClr val="C2D1E3"/>
          </a:solidFill>
          <a:ln w="3810">
            <a:solidFill>
              <a:srgbClr val="F7FAFF"/>
            </a:solidFill>
            <a:prstDash val="solid"/>
          </a:ln>
        </p:spPr>
        <p:txBody>
          <a:bodyPr/>
          <a:lstStyle/>
          <a:p>
            <a:endParaRPr lang="th-TH"/>
          </a:p>
        </p:txBody>
      </p:sp>
      <p:sp>
        <p:nvSpPr>
          <p:cNvPr id="91" name="Shape 89"/>
          <p:cNvSpPr/>
          <p:nvPr/>
        </p:nvSpPr>
        <p:spPr>
          <a:xfrm>
            <a:off x="1623060" y="2489781"/>
            <a:ext cx="322326" cy="461119"/>
          </a:xfrm>
          <a:prstGeom prst="rect">
            <a:avLst/>
          </a:prstGeom>
          <a:solidFill>
            <a:srgbClr val="C9D7E8"/>
          </a:solidFill>
          <a:ln w="3810">
            <a:solidFill>
              <a:srgbClr val="F7FAFF"/>
            </a:solidFill>
            <a:prstDash val="solid"/>
          </a:ln>
        </p:spPr>
        <p:txBody>
          <a:bodyPr/>
          <a:lstStyle/>
          <a:p>
            <a:endParaRPr lang="th-TH"/>
          </a:p>
        </p:txBody>
      </p:sp>
      <p:sp>
        <p:nvSpPr>
          <p:cNvPr id="92" name="Shape 90"/>
          <p:cNvSpPr/>
          <p:nvPr/>
        </p:nvSpPr>
        <p:spPr>
          <a:xfrm>
            <a:off x="1954530" y="2489781"/>
            <a:ext cx="322326" cy="461119"/>
          </a:xfrm>
          <a:prstGeom prst="rect">
            <a:avLst/>
          </a:prstGeom>
          <a:solidFill>
            <a:srgbClr val="CBD9EA"/>
          </a:solidFill>
          <a:ln w="3810">
            <a:solidFill>
              <a:srgbClr val="F7FAFF"/>
            </a:solidFill>
            <a:prstDash val="solid"/>
          </a:ln>
        </p:spPr>
        <p:txBody>
          <a:bodyPr/>
          <a:lstStyle/>
          <a:p>
            <a:endParaRPr lang="th-TH"/>
          </a:p>
        </p:txBody>
      </p:sp>
      <p:sp>
        <p:nvSpPr>
          <p:cNvPr id="93" name="Shape 91"/>
          <p:cNvSpPr/>
          <p:nvPr/>
        </p:nvSpPr>
        <p:spPr>
          <a:xfrm>
            <a:off x="2286000" y="2489781"/>
            <a:ext cx="322326" cy="461119"/>
          </a:xfrm>
          <a:prstGeom prst="rect">
            <a:avLst/>
          </a:prstGeom>
          <a:solidFill>
            <a:srgbClr val="C5D3E5"/>
          </a:solidFill>
          <a:ln w="3810">
            <a:solidFill>
              <a:srgbClr val="F7FAFF"/>
            </a:solidFill>
            <a:prstDash val="solid"/>
          </a:ln>
        </p:spPr>
        <p:txBody>
          <a:bodyPr/>
          <a:lstStyle/>
          <a:p>
            <a:endParaRPr lang="th-TH"/>
          </a:p>
        </p:txBody>
      </p:sp>
      <p:sp>
        <p:nvSpPr>
          <p:cNvPr id="94" name="Shape 92"/>
          <p:cNvSpPr/>
          <p:nvPr/>
        </p:nvSpPr>
        <p:spPr>
          <a:xfrm>
            <a:off x="2617470" y="2489781"/>
            <a:ext cx="322326" cy="461119"/>
          </a:xfrm>
          <a:prstGeom prst="rect">
            <a:avLst/>
          </a:prstGeom>
          <a:solidFill>
            <a:srgbClr val="B1C1D4"/>
          </a:solidFill>
          <a:ln w="3810">
            <a:solidFill>
              <a:srgbClr val="F7FAFF"/>
            </a:solidFill>
            <a:prstDash val="solid"/>
          </a:ln>
        </p:spPr>
        <p:txBody>
          <a:bodyPr/>
          <a:lstStyle/>
          <a:p>
            <a:endParaRPr lang="th-TH"/>
          </a:p>
        </p:txBody>
      </p:sp>
      <p:sp>
        <p:nvSpPr>
          <p:cNvPr id="95" name="Shape 93"/>
          <p:cNvSpPr/>
          <p:nvPr/>
        </p:nvSpPr>
        <p:spPr>
          <a:xfrm>
            <a:off x="2948940" y="2489781"/>
            <a:ext cx="322326" cy="461119"/>
          </a:xfrm>
          <a:prstGeom prst="rect">
            <a:avLst/>
          </a:prstGeom>
          <a:solidFill>
            <a:srgbClr val="889AB0"/>
          </a:solidFill>
          <a:ln w="3810">
            <a:solidFill>
              <a:srgbClr val="F7FAFF"/>
            </a:solidFill>
            <a:prstDash val="solid"/>
          </a:ln>
        </p:spPr>
        <p:txBody>
          <a:bodyPr/>
          <a:lstStyle/>
          <a:p>
            <a:endParaRPr lang="th-TH"/>
          </a:p>
        </p:txBody>
      </p:sp>
      <p:sp>
        <p:nvSpPr>
          <p:cNvPr id="96" name="Shape 94"/>
          <p:cNvSpPr/>
          <p:nvPr/>
        </p:nvSpPr>
        <p:spPr>
          <a:xfrm>
            <a:off x="3280410" y="2489781"/>
            <a:ext cx="322326" cy="461119"/>
          </a:xfrm>
          <a:prstGeom prst="rect">
            <a:avLst/>
          </a:prstGeom>
          <a:solidFill>
            <a:srgbClr val="3E546F"/>
          </a:solidFill>
          <a:ln w="3810">
            <a:solidFill>
              <a:srgbClr val="F7FAFF"/>
            </a:solidFill>
            <a:prstDash val="solid"/>
          </a:ln>
        </p:spPr>
        <p:txBody>
          <a:bodyPr/>
          <a:lstStyle/>
          <a:p>
            <a:endParaRPr lang="th-TH"/>
          </a:p>
        </p:txBody>
      </p:sp>
      <p:sp>
        <p:nvSpPr>
          <p:cNvPr id="97" name="Shape 95"/>
          <p:cNvSpPr/>
          <p:nvPr/>
        </p:nvSpPr>
        <p:spPr>
          <a:xfrm>
            <a:off x="3611880" y="2489781"/>
            <a:ext cx="322326" cy="461119"/>
          </a:xfrm>
          <a:prstGeom prst="rect">
            <a:avLst/>
          </a:prstGeom>
          <a:solidFill>
            <a:srgbClr val="223A57"/>
          </a:solidFill>
          <a:ln w="3810">
            <a:solidFill>
              <a:srgbClr val="F7FAFF"/>
            </a:solidFill>
            <a:prstDash val="solid"/>
          </a:ln>
        </p:spPr>
        <p:txBody>
          <a:bodyPr/>
          <a:lstStyle/>
          <a:p>
            <a:endParaRPr lang="th-TH"/>
          </a:p>
        </p:txBody>
      </p:sp>
      <p:sp>
        <p:nvSpPr>
          <p:cNvPr id="98" name="Shape 96"/>
          <p:cNvSpPr/>
          <p:nvPr/>
        </p:nvSpPr>
        <p:spPr>
          <a:xfrm>
            <a:off x="3943350" y="2489781"/>
            <a:ext cx="322326" cy="461119"/>
          </a:xfrm>
          <a:prstGeom prst="rect">
            <a:avLst/>
          </a:prstGeom>
          <a:solidFill>
            <a:srgbClr val="334A66"/>
          </a:solidFill>
          <a:ln w="3810">
            <a:solidFill>
              <a:srgbClr val="F7FAFF"/>
            </a:solidFill>
            <a:prstDash val="solid"/>
          </a:ln>
        </p:spPr>
        <p:txBody>
          <a:bodyPr/>
          <a:lstStyle/>
          <a:p>
            <a:endParaRPr lang="th-TH"/>
          </a:p>
        </p:txBody>
      </p:sp>
      <p:sp>
        <p:nvSpPr>
          <p:cNvPr id="99" name="Shape 97"/>
          <p:cNvSpPr/>
          <p:nvPr/>
        </p:nvSpPr>
        <p:spPr>
          <a:xfrm>
            <a:off x="4274820" y="2489781"/>
            <a:ext cx="322326" cy="461119"/>
          </a:xfrm>
          <a:prstGeom prst="rect">
            <a:avLst/>
          </a:prstGeom>
          <a:solidFill>
            <a:srgbClr val="4B617B"/>
          </a:solidFill>
          <a:ln w="3810">
            <a:solidFill>
              <a:srgbClr val="F7FAFF"/>
            </a:solidFill>
            <a:prstDash val="solid"/>
          </a:ln>
        </p:spPr>
        <p:txBody>
          <a:bodyPr/>
          <a:lstStyle/>
          <a:p>
            <a:endParaRPr lang="th-TH"/>
          </a:p>
        </p:txBody>
      </p:sp>
      <p:sp>
        <p:nvSpPr>
          <p:cNvPr id="100" name="Shape 98"/>
          <p:cNvSpPr/>
          <p:nvPr/>
        </p:nvSpPr>
        <p:spPr>
          <a:xfrm>
            <a:off x="4606290" y="2489781"/>
            <a:ext cx="322326" cy="461119"/>
          </a:xfrm>
          <a:prstGeom prst="rect">
            <a:avLst/>
          </a:prstGeom>
          <a:solidFill>
            <a:srgbClr val="526780"/>
          </a:solidFill>
          <a:ln w="3810">
            <a:solidFill>
              <a:srgbClr val="F7FAFF"/>
            </a:solidFill>
            <a:prstDash val="solid"/>
          </a:ln>
        </p:spPr>
        <p:txBody>
          <a:bodyPr/>
          <a:lstStyle/>
          <a:p>
            <a:endParaRPr lang="th-TH"/>
          </a:p>
        </p:txBody>
      </p:sp>
      <p:sp>
        <p:nvSpPr>
          <p:cNvPr id="101" name="Shape 99"/>
          <p:cNvSpPr/>
          <p:nvPr/>
        </p:nvSpPr>
        <p:spPr>
          <a:xfrm>
            <a:off x="4937760" y="2489781"/>
            <a:ext cx="322326" cy="461119"/>
          </a:xfrm>
          <a:prstGeom prst="rect">
            <a:avLst/>
          </a:prstGeom>
          <a:solidFill>
            <a:srgbClr val="4B617B"/>
          </a:solidFill>
          <a:ln w="3810">
            <a:solidFill>
              <a:srgbClr val="F7FAFF"/>
            </a:solidFill>
            <a:prstDash val="solid"/>
          </a:ln>
        </p:spPr>
        <p:txBody>
          <a:bodyPr/>
          <a:lstStyle/>
          <a:p>
            <a:endParaRPr lang="th-TH"/>
          </a:p>
        </p:txBody>
      </p:sp>
      <p:sp>
        <p:nvSpPr>
          <p:cNvPr id="102" name="Shape 100"/>
          <p:cNvSpPr/>
          <p:nvPr/>
        </p:nvSpPr>
        <p:spPr>
          <a:xfrm>
            <a:off x="5269230" y="2489781"/>
            <a:ext cx="322326" cy="461119"/>
          </a:xfrm>
          <a:prstGeom prst="rect">
            <a:avLst/>
          </a:prstGeom>
          <a:solidFill>
            <a:srgbClr val="4B617B"/>
          </a:solidFill>
          <a:ln w="3810">
            <a:solidFill>
              <a:srgbClr val="F7FAFF"/>
            </a:solidFill>
            <a:prstDash val="solid"/>
          </a:ln>
        </p:spPr>
        <p:txBody>
          <a:bodyPr/>
          <a:lstStyle/>
          <a:p>
            <a:endParaRPr lang="th-TH"/>
          </a:p>
        </p:txBody>
      </p:sp>
      <p:sp>
        <p:nvSpPr>
          <p:cNvPr id="103" name="Shape 101"/>
          <p:cNvSpPr/>
          <p:nvPr/>
        </p:nvSpPr>
        <p:spPr>
          <a:xfrm>
            <a:off x="5600700" y="2489781"/>
            <a:ext cx="322326" cy="461119"/>
          </a:xfrm>
          <a:prstGeom prst="rect">
            <a:avLst/>
          </a:prstGeom>
          <a:solidFill>
            <a:srgbClr val="475C77"/>
          </a:solidFill>
          <a:ln w="3810">
            <a:solidFill>
              <a:srgbClr val="F7FAFF"/>
            </a:solidFill>
            <a:prstDash val="solid"/>
          </a:ln>
        </p:spPr>
        <p:txBody>
          <a:bodyPr/>
          <a:lstStyle/>
          <a:p>
            <a:endParaRPr lang="th-TH"/>
          </a:p>
        </p:txBody>
      </p:sp>
      <p:sp>
        <p:nvSpPr>
          <p:cNvPr id="104" name="Shape 102"/>
          <p:cNvSpPr/>
          <p:nvPr/>
        </p:nvSpPr>
        <p:spPr>
          <a:xfrm>
            <a:off x="5932170" y="2489781"/>
            <a:ext cx="322326" cy="461119"/>
          </a:xfrm>
          <a:prstGeom prst="rect">
            <a:avLst/>
          </a:prstGeom>
          <a:solidFill>
            <a:srgbClr val="3E546F"/>
          </a:solidFill>
          <a:ln w="3810">
            <a:solidFill>
              <a:srgbClr val="F7FAFF"/>
            </a:solidFill>
            <a:prstDash val="solid"/>
          </a:ln>
        </p:spPr>
        <p:txBody>
          <a:bodyPr/>
          <a:lstStyle/>
          <a:p>
            <a:endParaRPr lang="th-TH"/>
          </a:p>
        </p:txBody>
      </p:sp>
      <p:sp>
        <p:nvSpPr>
          <p:cNvPr id="105" name="Shape 103"/>
          <p:cNvSpPr/>
          <p:nvPr/>
        </p:nvSpPr>
        <p:spPr>
          <a:xfrm>
            <a:off x="6263640" y="2489781"/>
            <a:ext cx="322326" cy="461119"/>
          </a:xfrm>
          <a:prstGeom prst="rect">
            <a:avLst/>
          </a:prstGeom>
          <a:solidFill>
            <a:srgbClr val="2D4460"/>
          </a:solidFill>
          <a:ln w="3810">
            <a:solidFill>
              <a:srgbClr val="F7FAFF"/>
            </a:solidFill>
            <a:prstDash val="solid"/>
          </a:ln>
        </p:spPr>
        <p:txBody>
          <a:bodyPr/>
          <a:lstStyle/>
          <a:p>
            <a:endParaRPr lang="th-TH"/>
          </a:p>
        </p:txBody>
      </p:sp>
      <p:sp>
        <p:nvSpPr>
          <p:cNvPr id="106" name="Shape 104"/>
          <p:cNvSpPr/>
          <p:nvPr/>
        </p:nvSpPr>
        <p:spPr>
          <a:xfrm>
            <a:off x="6595110" y="2489781"/>
            <a:ext cx="322326" cy="461119"/>
          </a:xfrm>
          <a:prstGeom prst="rect">
            <a:avLst/>
          </a:prstGeom>
          <a:solidFill>
            <a:srgbClr val="132B4A"/>
          </a:solidFill>
          <a:ln w="3810">
            <a:solidFill>
              <a:srgbClr val="F7FAFF"/>
            </a:solidFill>
            <a:prstDash val="solid"/>
          </a:ln>
        </p:spPr>
        <p:txBody>
          <a:bodyPr/>
          <a:lstStyle/>
          <a:p>
            <a:endParaRPr lang="th-TH"/>
          </a:p>
        </p:txBody>
      </p:sp>
      <p:sp>
        <p:nvSpPr>
          <p:cNvPr id="107" name="Shape 105"/>
          <p:cNvSpPr/>
          <p:nvPr/>
        </p:nvSpPr>
        <p:spPr>
          <a:xfrm>
            <a:off x="6926580" y="2489781"/>
            <a:ext cx="322326" cy="461119"/>
          </a:xfrm>
          <a:prstGeom prst="rect">
            <a:avLst/>
          </a:prstGeom>
          <a:solidFill>
            <a:srgbClr val="19314F"/>
          </a:solidFill>
          <a:ln w="3810">
            <a:solidFill>
              <a:srgbClr val="F7FAFF"/>
            </a:solidFill>
            <a:prstDash val="solid"/>
          </a:ln>
        </p:spPr>
        <p:txBody>
          <a:bodyPr/>
          <a:lstStyle/>
          <a:p>
            <a:endParaRPr lang="th-TH"/>
          </a:p>
        </p:txBody>
      </p:sp>
      <p:sp>
        <p:nvSpPr>
          <p:cNvPr id="108" name="Shape 106"/>
          <p:cNvSpPr/>
          <p:nvPr/>
        </p:nvSpPr>
        <p:spPr>
          <a:xfrm>
            <a:off x="7258050" y="2489781"/>
            <a:ext cx="322326" cy="461119"/>
          </a:xfrm>
          <a:prstGeom prst="rect">
            <a:avLst/>
          </a:prstGeom>
          <a:solidFill>
            <a:srgbClr val="334A66"/>
          </a:solidFill>
          <a:ln w="3810">
            <a:solidFill>
              <a:srgbClr val="F7FAFF"/>
            </a:solidFill>
            <a:prstDash val="solid"/>
          </a:ln>
        </p:spPr>
        <p:txBody>
          <a:bodyPr/>
          <a:lstStyle/>
          <a:p>
            <a:endParaRPr lang="th-TH"/>
          </a:p>
        </p:txBody>
      </p:sp>
      <p:sp>
        <p:nvSpPr>
          <p:cNvPr id="109" name="Shape 107"/>
          <p:cNvSpPr/>
          <p:nvPr/>
        </p:nvSpPr>
        <p:spPr>
          <a:xfrm>
            <a:off x="7589520" y="2489781"/>
            <a:ext cx="322326" cy="461119"/>
          </a:xfrm>
          <a:prstGeom prst="rect">
            <a:avLst/>
          </a:prstGeom>
          <a:solidFill>
            <a:srgbClr val="5A6F88"/>
          </a:solidFill>
          <a:ln w="3810">
            <a:solidFill>
              <a:srgbClr val="F7FAFF"/>
            </a:solidFill>
            <a:prstDash val="solid"/>
          </a:ln>
        </p:spPr>
        <p:txBody>
          <a:bodyPr/>
          <a:lstStyle/>
          <a:p>
            <a:endParaRPr lang="th-TH"/>
          </a:p>
        </p:txBody>
      </p:sp>
      <p:sp>
        <p:nvSpPr>
          <p:cNvPr id="110" name="Shape 108"/>
          <p:cNvSpPr/>
          <p:nvPr/>
        </p:nvSpPr>
        <p:spPr>
          <a:xfrm>
            <a:off x="7920990" y="2489781"/>
            <a:ext cx="322326" cy="461119"/>
          </a:xfrm>
          <a:prstGeom prst="rect">
            <a:avLst/>
          </a:prstGeom>
          <a:solidFill>
            <a:srgbClr val="7B8EA4"/>
          </a:solidFill>
          <a:ln w="3810">
            <a:solidFill>
              <a:srgbClr val="F7FAFF"/>
            </a:solidFill>
            <a:prstDash val="solid"/>
          </a:ln>
        </p:spPr>
        <p:txBody>
          <a:bodyPr/>
          <a:lstStyle/>
          <a:p>
            <a:endParaRPr lang="th-TH"/>
          </a:p>
        </p:txBody>
      </p:sp>
      <p:sp>
        <p:nvSpPr>
          <p:cNvPr id="111" name="Shape 109"/>
          <p:cNvSpPr/>
          <p:nvPr/>
        </p:nvSpPr>
        <p:spPr>
          <a:xfrm>
            <a:off x="8252460" y="2489781"/>
            <a:ext cx="322326" cy="461119"/>
          </a:xfrm>
          <a:prstGeom prst="rect">
            <a:avLst/>
          </a:prstGeom>
          <a:solidFill>
            <a:srgbClr val="95A6BB"/>
          </a:solidFill>
          <a:ln w="3810">
            <a:solidFill>
              <a:srgbClr val="F7FAFF"/>
            </a:solidFill>
            <a:prstDash val="solid"/>
          </a:ln>
        </p:spPr>
        <p:txBody>
          <a:bodyPr/>
          <a:lstStyle/>
          <a:p>
            <a:endParaRPr lang="th-TH"/>
          </a:p>
        </p:txBody>
      </p:sp>
      <p:sp>
        <p:nvSpPr>
          <p:cNvPr id="112" name="Shape 110"/>
          <p:cNvSpPr/>
          <p:nvPr/>
        </p:nvSpPr>
        <p:spPr>
          <a:xfrm>
            <a:off x="8583930" y="2489781"/>
            <a:ext cx="322326" cy="461119"/>
          </a:xfrm>
          <a:prstGeom prst="rect">
            <a:avLst/>
          </a:prstGeom>
          <a:solidFill>
            <a:srgbClr val="ADBDD0"/>
          </a:solidFill>
          <a:ln w="3810">
            <a:solidFill>
              <a:srgbClr val="F7FAFF"/>
            </a:solidFill>
            <a:prstDash val="solid"/>
          </a:ln>
        </p:spPr>
        <p:txBody>
          <a:bodyPr/>
          <a:lstStyle/>
          <a:p>
            <a:endParaRPr lang="th-TH"/>
          </a:p>
        </p:txBody>
      </p:sp>
      <p:sp>
        <p:nvSpPr>
          <p:cNvPr id="113" name="Shape 111"/>
          <p:cNvSpPr/>
          <p:nvPr/>
        </p:nvSpPr>
        <p:spPr>
          <a:xfrm>
            <a:off x="960120" y="2960043"/>
            <a:ext cx="322326" cy="461119"/>
          </a:xfrm>
          <a:prstGeom prst="rect">
            <a:avLst/>
          </a:prstGeom>
          <a:solidFill>
            <a:srgbClr val="B5C5D7"/>
          </a:solidFill>
          <a:ln w="3810">
            <a:solidFill>
              <a:srgbClr val="F7FAFF"/>
            </a:solidFill>
            <a:prstDash val="solid"/>
          </a:ln>
        </p:spPr>
        <p:txBody>
          <a:bodyPr/>
          <a:lstStyle/>
          <a:p>
            <a:endParaRPr lang="th-TH"/>
          </a:p>
        </p:txBody>
      </p:sp>
      <p:sp>
        <p:nvSpPr>
          <p:cNvPr id="114" name="Shape 112"/>
          <p:cNvSpPr/>
          <p:nvPr/>
        </p:nvSpPr>
        <p:spPr>
          <a:xfrm>
            <a:off x="1291590" y="2960043"/>
            <a:ext cx="322326" cy="461119"/>
          </a:xfrm>
          <a:prstGeom prst="rect">
            <a:avLst/>
          </a:prstGeom>
          <a:solidFill>
            <a:srgbClr val="C0CFE1"/>
          </a:solidFill>
          <a:ln w="3810">
            <a:solidFill>
              <a:srgbClr val="F7FAFF"/>
            </a:solidFill>
            <a:prstDash val="solid"/>
          </a:ln>
        </p:spPr>
        <p:txBody>
          <a:bodyPr/>
          <a:lstStyle/>
          <a:p>
            <a:endParaRPr lang="th-TH"/>
          </a:p>
        </p:txBody>
      </p:sp>
      <p:sp>
        <p:nvSpPr>
          <p:cNvPr id="115" name="Shape 113"/>
          <p:cNvSpPr/>
          <p:nvPr/>
        </p:nvSpPr>
        <p:spPr>
          <a:xfrm>
            <a:off x="1623060" y="2960043"/>
            <a:ext cx="322326" cy="461119"/>
          </a:xfrm>
          <a:prstGeom prst="rect">
            <a:avLst/>
          </a:prstGeom>
          <a:solidFill>
            <a:srgbClr val="C9D7E8"/>
          </a:solidFill>
          <a:ln w="3810">
            <a:solidFill>
              <a:srgbClr val="F7FAFF"/>
            </a:solidFill>
            <a:prstDash val="solid"/>
          </a:ln>
        </p:spPr>
        <p:txBody>
          <a:bodyPr/>
          <a:lstStyle/>
          <a:p>
            <a:endParaRPr lang="th-TH"/>
          </a:p>
        </p:txBody>
      </p:sp>
      <p:sp>
        <p:nvSpPr>
          <p:cNvPr id="116" name="Shape 114"/>
          <p:cNvSpPr/>
          <p:nvPr/>
        </p:nvSpPr>
        <p:spPr>
          <a:xfrm>
            <a:off x="1954530" y="2960043"/>
            <a:ext cx="322326" cy="461119"/>
          </a:xfrm>
          <a:prstGeom prst="rect">
            <a:avLst/>
          </a:prstGeom>
          <a:solidFill>
            <a:srgbClr val="CBD9EA"/>
          </a:solidFill>
          <a:ln w="3810">
            <a:solidFill>
              <a:srgbClr val="F7FAFF"/>
            </a:solidFill>
            <a:prstDash val="solid"/>
          </a:ln>
        </p:spPr>
        <p:txBody>
          <a:bodyPr/>
          <a:lstStyle/>
          <a:p>
            <a:endParaRPr lang="th-TH"/>
          </a:p>
        </p:txBody>
      </p:sp>
      <p:sp>
        <p:nvSpPr>
          <p:cNvPr id="117" name="Shape 115"/>
          <p:cNvSpPr/>
          <p:nvPr/>
        </p:nvSpPr>
        <p:spPr>
          <a:xfrm>
            <a:off x="2286000" y="2960043"/>
            <a:ext cx="322326" cy="461119"/>
          </a:xfrm>
          <a:prstGeom prst="rect">
            <a:avLst/>
          </a:prstGeom>
          <a:solidFill>
            <a:srgbClr val="C5D3E5"/>
          </a:solidFill>
          <a:ln w="3810">
            <a:solidFill>
              <a:srgbClr val="F7FAFF"/>
            </a:solidFill>
            <a:prstDash val="solid"/>
          </a:ln>
        </p:spPr>
        <p:txBody>
          <a:bodyPr/>
          <a:lstStyle/>
          <a:p>
            <a:endParaRPr lang="th-TH"/>
          </a:p>
        </p:txBody>
      </p:sp>
      <p:sp>
        <p:nvSpPr>
          <p:cNvPr id="118" name="Shape 116"/>
          <p:cNvSpPr/>
          <p:nvPr/>
        </p:nvSpPr>
        <p:spPr>
          <a:xfrm>
            <a:off x="2617470" y="2960043"/>
            <a:ext cx="322326" cy="461119"/>
          </a:xfrm>
          <a:prstGeom prst="rect">
            <a:avLst/>
          </a:prstGeom>
          <a:solidFill>
            <a:srgbClr val="B1C1D4"/>
          </a:solidFill>
          <a:ln w="3810">
            <a:solidFill>
              <a:srgbClr val="F7FAFF"/>
            </a:solidFill>
            <a:prstDash val="solid"/>
          </a:ln>
        </p:spPr>
        <p:txBody>
          <a:bodyPr/>
          <a:lstStyle/>
          <a:p>
            <a:endParaRPr lang="th-TH"/>
          </a:p>
        </p:txBody>
      </p:sp>
      <p:sp>
        <p:nvSpPr>
          <p:cNvPr id="119" name="Shape 117"/>
          <p:cNvSpPr/>
          <p:nvPr/>
        </p:nvSpPr>
        <p:spPr>
          <a:xfrm>
            <a:off x="2948940" y="2960043"/>
            <a:ext cx="322326" cy="461119"/>
          </a:xfrm>
          <a:prstGeom prst="rect">
            <a:avLst/>
          </a:prstGeom>
          <a:solidFill>
            <a:srgbClr val="8698AE"/>
          </a:solidFill>
          <a:ln w="3810">
            <a:solidFill>
              <a:srgbClr val="F7FAFF"/>
            </a:solidFill>
            <a:prstDash val="solid"/>
          </a:ln>
        </p:spPr>
        <p:txBody>
          <a:bodyPr/>
          <a:lstStyle/>
          <a:p>
            <a:endParaRPr lang="th-TH"/>
          </a:p>
        </p:txBody>
      </p:sp>
      <p:sp>
        <p:nvSpPr>
          <p:cNvPr id="120" name="Shape 118"/>
          <p:cNvSpPr/>
          <p:nvPr/>
        </p:nvSpPr>
        <p:spPr>
          <a:xfrm>
            <a:off x="3280410" y="2960043"/>
            <a:ext cx="322326" cy="461119"/>
          </a:xfrm>
          <a:prstGeom prst="rect">
            <a:avLst/>
          </a:prstGeom>
          <a:solidFill>
            <a:srgbClr val="3C526D"/>
          </a:solidFill>
          <a:ln w="3810">
            <a:solidFill>
              <a:srgbClr val="F7FAFF"/>
            </a:solidFill>
            <a:prstDash val="solid"/>
          </a:ln>
        </p:spPr>
        <p:txBody>
          <a:bodyPr/>
          <a:lstStyle/>
          <a:p>
            <a:endParaRPr lang="th-TH"/>
          </a:p>
        </p:txBody>
      </p:sp>
      <p:sp>
        <p:nvSpPr>
          <p:cNvPr id="121" name="Shape 119"/>
          <p:cNvSpPr/>
          <p:nvPr/>
        </p:nvSpPr>
        <p:spPr>
          <a:xfrm>
            <a:off x="3611880" y="2960043"/>
            <a:ext cx="322326" cy="461119"/>
          </a:xfrm>
          <a:prstGeom prst="rect">
            <a:avLst/>
          </a:prstGeom>
          <a:solidFill>
            <a:srgbClr val="203855"/>
          </a:solidFill>
          <a:ln w="3810">
            <a:solidFill>
              <a:srgbClr val="F7FAFF"/>
            </a:solidFill>
            <a:prstDash val="solid"/>
          </a:ln>
        </p:spPr>
        <p:txBody>
          <a:bodyPr/>
          <a:lstStyle/>
          <a:p>
            <a:endParaRPr lang="th-TH"/>
          </a:p>
        </p:txBody>
      </p:sp>
      <p:sp>
        <p:nvSpPr>
          <p:cNvPr id="122" name="Shape 120"/>
          <p:cNvSpPr/>
          <p:nvPr/>
        </p:nvSpPr>
        <p:spPr>
          <a:xfrm>
            <a:off x="3943350" y="2960043"/>
            <a:ext cx="322326" cy="461119"/>
          </a:xfrm>
          <a:prstGeom prst="rect">
            <a:avLst/>
          </a:prstGeom>
          <a:solidFill>
            <a:srgbClr val="2F4662"/>
          </a:solidFill>
          <a:ln w="3810">
            <a:solidFill>
              <a:srgbClr val="F7FAFF"/>
            </a:solidFill>
            <a:prstDash val="solid"/>
          </a:ln>
        </p:spPr>
        <p:txBody>
          <a:bodyPr/>
          <a:lstStyle/>
          <a:p>
            <a:endParaRPr lang="th-TH"/>
          </a:p>
        </p:txBody>
      </p:sp>
      <p:sp>
        <p:nvSpPr>
          <p:cNvPr id="123" name="Shape 121"/>
          <p:cNvSpPr/>
          <p:nvPr/>
        </p:nvSpPr>
        <p:spPr>
          <a:xfrm>
            <a:off x="4274820" y="2960043"/>
            <a:ext cx="322326" cy="461119"/>
          </a:xfrm>
          <a:prstGeom prst="rect">
            <a:avLst/>
          </a:prstGeom>
          <a:solidFill>
            <a:srgbClr val="455A75"/>
          </a:solidFill>
          <a:ln w="3810">
            <a:solidFill>
              <a:srgbClr val="F7FAFF"/>
            </a:solidFill>
            <a:prstDash val="solid"/>
          </a:ln>
        </p:spPr>
        <p:txBody>
          <a:bodyPr/>
          <a:lstStyle/>
          <a:p>
            <a:endParaRPr lang="th-TH"/>
          </a:p>
        </p:txBody>
      </p:sp>
      <p:sp>
        <p:nvSpPr>
          <p:cNvPr id="124" name="Shape 122"/>
          <p:cNvSpPr/>
          <p:nvPr/>
        </p:nvSpPr>
        <p:spPr>
          <a:xfrm>
            <a:off x="4606290" y="2960043"/>
            <a:ext cx="322326" cy="461119"/>
          </a:xfrm>
          <a:prstGeom prst="rect">
            <a:avLst/>
          </a:prstGeom>
          <a:solidFill>
            <a:srgbClr val="4B617B"/>
          </a:solidFill>
          <a:ln w="3810">
            <a:solidFill>
              <a:srgbClr val="F7FAFF"/>
            </a:solidFill>
            <a:prstDash val="solid"/>
          </a:ln>
        </p:spPr>
        <p:txBody>
          <a:bodyPr/>
          <a:lstStyle/>
          <a:p>
            <a:endParaRPr lang="th-TH"/>
          </a:p>
        </p:txBody>
      </p:sp>
      <p:sp>
        <p:nvSpPr>
          <p:cNvPr id="125" name="Shape 123"/>
          <p:cNvSpPr/>
          <p:nvPr/>
        </p:nvSpPr>
        <p:spPr>
          <a:xfrm>
            <a:off x="4937760" y="2960043"/>
            <a:ext cx="322326" cy="461119"/>
          </a:xfrm>
          <a:prstGeom prst="rect">
            <a:avLst/>
          </a:prstGeom>
          <a:solidFill>
            <a:srgbClr val="455A75"/>
          </a:solidFill>
          <a:ln w="3810">
            <a:solidFill>
              <a:srgbClr val="F7FAFF"/>
            </a:solidFill>
            <a:prstDash val="solid"/>
          </a:ln>
        </p:spPr>
        <p:txBody>
          <a:bodyPr/>
          <a:lstStyle/>
          <a:p>
            <a:endParaRPr lang="th-TH"/>
          </a:p>
        </p:txBody>
      </p:sp>
      <p:sp>
        <p:nvSpPr>
          <p:cNvPr id="126" name="Shape 124"/>
          <p:cNvSpPr/>
          <p:nvPr/>
        </p:nvSpPr>
        <p:spPr>
          <a:xfrm>
            <a:off x="5269230" y="2960043"/>
            <a:ext cx="322326" cy="461119"/>
          </a:xfrm>
          <a:prstGeom prst="rect">
            <a:avLst/>
          </a:prstGeom>
          <a:solidFill>
            <a:srgbClr val="425873"/>
          </a:solidFill>
          <a:ln w="3810">
            <a:solidFill>
              <a:srgbClr val="F7FAFF"/>
            </a:solidFill>
            <a:prstDash val="solid"/>
          </a:ln>
        </p:spPr>
        <p:txBody>
          <a:bodyPr/>
          <a:lstStyle/>
          <a:p>
            <a:endParaRPr lang="th-TH"/>
          </a:p>
        </p:txBody>
      </p:sp>
      <p:sp>
        <p:nvSpPr>
          <p:cNvPr id="127" name="Shape 125"/>
          <p:cNvSpPr/>
          <p:nvPr/>
        </p:nvSpPr>
        <p:spPr>
          <a:xfrm>
            <a:off x="5600700" y="2960043"/>
            <a:ext cx="322326" cy="461119"/>
          </a:xfrm>
          <a:prstGeom prst="rect">
            <a:avLst/>
          </a:prstGeom>
          <a:solidFill>
            <a:srgbClr val="3E546F"/>
          </a:solidFill>
          <a:ln w="3810">
            <a:solidFill>
              <a:srgbClr val="F7FAFF"/>
            </a:solidFill>
            <a:prstDash val="solid"/>
          </a:ln>
        </p:spPr>
        <p:txBody>
          <a:bodyPr/>
          <a:lstStyle/>
          <a:p>
            <a:endParaRPr lang="th-TH"/>
          </a:p>
        </p:txBody>
      </p:sp>
      <p:sp>
        <p:nvSpPr>
          <p:cNvPr id="128" name="Shape 126"/>
          <p:cNvSpPr/>
          <p:nvPr/>
        </p:nvSpPr>
        <p:spPr>
          <a:xfrm>
            <a:off x="5932170" y="2960043"/>
            <a:ext cx="322326" cy="461119"/>
          </a:xfrm>
          <a:prstGeom prst="rect">
            <a:avLst/>
          </a:prstGeom>
          <a:solidFill>
            <a:srgbClr val="354C68"/>
          </a:solidFill>
          <a:ln w="3810">
            <a:solidFill>
              <a:srgbClr val="F7FAFF"/>
            </a:solidFill>
            <a:prstDash val="solid"/>
          </a:ln>
        </p:spPr>
        <p:txBody>
          <a:bodyPr/>
          <a:lstStyle/>
          <a:p>
            <a:endParaRPr lang="th-TH"/>
          </a:p>
        </p:txBody>
      </p:sp>
      <p:sp>
        <p:nvSpPr>
          <p:cNvPr id="129" name="Shape 127"/>
          <p:cNvSpPr/>
          <p:nvPr/>
        </p:nvSpPr>
        <p:spPr>
          <a:xfrm>
            <a:off x="6263640" y="2960043"/>
            <a:ext cx="322326" cy="461119"/>
          </a:xfrm>
          <a:prstGeom prst="rect">
            <a:avLst/>
          </a:prstGeom>
          <a:solidFill>
            <a:srgbClr val="243C59"/>
          </a:solidFill>
          <a:ln w="3810">
            <a:solidFill>
              <a:srgbClr val="F7FAFF"/>
            </a:solidFill>
            <a:prstDash val="solid"/>
          </a:ln>
        </p:spPr>
        <p:txBody>
          <a:bodyPr/>
          <a:lstStyle/>
          <a:p>
            <a:endParaRPr lang="th-TH"/>
          </a:p>
        </p:txBody>
      </p:sp>
      <p:sp>
        <p:nvSpPr>
          <p:cNvPr id="130" name="Shape 128"/>
          <p:cNvSpPr/>
          <p:nvPr/>
        </p:nvSpPr>
        <p:spPr>
          <a:xfrm>
            <a:off x="6595110" y="2960043"/>
            <a:ext cx="322326" cy="461119"/>
          </a:xfrm>
          <a:prstGeom prst="rect">
            <a:avLst/>
          </a:prstGeom>
          <a:solidFill>
            <a:srgbClr val="0A2342"/>
          </a:solidFill>
          <a:ln w="3810">
            <a:solidFill>
              <a:srgbClr val="F7FAFF"/>
            </a:solidFill>
            <a:prstDash val="solid"/>
          </a:ln>
        </p:spPr>
        <p:txBody>
          <a:bodyPr/>
          <a:lstStyle/>
          <a:p>
            <a:endParaRPr lang="th-TH"/>
          </a:p>
        </p:txBody>
      </p:sp>
      <p:sp>
        <p:nvSpPr>
          <p:cNvPr id="131" name="Shape 129"/>
          <p:cNvSpPr/>
          <p:nvPr/>
        </p:nvSpPr>
        <p:spPr>
          <a:xfrm>
            <a:off x="6926580" y="2960043"/>
            <a:ext cx="322326" cy="461119"/>
          </a:xfrm>
          <a:prstGeom prst="rect">
            <a:avLst/>
          </a:prstGeom>
          <a:solidFill>
            <a:srgbClr val="132B4A"/>
          </a:solidFill>
          <a:ln w="3810">
            <a:solidFill>
              <a:srgbClr val="F7FAFF"/>
            </a:solidFill>
            <a:prstDash val="solid"/>
          </a:ln>
        </p:spPr>
        <p:txBody>
          <a:bodyPr/>
          <a:lstStyle/>
          <a:p>
            <a:endParaRPr lang="th-TH"/>
          </a:p>
        </p:txBody>
      </p:sp>
      <p:sp>
        <p:nvSpPr>
          <p:cNvPr id="132" name="Shape 130"/>
          <p:cNvSpPr/>
          <p:nvPr/>
        </p:nvSpPr>
        <p:spPr>
          <a:xfrm>
            <a:off x="7258050" y="2960043"/>
            <a:ext cx="322326" cy="461119"/>
          </a:xfrm>
          <a:prstGeom prst="rect">
            <a:avLst/>
          </a:prstGeom>
          <a:solidFill>
            <a:srgbClr val="2D4460"/>
          </a:solidFill>
          <a:ln w="3810">
            <a:solidFill>
              <a:srgbClr val="F7FAFF"/>
            </a:solidFill>
            <a:prstDash val="solid"/>
          </a:ln>
        </p:spPr>
        <p:txBody>
          <a:bodyPr/>
          <a:lstStyle/>
          <a:p>
            <a:endParaRPr lang="th-TH"/>
          </a:p>
        </p:txBody>
      </p:sp>
      <p:sp>
        <p:nvSpPr>
          <p:cNvPr id="133" name="Shape 131"/>
          <p:cNvSpPr/>
          <p:nvPr/>
        </p:nvSpPr>
        <p:spPr>
          <a:xfrm>
            <a:off x="7589520" y="2960043"/>
            <a:ext cx="322326" cy="461119"/>
          </a:xfrm>
          <a:prstGeom prst="rect">
            <a:avLst/>
          </a:prstGeom>
          <a:solidFill>
            <a:srgbClr val="546982"/>
          </a:solidFill>
          <a:ln w="3810">
            <a:solidFill>
              <a:srgbClr val="F7FAFF"/>
            </a:solidFill>
            <a:prstDash val="solid"/>
          </a:ln>
        </p:spPr>
        <p:txBody>
          <a:bodyPr/>
          <a:lstStyle/>
          <a:p>
            <a:endParaRPr lang="th-TH"/>
          </a:p>
        </p:txBody>
      </p:sp>
      <p:sp>
        <p:nvSpPr>
          <p:cNvPr id="134" name="Shape 132"/>
          <p:cNvSpPr/>
          <p:nvPr/>
        </p:nvSpPr>
        <p:spPr>
          <a:xfrm>
            <a:off x="7920990" y="2960043"/>
            <a:ext cx="322326" cy="461119"/>
          </a:xfrm>
          <a:prstGeom prst="rect">
            <a:avLst/>
          </a:prstGeom>
          <a:solidFill>
            <a:srgbClr val="778AA1"/>
          </a:solidFill>
          <a:ln w="3810">
            <a:solidFill>
              <a:srgbClr val="F7FAFF"/>
            </a:solidFill>
            <a:prstDash val="solid"/>
          </a:ln>
        </p:spPr>
        <p:txBody>
          <a:bodyPr/>
          <a:lstStyle/>
          <a:p>
            <a:endParaRPr lang="th-TH"/>
          </a:p>
        </p:txBody>
      </p:sp>
      <p:sp>
        <p:nvSpPr>
          <p:cNvPr id="135" name="Shape 133"/>
          <p:cNvSpPr/>
          <p:nvPr/>
        </p:nvSpPr>
        <p:spPr>
          <a:xfrm>
            <a:off x="8252460" y="2960043"/>
            <a:ext cx="322326" cy="461119"/>
          </a:xfrm>
          <a:prstGeom prst="rect">
            <a:avLst/>
          </a:prstGeom>
          <a:solidFill>
            <a:srgbClr val="91A2B7"/>
          </a:solidFill>
          <a:ln w="3810">
            <a:solidFill>
              <a:srgbClr val="F7FAFF"/>
            </a:solidFill>
            <a:prstDash val="solid"/>
          </a:ln>
        </p:spPr>
        <p:txBody>
          <a:bodyPr/>
          <a:lstStyle/>
          <a:p>
            <a:endParaRPr lang="th-TH"/>
          </a:p>
        </p:txBody>
      </p:sp>
      <p:sp>
        <p:nvSpPr>
          <p:cNvPr id="136" name="Shape 134"/>
          <p:cNvSpPr/>
          <p:nvPr/>
        </p:nvSpPr>
        <p:spPr>
          <a:xfrm>
            <a:off x="8583930" y="2960043"/>
            <a:ext cx="322326" cy="461119"/>
          </a:xfrm>
          <a:prstGeom prst="rect">
            <a:avLst/>
          </a:prstGeom>
          <a:solidFill>
            <a:srgbClr val="A8B9CC"/>
          </a:solidFill>
          <a:ln w="3810">
            <a:solidFill>
              <a:srgbClr val="F7FAFF"/>
            </a:solidFill>
            <a:prstDash val="solid"/>
          </a:ln>
        </p:spPr>
        <p:txBody>
          <a:bodyPr/>
          <a:lstStyle/>
          <a:p>
            <a:endParaRPr lang="th-TH"/>
          </a:p>
        </p:txBody>
      </p:sp>
      <p:sp>
        <p:nvSpPr>
          <p:cNvPr id="137" name="Shape 135"/>
          <p:cNvSpPr/>
          <p:nvPr/>
        </p:nvSpPr>
        <p:spPr>
          <a:xfrm>
            <a:off x="960120" y="3430306"/>
            <a:ext cx="322326" cy="461119"/>
          </a:xfrm>
          <a:prstGeom prst="rect">
            <a:avLst/>
          </a:prstGeom>
          <a:solidFill>
            <a:srgbClr val="ADBDD0"/>
          </a:solidFill>
          <a:ln w="3810">
            <a:solidFill>
              <a:srgbClr val="F7FAFF"/>
            </a:solidFill>
            <a:prstDash val="solid"/>
          </a:ln>
        </p:spPr>
        <p:txBody>
          <a:bodyPr/>
          <a:lstStyle/>
          <a:p>
            <a:endParaRPr lang="th-TH"/>
          </a:p>
        </p:txBody>
      </p:sp>
      <p:sp>
        <p:nvSpPr>
          <p:cNvPr id="138" name="Shape 136"/>
          <p:cNvSpPr/>
          <p:nvPr/>
        </p:nvSpPr>
        <p:spPr>
          <a:xfrm>
            <a:off x="1291590" y="3430306"/>
            <a:ext cx="322326" cy="461119"/>
          </a:xfrm>
          <a:prstGeom prst="rect">
            <a:avLst/>
          </a:prstGeom>
          <a:solidFill>
            <a:srgbClr val="B8C7D9"/>
          </a:solidFill>
          <a:ln w="3810">
            <a:solidFill>
              <a:srgbClr val="F7FAFF"/>
            </a:solidFill>
            <a:prstDash val="solid"/>
          </a:ln>
        </p:spPr>
        <p:txBody>
          <a:bodyPr/>
          <a:lstStyle/>
          <a:p>
            <a:endParaRPr lang="th-TH"/>
          </a:p>
        </p:txBody>
      </p:sp>
      <p:sp>
        <p:nvSpPr>
          <p:cNvPr id="139" name="Shape 137"/>
          <p:cNvSpPr/>
          <p:nvPr/>
        </p:nvSpPr>
        <p:spPr>
          <a:xfrm>
            <a:off x="1623060" y="3430306"/>
            <a:ext cx="322326" cy="461119"/>
          </a:xfrm>
          <a:prstGeom prst="rect">
            <a:avLst/>
          </a:prstGeom>
          <a:solidFill>
            <a:srgbClr val="C0CFE1"/>
          </a:solidFill>
          <a:ln w="3810">
            <a:solidFill>
              <a:srgbClr val="F7FAFF"/>
            </a:solidFill>
            <a:prstDash val="solid"/>
          </a:ln>
        </p:spPr>
        <p:txBody>
          <a:bodyPr/>
          <a:lstStyle/>
          <a:p>
            <a:endParaRPr lang="th-TH"/>
          </a:p>
        </p:txBody>
      </p:sp>
      <p:sp>
        <p:nvSpPr>
          <p:cNvPr id="140" name="Shape 138"/>
          <p:cNvSpPr/>
          <p:nvPr/>
        </p:nvSpPr>
        <p:spPr>
          <a:xfrm>
            <a:off x="1954530" y="3430306"/>
            <a:ext cx="322326" cy="461119"/>
          </a:xfrm>
          <a:prstGeom prst="rect">
            <a:avLst/>
          </a:prstGeom>
          <a:solidFill>
            <a:srgbClr val="C7D5E6"/>
          </a:solidFill>
          <a:ln w="3810">
            <a:solidFill>
              <a:srgbClr val="F7FAFF"/>
            </a:solidFill>
            <a:prstDash val="solid"/>
          </a:ln>
        </p:spPr>
        <p:txBody>
          <a:bodyPr/>
          <a:lstStyle/>
          <a:p>
            <a:endParaRPr lang="th-TH"/>
          </a:p>
        </p:txBody>
      </p:sp>
      <p:sp>
        <p:nvSpPr>
          <p:cNvPr id="141" name="Shape 139"/>
          <p:cNvSpPr/>
          <p:nvPr/>
        </p:nvSpPr>
        <p:spPr>
          <a:xfrm>
            <a:off x="2286000" y="3430306"/>
            <a:ext cx="322326" cy="461119"/>
          </a:xfrm>
          <a:prstGeom prst="rect">
            <a:avLst/>
          </a:prstGeom>
          <a:solidFill>
            <a:srgbClr val="C9D7E8"/>
          </a:solidFill>
          <a:ln w="3810">
            <a:solidFill>
              <a:srgbClr val="F7FAFF"/>
            </a:solidFill>
            <a:prstDash val="solid"/>
          </a:ln>
        </p:spPr>
        <p:txBody>
          <a:bodyPr/>
          <a:lstStyle/>
          <a:p>
            <a:endParaRPr lang="th-TH"/>
          </a:p>
        </p:txBody>
      </p:sp>
      <p:sp>
        <p:nvSpPr>
          <p:cNvPr id="142" name="Shape 140"/>
          <p:cNvSpPr/>
          <p:nvPr/>
        </p:nvSpPr>
        <p:spPr>
          <a:xfrm>
            <a:off x="2617470" y="3430306"/>
            <a:ext cx="322326" cy="461119"/>
          </a:xfrm>
          <a:prstGeom prst="rect">
            <a:avLst/>
          </a:prstGeom>
          <a:solidFill>
            <a:srgbClr val="C5D3E5"/>
          </a:solidFill>
          <a:ln w="3810">
            <a:solidFill>
              <a:srgbClr val="F7FAFF"/>
            </a:solidFill>
            <a:prstDash val="solid"/>
          </a:ln>
        </p:spPr>
        <p:txBody>
          <a:bodyPr/>
          <a:lstStyle/>
          <a:p>
            <a:endParaRPr lang="th-TH"/>
          </a:p>
        </p:txBody>
      </p:sp>
      <p:sp>
        <p:nvSpPr>
          <p:cNvPr id="143" name="Shape 141"/>
          <p:cNvSpPr/>
          <p:nvPr/>
        </p:nvSpPr>
        <p:spPr>
          <a:xfrm>
            <a:off x="2948940" y="3430306"/>
            <a:ext cx="322326" cy="461119"/>
          </a:xfrm>
          <a:prstGeom prst="rect">
            <a:avLst/>
          </a:prstGeom>
          <a:solidFill>
            <a:srgbClr val="B8C7D9"/>
          </a:solidFill>
          <a:ln w="3810">
            <a:solidFill>
              <a:srgbClr val="F7FAFF"/>
            </a:solidFill>
            <a:prstDash val="solid"/>
          </a:ln>
        </p:spPr>
        <p:txBody>
          <a:bodyPr/>
          <a:lstStyle/>
          <a:p>
            <a:endParaRPr lang="th-TH"/>
          </a:p>
        </p:txBody>
      </p:sp>
      <p:sp>
        <p:nvSpPr>
          <p:cNvPr id="144" name="Shape 142"/>
          <p:cNvSpPr/>
          <p:nvPr/>
        </p:nvSpPr>
        <p:spPr>
          <a:xfrm>
            <a:off x="3280410" y="3430306"/>
            <a:ext cx="322326" cy="461119"/>
          </a:xfrm>
          <a:prstGeom prst="rect">
            <a:avLst/>
          </a:prstGeom>
          <a:solidFill>
            <a:srgbClr val="A2B3C6"/>
          </a:solidFill>
          <a:ln w="3810">
            <a:solidFill>
              <a:srgbClr val="F7FAFF"/>
            </a:solidFill>
            <a:prstDash val="solid"/>
          </a:ln>
        </p:spPr>
        <p:txBody>
          <a:bodyPr/>
          <a:lstStyle/>
          <a:p>
            <a:endParaRPr lang="th-TH"/>
          </a:p>
        </p:txBody>
      </p:sp>
      <p:sp>
        <p:nvSpPr>
          <p:cNvPr id="145" name="Shape 143"/>
          <p:cNvSpPr/>
          <p:nvPr/>
        </p:nvSpPr>
        <p:spPr>
          <a:xfrm>
            <a:off x="3611880" y="3430306"/>
            <a:ext cx="322326" cy="461119"/>
          </a:xfrm>
          <a:prstGeom prst="rect">
            <a:avLst/>
          </a:prstGeom>
          <a:solidFill>
            <a:srgbClr val="8194AA"/>
          </a:solidFill>
          <a:ln w="3810">
            <a:solidFill>
              <a:srgbClr val="F7FAFF"/>
            </a:solidFill>
            <a:prstDash val="solid"/>
          </a:ln>
        </p:spPr>
        <p:txBody>
          <a:bodyPr/>
          <a:lstStyle/>
          <a:p>
            <a:endParaRPr lang="th-TH"/>
          </a:p>
        </p:txBody>
      </p:sp>
      <p:sp>
        <p:nvSpPr>
          <p:cNvPr id="146" name="Shape 144"/>
          <p:cNvSpPr/>
          <p:nvPr/>
        </p:nvSpPr>
        <p:spPr>
          <a:xfrm>
            <a:off x="3943350" y="3430306"/>
            <a:ext cx="322326" cy="461119"/>
          </a:xfrm>
          <a:prstGeom prst="rect">
            <a:avLst/>
          </a:prstGeom>
          <a:solidFill>
            <a:srgbClr val="657991"/>
          </a:solidFill>
          <a:ln w="3810">
            <a:solidFill>
              <a:srgbClr val="F7FAFF"/>
            </a:solidFill>
            <a:prstDash val="solid"/>
          </a:ln>
        </p:spPr>
        <p:txBody>
          <a:bodyPr/>
          <a:lstStyle/>
          <a:p>
            <a:endParaRPr lang="th-TH"/>
          </a:p>
        </p:txBody>
      </p:sp>
      <p:sp>
        <p:nvSpPr>
          <p:cNvPr id="147" name="Shape 145"/>
          <p:cNvSpPr/>
          <p:nvPr/>
        </p:nvSpPr>
        <p:spPr>
          <a:xfrm>
            <a:off x="4274820" y="3430306"/>
            <a:ext cx="322326" cy="461119"/>
          </a:xfrm>
          <a:prstGeom prst="rect">
            <a:avLst/>
          </a:prstGeom>
          <a:solidFill>
            <a:srgbClr val="4F657E"/>
          </a:solidFill>
          <a:ln w="3810">
            <a:solidFill>
              <a:srgbClr val="F7FAFF"/>
            </a:solidFill>
            <a:prstDash val="solid"/>
          </a:ln>
        </p:spPr>
        <p:txBody>
          <a:bodyPr/>
          <a:lstStyle/>
          <a:p>
            <a:endParaRPr lang="th-TH"/>
          </a:p>
        </p:txBody>
      </p:sp>
      <p:sp>
        <p:nvSpPr>
          <p:cNvPr id="148" name="Shape 146"/>
          <p:cNvSpPr/>
          <p:nvPr/>
        </p:nvSpPr>
        <p:spPr>
          <a:xfrm>
            <a:off x="4606290" y="3430306"/>
            <a:ext cx="322326" cy="461119"/>
          </a:xfrm>
          <a:prstGeom prst="rect">
            <a:avLst/>
          </a:prstGeom>
          <a:solidFill>
            <a:srgbClr val="475C77"/>
          </a:solidFill>
          <a:ln w="3810">
            <a:solidFill>
              <a:srgbClr val="F7FAFF"/>
            </a:solidFill>
            <a:prstDash val="solid"/>
          </a:ln>
        </p:spPr>
        <p:txBody>
          <a:bodyPr/>
          <a:lstStyle/>
          <a:p>
            <a:endParaRPr lang="th-TH"/>
          </a:p>
        </p:txBody>
      </p:sp>
      <p:sp>
        <p:nvSpPr>
          <p:cNvPr id="149" name="Shape 147"/>
          <p:cNvSpPr/>
          <p:nvPr/>
        </p:nvSpPr>
        <p:spPr>
          <a:xfrm>
            <a:off x="4937760" y="3430306"/>
            <a:ext cx="322326" cy="461119"/>
          </a:xfrm>
          <a:prstGeom prst="rect">
            <a:avLst/>
          </a:prstGeom>
          <a:solidFill>
            <a:srgbClr val="425873"/>
          </a:solidFill>
          <a:ln w="3810">
            <a:solidFill>
              <a:srgbClr val="F7FAFF"/>
            </a:solidFill>
            <a:prstDash val="solid"/>
          </a:ln>
        </p:spPr>
        <p:txBody>
          <a:bodyPr/>
          <a:lstStyle/>
          <a:p>
            <a:endParaRPr lang="th-TH"/>
          </a:p>
        </p:txBody>
      </p:sp>
      <p:sp>
        <p:nvSpPr>
          <p:cNvPr id="150" name="Shape 148"/>
          <p:cNvSpPr/>
          <p:nvPr/>
        </p:nvSpPr>
        <p:spPr>
          <a:xfrm>
            <a:off x="5269230" y="3430306"/>
            <a:ext cx="322326" cy="461119"/>
          </a:xfrm>
          <a:prstGeom prst="rect">
            <a:avLst/>
          </a:prstGeom>
          <a:solidFill>
            <a:srgbClr val="455A75"/>
          </a:solidFill>
          <a:ln w="3810">
            <a:solidFill>
              <a:srgbClr val="F7FAFF"/>
            </a:solidFill>
            <a:prstDash val="solid"/>
          </a:ln>
        </p:spPr>
        <p:txBody>
          <a:bodyPr/>
          <a:lstStyle/>
          <a:p>
            <a:endParaRPr lang="th-TH"/>
          </a:p>
        </p:txBody>
      </p:sp>
      <p:sp>
        <p:nvSpPr>
          <p:cNvPr id="151" name="Shape 149"/>
          <p:cNvSpPr/>
          <p:nvPr/>
        </p:nvSpPr>
        <p:spPr>
          <a:xfrm>
            <a:off x="5600700" y="3430306"/>
            <a:ext cx="322326" cy="461119"/>
          </a:xfrm>
          <a:prstGeom prst="rect">
            <a:avLst/>
          </a:prstGeom>
          <a:solidFill>
            <a:srgbClr val="475C77"/>
          </a:solidFill>
          <a:ln w="3810">
            <a:solidFill>
              <a:srgbClr val="F7FAFF"/>
            </a:solidFill>
            <a:prstDash val="solid"/>
          </a:ln>
        </p:spPr>
        <p:txBody>
          <a:bodyPr/>
          <a:lstStyle/>
          <a:p>
            <a:endParaRPr lang="th-TH"/>
          </a:p>
        </p:txBody>
      </p:sp>
      <p:sp>
        <p:nvSpPr>
          <p:cNvPr id="152" name="Shape 150"/>
          <p:cNvSpPr/>
          <p:nvPr/>
        </p:nvSpPr>
        <p:spPr>
          <a:xfrm>
            <a:off x="5932170" y="3430306"/>
            <a:ext cx="322326" cy="461119"/>
          </a:xfrm>
          <a:prstGeom prst="rect">
            <a:avLst/>
          </a:prstGeom>
          <a:solidFill>
            <a:srgbClr val="4B617B"/>
          </a:solidFill>
          <a:ln w="3810">
            <a:solidFill>
              <a:srgbClr val="F7FAFF"/>
            </a:solidFill>
            <a:prstDash val="solid"/>
          </a:ln>
        </p:spPr>
        <p:txBody>
          <a:bodyPr/>
          <a:lstStyle/>
          <a:p>
            <a:endParaRPr lang="th-TH"/>
          </a:p>
        </p:txBody>
      </p:sp>
      <p:sp>
        <p:nvSpPr>
          <p:cNvPr id="153" name="Shape 151"/>
          <p:cNvSpPr/>
          <p:nvPr/>
        </p:nvSpPr>
        <p:spPr>
          <a:xfrm>
            <a:off x="6263640" y="3430306"/>
            <a:ext cx="322326" cy="461119"/>
          </a:xfrm>
          <a:prstGeom prst="rect">
            <a:avLst/>
          </a:prstGeom>
          <a:solidFill>
            <a:srgbClr val="546982"/>
          </a:solidFill>
          <a:ln w="3810">
            <a:solidFill>
              <a:srgbClr val="F7FAFF"/>
            </a:solidFill>
            <a:prstDash val="solid"/>
          </a:ln>
        </p:spPr>
        <p:txBody>
          <a:bodyPr/>
          <a:lstStyle/>
          <a:p>
            <a:endParaRPr lang="th-TH"/>
          </a:p>
        </p:txBody>
      </p:sp>
      <p:sp>
        <p:nvSpPr>
          <p:cNvPr id="154" name="Shape 152"/>
          <p:cNvSpPr/>
          <p:nvPr/>
        </p:nvSpPr>
        <p:spPr>
          <a:xfrm>
            <a:off x="6595110" y="3430306"/>
            <a:ext cx="322326" cy="461119"/>
          </a:xfrm>
          <a:prstGeom prst="rect">
            <a:avLst/>
          </a:prstGeom>
          <a:solidFill>
            <a:srgbClr val="5C718A"/>
          </a:solidFill>
          <a:ln w="3810">
            <a:solidFill>
              <a:srgbClr val="F7FAFF"/>
            </a:solidFill>
            <a:prstDash val="solid"/>
          </a:ln>
        </p:spPr>
        <p:txBody>
          <a:bodyPr/>
          <a:lstStyle/>
          <a:p>
            <a:endParaRPr lang="th-TH"/>
          </a:p>
        </p:txBody>
      </p:sp>
      <p:sp>
        <p:nvSpPr>
          <p:cNvPr id="155" name="Shape 153"/>
          <p:cNvSpPr/>
          <p:nvPr/>
        </p:nvSpPr>
        <p:spPr>
          <a:xfrm>
            <a:off x="6926580" y="3430306"/>
            <a:ext cx="322326" cy="461119"/>
          </a:xfrm>
          <a:prstGeom prst="rect">
            <a:avLst/>
          </a:prstGeom>
          <a:solidFill>
            <a:srgbClr val="657991"/>
          </a:solidFill>
          <a:ln w="3810">
            <a:solidFill>
              <a:srgbClr val="F7FAFF"/>
            </a:solidFill>
            <a:prstDash val="solid"/>
          </a:ln>
        </p:spPr>
        <p:txBody>
          <a:bodyPr/>
          <a:lstStyle/>
          <a:p>
            <a:endParaRPr lang="th-TH"/>
          </a:p>
        </p:txBody>
      </p:sp>
      <p:sp>
        <p:nvSpPr>
          <p:cNvPr id="156" name="Shape 154"/>
          <p:cNvSpPr/>
          <p:nvPr/>
        </p:nvSpPr>
        <p:spPr>
          <a:xfrm>
            <a:off x="7258050" y="3430306"/>
            <a:ext cx="322326" cy="461119"/>
          </a:xfrm>
          <a:prstGeom prst="rect">
            <a:avLst/>
          </a:prstGeom>
          <a:solidFill>
            <a:srgbClr val="72859D"/>
          </a:solidFill>
          <a:ln w="3810">
            <a:solidFill>
              <a:srgbClr val="F7FAFF"/>
            </a:solidFill>
            <a:prstDash val="solid"/>
          </a:ln>
        </p:spPr>
        <p:txBody>
          <a:bodyPr/>
          <a:lstStyle/>
          <a:p>
            <a:endParaRPr lang="th-TH"/>
          </a:p>
        </p:txBody>
      </p:sp>
      <p:sp>
        <p:nvSpPr>
          <p:cNvPr id="157" name="Shape 155"/>
          <p:cNvSpPr/>
          <p:nvPr/>
        </p:nvSpPr>
        <p:spPr>
          <a:xfrm>
            <a:off x="7589520" y="3430306"/>
            <a:ext cx="322326" cy="461119"/>
          </a:xfrm>
          <a:prstGeom prst="rect">
            <a:avLst/>
          </a:prstGeom>
          <a:solidFill>
            <a:srgbClr val="8496AC"/>
          </a:solidFill>
          <a:ln w="3810">
            <a:solidFill>
              <a:srgbClr val="F7FAFF"/>
            </a:solidFill>
            <a:prstDash val="solid"/>
          </a:ln>
        </p:spPr>
        <p:txBody>
          <a:bodyPr/>
          <a:lstStyle/>
          <a:p>
            <a:endParaRPr lang="th-TH"/>
          </a:p>
        </p:txBody>
      </p:sp>
      <p:sp>
        <p:nvSpPr>
          <p:cNvPr id="158" name="Shape 156"/>
          <p:cNvSpPr/>
          <p:nvPr/>
        </p:nvSpPr>
        <p:spPr>
          <a:xfrm>
            <a:off x="7920990" y="3430306"/>
            <a:ext cx="322326" cy="461119"/>
          </a:xfrm>
          <a:prstGeom prst="rect">
            <a:avLst/>
          </a:prstGeom>
          <a:solidFill>
            <a:srgbClr val="95A6BB"/>
          </a:solidFill>
          <a:ln w="3810">
            <a:solidFill>
              <a:srgbClr val="F7FAFF"/>
            </a:solidFill>
            <a:prstDash val="solid"/>
          </a:ln>
        </p:spPr>
        <p:txBody>
          <a:bodyPr/>
          <a:lstStyle/>
          <a:p>
            <a:endParaRPr lang="th-TH"/>
          </a:p>
        </p:txBody>
      </p:sp>
      <p:sp>
        <p:nvSpPr>
          <p:cNvPr id="159" name="Shape 157"/>
          <p:cNvSpPr/>
          <p:nvPr/>
        </p:nvSpPr>
        <p:spPr>
          <a:xfrm>
            <a:off x="8252460" y="3430306"/>
            <a:ext cx="322326" cy="461119"/>
          </a:xfrm>
          <a:prstGeom prst="rect">
            <a:avLst/>
          </a:prstGeom>
          <a:solidFill>
            <a:srgbClr val="A2B3C6"/>
          </a:solidFill>
          <a:ln w="3810">
            <a:solidFill>
              <a:srgbClr val="F7FAFF"/>
            </a:solidFill>
            <a:prstDash val="solid"/>
          </a:ln>
        </p:spPr>
        <p:txBody>
          <a:bodyPr/>
          <a:lstStyle/>
          <a:p>
            <a:endParaRPr lang="th-TH"/>
          </a:p>
        </p:txBody>
      </p:sp>
      <p:sp>
        <p:nvSpPr>
          <p:cNvPr id="160" name="Shape 158"/>
          <p:cNvSpPr/>
          <p:nvPr/>
        </p:nvSpPr>
        <p:spPr>
          <a:xfrm>
            <a:off x="8583930" y="3430306"/>
            <a:ext cx="322326" cy="461119"/>
          </a:xfrm>
          <a:prstGeom prst="rect">
            <a:avLst/>
          </a:prstGeom>
          <a:solidFill>
            <a:srgbClr val="ABBBCE"/>
          </a:solidFill>
          <a:ln w="3810">
            <a:solidFill>
              <a:srgbClr val="F7FAFF"/>
            </a:solidFill>
            <a:prstDash val="solid"/>
          </a:ln>
        </p:spPr>
        <p:txBody>
          <a:bodyPr/>
          <a:lstStyle/>
          <a:p>
            <a:endParaRPr lang="th-TH"/>
          </a:p>
        </p:txBody>
      </p:sp>
      <p:sp>
        <p:nvSpPr>
          <p:cNvPr id="161" name="Shape 159"/>
          <p:cNvSpPr/>
          <p:nvPr/>
        </p:nvSpPr>
        <p:spPr>
          <a:xfrm>
            <a:off x="960120" y="3900569"/>
            <a:ext cx="322326" cy="461119"/>
          </a:xfrm>
          <a:prstGeom prst="rect">
            <a:avLst/>
          </a:prstGeom>
          <a:solidFill>
            <a:srgbClr val="AFBFD2"/>
          </a:solidFill>
          <a:ln w="3810">
            <a:solidFill>
              <a:srgbClr val="F7FAFF"/>
            </a:solidFill>
            <a:prstDash val="solid"/>
          </a:ln>
        </p:spPr>
        <p:txBody>
          <a:bodyPr/>
          <a:lstStyle/>
          <a:p>
            <a:endParaRPr lang="th-TH"/>
          </a:p>
        </p:txBody>
      </p:sp>
      <p:sp>
        <p:nvSpPr>
          <p:cNvPr id="162" name="Shape 160"/>
          <p:cNvSpPr/>
          <p:nvPr/>
        </p:nvSpPr>
        <p:spPr>
          <a:xfrm>
            <a:off x="1291590" y="3900569"/>
            <a:ext cx="322326" cy="461119"/>
          </a:xfrm>
          <a:prstGeom prst="rect">
            <a:avLst/>
          </a:prstGeom>
          <a:solidFill>
            <a:srgbClr val="BAC9DB"/>
          </a:solidFill>
          <a:ln w="3810">
            <a:solidFill>
              <a:srgbClr val="F7FAFF"/>
            </a:solidFill>
            <a:prstDash val="solid"/>
          </a:ln>
        </p:spPr>
        <p:txBody>
          <a:bodyPr/>
          <a:lstStyle/>
          <a:p>
            <a:endParaRPr lang="th-TH"/>
          </a:p>
        </p:txBody>
      </p:sp>
      <p:sp>
        <p:nvSpPr>
          <p:cNvPr id="163" name="Shape 161"/>
          <p:cNvSpPr/>
          <p:nvPr/>
        </p:nvSpPr>
        <p:spPr>
          <a:xfrm>
            <a:off x="1623060" y="3900569"/>
            <a:ext cx="322326" cy="461119"/>
          </a:xfrm>
          <a:prstGeom prst="rect">
            <a:avLst/>
          </a:prstGeom>
          <a:solidFill>
            <a:srgbClr val="C2D1E3"/>
          </a:solidFill>
          <a:ln w="3810">
            <a:solidFill>
              <a:srgbClr val="F7FAFF"/>
            </a:solidFill>
            <a:prstDash val="solid"/>
          </a:ln>
        </p:spPr>
        <p:txBody>
          <a:bodyPr/>
          <a:lstStyle/>
          <a:p>
            <a:endParaRPr lang="th-TH"/>
          </a:p>
        </p:txBody>
      </p:sp>
      <p:sp>
        <p:nvSpPr>
          <p:cNvPr id="164" name="Shape 162"/>
          <p:cNvSpPr/>
          <p:nvPr/>
        </p:nvSpPr>
        <p:spPr>
          <a:xfrm>
            <a:off x="1954530" y="3900569"/>
            <a:ext cx="322326" cy="461119"/>
          </a:xfrm>
          <a:prstGeom prst="rect">
            <a:avLst/>
          </a:prstGeom>
          <a:solidFill>
            <a:srgbClr val="C9D7E8"/>
          </a:solidFill>
          <a:ln w="3810">
            <a:solidFill>
              <a:srgbClr val="F7FAFF"/>
            </a:solidFill>
            <a:prstDash val="solid"/>
          </a:ln>
        </p:spPr>
        <p:txBody>
          <a:bodyPr/>
          <a:lstStyle/>
          <a:p>
            <a:endParaRPr lang="th-TH"/>
          </a:p>
        </p:txBody>
      </p:sp>
      <p:sp>
        <p:nvSpPr>
          <p:cNvPr id="165" name="Shape 163"/>
          <p:cNvSpPr/>
          <p:nvPr/>
        </p:nvSpPr>
        <p:spPr>
          <a:xfrm>
            <a:off x="2286000" y="3900569"/>
            <a:ext cx="322326" cy="461119"/>
          </a:xfrm>
          <a:prstGeom prst="rect">
            <a:avLst/>
          </a:prstGeom>
          <a:solidFill>
            <a:srgbClr val="CBD9EA"/>
          </a:solidFill>
          <a:ln w="3810">
            <a:solidFill>
              <a:srgbClr val="F7FAFF"/>
            </a:solidFill>
            <a:prstDash val="solid"/>
          </a:ln>
        </p:spPr>
        <p:txBody>
          <a:bodyPr/>
          <a:lstStyle/>
          <a:p>
            <a:endParaRPr lang="th-TH"/>
          </a:p>
        </p:txBody>
      </p:sp>
      <p:sp>
        <p:nvSpPr>
          <p:cNvPr id="166" name="Shape 164"/>
          <p:cNvSpPr/>
          <p:nvPr/>
        </p:nvSpPr>
        <p:spPr>
          <a:xfrm>
            <a:off x="2617470" y="3900569"/>
            <a:ext cx="322326" cy="461119"/>
          </a:xfrm>
          <a:prstGeom prst="rect">
            <a:avLst/>
          </a:prstGeom>
          <a:solidFill>
            <a:srgbClr val="C7D5E6"/>
          </a:solidFill>
          <a:ln w="3810">
            <a:solidFill>
              <a:srgbClr val="F7FAFF"/>
            </a:solidFill>
            <a:prstDash val="solid"/>
          </a:ln>
        </p:spPr>
        <p:txBody>
          <a:bodyPr/>
          <a:lstStyle/>
          <a:p>
            <a:endParaRPr lang="th-TH"/>
          </a:p>
        </p:txBody>
      </p:sp>
      <p:sp>
        <p:nvSpPr>
          <p:cNvPr id="167" name="Shape 165"/>
          <p:cNvSpPr/>
          <p:nvPr/>
        </p:nvSpPr>
        <p:spPr>
          <a:xfrm>
            <a:off x="2948940" y="3900569"/>
            <a:ext cx="322326" cy="461119"/>
          </a:xfrm>
          <a:prstGeom prst="rect">
            <a:avLst/>
          </a:prstGeom>
          <a:solidFill>
            <a:srgbClr val="BCCBDD"/>
          </a:solidFill>
          <a:ln w="3810">
            <a:solidFill>
              <a:srgbClr val="F7FAFF"/>
            </a:solidFill>
            <a:prstDash val="solid"/>
          </a:ln>
        </p:spPr>
        <p:txBody>
          <a:bodyPr/>
          <a:lstStyle/>
          <a:p>
            <a:endParaRPr lang="th-TH"/>
          </a:p>
        </p:txBody>
      </p:sp>
      <p:sp>
        <p:nvSpPr>
          <p:cNvPr id="168" name="Shape 166"/>
          <p:cNvSpPr/>
          <p:nvPr/>
        </p:nvSpPr>
        <p:spPr>
          <a:xfrm>
            <a:off x="3280410" y="3900569"/>
            <a:ext cx="322326" cy="461119"/>
          </a:xfrm>
          <a:prstGeom prst="rect">
            <a:avLst/>
          </a:prstGeom>
          <a:solidFill>
            <a:srgbClr val="ABBBCE"/>
          </a:solidFill>
          <a:ln w="3810">
            <a:solidFill>
              <a:srgbClr val="F7FAFF"/>
            </a:solidFill>
            <a:prstDash val="solid"/>
          </a:ln>
        </p:spPr>
        <p:txBody>
          <a:bodyPr/>
          <a:lstStyle/>
          <a:p>
            <a:endParaRPr lang="th-TH"/>
          </a:p>
        </p:txBody>
      </p:sp>
      <p:sp>
        <p:nvSpPr>
          <p:cNvPr id="169" name="Shape 167"/>
          <p:cNvSpPr/>
          <p:nvPr/>
        </p:nvSpPr>
        <p:spPr>
          <a:xfrm>
            <a:off x="3611880" y="3900569"/>
            <a:ext cx="322326" cy="461119"/>
          </a:xfrm>
          <a:prstGeom prst="rect">
            <a:avLst/>
          </a:prstGeom>
          <a:solidFill>
            <a:srgbClr val="8C9EB3"/>
          </a:solidFill>
          <a:ln w="3810">
            <a:solidFill>
              <a:srgbClr val="F7FAFF"/>
            </a:solidFill>
            <a:prstDash val="solid"/>
          </a:ln>
        </p:spPr>
        <p:txBody>
          <a:bodyPr/>
          <a:lstStyle/>
          <a:p>
            <a:endParaRPr lang="th-TH"/>
          </a:p>
        </p:txBody>
      </p:sp>
      <p:sp>
        <p:nvSpPr>
          <p:cNvPr id="170" name="Shape 168"/>
          <p:cNvSpPr/>
          <p:nvPr/>
        </p:nvSpPr>
        <p:spPr>
          <a:xfrm>
            <a:off x="3943350" y="3900569"/>
            <a:ext cx="322326" cy="461119"/>
          </a:xfrm>
          <a:prstGeom prst="rect">
            <a:avLst/>
          </a:prstGeom>
          <a:solidFill>
            <a:srgbClr val="72859D"/>
          </a:solidFill>
          <a:ln w="3810">
            <a:solidFill>
              <a:srgbClr val="F7FAFF"/>
            </a:solidFill>
            <a:prstDash val="solid"/>
          </a:ln>
        </p:spPr>
        <p:txBody>
          <a:bodyPr/>
          <a:lstStyle/>
          <a:p>
            <a:endParaRPr lang="th-TH"/>
          </a:p>
        </p:txBody>
      </p:sp>
      <p:sp>
        <p:nvSpPr>
          <p:cNvPr id="171" name="Shape 169"/>
          <p:cNvSpPr/>
          <p:nvPr/>
        </p:nvSpPr>
        <p:spPr>
          <a:xfrm>
            <a:off x="4274820" y="3900569"/>
            <a:ext cx="322326" cy="461119"/>
          </a:xfrm>
          <a:prstGeom prst="rect">
            <a:avLst/>
          </a:prstGeom>
          <a:solidFill>
            <a:srgbClr val="5C718A"/>
          </a:solidFill>
          <a:ln w="3810">
            <a:solidFill>
              <a:srgbClr val="F7FAFF"/>
            </a:solidFill>
            <a:prstDash val="solid"/>
          </a:ln>
        </p:spPr>
        <p:txBody>
          <a:bodyPr/>
          <a:lstStyle/>
          <a:p>
            <a:endParaRPr lang="th-TH"/>
          </a:p>
        </p:txBody>
      </p:sp>
      <p:sp>
        <p:nvSpPr>
          <p:cNvPr id="172" name="Shape 170"/>
          <p:cNvSpPr/>
          <p:nvPr/>
        </p:nvSpPr>
        <p:spPr>
          <a:xfrm>
            <a:off x="4606290" y="3900569"/>
            <a:ext cx="322326" cy="461119"/>
          </a:xfrm>
          <a:prstGeom prst="rect">
            <a:avLst/>
          </a:prstGeom>
          <a:solidFill>
            <a:srgbClr val="546982"/>
          </a:solidFill>
          <a:ln w="3810">
            <a:solidFill>
              <a:srgbClr val="F7FAFF"/>
            </a:solidFill>
            <a:prstDash val="solid"/>
          </a:ln>
        </p:spPr>
        <p:txBody>
          <a:bodyPr/>
          <a:lstStyle/>
          <a:p>
            <a:endParaRPr lang="th-TH"/>
          </a:p>
        </p:txBody>
      </p:sp>
      <p:sp>
        <p:nvSpPr>
          <p:cNvPr id="173" name="Shape 171"/>
          <p:cNvSpPr/>
          <p:nvPr/>
        </p:nvSpPr>
        <p:spPr>
          <a:xfrm>
            <a:off x="4937760" y="3900569"/>
            <a:ext cx="322326" cy="461119"/>
          </a:xfrm>
          <a:prstGeom prst="rect">
            <a:avLst/>
          </a:prstGeom>
          <a:solidFill>
            <a:srgbClr val="4F657E"/>
          </a:solidFill>
          <a:ln w="3810">
            <a:solidFill>
              <a:srgbClr val="F7FAFF"/>
            </a:solidFill>
            <a:prstDash val="solid"/>
          </a:ln>
        </p:spPr>
        <p:txBody>
          <a:bodyPr/>
          <a:lstStyle/>
          <a:p>
            <a:endParaRPr lang="th-TH"/>
          </a:p>
        </p:txBody>
      </p:sp>
      <p:sp>
        <p:nvSpPr>
          <p:cNvPr id="174" name="Shape 172"/>
          <p:cNvSpPr/>
          <p:nvPr/>
        </p:nvSpPr>
        <p:spPr>
          <a:xfrm>
            <a:off x="5269230" y="3900569"/>
            <a:ext cx="322326" cy="461119"/>
          </a:xfrm>
          <a:prstGeom prst="rect">
            <a:avLst/>
          </a:prstGeom>
          <a:solidFill>
            <a:srgbClr val="526780"/>
          </a:solidFill>
          <a:ln w="3810">
            <a:solidFill>
              <a:srgbClr val="F7FAFF"/>
            </a:solidFill>
            <a:prstDash val="solid"/>
          </a:ln>
        </p:spPr>
        <p:txBody>
          <a:bodyPr/>
          <a:lstStyle/>
          <a:p>
            <a:endParaRPr lang="th-TH"/>
          </a:p>
        </p:txBody>
      </p:sp>
      <p:sp>
        <p:nvSpPr>
          <p:cNvPr id="175" name="Shape 173"/>
          <p:cNvSpPr/>
          <p:nvPr/>
        </p:nvSpPr>
        <p:spPr>
          <a:xfrm>
            <a:off x="5600700" y="3900569"/>
            <a:ext cx="322326" cy="461119"/>
          </a:xfrm>
          <a:prstGeom prst="rect">
            <a:avLst/>
          </a:prstGeom>
          <a:solidFill>
            <a:srgbClr val="546982"/>
          </a:solidFill>
          <a:ln w="3810">
            <a:solidFill>
              <a:srgbClr val="F7FAFF"/>
            </a:solidFill>
            <a:prstDash val="solid"/>
          </a:ln>
        </p:spPr>
        <p:txBody>
          <a:bodyPr/>
          <a:lstStyle/>
          <a:p>
            <a:endParaRPr lang="th-TH"/>
          </a:p>
        </p:txBody>
      </p:sp>
      <p:sp>
        <p:nvSpPr>
          <p:cNvPr id="176" name="Shape 174"/>
          <p:cNvSpPr/>
          <p:nvPr/>
        </p:nvSpPr>
        <p:spPr>
          <a:xfrm>
            <a:off x="5932170" y="3900569"/>
            <a:ext cx="322326" cy="461119"/>
          </a:xfrm>
          <a:prstGeom prst="rect">
            <a:avLst/>
          </a:prstGeom>
          <a:solidFill>
            <a:srgbClr val="586D86"/>
          </a:solidFill>
          <a:ln w="3810">
            <a:solidFill>
              <a:srgbClr val="F7FAFF"/>
            </a:solidFill>
            <a:prstDash val="solid"/>
          </a:ln>
        </p:spPr>
        <p:txBody>
          <a:bodyPr/>
          <a:lstStyle/>
          <a:p>
            <a:endParaRPr lang="th-TH"/>
          </a:p>
        </p:txBody>
      </p:sp>
      <p:sp>
        <p:nvSpPr>
          <p:cNvPr id="177" name="Shape 175"/>
          <p:cNvSpPr/>
          <p:nvPr/>
        </p:nvSpPr>
        <p:spPr>
          <a:xfrm>
            <a:off x="6263640" y="3900569"/>
            <a:ext cx="322326" cy="461119"/>
          </a:xfrm>
          <a:prstGeom prst="rect">
            <a:avLst/>
          </a:prstGeom>
          <a:solidFill>
            <a:srgbClr val="61758E"/>
          </a:solidFill>
          <a:ln w="3810">
            <a:solidFill>
              <a:srgbClr val="F7FAFF"/>
            </a:solidFill>
            <a:prstDash val="solid"/>
          </a:ln>
        </p:spPr>
        <p:txBody>
          <a:bodyPr/>
          <a:lstStyle/>
          <a:p>
            <a:endParaRPr lang="th-TH"/>
          </a:p>
        </p:txBody>
      </p:sp>
      <p:sp>
        <p:nvSpPr>
          <p:cNvPr id="178" name="Shape 176"/>
          <p:cNvSpPr/>
          <p:nvPr/>
        </p:nvSpPr>
        <p:spPr>
          <a:xfrm>
            <a:off x="6595110" y="3900569"/>
            <a:ext cx="322326" cy="461119"/>
          </a:xfrm>
          <a:prstGeom prst="rect">
            <a:avLst/>
          </a:prstGeom>
          <a:solidFill>
            <a:srgbClr val="697D95"/>
          </a:solidFill>
          <a:ln w="3810">
            <a:solidFill>
              <a:srgbClr val="F7FAFF"/>
            </a:solidFill>
            <a:prstDash val="solid"/>
          </a:ln>
        </p:spPr>
        <p:txBody>
          <a:bodyPr/>
          <a:lstStyle/>
          <a:p>
            <a:endParaRPr lang="th-TH"/>
          </a:p>
        </p:txBody>
      </p:sp>
      <p:sp>
        <p:nvSpPr>
          <p:cNvPr id="179" name="Shape 177"/>
          <p:cNvSpPr/>
          <p:nvPr/>
        </p:nvSpPr>
        <p:spPr>
          <a:xfrm>
            <a:off x="6926580" y="3900569"/>
            <a:ext cx="322326" cy="461119"/>
          </a:xfrm>
          <a:prstGeom prst="rect">
            <a:avLst/>
          </a:prstGeom>
          <a:solidFill>
            <a:srgbClr val="72859D"/>
          </a:solidFill>
          <a:ln w="3810">
            <a:solidFill>
              <a:srgbClr val="F7FAFF"/>
            </a:solidFill>
            <a:prstDash val="solid"/>
          </a:ln>
        </p:spPr>
        <p:txBody>
          <a:bodyPr/>
          <a:lstStyle/>
          <a:p>
            <a:endParaRPr lang="th-TH"/>
          </a:p>
        </p:txBody>
      </p:sp>
      <p:sp>
        <p:nvSpPr>
          <p:cNvPr id="180" name="Shape 178"/>
          <p:cNvSpPr/>
          <p:nvPr/>
        </p:nvSpPr>
        <p:spPr>
          <a:xfrm>
            <a:off x="7258050" y="3900569"/>
            <a:ext cx="322326" cy="461119"/>
          </a:xfrm>
          <a:prstGeom prst="rect">
            <a:avLst/>
          </a:prstGeom>
          <a:solidFill>
            <a:srgbClr val="7F92A8"/>
          </a:solidFill>
          <a:ln w="3810">
            <a:solidFill>
              <a:srgbClr val="F7FAFF"/>
            </a:solidFill>
            <a:prstDash val="solid"/>
          </a:ln>
        </p:spPr>
        <p:txBody>
          <a:bodyPr/>
          <a:lstStyle/>
          <a:p>
            <a:endParaRPr lang="th-TH"/>
          </a:p>
        </p:txBody>
      </p:sp>
      <p:sp>
        <p:nvSpPr>
          <p:cNvPr id="181" name="Shape 179"/>
          <p:cNvSpPr/>
          <p:nvPr/>
        </p:nvSpPr>
        <p:spPr>
          <a:xfrm>
            <a:off x="7589520" y="3900569"/>
            <a:ext cx="322326" cy="461119"/>
          </a:xfrm>
          <a:prstGeom prst="rect">
            <a:avLst/>
          </a:prstGeom>
          <a:solidFill>
            <a:srgbClr val="91A2B7"/>
          </a:solidFill>
          <a:ln w="3810">
            <a:solidFill>
              <a:srgbClr val="F7FAFF"/>
            </a:solidFill>
            <a:prstDash val="solid"/>
          </a:ln>
        </p:spPr>
        <p:txBody>
          <a:bodyPr/>
          <a:lstStyle/>
          <a:p>
            <a:endParaRPr lang="th-TH"/>
          </a:p>
        </p:txBody>
      </p:sp>
      <p:sp>
        <p:nvSpPr>
          <p:cNvPr id="182" name="Shape 180"/>
          <p:cNvSpPr/>
          <p:nvPr/>
        </p:nvSpPr>
        <p:spPr>
          <a:xfrm>
            <a:off x="7920990" y="3900569"/>
            <a:ext cx="322326" cy="461119"/>
          </a:xfrm>
          <a:prstGeom prst="rect">
            <a:avLst/>
          </a:prstGeom>
          <a:solidFill>
            <a:srgbClr val="9EAEC3"/>
          </a:solidFill>
          <a:ln w="3810">
            <a:solidFill>
              <a:srgbClr val="F7FAFF"/>
            </a:solidFill>
            <a:prstDash val="solid"/>
          </a:ln>
        </p:spPr>
        <p:txBody>
          <a:bodyPr/>
          <a:lstStyle/>
          <a:p>
            <a:endParaRPr lang="th-TH"/>
          </a:p>
        </p:txBody>
      </p:sp>
      <p:sp>
        <p:nvSpPr>
          <p:cNvPr id="183" name="Shape 181"/>
          <p:cNvSpPr/>
          <p:nvPr/>
        </p:nvSpPr>
        <p:spPr>
          <a:xfrm>
            <a:off x="8252460" y="3900569"/>
            <a:ext cx="322326" cy="461119"/>
          </a:xfrm>
          <a:prstGeom prst="rect">
            <a:avLst/>
          </a:prstGeom>
          <a:solidFill>
            <a:srgbClr val="A8B9CC"/>
          </a:solidFill>
          <a:ln w="3810">
            <a:solidFill>
              <a:srgbClr val="F7FAFF"/>
            </a:solidFill>
            <a:prstDash val="solid"/>
          </a:ln>
        </p:spPr>
        <p:txBody>
          <a:bodyPr/>
          <a:lstStyle/>
          <a:p>
            <a:endParaRPr lang="th-TH"/>
          </a:p>
        </p:txBody>
      </p:sp>
      <p:sp>
        <p:nvSpPr>
          <p:cNvPr id="184" name="Shape 182"/>
          <p:cNvSpPr/>
          <p:nvPr/>
        </p:nvSpPr>
        <p:spPr>
          <a:xfrm>
            <a:off x="8583930" y="3900569"/>
            <a:ext cx="322326" cy="461119"/>
          </a:xfrm>
          <a:prstGeom prst="rect">
            <a:avLst/>
          </a:prstGeom>
          <a:solidFill>
            <a:srgbClr val="ADBDD0"/>
          </a:solidFill>
          <a:ln w="3810">
            <a:solidFill>
              <a:srgbClr val="F7FAFF"/>
            </a:solidFill>
            <a:prstDash val="solid"/>
          </a:ln>
        </p:spPr>
        <p:txBody>
          <a:bodyPr/>
          <a:lstStyle/>
          <a:p>
            <a:endParaRPr lang="th-TH"/>
          </a:p>
        </p:txBody>
      </p:sp>
      <p:sp>
        <p:nvSpPr>
          <p:cNvPr id="185" name="Text 183"/>
          <p:cNvSpPr/>
          <p:nvPr/>
        </p:nvSpPr>
        <p:spPr>
          <a:xfrm>
            <a:off x="960120" y="4407408"/>
            <a:ext cx="994410" cy="201168"/>
          </a:xfrm>
          <a:prstGeom prst="rect">
            <a:avLst/>
          </a:prstGeom>
          <a:noFill/>
          <a:ln/>
        </p:spPr>
        <p:txBody>
          <a:bodyPr wrap="square" lIns="0" tIns="0" rIns="0" bIns="0" rtlCol="0" anchor="ctr"/>
          <a:lstStyle/>
          <a:p>
            <a:pPr marL="0" indent="0" algn="l">
              <a:buNone/>
            </a:pPr>
            <a:r>
              <a:rPr lang="en-US" sz="850" dirty="0">
                <a:solidFill>
                  <a:srgbClr val="607D8B"/>
                </a:solidFill>
                <a:latin typeface="Calibri" pitchFamily="34" charset="0"/>
                <a:ea typeface="Calibri" pitchFamily="34" charset="-122"/>
                <a:cs typeface="Calibri" pitchFamily="34" charset="-120"/>
              </a:rPr>
              <a:t>0:00</a:t>
            </a:r>
            <a:endParaRPr lang="en-US" sz="850" dirty="0"/>
          </a:p>
        </p:txBody>
      </p:sp>
      <p:sp>
        <p:nvSpPr>
          <p:cNvPr id="186" name="Text 184"/>
          <p:cNvSpPr/>
          <p:nvPr/>
        </p:nvSpPr>
        <p:spPr>
          <a:xfrm>
            <a:off x="1954530" y="4407408"/>
            <a:ext cx="994410" cy="201168"/>
          </a:xfrm>
          <a:prstGeom prst="rect">
            <a:avLst/>
          </a:prstGeom>
          <a:noFill/>
          <a:ln/>
        </p:spPr>
        <p:txBody>
          <a:bodyPr wrap="square" lIns="0" tIns="0" rIns="0" bIns="0" rtlCol="0" anchor="ctr"/>
          <a:lstStyle/>
          <a:p>
            <a:pPr marL="0" indent="0" algn="l">
              <a:buNone/>
            </a:pPr>
            <a:r>
              <a:rPr lang="en-US" sz="850" dirty="0">
                <a:solidFill>
                  <a:srgbClr val="607D8B"/>
                </a:solidFill>
                <a:latin typeface="Calibri" pitchFamily="34" charset="0"/>
                <a:ea typeface="Calibri" pitchFamily="34" charset="-122"/>
                <a:cs typeface="Calibri" pitchFamily="34" charset="-120"/>
              </a:rPr>
              <a:t>3:00</a:t>
            </a:r>
            <a:endParaRPr lang="en-US" sz="850" dirty="0"/>
          </a:p>
        </p:txBody>
      </p:sp>
      <p:sp>
        <p:nvSpPr>
          <p:cNvPr id="187" name="Text 185"/>
          <p:cNvSpPr/>
          <p:nvPr/>
        </p:nvSpPr>
        <p:spPr>
          <a:xfrm>
            <a:off x="2948940" y="4407408"/>
            <a:ext cx="994410" cy="201168"/>
          </a:xfrm>
          <a:prstGeom prst="rect">
            <a:avLst/>
          </a:prstGeom>
          <a:noFill/>
          <a:ln/>
        </p:spPr>
        <p:txBody>
          <a:bodyPr wrap="square" lIns="0" tIns="0" rIns="0" bIns="0" rtlCol="0" anchor="ctr"/>
          <a:lstStyle/>
          <a:p>
            <a:pPr marL="0" indent="0" algn="l">
              <a:buNone/>
            </a:pPr>
            <a:r>
              <a:rPr lang="en-US" sz="850" dirty="0">
                <a:solidFill>
                  <a:srgbClr val="607D8B"/>
                </a:solidFill>
                <a:latin typeface="Calibri" pitchFamily="34" charset="0"/>
                <a:ea typeface="Calibri" pitchFamily="34" charset="-122"/>
                <a:cs typeface="Calibri" pitchFamily="34" charset="-120"/>
              </a:rPr>
              <a:t>6:00</a:t>
            </a:r>
            <a:endParaRPr lang="en-US" sz="850" dirty="0"/>
          </a:p>
        </p:txBody>
      </p:sp>
      <p:sp>
        <p:nvSpPr>
          <p:cNvPr id="188" name="Text 186"/>
          <p:cNvSpPr/>
          <p:nvPr/>
        </p:nvSpPr>
        <p:spPr>
          <a:xfrm>
            <a:off x="3943350" y="4407408"/>
            <a:ext cx="994410" cy="201168"/>
          </a:xfrm>
          <a:prstGeom prst="rect">
            <a:avLst/>
          </a:prstGeom>
          <a:noFill/>
          <a:ln/>
        </p:spPr>
        <p:txBody>
          <a:bodyPr wrap="square" lIns="0" tIns="0" rIns="0" bIns="0" rtlCol="0" anchor="ctr"/>
          <a:lstStyle/>
          <a:p>
            <a:pPr marL="0" indent="0" algn="l">
              <a:buNone/>
            </a:pPr>
            <a:r>
              <a:rPr lang="en-US" sz="850" dirty="0">
                <a:solidFill>
                  <a:srgbClr val="607D8B"/>
                </a:solidFill>
                <a:latin typeface="Calibri" pitchFamily="34" charset="0"/>
                <a:ea typeface="Calibri" pitchFamily="34" charset="-122"/>
                <a:cs typeface="Calibri" pitchFamily="34" charset="-120"/>
              </a:rPr>
              <a:t>9:00</a:t>
            </a:r>
            <a:endParaRPr lang="en-US" sz="850" dirty="0"/>
          </a:p>
        </p:txBody>
      </p:sp>
      <p:sp>
        <p:nvSpPr>
          <p:cNvPr id="189" name="Text 187"/>
          <p:cNvSpPr/>
          <p:nvPr/>
        </p:nvSpPr>
        <p:spPr>
          <a:xfrm>
            <a:off x="4937760" y="4407408"/>
            <a:ext cx="994410" cy="201168"/>
          </a:xfrm>
          <a:prstGeom prst="rect">
            <a:avLst/>
          </a:prstGeom>
          <a:noFill/>
          <a:ln/>
        </p:spPr>
        <p:txBody>
          <a:bodyPr wrap="square" lIns="0" tIns="0" rIns="0" bIns="0" rtlCol="0" anchor="ctr"/>
          <a:lstStyle/>
          <a:p>
            <a:pPr marL="0" indent="0" algn="l">
              <a:buNone/>
            </a:pPr>
            <a:r>
              <a:rPr lang="en-US" sz="850" dirty="0">
                <a:solidFill>
                  <a:srgbClr val="607D8B"/>
                </a:solidFill>
                <a:latin typeface="Calibri" pitchFamily="34" charset="0"/>
                <a:ea typeface="Calibri" pitchFamily="34" charset="-122"/>
                <a:cs typeface="Calibri" pitchFamily="34" charset="-120"/>
              </a:rPr>
              <a:t>12:00</a:t>
            </a:r>
            <a:endParaRPr lang="en-US" sz="850" dirty="0"/>
          </a:p>
        </p:txBody>
      </p:sp>
      <p:sp>
        <p:nvSpPr>
          <p:cNvPr id="190" name="Text 188"/>
          <p:cNvSpPr/>
          <p:nvPr/>
        </p:nvSpPr>
        <p:spPr>
          <a:xfrm>
            <a:off x="5932170" y="4407408"/>
            <a:ext cx="994410" cy="201168"/>
          </a:xfrm>
          <a:prstGeom prst="rect">
            <a:avLst/>
          </a:prstGeom>
          <a:noFill/>
          <a:ln/>
        </p:spPr>
        <p:txBody>
          <a:bodyPr wrap="square" lIns="0" tIns="0" rIns="0" bIns="0" rtlCol="0" anchor="ctr"/>
          <a:lstStyle/>
          <a:p>
            <a:pPr marL="0" indent="0" algn="l">
              <a:buNone/>
            </a:pPr>
            <a:r>
              <a:rPr lang="en-US" sz="850" dirty="0">
                <a:solidFill>
                  <a:srgbClr val="607D8B"/>
                </a:solidFill>
                <a:latin typeface="Calibri" pitchFamily="34" charset="0"/>
                <a:ea typeface="Calibri" pitchFamily="34" charset="-122"/>
                <a:cs typeface="Calibri" pitchFamily="34" charset="-120"/>
              </a:rPr>
              <a:t>15:00</a:t>
            </a:r>
            <a:endParaRPr lang="en-US" sz="850" dirty="0"/>
          </a:p>
        </p:txBody>
      </p:sp>
      <p:sp>
        <p:nvSpPr>
          <p:cNvPr id="191" name="Text 189"/>
          <p:cNvSpPr/>
          <p:nvPr/>
        </p:nvSpPr>
        <p:spPr>
          <a:xfrm>
            <a:off x="6926580" y="4407408"/>
            <a:ext cx="994410" cy="201168"/>
          </a:xfrm>
          <a:prstGeom prst="rect">
            <a:avLst/>
          </a:prstGeom>
          <a:noFill/>
          <a:ln/>
        </p:spPr>
        <p:txBody>
          <a:bodyPr wrap="square" lIns="0" tIns="0" rIns="0" bIns="0" rtlCol="0" anchor="ctr"/>
          <a:lstStyle/>
          <a:p>
            <a:pPr marL="0" indent="0" algn="l">
              <a:buNone/>
            </a:pPr>
            <a:r>
              <a:rPr lang="en-US" sz="850" dirty="0">
                <a:solidFill>
                  <a:srgbClr val="607D8B"/>
                </a:solidFill>
                <a:latin typeface="Calibri" pitchFamily="34" charset="0"/>
                <a:ea typeface="Calibri" pitchFamily="34" charset="-122"/>
                <a:cs typeface="Calibri" pitchFamily="34" charset="-120"/>
              </a:rPr>
              <a:t>18:00</a:t>
            </a:r>
            <a:endParaRPr lang="en-US" sz="850" dirty="0"/>
          </a:p>
        </p:txBody>
      </p:sp>
      <p:sp>
        <p:nvSpPr>
          <p:cNvPr id="192" name="Text 190"/>
          <p:cNvSpPr/>
          <p:nvPr/>
        </p:nvSpPr>
        <p:spPr>
          <a:xfrm>
            <a:off x="7920990" y="4407408"/>
            <a:ext cx="994410" cy="201168"/>
          </a:xfrm>
          <a:prstGeom prst="rect">
            <a:avLst/>
          </a:prstGeom>
          <a:noFill/>
          <a:ln/>
        </p:spPr>
        <p:txBody>
          <a:bodyPr wrap="square" lIns="0" tIns="0" rIns="0" bIns="0" rtlCol="0" anchor="ctr"/>
          <a:lstStyle/>
          <a:p>
            <a:pPr marL="0" indent="0" algn="l">
              <a:buNone/>
            </a:pPr>
            <a:r>
              <a:rPr lang="en-US" sz="850" dirty="0">
                <a:solidFill>
                  <a:srgbClr val="607D8B"/>
                </a:solidFill>
                <a:latin typeface="Calibri" pitchFamily="34" charset="0"/>
                <a:ea typeface="Calibri" pitchFamily="34" charset="-122"/>
                <a:cs typeface="Calibri" pitchFamily="34" charset="-120"/>
              </a:rPr>
              <a:t>21:00</a:t>
            </a:r>
            <a:endParaRPr lang="en-US" sz="850" dirty="0"/>
          </a:p>
        </p:txBody>
      </p:sp>
      <p:sp>
        <p:nvSpPr>
          <p:cNvPr id="193" name="Shape 191"/>
          <p:cNvSpPr/>
          <p:nvPr/>
        </p:nvSpPr>
        <p:spPr>
          <a:xfrm>
            <a:off x="960120" y="4663440"/>
            <a:ext cx="88697" cy="164592"/>
          </a:xfrm>
          <a:prstGeom prst="rect">
            <a:avLst/>
          </a:prstGeom>
          <a:solidFill>
            <a:srgbClr val="E3F0FF"/>
          </a:solidFill>
          <a:ln/>
        </p:spPr>
        <p:txBody>
          <a:bodyPr/>
          <a:lstStyle/>
          <a:p>
            <a:endParaRPr lang="th-TH"/>
          </a:p>
        </p:txBody>
      </p:sp>
      <p:sp>
        <p:nvSpPr>
          <p:cNvPr id="194" name="Shape 192"/>
          <p:cNvSpPr/>
          <p:nvPr/>
        </p:nvSpPr>
        <p:spPr>
          <a:xfrm>
            <a:off x="1039673" y="4663440"/>
            <a:ext cx="88697" cy="164592"/>
          </a:xfrm>
          <a:prstGeom prst="rect">
            <a:avLst/>
          </a:prstGeom>
          <a:solidFill>
            <a:srgbClr val="E1EEFD"/>
          </a:solidFill>
          <a:ln/>
        </p:spPr>
        <p:txBody>
          <a:bodyPr/>
          <a:lstStyle/>
          <a:p>
            <a:endParaRPr lang="th-TH"/>
          </a:p>
        </p:txBody>
      </p:sp>
      <p:sp>
        <p:nvSpPr>
          <p:cNvPr id="195" name="Shape 193"/>
          <p:cNvSpPr/>
          <p:nvPr/>
        </p:nvSpPr>
        <p:spPr>
          <a:xfrm>
            <a:off x="1119226" y="4663440"/>
            <a:ext cx="88697" cy="164592"/>
          </a:xfrm>
          <a:prstGeom prst="rect">
            <a:avLst/>
          </a:prstGeom>
          <a:solidFill>
            <a:srgbClr val="DFECFB"/>
          </a:solidFill>
          <a:ln/>
        </p:spPr>
        <p:txBody>
          <a:bodyPr/>
          <a:lstStyle/>
          <a:p>
            <a:endParaRPr lang="th-TH"/>
          </a:p>
        </p:txBody>
      </p:sp>
      <p:sp>
        <p:nvSpPr>
          <p:cNvPr id="196" name="Shape 194"/>
          <p:cNvSpPr/>
          <p:nvPr/>
        </p:nvSpPr>
        <p:spPr>
          <a:xfrm>
            <a:off x="1198778" y="4663440"/>
            <a:ext cx="88697" cy="164592"/>
          </a:xfrm>
          <a:prstGeom prst="rect">
            <a:avLst/>
          </a:prstGeom>
          <a:solidFill>
            <a:srgbClr val="DCEAF9"/>
          </a:solidFill>
          <a:ln/>
        </p:spPr>
        <p:txBody>
          <a:bodyPr/>
          <a:lstStyle/>
          <a:p>
            <a:endParaRPr lang="th-TH"/>
          </a:p>
        </p:txBody>
      </p:sp>
      <p:sp>
        <p:nvSpPr>
          <p:cNvPr id="197" name="Shape 195"/>
          <p:cNvSpPr/>
          <p:nvPr/>
        </p:nvSpPr>
        <p:spPr>
          <a:xfrm>
            <a:off x="1278331" y="4663440"/>
            <a:ext cx="88697" cy="164592"/>
          </a:xfrm>
          <a:prstGeom prst="rect">
            <a:avLst/>
          </a:prstGeom>
          <a:solidFill>
            <a:srgbClr val="DAE8F7"/>
          </a:solidFill>
          <a:ln/>
        </p:spPr>
        <p:txBody>
          <a:bodyPr/>
          <a:lstStyle/>
          <a:p>
            <a:endParaRPr lang="th-TH"/>
          </a:p>
        </p:txBody>
      </p:sp>
      <p:sp>
        <p:nvSpPr>
          <p:cNvPr id="198" name="Shape 196"/>
          <p:cNvSpPr/>
          <p:nvPr/>
        </p:nvSpPr>
        <p:spPr>
          <a:xfrm>
            <a:off x="1357884" y="4663440"/>
            <a:ext cx="88697" cy="164592"/>
          </a:xfrm>
          <a:prstGeom prst="rect">
            <a:avLst/>
          </a:prstGeom>
          <a:solidFill>
            <a:srgbClr val="D8E6F5"/>
          </a:solidFill>
          <a:ln/>
        </p:spPr>
        <p:txBody>
          <a:bodyPr/>
          <a:lstStyle/>
          <a:p>
            <a:endParaRPr lang="th-TH"/>
          </a:p>
        </p:txBody>
      </p:sp>
      <p:sp>
        <p:nvSpPr>
          <p:cNvPr id="199" name="Shape 197"/>
          <p:cNvSpPr/>
          <p:nvPr/>
        </p:nvSpPr>
        <p:spPr>
          <a:xfrm>
            <a:off x="1437437" y="4663440"/>
            <a:ext cx="88697" cy="164592"/>
          </a:xfrm>
          <a:prstGeom prst="rect">
            <a:avLst/>
          </a:prstGeom>
          <a:solidFill>
            <a:srgbClr val="D6E4F4"/>
          </a:solidFill>
          <a:ln/>
        </p:spPr>
        <p:txBody>
          <a:bodyPr/>
          <a:lstStyle/>
          <a:p>
            <a:endParaRPr lang="th-TH"/>
          </a:p>
        </p:txBody>
      </p:sp>
      <p:sp>
        <p:nvSpPr>
          <p:cNvPr id="200" name="Shape 198"/>
          <p:cNvSpPr/>
          <p:nvPr/>
        </p:nvSpPr>
        <p:spPr>
          <a:xfrm>
            <a:off x="1516990" y="4663440"/>
            <a:ext cx="88697" cy="164592"/>
          </a:xfrm>
          <a:prstGeom prst="rect">
            <a:avLst/>
          </a:prstGeom>
          <a:solidFill>
            <a:srgbClr val="D4E2F2"/>
          </a:solidFill>
          <a:ln/>
        </p:spPr>
        <p:txBody>
          <a:bodyPr/>
          <a:lstStyle/>
          <a:p>
            <a:endParaRPr lang="th-TH"/>
          </a:p>
        </p:txBody>
      </p:sp>
      <p:sp>
        <p:nvSpPr>
          <p:cNvPr id="201" name="Shape 199"/>
          <p:cNvSpPr/>
          <p:nvPr/>
        </p:nvSpPr>
        <p:spPr>
          <a:xfrm>
            <a:off x="1596542" y="4663440"/>
            <a:ext cx="88697" cy="164592"/>
          </a:xfrm>
          <a:prstGeom prst="rect">
            <a:avLst/>
          </a:prstGeom>
          <a:solidFill>
            <a:srgbClr val="D1DFF0"/>
          </a:solidFill>
          <a:ln/>
        </p:spPr>
        <p:txBody>
          <a:bodyPr/>
          <a:lstStyle/>
          <a:p>
            <a:endParaRPr lang="th-TH"/>
          </a:p>
        </p:txBody>
      </p:sp>
      <p:sp>
        <p:nvSpPr>
          <p:cNvPr id="202" name="Shape 200"/>
          <p:cNvSpPr/>
          <p:nvPr/>
        </p:nvSpPr>
        <p:spPr>
          <a:xfrm>
            <a:off x="1676095" y="4663440"/>
            <a:ext cx="88697" cy="164592"/>
          </a:xfrm>
          <a:prstGeom prst="rect">
            <a:avLst/>
          </a:prstGeom>
          <a:solidFill>
            <a:srgbClr val="CFDDEE"/>
          </a:solidFill>
          <a:ln/>
        </p:spPr>
        <p:txBody>
          <a:bodyPr/>
          <a:lstStyle/>
          <a:p>
            <a:endParaRPr lang="th-TH"/>
          </a:p>
        </p:txBody>
      </p:sp>
      <p:sp>
        <p:nvSpPr>
          <p:cNvPr id="203" name="Shape 201"/>
          <p:cNvSpPr/>
          <p:nvPr/>
        </p:nvSpPr>
        <p:spPr>
          <a:xfrm>
            <a:off x="1755648" y="4663440"/>
            <a:ext cx="88697" cy="164592"/>
          </a:xfrm>
          <a:prstGeom prst="rect">
            <a:avLst/>
          </a:prstGeom>
          <a:solidFill>
            <a:srgbClr val="CDDBEC"/>
          </a:solidFill>
          <a:ln/>
        </p:spPr>
        <p:txBody>
          <a:bodyPr/>
          <a:lstStyle/>
          <a:p>
            <a:endParaRPr lang="th-TH"/>
          </a:p>
        </p:txBody>
      </p:sp>
      <p:sp>
        <p:nvSpPr>
          <p:cNvPr id="204" name="Shape 202"/>
          <p:cNvSpPr/>
          <p:nvPr/>
        </p:nvSpPr>
        <p:spPr>
          <a:xfrm>
            <a:off x="1835201" y="4663440"/>
            <a:ext cx="88697" cy="164592"/>
          </a:xfrm>
          <a:prstGeom prst="rect">
            <a:avLst/>
          </a:prstGeom>
          <a:solidFill>
            <a:srgbClr val="CBD9EA"/>
          </a:solidFill>
          <a:ln/>
        </p:spPr>
        <p:txBody>
          <a:bodyPr/>
          <a:lstStyle/>
          <a:p>
            <a:endParaRPr lang="th-TH"/>
          </a:p>
        </p:txBody>
      </p:sp>
      <p:sp>
        <p:nvSpPr>
          <p:cNvPr id="205" name="Shape 203"/>
          <p:cNvSpPr/>
          <p:nvPr/>
        </p:nvSpPr>
        <p:spPr>
          <a:xfrm>
            <a:off x="1914754" y="4663440"/>
            <a:ext cx="88697" cy="164592"/>
          </a:xfrm>
          <a:prstGeom prst="rect">
            <a:avLst/>
          </a:prstGeom>
          <a:solidFill>
            <a:srgbClr val="C9D7E8"/>
          </a:solidFill>
          <a:ln/>
        </p:spPr>
        <p:txBody>
          <a:bodyPr/>
          <a:lstStyle/>
          <a:p>
            <a:endParaRPr lang="th-TH"/>
          </a:p>
        </p:txBody>
      </p:sp>
      <p:sp>
        <p:nvSpPr>
          <p:cNvPr id="206" name="Shape 204"/>
          <p:cNvSpPr/>
          <p:nvPr/>
        </p:nvSpPr>
        <p:spPr>
          <a:xfrm>
            <a:off x="1994306" y="4663440"/>
            <a:ext cx="88697" cy="164592"/>
          </a:xfrm>
          <a:prstGeom prst="rect">
            <a:avLst/>
          </a:prstGeom>
          <a:solidFill>
            <a:srgbClr val="C7D5E6"/>
          </a:solidFill>
          <a:ln/>
        </p:spPr>
        <p:txBody>
          <a:bodyPr/>
          <a:lstStyle/>
          <a:p>
            <a:endParaRPr lang="th-TH"/>
          </a:p>
        </p:txBody>
      </p:sp>
      <p:sp>
        <p:nvSpPr>
          <p:cNvPr id="207" name="Shape 205"/>
          <p:cNvSpPr/>
          <p:nvPr/>
        </p:nvSpPr>
        <p:spPr>
          <a:xfrm>
            <a:off x="2073859" y="4663440"/>
            <a:ext cx="88697" cy="164592"/>
          </a:xfrm>
          <a:prstGeom prst="rect">
            <a:avLst/>
          </a:prstGeom>
          <a:solidFill>
            <a:srgbClr val="C4D3E4"/>
          </a:solidFill>
          <a:ln/>
        </p:spPr>
        <p:txBody>
          <a:bodyPr/>
          <a:lstStyle/>
          <a:p>
            <a:endParaRPr lang="th-TH"/>
          </a:p>
        </p:txBody>
      </p:sp>
      <p:sp>
        <p:nvSpPr>
          <p:cNvPr id="208" name="Shape 206"/>
          <p:cNvSpPr/>
          <p:nvPr/>
        </p:nvSpPr>
        <p:spPr>
          <a:xfrm>
            <a:off x="2153412" y="4663440"/>
            <a:ext cx="88697" cy="164592"/>
          </a:xfrm>
          <a:prstGeom prst="rect">
            <a:avLst/>
          </a:prstGeom>
          <a:solidFill>
            <a:srgbClr val="C2D1E2"/>
          </a:solidFill>
          <a:ln/>
        </p:spPr>
        <p:txBody>
          <a:bodyPr/>
          <a:lstStyle/>
          <a:p>
            <a:endParaRPr lang="th-TH"/>
          </a:p>
        </p:txBody>
      </p:sp>
      <p:sp>
        <p:nvSpPr>
          <p:cNvPr id="209" name="Shape 207"/>
          <p:cNvSpPr/>
          <p:nvPr/>
        </p:nvSpPr>
        <p:spPr>
          <a:xfrm>
            <a:off x="2232965" y="4663440"/>
            <a:ext cx="88697" cy="164592"/>
          </a:xfrm>
          <a:prstGeom prst="rect">
            <a:avLst/>
          </a:prstGeom>
          <a:solidFill>
            <a:srgbClr val="C0CFE0"/>
          </a:solidFill>
          <a:ln/>
        </p:spPr>
        <p:txBody>
          <a:bodyPr/>
          <a:lstStyle/>
          <a:p>
            <a:endParaRPr lang="th-TH"/>
          </a:p>
        </p:txBody>
      </p:sp>
      <p:sp>
        <p:nvSpPr>
          <p:cNvPr id="210" name="Shape 208"/>
          <p:cNvSpPr/>
          <p:nvPr/>
        </p:nvSpPr>
        <p:spPr>
          <a:xfrm>
            <a:off x="2312518" y="4663440"/>
            <a:ext cx="88697" cy="164592"/>
          </a:xfrm>
          <a:prstGeom prst="rect">
            <a:avLst/>
          </a:prstGeom>
          <a:solidFill>
            <a:srgbClr val="BECDDF"/>
          </a:solidFill>
          <a:ln/>
        </p:spPr>
        <p:txBody>
          <a:bodyPr/>
          <a:lstStyle/>
          <a:p>
            <a:endParaRPr lang="th-TH"/>
          </a:p>
        </p:txBody>
      </p:sp>
      <p:sp>
        <p:nvSpPr>
          <p:cNvPr id="211" name="Shape 209"/>
          <p:cNvSpPr/>
          <p:nvPr/>
        </p:nvSpPr>
        <p:spPr>
          <a:xfrm>
            <a:off x="2392070" y="4663440"/>
            <a:ext cx="88697" cy="164592"/>
          </a:xfrm>
          <a:prstGeom prst="rect">
            <a:avLst/>
          </a:prstGeom>
          <a:solidFill>
            <a:srgbClr val="BCCBDD"/>
          </a:solidFill>
          <a:ln/>
        </p:spPr>
        <p:txBody>
          <a:bodyPr/>
          <a:lstStyle/>
          <a:p>
            <a:endParaRPr lang="th-TH"/>
          </a:p>
        </p:txBody>
      </p:sp>
      <p:sp>
        <p:nvSpPr>
          <p:cNvPr id="212" name="Shape 210"/>
          <p:cNvSpPr/>
          <p:nvPr/>
        </p:nvSpPr>
        <p:spPr>
          <a:xfrm>
            <a:off x="2471623" y="4663440"/>
            <a:ext cx="88697" cy="164592"/>
          </a:xfrm>
          <a:prstGeom prst="rect">
            <a:avLst/>
          </a:prstGeom>
          <a:solidFill>
            <a:srgbClr val="B9C9DB"/>
          </a:solidFill>
          <a:ln/>
        </p:spPr>
        <p:txBody>
          <a:bodyPr/>
          <a:lstStyle/>
          <a:p>
            <a:endParaRPr lang="th-TH"/>
          </a:p>
        </p:txBody>
      </p:sp>
      <p:sp>
        <p:nvSpPr>
          <p:cNvPr id="213" name="Shape 211"/>
          <p:cNvSpPr/>
          <p:nvPr/>
        </p:nvSpPr>
        <p:spPr>
          <a:xfrm>
            <a:off x="2551176" y="4663440"/>
            <a:ext cx="88697" cy="164592"/>
          </a:xfrm>
          <a:prstGeom prst="rect">
            <a:avLst/>
          </a:prstGeom>
          <a:solidFill>
            <a:srgbClr val="B7C7D9"/>
          </a:solidFill>
          <a:ln/>
        </p:spPr>
        <p:txBody>
          <a:bodyPr/>
          <a:lstStyle/>
          <a:p>
            <a:endParaRPr lang="th-TH"/>
          </a:p>
        </p:txBody>
      </p:sp>
      <p:sp>
        <p:nvSpPr>
          <p:cNvPr id="214" name="Shape 212"/>
          <p:cNvSpPr/>
          <p:nvPr/>
        </p:nvSpPr>
        <p:spPr>
          <a:xfrm>
            <a:off x="2630729" y="4663440"/>
            <a:ext cx="88697" cy="164592"/>
          </a:xfrm>
          <a:prstGeom prst="rect">
            <a:avLst/>
          </a:prstGeom>
          <a:solidFill>
            <a:srgbClr val="B5C5D7"/>
          </a:solidFill>
          <a:ln/>
        </p:spPr>
        <p:txBody>
          <a:bodyPr/>
          <a:lstStyle/>
          <a:p>
            <a:endParaRPr lang="th-TH"/>
          </a:p>
        </p:txBody>
      </p:sp>
      <p:sp>
        <p:nvSpPr>
          <p:cNvPr id="215" name="Shape 213"/>
          <p:cNvSpPr/>
          <p:nvPr/>
        </p:nvSpPr>
        <p:spPr>
          <a:xfrm>
            <a:off x="2710282" y="4663440"/>
            <a:ext cx="88697" cy="164592"/>
          </a:xfrm>
          <a:prstGeom prst="rect">
            <a:avLst/>
          </a:prstGeom>
          <a:solidFill>
            <a:srgbClr val="B3C2D5"/>
          </a:solidFill>
          <a:ln/>
        </p:spPr>
        <p:txBody>
          <a:bodyPr/>
          <a:lstStyle/>
          <a:p>
            <a:endParaRPr lang="th-TH"/>
          </a:p>
        </p:txBody>
      </p:sp>
      <p:sp>
        <p:nvSpPr>
          <p:cNvPr id="216" name="Shape 214"/>
          <p:cNvSpPr/>
          <p:nvPr/>
        </p:nvSpPr>
        <p:spPr>
          <a:xfrm>
            <a:off x="2789834" y="4663440"/>
            <a:ext cx="88697" cy="164592"/>
          </a:xfrm>
          <a:prstGeom prst="rect">
            <a:avLst/>
          </a:prstGeom>
          <a:solidFill>
            <a:srgbClr val="B1C0D3"/>
          </a:solidFill>
          <a:ln/>
        </p:spPr>
        <p:txBody>
          <a:bodyPr/>
          <a:lstStyle/>
          <a:p>
            <a:endParaRPr lang="th-TH"/>
          </a:p>
        </p:txBody>
      </p:sp>
      <p:sp>
        <p:nvSpPr>
          <p:cNvPr id="217" name="Shape 215"/>
          <p:cNvSpPr/>
          <p:nvPr/>
        </p:nvSpPr>
        <p:spPr>
          <a:xfrm>
            <a:off x="2869387" y="4663440"/>
            <a:ext cx="88697" cy="164592"/>
          </a:xfrm>
          <a:prstGeom prst="rect">
            <a:avLst/>
          </a:prstGeom>
          <a:solidFill>
            <a:srgbClr val="AEBED1"/>
          </a:solidFill>
          <a:ln/>
        </p:spPr>
        <p:txBody>
          <a:bodyPr/>
          <a:lstStyle/>
          <a:p>
            <a:endParaRPr lang="th-TH"/>
          </a:p>
        </p:txBody>
      </p:sp>
      <p:sp>
        <p:nvSpPr>
          <p:cNvPr id="218" name="Shape 216"/>
          <p:cNvSpPr/>
          <p:nvPr/>
        </p:nvSpPr>
        <p:spPr>
          <a:xfrm>
            <a:off x="2948940" y="4663440"/>
            <a:ext cx="88697" cy="164592"/>
          </a:xfrm>
          <a:prstGeom prst="rect">
            <a:avLst/>
          </a:prstGeom>
          <a:solidFill>
            <a:srgbClr val="ACBCCF"/>
          </a:solidFill>
          <a:ln/>
        </p:spPr>
        <p:txBody>
          <a:bodyPr/>
          <a:lstStyle/>
          <a:p>
            <a:endParaRPr lang="th-TH"/>
          </a:p>
        </p:txBody>
      </p:sp>
      <p:sp>
        <p:nvSpPr>
          <p:cNvPr id="219" name="Shape 217"/>
          <p:cNvSpPr/>
          <p:nvPr/>
        </p:nvSpPr>
        <p:spPr>
          <a:xfrm>
            <a:off x="3028493" y="4663440"/>
            <a:ext cx="88697" cy="164592"/>
          </a:xfrm>
          <a:prstGeom prst="rect">
            <a:avLst/>
          </a:prstGeom>
          <a:solidFill>
            <a:srgbClr val="AABACD"/>
          </a:solidFill>
          <a:ln/>
        </p:spPr>
        <p:txBody>
          <a:bodyPr/>
          <a:lstStyle/>
          <a:p>
            <a:endParaRPr lang="th-TH"/>
          </a:p>
        </p:txBody>
      </p:sp>
      <p:sp>
        <p:nvSpPr>
          <p:cNvPr id="220" name="Shape 218"/>
          <p:cNvSpPr/>
          <p:nvPr/>
        </p:nvSpPr>
        <p:spPr>
          <a:xfrm>
            <a:off x="3108046" y="4663440"/>
            <a:ext cx="88697" cy="164592"/>
          </a:xfrm>
          <a:prstGeom prst="rect">
            <a:avLst/>
          </a:prstGeom>
          <a:solidFill>
            <a:srgbClr val="A8B8CB"/>
          </a:solidFill>
          <a:ln/>
        </p:spPr>
        <p:txBody>
          <a:bodyPr/>
          <a:lstStyle/>
          <a:p>
            <a:endParaRPr lang="th-TH"/>
          </a:p>
        </p:txBody>
      </p:sp>
      <p:sp>
        <p:nvSpPr>
          <p:cNvPr id="221" name="Shape 219"/>
          <p:cNvSpPr/>
          <p:nvPr/>
        </p:nvSpPr>
        <p:spPr>
          <a:xfrm>
            <a:off x="3187598" y="4663440"/>
            <a:ext cx="88697" cy="164592"/>
          </a:xfrm>
          <a:prstGeom prst="rect">
            <a:avLst/>
          </a:prstGeom>
          <a:solidFill>
            <a:srgbClr val="A6B6CA"/>
          </a:solidFill>
          <a:ln/>
        </p:spPr>
        <p:txBody>
          <a:bodyPr/>
          <a:lstStyle/>
          <a:p>
            <a:endParaRPr lang="th-TH"/>
          </a:p>
        </p:txBody>
      </p:sp>
      <p:sp>
        <p:nvSpPr>
          <p:cNvPr id="222" name="Shape 220"/>
          <p:cNvSpPr/>
          <p:nvPr/>
        </p:nvSpPr>
        <p:spPr>
          <a:xfrm>
            <a:off x="3267151" y="4663440"/>
            <a:ext cx="88697" cy="164592"/>
          </a:xfrm>
          <a:prstGeom prst="rect">
            <a:avLst/>
          </a:prstGeom>
          <a:solidFill>
            <a:srgbClr val="A3B4C8"/>
          </a:solidFill>
          <a:ln/>
        </p:spPr>
        <p:txBody>
          <a:bodyPr/>
          <a:lstStyle/>
          <a:p>
            <a:endParaRPr lang="th-TH"/>
          </a:p>
        </p:txBody>
      </p:sp>
      <p:sp>
        <p:nvSpPr>
          <p:cNvPr id="223" name="Shape 221"/>
          <p:cNvSpPr/>
          <p:nvPr/>
        </p:nvSpPr>
        <p:spPr>
          <a:xfrm>
            <a:off x="3346704" y="4663440"/>
            <a:ext cx="88697" cy="164592"/>
          </a:xfrm>
          <a:prstGeom prst="rect">
            <a:avLst/>
          </a:prstGeom>
          <a:solidFill>
            <a:srgbClr val="A1B2C6"/>
          </a:solidFill>
          <a:ln/>
        </p:spPr>
        <p:txBody>
          <a:bodyPr/>
          <a:lstStyle/>
          <a:p>
            <a:endParaRPr lang="th-TH"/>
          </a:p>
        </p:txBody>
      </p:sp>
      <p:sp>
        <p:nvSpPr>
          <p:cNvPr id="224" name="Shape 222"/>
          <p:cNvSpPr/>
          <p:nvPr/>
        </p:nvSpPr>
        <p:spPr>
          <a:xfrm>
            <a:off x="3426257" y="4663440"/>
            <a:ext cx="88697" cy="164592"/>
          </a:xfrm>
          <a:prstGeom prst="rect">
            <a:avLst/>
          </a:prstGeom>
          <a:solidFill>
            <a:srgbClr val="9FB0C4"/>
          </a:solidFill>
          <a:ln/>
        </p:spPr>
        <p:txBody>
          <a:bodyPr/>
          <a:lstStyle/>
          <a:p>
            <a:endParaRPr lang="th-TH"/>
          </a:p>
        </p:txBody>
      </p:sp>
      <p:sp>
        <p:nvSpPr>
          <p:cNvPr id="225" name="Shape 223"/>
          <p:cNvSpPr/>
          <p:nvPr/>
        </p:nvSpPr>
        <p:spPr>
          <a:xfrm>
            <a:off x="3505810" y="4663440"/>
            <a:ext cx="88697" cy="164592"/>
          </a:xfrm>
          <a:prstGeom prst="rect">
            <a:avLst/>
          </a:prstGeom>
          <a:solidFill>
            <a:srgbClr val="9DAEC2"/>
          </a:solidFill>
          <a:ln/>
        </p:spPr>
        <p:txBody>
          <a:bodyPr/>
          <a:lstStyle/>
          <a:p>
            <a:endParaRPr lang="th-TH"/>
          </a:p>
        </p:txBody>
      </p:sp>
      <p:sp>
        <p:nvSpPr>
          <p:cNvPr id="226" name="Shape 224"/>
          <p:cNvSpPr/>
          <p:nvPr/>
        </p:nvSpPr>
        <p:spPr>
          <a:xfrm>
            <a:off x="3585362" y="4663440"/>
            <a:ext cx="88697" cy="164592"/>
          </a:xfrm>
          <a:prstGeom prst="rect">
            <a:avLst/>
          </a:prstGeom>
          <a:solidFill>
            <a:srgbClr val="9BACC0"/>
          </a:solidFill>
          <a:ln/>
        </p:spPr>
        <p:txBody>
          <a:bodyPr/>
          <a:lstStyle/>
          <a:p>
            <a:endParaRPr lang="th-TH"/>
          </a:p>
        </p:txBody>
      </p:sp>
      <p:sp>
        <p:nvSpPr>
          <p:cNvPr id="227" name="Shape 225"/>
          <p:cNvSpPr/>
          <p:nvPr/>
        </p:nvSpPr>
        <p:spPr>
          <a:xfrm>
            <a:off x="3664915" y="4663440"/>
            <a:ext cx="88697" cy="164592"/>
          </a:xfrm>
          <a:prstGeom prst="rect">
            <a:avLst/>
          </a:prstGeom>
          <a:solidFill>
            <a:srgbClr val="98AABE"/>
          </a:solidFill>
          <a:ln/>
        </p:spPr>
        <p:txBody>
          <a:bodyPr/>
          <a:lstStyle/>
          <a:p>
            <a:endParaRPr lang="th-TH"/>
          </a:p>
        </p:txBody>
      </p:sp>
      <p:sp>
        <p:nvSpPr>
          <p:cNvPr id="228" name="Shape 226"/>
          <p:cNvSpPr/>
          <p:nvPr/>
        </p:nvSpPr>
        <p:spPr>
          <a:xfrm>
            <a:off x="3744468" y="4663440"/>
            <a:ext cx="88697" cy="164592"/>
          </a:xfrm>
          <a:prstGeom prst="rect">
            <a:avLst/>
          </a:prstGeom>
          <a:solidFill>
            <a:srgbClr val="96A8BC"/>
          </a:solidFill>
          <a:ln/>
        </p:spPr>
        <p:txBody>
          <a:bodyPr/>
          <a:lstStyle/>
          <a:p>
            <a:endParaRPr lang="th-TH"/>
          </a:p>
        </p:txBody>
      </p:sp>
      <p:sp>
        <p:nvSpPr>
          <p:cNvPr id="229" name="Shape 227"/>
          <p:cNvSpPr/>
          <p:nvPr/>
        </p:nvSpPr>
        <p:spPr>
          <a:xfrm>
            <a:off x="3824021" y="4663440"/>
            <a:ext cx="88697" cy="164592"/>
          </a:xfrm>
          <a:prstGeom prst="rect">
            <a:avLst/>
          </a:prstGeom>
          <a:solidFill>
            <a:srgbClr val="94A5BA"/>
          </a:solidFill>
          <a:ln/>
        </p:spPr>
        <p:txBody>
          <a:bodyPr/>
          <a:lstStyle/>
          <a:p>
            <a:endParaRPr lang="th-TH"/>
          </a:p>
        </p:txBody>
      </p:sp>
      <p:sp>
        <p:nvSpPr>
          <p:cNvPr id="230" name="Shape 228"/>
          <p:cNvSpPr/>
          <p:nvPr/>
        </p:nvSpPr>
        <p:spPr>
          <a:xfrm>
            <a:off x="3903574" y="4663440"/>
            <a:ext cx="88697" cy="164592"/>
          </a:xfrm>
          <a:prstGeom prst="rect">
            <a:avLst/>
          </a:prstGeom>
          <a:solidFill>
            <a:srgbClr val="92A3B8"/>
          </a:solidFill>
          <a:ln/>
        </p:spPr>
        <p:txBody>
          <a:bodyPr/>
          <a:lstStyle/>
          <a:p>
            <a:endParaRPr lang="th-TH"/>
          </a:p>
        </p:txBody>
      </p:sp>
      <p:sp>
        <p:nvSpPr>
          <p:cNvPr id="231" name="Shape 229"/>
          <p:cNvSpPr/>
          <p:nvPr/>
        </p:nvSpPr>
        <p:spPr>
          <a:xfrm>
            <a:off x="3983126" y="4663440"/>
            <a:ext cx="88697" cy="164592"/>
          </a:xfrm>
          <a:prstGeom prst="rect">
            <a:avLst/>
          </a:prstGeom>
          <a:solidFill>
            <a:srgbClr val="90A1B6"/>
          </a:solidFill>
          <a:ln/>
        </p:spPr>
        <p:txBody>
          <a:bodyPr/>
          <a:lstStyle/>
          <a:p>
            <a:endParaRPr lang="th-TH"/>
          </a:p>
        </p:txBody>
      </p:sp>
      <p:sp>
        <p:nvSpPr>
          <p:cNvPr id="232" name="Shape 230"/>
          <p:cNvSpPr/>
          <p:nvPr/>
        </p:nvSpPr>
        <p:spPr>
          <a:xfrm>
            <a:off x="4062679" y="4663440"/>
            <a:ext cx="88697" cy="164592"/>
          </a:xfrm>
          <a:prstGeom prst="rect">
            <a:avLst/>
          </a:prstGeom>
          <a:solidFill>
            <a:srgbClr val="8E9FB5"/>
          </a:solidFill>
          <a:ln/>
        </p:spPr>
        <p:txBody>
          <a:bodyPr/>
          <a:lstStyle/>
          <a:p>
            <a:endParaRPr lang="th-TH"/>
          </a:p>
        </p:txBody>
      </p:sp>
      <p:sp>
        <p:nvSpPr>
          <p:cNvPr id="233" name="Shape 231"/>
          <p:cNvSpPr/>
          <p:nvPr/>
        </p:nvSpPr>
        <p:spPr>
          <a:xfrm>
            <a:off x="4142232" y="4663440"/>
            <a:ext cx="88697" cy="164592"/>
          </a:xfrm>
          <a:prstGeom prst="rect">
            <a:avLst/>
          </a:prstGeom>
          <a:solidFill>
            <a:srgbClr val="8B9DB3"/>
          </a:solidFill>
          <a:ln/>
        </p:spPr>
        <p:txBody>
          <a:bodyPr/>
          <a:lstStyle/>
          <a:p>
            <a:endParaRPr lang="th-TH"/>
          </a:p>
        </p:txBody>
      </p:sp>
      <p:sp>
        <p:nvSpPr>
          <p:cNvPr id="234" name="Shape 232"/>
          <p:cNvSpPr/>
          <p:nvPr/>
        </p:nvSpPr>
        <p:spPr>
          <a:xfrm>
            <a:off x="4221785" y="4663440"/>
            <a:ext cx="88697" cy="164592"/>
          </a:xfrm>
          <a:prstGeom prst="rect">
            <a:avLst/>
          </a:prstGeom>
          <a:solidFill>
            <a:srgbClr val="899BB1"/>
          </a:solidFill>
          <a:ln/>
        </p:spPr>
        <p:txBody>
          <a:bodyPr/>
          <a:lstStyle/>
          <a:p>
            <a:endParaRPr lang="th-TH"/>
          </a:p>
        </p:txBody>
      </p:sp>
      <p:sp>
        <p:nvSpPr>
          <p:cNvPr id="235" name="Shape 233"/>
          <p:cNvSpPr/>
          <p:nvPr/>
        </p:nvSpPr>
        <p:spPr>
          <a:xfrm>
            <a:off x="4301338" y="4663440"/>
            <a:ext cx="88697" cy="164592"/>
          </a:xfrm>
          <a:prstGeom prst="rect">
            <a:avLst/>
          </a:prstGeom>
          <a:solidFill>
            <a:srgbClr val="8799AF"/>
          </a:solidFill>
          <a:ln/>
        </p:spPr>
        <p:txBody>
          <a:bodyPr/>
          <a:lstStyle/>
          <a:p>
            <a:endParaRPr lang="th-TH"/>
          </a:p>
        </p:txBody>
      </p:sp>
      <p:sp>
        <p:nvSpPr>
          <p:cNvPr id="236" name="Shape 234"/>
          <p:cNvSpPr/>
          <p:nvPr/>
        </p:nvSpPr>
        <p:spPr>
          <a:xfrm>
            <a:off x="4380890" y="4663440"/>
            <a:ext cx="88697" cy="164592"/>
          </a:xfrm>
          <a:prstGeom prst="rect">
            <a:avLst/>
          </a:prstGeom>
          <a:solidFill>
            <a:srgbClr val="8597AD"/>
          </a:solidFill>
          <a:ln/>
        </p:spPr>
        <p:txBody>
          <a:bodyPr/>
          <a:lstStyle/>
          <a:p>
            <a:endParaRPr lang="th-TH"/>
          </a:p>
        </p:txBody>
      </p:sp>
      <p:sp>
        <p:nvSpPr>
          <p:cNvPr id="237" name="Shape 235"/>
          <p:cNvSpPr/>
          <p:nvPr/>
        </p:nvSpPr>
        <p:spPr>
          <a:xfrm>
            <a:off x="4460443" y="4663440"/>
            <a:ext cx="88697" cy="164592"/>
          </a:xfrm>
          <a:prstGeom prst="rect">
            <a:avLst/>
          </a:prstGeom>
          <a:solidFill>
            <a:srgbClr val="8395AB"/>
          </a:solidFill>
          <a:ln/>
        </p:spPr>
        <p:txBody>
          <a:bodyPr/>
          <a:lstStyle/>
          <a:p>
            <a:endParaRPr lang="th-TH"/>
          </a:p>
        </p:txBody>
      </p:sp>
      <p:sp>
        <p:nvSpPr>
          <p:cNvPr id="238" name="Shape 236"/>
          <p:cNvSpPr/>
          <p:nvPr/>
        </p:nvSpPr>
        <p:spPr>
          <a:xfrm>
            <a:off x="4539996" y="4663440"/>
            <a:ext cx="88697" cy="164592"/>
          </a:xfrm>
          <a:prstGeom prst="rect">
            <a:avLst/>
          </a:prstGeom>
          <a:solidFill>
            <a:srgbClr val="8093A9"/>
          </a:solidFill>
          <a:ln/>
        </p:spPr>
        <p:txBody>
          <a:bodyPr/>
          <a:lstStyle/>
          <a:p>
            <a:endParaRPr lang="th-TH"/>
          </a:p>
        </p:txBody>
      </p:sp>
      <p:sp>
        <p:nvSpPr>
          <p:cNvPr id="239" name="Shape 237"/>
          <p:cNvSpPr/>
          <p:nvPr/>
        </p:nvSpPr>
        <p:spPr>
          <a:xfrm>
            <a:off x="4619549" y="4663440"/>
            <a:ext cx="88697" cy="164592"/>
          </a:xfrm>
          <a:prstGeom prst="rect">
            <a:avLst/>
          </a:prstGeom>
          <a:solidFill>
            <a:srgbClr val="7E91A7"/>
          </a:solidFill>
          <a:ln/>
        </p:spPr>
        <p:txBody>
          <a:bodyPr/>
          <a:lstStyle/>
          <a:p>
            <a:endParaRPr lang="th-TH"/>
          </a:p>
        </p:txBody>
      </p:sp>
      <p:sp>
        <p:nvSpPr>
          <p:cNvPr id="240" name="Shape 238"/>
          <p:cNvSpPr/>
          <p:nvPr/>
        </p:nvSpPr>
        <p:spPr>
          <a:xfrm>
            <a:off x="4699102" y="4663440"/>
            <a:ext cx="88697" cy="164592"/>
          </a:xfrm>
          <a:prstGeom prst="rect">
            <a:avLst/>
          </a:prstGeom>
          <a:solidFill>
            <a:srgbClr val="7C8FA5"/>
          </a:solidFill>
          <a:ln/>
        </p:spPr>
        <p:txBody>
          <a:bodyPr/>
          <a:lstStyle/>
          <a:p>
            <a:endParaRPr lang="th-TH"/>
          </a:p>
        </p:txBody>
      </p:sp>
      <p:sp>
        <p:nvSpPr>
          <p:cNvPr id="241" name="Shape 239"/>
          <p:cNvSpPr/>
          <p:nvPr/>
        </p:nvSpPr>
        <p:spPr>
          <a:xfrm>
            <a:off x="4778654" y="4663440"/>
            <a:ext cx="88697" cy="164592"/>
          </a:xfrm>
          <a:prstGeom prst="rect">
            <a:avLst/>
          </a:prstGeom>
          <a:solidFill>
            <a:srgbClr val="7A8DA3"/>
          </a:solidFill>
          <a:ln/>
        </p:spPr>
        <p:txBody>
          <a:bodyPr/>
          <a:lstStyle/>
          <a:p>
            <a:endParaRPr lang="th-TH"/>
          </a:p>
        </p:txBody>
      </p:sp>
      <p:sp>
        <p:nvSpPr>
          <p:cNvPr id="242" name="Shape 240"/>
          <p:cNvSpPr/>
          <p:nvPr/>
        </p:nvSpPr>
        <p:spPr>
          <a:xfrm>
            <a:off x="4858207" y="4663440"/>
            <a:ext cx="88697" cy="164592"/>
          </a:xfrm>
          <a:prstGeom prst="rect">
            <a:avLst/>
          </a:prstGeom>
          <a:solidFill>
            <a:srgbClr val="788BA1"/>
          </a:solidFill>
          <a:ln/>
        </p:spPr>
        <p:txBody>
          <a:bodyPr/>
          <a:lstStyle/>
          <a:p>
            <a:endParaRPr lang="th-TH"/>
          </a:p>
        </p:txBody>
      </p:sp>
      <p:sp>
        <p:nvSpPr>
          <p:cNvPr id="243" name="Shape 241"/>
          <p:cNvSpPr/>
          <p:nvPr/>
        </p:nvSpPr>
        <p:spPr>
          <a:xfrm>
            <a:off x="4937760" y="4663440"/>
            <a:ext cx="88697" cy="164592"/>
          </a:xfrm>
          <a:prstGeom prst="rect">
            <a:avLst/>
          </a:prstGeom>
          <a:solidFill>
            <a:srgbClr val="7588A0"/>
          </a:solidFill>
          <a:ln/>
        </p:spPr>
        <p:txBody>
          <a:bodyPr/>
          <a:lstStyle/>
          <a:p>
            <a:endParaRPr lang="th-TH"/>
          </a:p>
        </p:txBody>
      </p:sp>
      <p:sp>
        <p:nvSpPr>
          <p:cNvPr id="244" name="Shape 242"/>
          <p:cNvSpPr/>
          <p:nvPr/>
        </p:nvSpPr>
        <p:spPr>
          <a:xfrm>
            <a:off x="5017313" y="4663440"/>
            <a:ext cx="88697" cy="164592"/>
          </a:xfrm>
          <a:prstGeom prst="rect">
            <a:avLst/>
          </a:prstGeom>
          <a:solidFill>
            <a:srgbClr val="73869E"/>
          </a:solidFill>
          <a:ln/>
        </p:spPr>
        <p:txBody>
          <a:bodyPr/>
          <a:lstStyle/>
          <a:p>
            <a:endParaRPr lang="th-TH"/>
          </a:p>
        </p:txBody>
      </p:sp>
      <p:sp>
        <p:nvSpPr>
          <p:cNvPr id="245" name="Shape 243"/>
          <p:cNvSpPr/>
          <p:nvPr/>
        </p:nvSpPr>
        <p:spPr>
          <a:xfrm>
            <a:off x="5096866" y="4663440"/>
            <a:ext cx="88697" cy="164592"/>
          </a:xfrm>
          <a:prstGeom prst="rect">
            <a:avLst/>
          </a:prstGeom>
          <a:solidFill>
            <a:srgbClr val="71849C"/>
          </a:solidFill>
          <a:ln/>
        </p:spPr>
        <p:txBody>
          <a:bodyPr/>
          <a:lstStyle/>
          <a:p>
            <a:endParaRPr lang="th-TH"/>
          </a:p>
        </p:txBody>
      </p:sp>
      <p:sp>
        <p:nvSpPr>
          <p:cNvPr id="246" name="Shape 244"/>
          <p:cNvSpPr/>
          <p:nvPr/>
        </p:nvSpPr>
        <p:spPr>
          <a:xfrm>
            <a:off x="5176418" y="4663440"/>
            <a:ext cx="88697" cy="164592"/>
          </a:xfrm>
          <a:prstGeom prst="rect">
            <a:avLst/>
          </a:prstGeom>
          <a:solidFill>
            <a:srgbClr val="6F829A"/>
          </a:solidFill>
          <a:ln/>
        </p:spPr>
        <p:txBody>
          <a:bodyPr/>
          <a:lstStyle/>
          <a:p>
            <a:endParaRPr lang="th-TH"/>
          </a:p>
        </p:txBody>
      </p:sp>
      <p:sp>
        <p:nvSpPr>
          <p:cNvPr id="247" name="Shape 245"/>
          <p:cNvSpPr/>
          <p:nvPr/>
        </p:nvSpPr>
        <p:spPr>
          <a:xfrm>
            <a:off x="5255971" y="4663440"/>
            <a:ext cx="88697" cy="164592"/>
          </a:xfrm>
          <a:prstGeom prst="rect">
            <a:avLst/>
          </a:prstGeom>
          <a:solidFill>
            <a:srgbClr val="6D8098"/>
          </a:solidFill>
          <a:ln/>
        </p:spPr>
        <p:txBody>
          <a:bodyPr/>
          <a:lstStyle/>
          <a:p>
            <a:endParaRPr lang="th-TH"/>
          </a:p>
        </p:txBody>
      </p:sp>
      <p:sp>
        <p:nvSpPr>
          <p:cNvPr id="248" name="Shape 246"/>
          <p:cNvSpPr/>
          <p:nvPr/>
        </p:nvSpPr>
        <p:spPr>
          <a:xfrm>
            <a:off x="5335524" y="4663440"/>
            <a:ext cx="88697" cy="164592"/>
          </a:xfrm>
          <a:prstGeom prst="rect">
            <a:avLst/>
          </a:prstGeom>
          <a:solidFill>
            <a:srgbClr val="6A7E96"/>
          </a:solidFill>
          <a:ln/>
        </p:spPr>
        <p:txBody>
          <a:bodyPr/>
          <a:lstStyle/>
          <a:p>
            <a:endParaRPr lang="th-TH"/>
          </a:p>
        </p:txBody>
      </p:sp>
      <p:sp>
        <p:nvSpPr>
          <p:cNvPr id="249" name="Shape 247"/>
          <p:cNvSpPr/>
          <p:nvPr/>
        </p:nvSpPr>
        <p:spPr>
          <a:xfrm>
            <a:off x="5415077" y="4663440"/>
            <a:ext cx="88697" cy="164592"/>
          </a:xfrm>
          <a:prstGeom prst="rect">
            <a:avLst/>
          </a:prstGeom>
          <a:solidFill>
            <a:srgbClr val="687C94"/>
          </a:solidFill>
          <a:ln/>
        </p:spPr>
        <p:txBody>
          <a:bodyPr/>
          <a:lstStyle/>
          <a:p>
            <a:endParaRPr lang="th-TH"/>
          </a:p>
        </p:txBody>
      </p:sp>
      <p:sp>
        <p:nvSpPr>
          <p:cNvPr id="250" name="Shape 248"/>
          <p:cNvSpPr/>
          <p:nvPr/>
        </p:nvSpPr>
        <p:spPr>
          <a:xfrm>
            <a:off x="5494630" y="4663440"/>
            <a:ext cx="88697" cy="164592"/>
          </a:xfrm>
          <a:prstGeom prst="rect">
            <a:avLst/>
          </a:prstGeom>
          <a:solidFill>
            <a:srgbClr val="667A92"/>
          </a:solidFill>
          <a:ln/>
        </p:spPr>
        <p:txBody>
          <a:bodyPr/>
          <a:lstStyle/>
          <a:p>
            <a:endParaRPr lang="th-TH"/>
          </a:p>
        </p:txBody>
      </p:sp>
      <p:sp>
        <p:nvSpPr>
          <p:cNvPr id="251" name="Shape 249"/>
          <p:cNvSpPr/>
          <p:nvPr/>
        </p:nvSpPr>
        <p:spPr>
          <a:xfrm>
            <a:off x="5574182" y="4663440"/>
            <a:ext cx="88697" cy="164592"/>
          </a:xfrm>
          <a:prstGeom prst="rect">
            <a:avLst/>
          </a:prstGeom>
          <a:solidFill>
            <a:srgbClr val="647890"/>
          </a:solidFill>
          <a:ln/>
        </p:spPr>
        <p:txBody>
          <a:bodyPr/>
          <a:lstStyle/>
          <a:p>
            <a:endParaRPr lang="th-TH"/>
          </a:p>
        </p:txBody>
      </p:sp>
      <p:sp>
        <p:nvSpPr>
          <p:cNvPr id="252" name="Shape 250"/>
          <p:cNvSpPr/>
          <p:nvPr/>
        </p:nvSpPr>
        <p:spPr>
          <a:xfrm>
            <a:off x="5653735" y="4663440"/>
            <a:ext cx="88697" cy="164592"/>
          </a:xfrm>
          <a:prstGeom prst="rect">
            <a:avLst/>
          </a:prstGeom>
          <a:solidFill>
            <a:srgbClr val="62768E"/>
          </a:solidFill>
          <a:ln/>
        </p:spPr>
        <p:txBody>
          <a:bodyPr/>
          <a:lstStyle/>
          <a:p>
            <a:endParaRPr lang="th-TH"/>
          </a:p>
        </p:txBody>
      </p:sp>
      <p:sp>
        <p:nvSpPr>
          <p:cNvPr id="253" name="Shape 251"/>
          <p:cNvSpPr/>
          <p:nvPr/>
        </p:nvSpPr>
        <p:spPr>
          <a:xfrm>
            <a:off x="5733288" y="4663440"/>
            <a:ext cx="88697" cy="164592"/>
          </a:xfrm>
          <a:prstGeom prst="rect">
            <a:avLst/>
          </a:prstGeom>
          <a:solidFill>
            <a:srgbClr val="5F748C"/>
          </a:solidFill>
          <a:ln/>
        </p:spPr>
        <p:txBody>
          <a:bodyPr/>
          <a:lstStyle/>
          <a:p>
            <a:endParaRPr lang="th-TH"/>
          </a:p>
        </p:txBody>
      </p:sp>
      <p:sp>
        <p:nvSpPr>
          <p:cNvPr id="254" name="Shape 252"/>
          <p:cNvSpPr/>
          <p:nvPr/>
        </p:nvSpPr>
        <p:spPr>
          <a:xfrm>
            <a:off x="5812841" y="4663440"/>
            <a:ext cx="88697" cy="164592"/>
          </a:xfrm>
          <a:prstGeom prst="rect">
            <a:avLst/>
          </a:prstGeom>
          <a:solidFill>
            <a:srgbClr val="5D728B"/>
          </a:solidFill>
          <a:ln/>
        </p:spPr>
        <p:txBody>
          <a:bodyPr/>
          <a:lstStyle/>
          <a:p>
            <a:endParaRPr lang="th-TH"/>
          </a:p>
        </p:txBody>
      </p:sp>
      <p:sp>
        <p:nvSpPr>
          <p:cNvPr id="255" name="Shape 253"/>
          <p:cNvSpPr/>
          <p:nvPr/>
        </p:nvSpPr>
        <p:spPr>
          <a:xfrm>
            <a:off x="5892394" y="4663440"/>
            <a:ext cx="88697" cy="164592"/>
          </a:xfrm>
          <a:prstGeom prst="rect">
            <a:avLst/>
          </a:prstGeom>
          <a:solidFill>
            <a:srgbClr val="5B7089"/>
          </a:solidFill>
          <a:ln/>
        </p:spPr>
        <p:txBody>
          <a:bodyPr/>
          <a:lstStyle/>
          <a:p>
            <a:endParaRPr lang="th-TH"/>
          </a:p>
        </p:txBody>
      </p:sp>
      <p:sp>
        <p:nvSpPr>
          <p:cNvPr id="256" name="Shape 254"/>
          <p:cNvSpPr/>
          <p:nvPr/>
        </p:nvSpPr>
        <p:spPr>
          <a:xfrm>
            <a:off x="5971946" y="4663440"/>
            <a:ext cx="88697" cy="164592"/>
          </a:xfrm>
          <a:prstGeom prst="rect">
            <a:avLst/>
          </a:prstGeom>
          <a:solidFill>
            <a:srgbClr val="596E87"/>
          </a:solidFill>
          <a:ln/>
        </p:spPr>
        <p:txBody>
          <a:bodyPr/>
          <a:lstStyle/>
          <a:p>
            <a:endParaRPr lang="th-TH"/>
          </a:p>
        </p:txBody>
      </p:sp>
      <p:sp>
        <p:nvSpPr>
          <p:cNvPr id="257" name="Shape 255"/>
          <p:cNvSpPr/>
          <p:nvPr/>
        </p:nvSpPr>
        <p:spPr>
          <a:xfrm>
            <a:off x="6051499" y="4663440"/>
            <a:ext cx="88697" cy="164592"/>
          </a:xfrm>
          <a:prstGeom prst="rect">
            <a:avLst/>
          </a:prstGeom>
          <a:solidFill>
            <a:srgbClr val="576B85"/>
          </a:solidFill>
          <a:ln/>
        </p:spPr>
        <p:txBody>
          <a:bodyPr/>
          <a:lstStyle/>
          <a:p>
            <a:endParaRPr lang="th-TH"/>
          </a:p>
        </p:txBody>
      </p:sp>
      <p:sp>
        <p:nvSpPr>
          <p:cNvPr id="258" name="Shape 256"/>
          <p:cNvSpPr/>
          <p:nvPr/>
        </p:nvSpPr>
        <p:spPr>
          <a:xfrm>
            <a:off x="6131052" y="4663440"/>
            <a:ext cx="88697" cy="164592"/>
          </a:xfrm>
          <a:prstGeom prst="rect">
            <a:avLst/>
          </a:prstGeom>
          <a:solidFill>
            <a:srgbClr val="556983"/>
          </a:solidFill>
          <a:ln/>
        </p:spPr>
        <p:txBody>
          <a:bodyPr/>
          <a:lstStyle/>
          <a:p>
            <a:endParaRPr lang="th-TH"/>
          </a:p>
        </p:txBody>
      </p:sp>
      <p:sp>
        <p:nvSpPr>
          <p:cNvPr id="259" name="Shape 257"/>
          <p:cNvSpPr/>
          <p:nvPr/>
        </p:nvSpPr>
        <p:spPr>
          <a:xfrm>
            <a:off x="6210605" y="4663440"/>
            <a:ext cx="88697" cy="164592"/>
          </a:xfrm>
          <a:prstGeom prst="rect">
            <a:avLst/>
          </a:prstGeom>
          <a:solidFill>
            <a:srgbClr val="526781"/>
          </a:solidFill>
          <a:ln/>
        </p:spPr>
        <p:txBody>
          <a:bodyPr/>
          <a:lstStyle/>
          <a:p>
            <a:endParaRPr lang="th-TH"/>
          </a:p>
        </p:txBody>
      </p:sp>
      <p:sp>
        <p:nvSpPr>
          <p:cNvPr id="260" name="Shape 258"/>
          <p:cNvSpPr/>
          <p:nvPr/>
        </p:nvSpPr>
        <p:spPr>
          <a:xfrm>
            <a:off x="6290158" y="4663440"/>
            <a:ext cx="88697" cy="164592"/>
          </a:xfrm>
          <a:prstGeom prst="rect">
            <a:avLst/>
          </a:prstGeom>
          <a:solidFill>
            <a:srgbClr val="50657F"/>
          </a:solidFill>
          <a:ln/>
        </p:spPr>
        <p:txBody>
          <a:bodyPr/>
          <a:lstStyle/>
          <a:p>
            <a:endParaRPr lang="th-TH"/>
          </a:p>
        </p:txBody>
      </p:sp>
      <p:sp>
        <p:nvSpPr>
          <p:cNvPr id="261" name="Shape 259"/>
          <p:cNvSpPr/>
          <p:nvPr/>
        </p:nvSpPr>
        <p:spPr>
          <a:xfrm>
            <a:off x="6369710" y="4663440"/>
            <a:ext cx="88697" cy="164592"/>
          </a:xfrm>
          <a:prstGeom prst="rect">
            <a:avLst/>
          </a:prstGeom>
          <a:solidFill>
            <a:srgbClr val="4E637D"/>
          </a:solidFill>
          <a:ln/>
        </p:spPr>
        <p:txBody>
          <a:bodyPr/>
          <a:lstStyle/>
          <a:p>
            <a:endParaRPr lang="th-TH"/>
          </a:p>
        </p:txBody>
      </p:sp>
      <p:sp>
        <p:nvSpPr>
          <p:cNvPr id="262" name="Shape 260"/>
          <p:cNvSpPr/>
          <p:nvPr/>
        </p:nvSpPr>
        <p:spPr>
          <a:xfrm>
            <a:off x="6449263" y="4663440"/>
            <a:ext cx="88697" cy="164592"/>
          </a:xfrm>
          <a:prstGeom prst="rect">
            <a:avLst/>
          </a:prstGeom>
          <a:solidFill>
            <a:srgbClr val="4C617B"/>
          </a:solidFill>
          <a:ln/>
        </p:spPr>
        <p:txBody>
          <a:bodyPr/>
          <a:lstStyle/>
          <a:p>
            <a:endParaRPr lang="th-TH"/>
          </a:p>
        </p:txBody>
      </p:sp>
      <p:sp>
        <p:nvSpPr>
          <p:cNvPr id="263" name="Shape 261"/>
          <p:cNvSpPr/>
          <p:nvPr/>
        </p:nvSpPr>
        <p:spPr>
          <a:xfrm>
            <a:off x="6528816" y="4663440"/>
            <a:ext cx="88697" cy="164592"/>
          </a:xfrm>
          <a:prstGeom prst="rect">
            <a:avLst/>
          </a:prstGeom>
          <a:solidFill>
            <a:srgbClr val="4A5F79"/>
          </a:solidFill>
          <a:ln/>
        </p:spPr>
        <p:txBody>
          <a:bodyPr/>
          <a:lstStyle/>
          <a:p>
            <a:endParaRPr lang="th-TH"/>
          </a:p>
        </p:txBody>
      </p:sp>
      <p:sp>
        <p:nvSpPr>
          <p:cNvPr id="264" name="Shape 262"/>
          <p:cNvSpPr/>
          <p:nvPr/>
        </p:nvSpPr>
        <p:spPr>
          <a:xfrm>
            <a:off x="6608369" y="4663440"/>
            <a:ext cx="88697" cy="164592"/>
          </a:xfrm>
          <a:prstGeom prst="rect">
            <a:avLst/>
          </a:prstGeom>
          <a:solidFill>
            <a:srgbClr val="475D77"/>
          </a:solidFill>
          <a:ln/>
        </p:spPr>
        <p:txBody>
          <a:bodyPr/>
          <a:lstStyle/>
          <a:p>
            <a:endParaRPr lang="th-TH"/>
          </a:p>
        </p:txBody>
      </p:sp>
      <p:sp>
        <p:nvSpPr>
          <p:cNvPr id="265" name="Shape 263"/>
          <p:cNvSpPr/>
          <p:nvPr/>
        </p:nvSpPr>
        <p:spPr>
          <a:xfrm>
            <a:off x="6687922" y="4663440"/>
            <a:ext cx="88697" cy="164592"/>
          </a:xfrm>
          <a:prstGeom prst="rect">
            <a:avLst/>
          </a:prstGeom>
          <a:solidFill>
            <a:srgbClr val="455B76"/>
          </a:solidFill>
          <a:ln/>
        </p:spPr>
        <p:txBody>
          <a:bodyPr/>
          <a:lstStyle/>
          <a:p>
            <a:endParaRPr lang="th-TH"/>
          </a:p>
        </p:txBody>
      </p:sp>
      <p:sp>
        <p:nvSpPr>
          <p:cNvPr id="266" name="Shape 264"/>
          <p:cNvSpPr/>
          <p:nvPr/>
        </p:nvSpPr>
        <p:spPr>
          <a:xfrm>
            <a:off x="6767474" y="4663440"/>
            <a:ext cx="88697" cy="164592"/>
          </a:xfrm>
          <a:prstGeom prst="rect">
            <a:avLst/>
          </a:prstGeom>
          <a:solidFill>
            <a:srgbClr val="435974"/>
          </a:solidFill>
          <a:ln/>
        </p:spPr>
        <p:txBody>
          <a:bodyPr/>
          <a:lstStyle/>
          <a:p>
            <a:endParaRPr lang="th-TH"/>
          </a:p>
        </p:txBody>
      </p:sp>
      <p:sp>
        <p:nvSpPr>
          <p:cNvPr id="267" name="Shape 265"/>
          <p:cNvSpPr/>
          <p:nvPr/>
        </p:nvSpPr>
        <p:spPr>
          <a:xfrm>
            <a:off x="6847027" y="4663440"/>
            <a:ext cx="88697" cy="164592"/>
          </a:xfrm>
          <a:prstGeom prst="rect">
            <a:avLst/>
          </a:prstGeom>
          <a:solidFill>
            <a:srgbClr val="415772"/>
          </a:solidFill>
          <a:ln/>
        </p:spPr>
        <p:txBody>
          <a:bodyPr/>
          <a:lstStyle/>
          <a:p>
            <a:endParaRPr lang="th-TH"/>
          </a:p>
        </p:txBody>
      </p:sp>
      <p:sp>
        <p:nvSpPr>
          <p:cNvPr id="268" name="Shape 266"/>
          <p:cNvSpPr/>
          <p:nvPr/>
        </p:nvSpPr>
        <p:spPr>
          <a:xfrm>
            <a:off x="6926580" y="4663440"/>
            <a:ext cx="88697" cy="164592"/>
          </a:xfrm>
          <a:prstGeom prst="rect">
            <a:avLst/>
          </a:prstGeom>
          <a:solidFill>
            <a:srgbClr val="3F5570"/>
          </a:solidFill>
          <a:ln/>
        </p:spPr>
        <p:txBody>
          <a:bodyPr/>
          <a:lstStyle/>
          <a:p>
            <a:endParaRPr lang="th-TH"/>
          </a:p>
        </p:txBody>
      </p:sp>
      <p:sp>
        <p:nvSpPr>
          <p:cNvPr id="269" name="Shape 267"/>
          <p:cNvSpPr/>
          <p:nvPr/>
        </p:nvSpPr>
        <p:spPr>
          <a:xfrm>
            <a:off x="7006133" y="4663440"/>
            <a:ext cx="88697" cy="164592"/>
          </a:xfrm>
          <a:prstGeom prst="rect">
            <a:avLst/>
          </a:prstGeom>
          <a:solidFill>
            <a:srgbClr val="3C536E"/>
          </a:solidFill>
          <a:ln/>
        </p:spPr>
        <p:txBody>
          <a:bodyPr/>
          <a:lstStyle/>
          <a:p>
            <a:endParaRPr lang="th-TH"/>
          </a:p>
        </p:txBody>
      </p:sp>
      <p:sp>
        <p:nvSpPr>
          <p:cNvPr id="270" name="Shape 268"/>
          <p:cNvSpPr/>
          <p:nvPr/>
        </p:nvSpPr>
        <p:spPr>
          <a:xfrm>
            <a:off x="7085686" y="4663440"/>
            <a:ext cx="88697" cy="164592"/>
          </a:xfrm>
          <a:prstGeom prst="rect">
            <a:avLst/>
          </a:prstGeom>
          <a:solidFill>
            <a:srgbClr val="3A516C"/>
          </a:solidFill>
          <a:ln/>
        </p:spPr>
        <p:txBody>
          <a:bodyPr/>
          <a:lstStyle/>
          <a:p>
            <a:endParaRPr lang="th-TH"/>
          </a:p>
        </p:txBody>
      </p:sp>
      <p:sp>
        <p:nvSpPr>
          <p:cNvPr id="271" name="Shape 269"/>
          <p:cNvSpPr/>
          <p:nvPr/>
        </p:nvSpPr>
        <p:spPr>
          <a:xfrm>
            <a:off x="7165238" y="4663440"/>
            <a:ext cx="88697" cy="164592"/>
          </a:xfrm>
          <a:prstGeom prst="rect">
            <a:avLst/>
          </a:prstGeom>
          <a:solidFill>
            <a:srgbClr val="384E6A"/>
          </a:solidFill>
          <a:ln/>
        </p:spPr>
        <p:txBody>
          <a:bodyPr/>
          <a:lstStyle/>
          <a:p>
            <a:endParaRPr lang="th-TH"/>
          </a:p>
        </p:txBody>
      </p:sp>
      <p:sp>
        <p:nvSpPr>
          <p:cNvPr id="272" name="Shape 270"/>
          <p:cNvSpPr/>
          <p:nvPr/>
        </p:nvSpPr>
        <p:spPr>
          <a:xfrm>
            <a:off x="7244791" y="4663440"/>
            <a:ext cx="88697" cy="164592"/>
          </a:xfrm>
          <a:prstGeom prst="rect">
            <a:avLst/>
          </a:prstGeom>
          <a:solidFill>
            <a:srgbClr val="364C68"/>
          </a:solidFill>
          <a:ln/>
        </p:spPr>
        <p:txBody>
          <a:bodyPr/>
          <a:lstStyle/>
          <a:p>
            <a:endParaRPr lang="th-TH"/>
          </a:p>
        </p:txBody>
      </p:sp>
      <p:sp>
        <p:nvSpPr>
          <p:cNvPr id="273" name="Shape 271"/>
          <p:cNvSpPr/>
          <p:nvPr/>
        </p:nvSpPr>
        <p:spPr>
          <a:xfrm>
            <a:off x="7324344" y="4663440"/>
            <a:ext cx="88697" cy="164592"/>
          </a:xfrm>
          <a:prstGeom prst="rect">
            <a:avLst/>
          </a:prstGeom>
          <a:solidFill>
            <a:srgbClr val="344A66"/>
          </a:solidFill>
          <a:ln/>
        </p:spPr>
        <p:txBody>
          <a:bodyPr/>
          <a:lstStyle/>
          <a:p>
            <a:endParaRPr lang="th-TH"/>
          </a:p>
        </p:txBody>
      </p:sp>
      <p:sp>
        <p:nvSpPr>
          <p:cNvPr id="274" name="Shape 272"/>
          <p:cNvSpPr/>
          <p:nvPr/>
        </p:nvSpPr>
        <p:spPr>
          <a:xfrm>
            <a:off x="7403897" y="4663440"/>
            <a:ext cx="88697" cy="164592"/>
          </a:xfrm>
          <a:prstGeom prst="rect">
            <a:avLst/>
          </a:prstGeom>
          <a:solidFill>
            <a:srgbClr val="314864"/>
          </a:solidFill>
          <a:ln/>
        </p:spPr>
        <p:txBody>
          <a:bodyPr/>
          <a:lstStyle/>
          <a:p>
            <a:endParaRPr lang="th-TH"/>
          </a:p>
        </p:txBody>
      </p:sp>
      <p:sp>
        <p:nvSpPr>
          <p:cNvPr id="275" name="Shape 273"/>
          <p:cNvSpPr/>
          <p:nvPr/>
        </p:nvSpPr>
        <p:spPr>
          <a:xfrm>
            <a:off x="7483450" y="4663440"/>
            <a:ext cx="88697" cy="164592"/>
          </a:xfrm>
          <a:prstGeom prst="rect">
            <a:avLst/>
          </a:prstGeom>
          <a:solidFill>
            <a:srgbClr val="2F4662"/>
          </a:solidFill>
          <a:ln/>
        </p:spPr>
        <p:txBody>
          <a:bodyPr/>
          <a:lstStyle/>
          <a:p>
            <a:endParaRPr lang="th-TH"/>
          </a:p>
        </p:txBody>
      </p:sp>
      <p:sp>
        <p:nvSpPr>
          <p:cNvPr id="276" name="Shape 274"/>
          <p:cNvSpPr/>
          <p:nvPr/>
        </p:nvSpPr>
        <p:spPr>
          <a:xfrm>
            <a:off x="7563002" y="4663440"/>
            <a:ext cx="88697" cy="164592"/>
          </a:xfrm>
          <a:prstGeom prst="rect">
            <a:avLst/>
          </a:prstGeom>
          <a:solidFill>
            <a:srgbClr val="2D4461"/>
          </a:solidFill>
          <a:ln/>
        </p:spPr>
        <p:txBody>
          <a:bodyPr/>
          <a:lstStyle/>
          <a:p>
            <a:endParaRPr lang="th-TH"/>
          </a:p>
        </p:txBody>
      </p:sp>
      <p:sp>
        <p:nvSpPr>
          <p:cNvPr id="277" name="Shape 275"/>
          <p:cNvSpPr/>
          <p:nvPr/>
        </p:nvSpPr>
        <p:spPr>
          <a:xfrm>
            <a:off x="7642555" y="4663440"/>
            <a:ext cx="88697" cy="164592"/>
          </a:xfrm>
          <a:prstGeom prst="rect">
            <a:avLst/>
          </a:prstGeom>
          <a:solidFill>
            <a:srgbClr val="2B425F"/>
          </a:solidFill>
          <a:ln/>
        </p:spPr>
        <p:txBody>
          <a:bodyPr/>
          <a:lstStyle/>
          <a:p>
            <a:endParaRPr lang="th-TH"/>
          </a:p>
        </p:txBody>
      </p:sp>
      <p:sp>
        <p:nvSpPr>
          <p:cNvPr id="278" name="Shape 276"/>
          <p:cNvSpPr/>
          <p:nvPr/>
        </p:nvSpPr>
        <p:spPr>
          <a:xfrm>
            <a:off x="7722108" y="4663440"/>
            <a:ext cx="88697" cy="164592"/>
          </a:xfrm>
          <a:prstGeom prst="rect">
            <a:avLst/>
          </a:prstGeom>
          <a:solidFill>
            <a:srgbClr val="29405D"/>
          </a:solidFill>
          <a:ln/>
        </p:spPr>
        <p:txBody>
          <a:bodyPr/>
          <a:lstStyle/>
          <a:p>
            <a:endParaRPr lang="th-TH"/>
          </a:p>
        </p:txBody>
      </p:sp>
      <p:sp>
        <p:nvSpPr>
          <p:cNvPr id="279" name="Shape 277"/>
          <p:cNvSpPr/>
          <p:nvPr/>
        </p:nvSpPr>
        <p:spPr>
          <a:xfrm>
            <a:off x="7801661" y="4663440"/>
            <a:ext cx="88697" cy="164592"/>
          </a:xfrm>
          <a:prstGeom prst="rect">
            <a:avLst/>
          </a:prstGeom>
          <a:solidFill>
            <a:srgbClr val="263E5B"/>
          </a:solidFill>
          <a:ln/>
        </p:spPr>
        <p:txBody>
          <a:bodyPr/>
          <a:lstStyle/>
          <a:p>
            <a:endParaRPr lang="th-TH"/>
          </a:p>
        </p:txBody>
      </p:sp>
      <p:sp>
        <p:nvSpPr>
          <p:cNvPr id="280" name="Shape 278"/>
          <p:cNvSpPr/>
          <p:nvPr/>
        </p:nvSpPr>
        <p:spPr>
          <a:xfrm>
            <a:off x="7881214" y="4663440"/>
            <a:ext cx="88697" cy="164592"/>
          </a:xfrm>
          <a:prstGeom prst="rect">
            <a:avLst/>
          </a:prstGeom>
          <a:solidFill>
            <a:srgbClr val="243C59"/>
          </a:solidFill>
          <a:ln/>
        </p:spPr>
        <p:txBody>
          <a:bodyPr/>
          <a:lstStyle/>
          <a:p>
            <a:endParaRPr lang="th-TH"/>
          </a:p>
        </p:txBody>
      </p:sp>
      <p:sp>
        <p:nvSpPr>
          <p:cNvPr id="281" name="Shape 279"/>
          <p:cNvSpPr/>
          <p:nvPr/>
        </p:nvSpPr>
        <p:spPr>
          <a:xfrm>
            <a:off x="7960766" y="4663440"/>
            <a:ext cx="88697" cy="164592"/>
          </a:xfrm>
          <a:prstGeom prst="rect">
            <a:avLst/>
          </a:prstGeom>
          <a:solidFill>
            <a:srgbClr val="223A57"/>
          </a:solidFill>
          <a:ln/>
        </p:spPr>
        <p:txBody>
          <a:bodyPr/>
          <a:lstStyle/>
          <a:p>
            <a:endParaRPr lang="th-TH"/>
          </a:p>
        </p:txBody>
      </p:sp>
      <p:sp>
        <p:nvSpPr>
          <p:cNvPr id="282" name="Shape 280"/>
          <p:cNvSpPr/>
          <p:nvPr/>
        </p:nvSpPr>
        <p:spPr>
          <a:xfrm>
            <a:off x="8040319" y="4663440"/>
            <a:ext cx="88697" cy="164592"/>
          </a:xfrm>
          <a:prstGeom prst="rect">
            <a:avLst/>
          </a:prstGeom>
          <a:solidFill>
            <a:srgbClr val="203855"/>
          </a:solidFill>
          <a:ln/>
        </p:spPr>
        <p:txBody>
          <a:bodyPr/>
          <a:lstStyle/>
          <a:p>
            <a:endParaRPr lang="th-TH"/>
          </a:p>
        </p:txBody>
      </p:sp>
      <p:sp>
        <p:nvSpPr>
          <p:cNvPr id="283" name="Shape 281"/>
          <p:cNvSpPr/>
          <p:nvPr/>
        </p:nvSpPr>
        <p:spPr>
          <a:xfrm>
            <a:off x="8119872" y="4663440"/>
            <a:ext cx="88697" cy="164592"/>
          </a:xfrm>
          <a:prstGeom prst="rect">
            <a:avLst/>
          </a:prstGeom>
          <a:solidFill>
            <a:srgbClr val="1E3653"/>
          </a:solidFill>
          <a:ln/>
        </p:spPr>
        <p:txBody>
          <a:bodyPr/>
          <a:lstStyle/>
          <a:p>
            <a:endParaRPr lang="th-TH"/>
          </a:p>
        </p:txBody>
      </p:sp>
      <p:sp>
        <p:nvSpPr>
          <p:cNvPr id="284" name="Shape 282"/>
          <p:cNvSpPr/>
          <p:nvPr/>
        </p:nvSpPr>
        <p:spPr>
          <a:xfrm>
            <a:off x="8199425" y="4663440"/>
            <a:ext cx="88697" cy="164592"/>
          </a:xfrm>
          <a:prstGeom prst="rect">
            <a:avLst/>
          </a:prstGeom>
          <a:solidFill>
            <a:srgbClr val="1C3451"/>
          </a:solidFill>
          <a:ln/>
        </p:spPr>
        <p:txBody>
          <a:bodyPr/>
          <a:lstStyle/>
          <a:p>
            <a:endParaRPr lang="th-TH"/>
          </a:p>
        </p:txBody>
      </p:sp>
      <p:sp>
        <p:nvSpPr>
          <p:cNvPr id="285" name="Shape 283"/>
          <p:cNvSpPr/>
          <p:nvPr/>
        </p:nvSpPr>
        <p:spPr>
          <a:xfrm>
            <a:off x="8278978" y="4663440"/>
            <a:ext cx="88697" cy="164592"/>
          </a:xfrm>
          <a:prstGeom prst="rect">
            <a:avLst/>
          </a:prstGeom>
          <a:solidFill>
            <a:srgbClr val="19314F"/>
          </a:solidFill>
          <a:ln/>
        </p:spPr>
        <p:txBody>
          <a:bodyPr/>
          <a:lstStyle/>
          <a:p>
            <a:endParaRPr lang="th-TH"/>
          </a:p>
        </p:txBody>
      </p:sp>
      <p:sp>
        <p:nvSpPr>
          <p:cNvPr id="286" name="Shape 284"/>
          <p:cNvSpPr/>
          <p:nvPr/>
        </p:nvSpPr>
        <p:spPr>
          <a:xfrm>
            <a:off x="8358530" y="4663440"/>
            <a:ext cx="88697" cy="164592"/>
          </a:xfrm>
          <a:prstGeom prst="rect">
            <a:avLst/>
          </a:prstGeom>
          <a:solidFill>
            <a:srgbClr val="172F4D"/>
          </a:solidFill>
          <a:ln/>
        </p:spPr>
        <p:txBody>
          <a:bodyPr/>
          <a:lstStyle/>
          <a:p>
            <a:endParaRPr lang="th-TH"/>
          </a:p>
        </p:txBody>
      </p:sp>
      <p:sp>
        <p:nvSpPr>
          <p:cNvPr id="287" name="Shape 285"/>
          <p:cNvSpPr/>
          <p:nvPr/>
        </p:nvSpPr>
        <p:spPr>
          <a:xfrm>
            <a:off x="8438083" y="4663440"/>
            <a:ext cx="88697" cy="164592"/>
          </a:xfrm>
          <a:prstGeom prst="rect">
            <a:avLst/>
          </a:prstGeom>
          <a:solidFill>
            <a:srgbClr val="152D4C"/>
          </a:solidFill>
          <a:ln/>
        </p:spPr>
        <p:txBody>
          <a:bodyPr/>
          <a:lstStyle/>
          <a:p>
            <a:endParaRPr lang="th-TH"/>
          </a:p>
        </p:txBody>
      </p:sp>
      <p:sp>
        <p:nvSpPr>
          <p:cNvPr id="288" name="Shape 286"/>
          <p:cNvSpPr/>
          <p:nvPr/>
        </p:nvSpPr>
        <p:spPr>
          <a:xfrm>
            <a:off x="8517636" y="4663440"/>
            <a:ext cx="88697" cy="164592"/>
          </a:xfrm>
          <a:prstGeom prst="rect">
            <a:avLst/>
          </a:prstGeom>
          <a:solidFill>
            <a:srgbClr val="132B4A"/>
          </a:solidFill>
          <a:ln/>
        </p:spPr>
        <p:txBody>
          <a:bodyPr/>
          <a:lstStyle/>
          <a:p>
            <a:endParaRPr lang="th-TH"/>
          </a:p>
        </p:txBody>
      </p:sp>
      <p:sp>
        <p:nvSpPr>
          <p:cNvPr id="289" name="Shape 287"/>
          <p:cNvSpPr/>
          <p:nvPr/>
        </p:nvSpPr>
        <p:spPr>
          <a:xfrm>
            <a:off x="8597189" y="4663440"/>
            <a:ext cx="88697" cy="164592"/>
          </a:xfrm>
          <a:prstGeom prst="rect">
            <a:avLst/>
          </a:prstGeom>
          <a:solidFill>
            <a:srgbClr val="112948"/>
          </a:solidFill>
          <a:ln/>
        </p:spPr>
        <p:txBody>
          <a:bodyPr/>
          <a:lstStyle/>
          <a:p>
            <a:endParaRPr lang="th-TH"/>
          </a:p>
        </p:txBody>
      </p:sp>
      <p:sp>
        <p:nvSpPr>
          <p:cNvPr id="290" name="Shape 288"/>
          <p:cNvSpPr/>
          <p:nvPr/>
        </p:nvSpPr>
        <p:spPr>
          <a:xfrm>
            <a:off x="8676742" y="4663440"/>
            <a:ext cx="88697" cy="164592"/>
          </a:xfrm>
          <a:prstGeom prst="rect">
            <a:avLst/>
          </a:prstGeom>
          <a:solidFill>
            <a:srgbClr val="0E2746"/>
          </a:solidFill>
          <a:ln/>
        </p:spPr>
        <p:txBody>
          <a:bodyPr/>
          <a:lstStyle/>
          <a:p>
            <a:endParaRPr lang="th-TH"/>
          </a:p>
        </p:txBody>
      </p:sp>
      <p:sp>
        <p:nvSpPr>
          <p:cNvPr id="291" name="Shape 289"/>
          <p:cNvSpPr/>
          <p:nvPr/>
        </p:nvSpPr>
        <p:spPr>
          <a:xfrm>
            <a:off x="8756294" y="4663440"/>
            <a:ext cx="88697" cy="164592"/>
          </a:xfrm>
          <a:prstGeom prst="rect">
            <a:avLst/>
          </a:prstGeom>
          <a:solidFill>
            <a:srgbClr val="0C2544"/>
          </a:solidFill>
          <a:ln/>
        </p:spPr>
        <p:txBody>
          <a:bodyPr/>
          <a:lstStyle/>
          <a:p>
            <a:endParaRPr lang="th-TH"/>
          </a:p>
        </p:txBody>
      </p:sp>
      <p:sp>
        <p:nvSpPr>
          <p:cNvPr id="292" name="Shape 290"/>
          <p:cNvSpPr/>
          <p:nvPr/>
        </p:nvSpPr>
        <p:spPr>
          <a:xfrm>
            <a:off x="8835847" y="4663440"/>
            <a:ext cx="88697" cy="164592"/>
          </a:xfrm>
          <a:prstGeom prst="rect">
            <a:avLst/>
          </a:prstGeom>
          <a:solidFill>
            <a:srgbClr val="0A2342"/>
          </a:solidFill>
          <a:ln/>
        </p:spPr>
        <p:txBody>
          <a:bodyPr/>
          <a:lstStyle/>
          <a:p>
            <a:endParaRPr lang="th-TH"/>
          </a:p>
        </p:txBody>
      </p:sp>
      <p:sp>
        <p:nvSpPr>
          <p:cNvPr id="293" name="Text 291"/>
          <p:cNvSpPr/>
          <p:nvPr/>
        </p:nvSpPr>
        <p:spPr>
          <a:xfrm>
            <a:off x="960120" y="4837176"/>
            <a:ext cx="1097280" cy="182880"/>
          </a:xfrm>
          <a:prstGeom prst="rect">
            <a:avLst/>
          </a:prstGeom>
          <a:noFill/>
          <a:ln/>
        </p:spPr>
        <p:txBody>
          <a:bodyPr wrap="square" lIns="0" tIns="0" rIns="0" bIns="0" rtlCol="0" anchor="ctr"/>
          <a:lstStyle/>
          <a:p>
            <a:pPr marL="0" indent="0">
              <a:buNone/>
            </a:pPr>
            <a:r>
              <a:rPr lang="en-US" sz="850" dirty="0">
                <a:solidFill>
                  <a:srgbClr val="607D8B"/>
                </a:solidFill>
                <a:latin typeface="Calibri" pitchFamily="34" charset="0"/>
                <a:ea typeface="Calibri" pitchFamily="34" charset="-122"/>
                <a:cs typeface="Calibri" pitchFamily="34" charset="-120"/>
              </a:rPr>
              <a:t>Low flow</a:t>
            </a:r>
            <a:endParaRPr lang="en-US" sz="850" dirty="0"/>
          </a:p>
        </p:txBody>
      </p:sp>
      <p:sp>
        <p:nvSpPr>
          <p:cNvPr id="294" name="Text 292"/>
          <p:cNvSpPr/>
          <p:nvPr/>
        </p:nvSpPr>
        <p:spPr>
          <a:xfrm>
            <a:off x="7818120" y="4837176"/>
            <a:ext cx="1097280" cy="182880"/>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High flow</a:t>
            </a:r>
            <a:endParaRPr lang="en-US" sz="850" dirty="0"/>
          </a:p>
        </p:txBody>
      </p:sp>
      <p:sp>
        <p:nvSpPr>
          <p:cNvPr id="295" name="Text 293"/>
          <p:cNvSpPr/>
          <p:nvPr/>
        </p:nvSpPr>
        <p:spPr>
          <a:xfrm>
            <a:off x="4301338" y="4407408"/>
            <a:ext cx="1828800" cy="201168"/>
          </a:xfrm>
          <a:prstGeom prst="rect">
            <a:avLst/>
          </a:prstGeom>
          <a:noFill/>
          <a:ln/>
        </p:spPr>
        <p:txBody>
          <a:bodyPr wrap="square" lIns="0" tIns="0" rIns="0" bIns="0" rtlCol="0" anchor="ctr"/>
          <a:lstStyle/>
          <a:p>
            <a:pPr marL="0" indent="0">
              <a:buNone/>
            </a:pPr>
            <a:r>
              <a:rPr lang="en-US" sz="850" i="1" dirty="0">
                <a:solidFill>
                  <a:srgbClr val="607D8B"/>
                </a:solidFill>
                <a:latin typeface="Calibri" pitchFamily="34" charset="0"/>
                <a:ea typeface="Calibri" pitchFamily="34" charset="-122"/>
                <a:cs typeface="Calibri" pitchFamily="34" charset="-120"/>
              </a:rPr>
              <a:t>Hour of day  →</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A2342"/>
          </a:solidFill>
          <a:ln/>
        </p:spPr>
        <p:txBody>
          <a:bodyPr/>
          <a:lstStyle/>
          <a:p>
            <a:endParaRPr lang="th-TH"/>
          </a:p>
        </p:txBody>
      </p:sp>
      <p:sp>
        <p:nvSpPr>
          <p:cNvPr id="3" name="Shape 1"/>
          <p:cNvSpPr/>
          <p:nvPr/>
        </p:nvSpPr>
        <p:spPr>
          <a:xfrm>
            <a:off x="0" y="960120"/>
            <a:ext cx="9144000" cy="41148"/>
          </a:xfrm>
          <a:prstGeom prst="rect">
            <a:avLst/>
          </a:prstGeom>
          <a:solidFill>
            <a:srgbClr val="1976D2"/>
          </a:solidFill>
          <a:ln/>
        </p:spPr>
        <p:txBody>
          <a:bodyPr/>
          <a:lstStyle/>
          <a:p>
            <a:endParaRPr lang="th-TH"/>
          </a:p>
        </p:txBody>
      </p:sp>
      <p:sp>
        <p:nvSpPr>
          <p:cNvPr id="4" name="Text 2"/>
          <p:cNvSpPr/>
          <p:nvPr/>
        </p:nvSpPr>
        <p:spPr>
          <a:xfrm>
            <a:off x="411480" y="91440"/>
            <a:ext cx="7955280" cy="502920"/>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Exploratory Data Analysis — Traffic Flow</a:t>
            </a:r>
            <a:endParaRPr lang="en-US" sz="2000" dirty="0"/>
          </a:p>
        </p:txBody>
      </p:sp>
      <p:sp>
        <p:nvSpPr>
          <p:cNvPr id="5" name="Text 3"/>
          <p:cNvSpPr/>
          <p:nvPr/>
        </p:nvSpPr>
        <p:spPr>
          <a:xfrm>
            <a:off x="411480" y="576072"/>
            <a:ext cx="8046720" cy="320040"/>
          </a:xfrm>
          <a:prstGeom prst="rect">
            <a:avLst/>
          </a:prstGeom>
          <a:noFill/>
          <a:ln/>
        </p:spPr>
        <p:txBody>
          <a:bodyPr wrap="square" lIns="0" tIns="0" rIns="0" bIns="0" rtlCol="0" anchor="ctr"/>
          <a:lstStyle/>
          <a:p>
            <a:pPr marL="0" indent="0">
              <a:buNone/>
            </a:pPr>
            <a:r>
              <a:rPr lang="en-US" sz="1100" dirty="0">
                <a:solidFill>
                  <a:srgbClr val="BBDEFB"/>
                </a:solidFill>
                <a:latin typeface="Calibri" pitchFamily="34" charset="0"/>
                <a:ea typeface="Calibri" pitchFamily="34" charset="-122"/>
                <a:cs typeface="Calibri" pitchFamily="34" charset="-120"/>
              </a:rPr>
              <a:t>Key temporal patterns observed across California freeways in 2021</a:t>
            </a:r>
            <a:endParaRPr lang="en-US" sz="1100" dirty="0"/>
          </a:p>
        </p:txBody>
      </p:sp>
      <p:sp>
        <p:nvSpPr>
          <p:cNvPr id="6" name="Shape 4"/>
          <p:cNvSpPr/>
          <p:nvPr/>
        </p:nvSpPr>
        <p:spPr>
          <a:xfrm>
            <a:off x="8641080" y="201168"/>
            <a:ext cx="347472" cy="347472"/>
          </a:xfrm>
          <a:prstGeom prst="ellipse">
            <a:avLst/>
          </a:prstGeom>
          <a:solidFill>
            <a:srgbClr val="1976D2"/>
          </a:solidFill>
          <a:ln/>
        </p:spPr>
        <p:txBody>
          <a:bodyPr/>
          <a:lstStyle/>
          <a:p>
            <a:endParaRPr lang="th-TH"/>
          </a:p>
        </p:txBody>
      </p:sp>
      <p:sp>
        <p:nvSpPr>
          <p:cNvPr id="7" name="Shape 5"/>
          <p:cNvSpPr/>
          <p:nvPr/>
        </p:nvSpPr>
        <p:spPr>
          <a:xfrm>
            <a:off x="0" y="4850892"/>
            <a:ext cx="9144000" cy="292608"/>
          </a:xfrm>
          <a:prstGeom prst="rect">
            <a:avLst/>
          </a:prstGeom>
          <a:solidFill>
            <a:srgbClr val="E3F0FF"/>
          </a:solidFill>
          <a:ln/>
        </p:spPr>
        <p:txBody>
          <a:bodyPr/>
          <a:lstStyle/>
          <a:p>
            <a:endParaRPr lang="th-TH"/>
          </a:p>
        </p:txBody>
      </p:sp>
      <p:sp>
        <p:nvSpPr>
          <p:cNvPr id="8" name="Text 6"/>
          <p:cNvSpPr/>
          <p:nvPr/>
        </p:nvSpPr>
        <p:spPr>
          <a:xfrm>
            <a:off x="320040" y="4869180"/>
            <a:ext cx="7315200" cy="256032"/>
          </a:xfrm>
          <a:prstGeom prst="rect">
            <a:avLst/>
          </a:prstGeom>
          <a:noFill/>
          <a:ln/>
        </p:spPr>
        <p:txBody>
          <a:bodyPr wrap="square" lIns="0" tIns="0" rIns="0" bIns="0" rtlCol="0" anchor="ctr"/>
          <a:lstStyle/>
          <a:p>
            <a:pPr marL="0" indent="0">
              <a:buNone/>
            </a:pPr>
            <a:r>
              <a:rPr lang="en-US" sz="850" dirty="0">
                <a:solidFill>
                  <a:srgbClr val="607D8B"/>
                </a:solidFill>
                <a:latin typeface="Calibri" pitchFamily="34" charset="0"/>
                <a:ea typeface="Calibri" pitchFamily="34" charset="-122"/>
                <a:cs typeface="Calibri" pitchFamily="34" charset="-120"/>
              </a:rPr>
              <a:t>FlowShift  |  Urban Traffic &amp; Transit Demand — Los Angeles 2021</a:t>
            </a:r>
            <a:endParaRPr lang="en-US" sz="850" dirty="0"/>
          </a:p>
        </p:txBody>
      </p:sp>
      <p:sp>
        <p:nvSpPr>
          <p:cNvPr id="9" name="Text 7"/>
          <p:cNvSpPr/>
          <p:nvPr/>
        </p:nvSpPr>
        <p:spPr>
          <a:xfrm>
            <a:off x="8503920" y="4869180"/>
            <a:ext cx="502920" cy="256032"/>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7 / 15</a:t>
            </a:r>
            <a:endParaRPr lang="en-US" sz="850" dirty="0"/>
          </a:p>
        </p:txBody>
      </p:sp>
      <p:sp>
        <p:nvSpPr>
          <p:cNvPr id="10" name="Shape 8"/>
          <p:cNvSpPr/>
          <p:nvPr/>
        </p:nvSpPr>
        <p:spPr>
          <a:xfrm>
            <a:off x="320040" y="1115568"/>
            <a:ext cx="4096512" cy="1572768"/>
          </a:xfrm>
          <a:prstGeom prst="rect">
            <a:avLst/>
          </a:prstGeom>
          <a:solidFill>
            <a:srgbClr val="FFFFFF"/>
          </a:solidFill>
          <a:ln w="9525">
            <a:solidFill>
              <a:srgbClr val="CFD8DC"/>
            </a:solidFill>
            <a:prstDash val="solid"/>
          </a:ln>
          <a:effectLst>
            <a:outerShdw blurRad="63500" dist="25400" dir="8100000" algn="bl" rotWithShape="0">
              <a:srgbClr val="000000">
                <a:alpha val="9000"/>
              </a:srgbClr>
            </a:outerShdw>
          </a:effectLst>
        </p:spPr>
        <p:txBody>
          <a:bodyPr/>
          <a:lstStyle/>
          <a:p>
            <a:endParaRPr lang="th-TH"/>
          </a:p>
        </p:txBody>
      </p:sp>
      <p:sp>
        <p:nvSpPr>
          <p:cNvPr id="11" name="Shape 9"/>
          <p:cNvSpPr/>
          <p:nvPr/>
        </p:nvSpPr>
        <p:spPr>
          <a:xfrm>
            <a:off x="320040" y="1115568"/>
            <a:ext cx="4096512" cy="64008"/>
          </a:xfrm>
          <a:prstGeom prst="rect">
            <a:avLst/>
          </a:prstGeom>
          <a:solidFill>
            <a:srgbClr val="1565C0"/>
          </a:solidFill>
          <a:ln/>
        </p:spPr>
        <p:txBody>
          <a:bodyPr/>
          <a:lstStyle/>
          <a:p>
            <a:endParaRPr lang="th-TH"/>
          </a:p>
        </p:txBody>
      </p:sp>
      <p:sp>
        <p:nvSpPr>
          <p:cNvPr id="12" name="Shape 10"/>
          <p:cNvSpPr/>
          <p:nvPr/>
        </p:nvSpPr>
        <p:spPr>
          <a:xfrm>
            <a:off x="502920" y="1280160"/>
            <a:ext cx="411480" cy="411480"/>
          </a:xfrm>
          <a:prstGeom prst="rect">
            <a:avLst/>
          </a:prstGeom>
          <a:solidFill>
            <a:srgbClr val="1565C0"/>
          </a:solidFill>
          <a:ln/>
        </p:spPr>
        <p:txBody>
          <a:bodyPr/>
          <a:lstStyle/>
          <a:p>
            <a:endParaRPr lang="th-TH"/>
          </a:p>
        </p:txBody>
      </p:sp>
      <p:sp>
        <p:nvSpPr>
          <p:cNvPr id="13" name="Text 11"/>
          <p:cNvSpPr/>
          <p:nvPr/>
        </p:nvSpPr>
        <p:spPr>
          <a:xfrm>
            <a:off x="502920" y="128016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01</a:t>
            </a:r>
            <a:endParaRPr lang="en-US" sz="1400" dirty="0"/>
          </a:p>
        </p:txBody>
      </p:sp>
      <p:sp>
        <p:nvSpPr>
          <p:cNvPr id="14" name="Text 12"/>
          <p:cNvSpPr/>
          <p:nvPr/>
        </p:nvSpPr>
        <p:spPr>
          <a:xfrm>
            <a:off x="1033272" y="1280160"/>
            <a:ext cx="3200400" cy="384048"/>
          </a:xfrm>
          <a:prstGeom prst="rect">
            <a:avLst/>
          </a:prstGeom>
          <a:noFill/>
          <a:ln/>
        </p:spPr>
        <p:txBody>
          <a:bodyPr wrap="square" lIns="0" tIns="0" rIns="0" bIns="0" rtlCol="0" anchor="ctr"/>
          <a:lstStyle/>
          <a:p>
            <a:pPr marL="0" indent="0">
              <a:buNone/>
            </a:pPr>
            <a:r>
              <a:rPr lang="en-US" sz="1200" b="1" dirty="0">
                <a:solidFill>
                  <a:srgbClr val="1565C0"/>
                </a:solidFill>
                <a:latin typeface="Calibri" pitchFamily="34" charset="0"/>
                <a:ea typeface="Calibri" pitchFamily="34" charset="-122"/>
                <a:cs typeface="Calibri" pitchFamily="34" charset="-120"/>
              </a:rPr>
              <a:t>Weekday Twin Peaks</a:t>
            </a:r>
            <a:endParaRPr lang="en-US" sz="1200" dirty="0"/>
          </a:p>
        </p:txBody>
      </p:sp>
      <p:sp>
        <p:nvSpPr>
          <p:cNvPr id="15" name="Text 13"/>
          <p:cNvSpPr/>
          <p:nvPr/>
        </p:nvSpPr>
        <p:spPr>
          <a:xfrm>
            <a:off x="502920" y="1773936"/>
            <a:ext cx="3749040" cy="841248"/>
          </a:xfrm>
          <a:prstGeom prst="rect">
            <a:avLst/>
          </a:prstGeom>
          <a:noFill/>
          <a:ln/>
        </p:spPr>
        <p:txBody>
          <a:bodyPr wrap="square" lIns="0" tIns="0" rIns="0" bIns="0" rtlCol="0" anchor="ctr"/>
          <a:lstStyle/>
          <a:p>
            <a:pPr marL="0" indent="0">
              <a:lnSpc>
                <a:spcPct val="130000"/>
              </a:lnSpc>
              <a:buNone/>
            </a:pPr>
            <a:r>
              <a:rPr lang="en-US" sz="1050" dirty="0">
                <a:solidFill>
                  <a:srgbClr val="37474F"/>
                </a:solidFill>
                <a:latin typeface="Calibri" pitchFamily="34" charset="0"/>
                <a:ea typeface="Calibri" pitchFamily="34" charset="-122"/>
                <a:cs typeface="Calibri" pitchFamily="34" charset="-120"/>
              </a:rPr>
              <a:t>AM commute (08:00) and PM commute (17–18:00) both breach the congestion threshold on weekdays. Weekend shows a single, gentler midday rise that stays below threshold.</a:t>
            </a:r>
            <a:endParaRPr lang="en-US" sz="1050" dirty="0"/>
          </a:p>
        </p:txBody>
      </p:sp>
      <p:sp>
        <p:nvSpPr>
          <p:cNvPr id="16" name="Shape 14"/>
          <p:cNvSpPr/>
          <p:nvPr/>
        </p:nvSpPr>
        <p:spPr>
          <a:xfrm>
            <a:off x="320040" y="2852928"/>
            <a:ext cx="4096512" cy="1572768"/>
          </a:xfrm>
          <a:prstGeom prst="rect">
            <a:avLst/>
          </a:prstGeom>
          <a:solidFill>
            <a:srgbClr val="FFFFFF"/>
          </a:solidFill>
          <a:ln w="9525">
            <a:solidFill>
              <a:srgbClr val="CFD8DC"/>
            </a:solidFill>
            <a:prstDash val="solid"/>
          </a:ln>
          <a:effectLst>
            <a:outerShdw blurRad="63500" dist="25400" dir="8100000" algn="bl" rotWithShape="0">
              <a:srgbClr val="000000">
                <a:alpha val="9000"/>
              </a:srgbClr>
            </a:outerShdw>
          </a:effectLst>
        </p:spPr>
        <p:txBody>
          <a:bodyPr/>
          <a:lstStyle/>
          <a:p>
            <a:endParaRPr lang="th-TH"/>
          </a:p>
        </p:txBody>
      </p:sp>
      <p:sp>
        <p:nvSpPr>
          <p:cNvPr id="17" name="Shape 15"/>
          <p:cNvSpPr/>
          <p:nvPr/>
        </p:nvSpPr>
        <p:spPr>
          <a:xfrm>
            <a:off x="320040" y="2852928"/>
            <a:ext cx="4096512" cy="64008"/>
          </a:xfrm>
          <a:prstGeom prst="rect">
            <a:avLst/>
          </a:prstGeom>
          <a:solidFill>
            <a:srgbClr val="0A2342"/>
          </a:solidFill>
          <a:ln/>
        </p:spPr>
        <p:txBody>
          <a:bodyPr/>
          <a:lstStyle/>
          <a:p>
            <a:endParaRPr lang="th-TH"/>
          </a:p>
        </p:txBody>
      </p:sp>
      <p:sp>
        <p:nvSpPr>
          <p:cNvPr id="18" name="Shape 16"/>
          <p:cNvSpPr/>
          <p:nvPr/>
        </p:nvSpPr>
        <p:spPr>
          <a:xfrm>
            <a:off x="502920" y="3017520"/>
            <a:ext cx="411480" cy="411480"/>
          </a:xfrm>
          <a:prstGeom prst="rect">
            <a:avLst/>
          </a:prstGeom>
          <a:solidFill>
            <a:srgbClr val="0A2342"/>
          </a:solidFill>
          <a:ln/>
        </p:spPr>
        <p:txBody>
          <a:bodyPr/>
          <a:lstStyle/>
          <a:p>
            <a:endParaRPr lang="th-TH"/>
          </a:p>
        </p:txBody>
      </p:sp>
      <p:sp>
        <p:nvSpPr>
          <p:cNvPr id="19" name="Text 17"/>
          <p:cNvSpPr/>
          <p:nvPr/>
        </p:nvSpPr>
        <p:spPr>
          <a:xfrm>
            <a:off x="502920" y="301752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20" name="Text 18"/>
          <p:cNvSpPr/>
          <p:nvPr/>
        </p:nvSpPr>
        <p:spPr>
          <a:xfrm>
            <a:off x="1033272" y="3017520"/>
            <a:ext cx="3200400" cy="384048"/>
          </a:xfrm>
          <a:prstGeom prst="rect">
            <a:avLst/>
          </a:prstGeom>
          <a:noFill/>
          <a:ln/>
        </p:spPr>
        <p:txBody>
          <a:bodyPr wrap="square" lIns="0" tIns="0" rIns="0" bIns="0" rtlCol="0" anchor="ctr"/>
          <a:lstStyle/>
          <a:p>
            <a:pPr marL="0" indent="0">
              <a:buNone/>
            </a:pPr>
            <a:r>
              <a:rPr lang="en-US" sz="1200" b="1" dirty="0">
                <a:solidFill>
                  <a:srgbClr val="0A2342"/>
                </a:solidFill>
                <a:latin typeface="Calibri" pitchFamily="34" charset="0"/>
                <a:ea typeface="Calibri" pitchFamily="34" charset="-122"/>
                <a:cs typeface="Calibri" pitchFamily="34" charset="-120"/>
              </a:rPr>
              <a:t>Friday PM — Most Congested</a:t>
            </a:r>
            <a:endParaRPr lang="en-US" sz="1200" dirty="0"/>
          </a:p>
        </p:txBody>
      </p:sp>
      <p:sp>
        <p:nvSpPr>
          <p:cNvPr id="21" name="Text 19"/>
          <p:cNvSpPr/>
          <p:nvPr/>
        </p:nvSpPr>
        <p:spPr>
          <a:xfrm>
            <a:off x="502920" y="3511296"/>
            <a:ext cx="3749040" cy="841248"/>
          </a:xfrm>
          <a:prstGeom prst="rect">
            <a:avLst/>
          </a:prstGeom>
          <a:noFill/>
          <a:ln/>
        </p:spPr>
        <p:txBody>
          <a:bodyPr wrap="square" lIns="0" tIns="0" rIns="0" bIns="0" rtlCol="0" anchor="ctr"/>
          <a:lstStyle/>
          <a:p>
            <a:pPr marL="0" indent="0">
              <a:lnSpc>
                <a:spcPct val="130000"/>
              </a:lnSpc>
              <a:buNone/>
            </a:pPr>
            <a:r>
              <a:rPr lang="en-US" sz="1050" dirty="0">
                <a:solidFill>
                  <a:srgbClr val="37474F"/>
                </a:solidFill>
                <a:latin typeface="Calibri" pitchFamily="34" charset="0"/>
                <a:ea typeface="Calibri" pitchFamily="34" charset="-122"/>
                <a:cs typeface="Calibri" pitchFamily="34" charset="-120"/>
              </a:rPr>
              <a:t>The day × hour heatmap identifies Friday 17:00–19:00 as the peak congestion period of the week. Weekend flow is uniformly 9.6% lower than weekday average.</a:t>
            </a:r>
            <a:endParaRPr lang="en-US" sz="1050" dirty="0"/>
          </a:p>
        </p:txBody>
      </p:sp>
      <p:sp>
        <p:nvSpPr>
          <p:cNvPr id="22" name="Shape 20"/>
          <p:cNvSpPr/>
          <p:nvPr/>
        </p:nvSpPr>
        <p:spPr>
          <a:xfrm>
            <a:off x="4736592" y="1115568"/>
            <a:ext cx="4096512" cy="1572768"/>
          </a:xfrm>
          <a:prstGeom prst="rect">
            <a:avLst/>
          </a:prstGeom>
          <a:solidFill>
            <a:srgbClr val="FFFFFF"/>
          </a:solidFill>
          <a:ln w="9525">
            <a:solidFill>
              <a:srgbClr val="CFD8DC"/>
            </a:solidFill>
            <a:prstDash val="solid"/>
          </a:ln>
          <a:effectLst>
            <a:outerShdw blurRad="63500" dist="25400" dir="8100000" algn="bl" rotWithShape="0">
              <a:srgbClr val="000000">
                <a:alpha val="9000"/>
              </a:srgbClr>
            </a:outerShdw>
          </a:effectLst>
        </p:spPr>
        <p:txBody>
          <a:bodyPr/>
          <a:lstStyle/>
          <a:p>
            <a:endParaRPr lang="th-TH"/>
          </a:p>
        </p:txBody>
      </p:sp>
      <p:sp>
        <p:nvSpPr>
          <p:cNvPr id="23" name="Shape 21"/>
          <p:cNvSpPr/>
          <p:nvPr/>
        </p:nvSpPr>
        <p:spPr>
          <a:xfrm>
            <a:off x="4736592" y="1115568"/>
            <a:ext cx="4096512" cy="64008"/>
          </a:xfrm>
          <a:prstGeom prst="rect">
            <a:avLst/>
          </a:prstGeom>
          <a:solidFill>
            <a:srgbClr val="1976D2"/>
          </a:solidFill>
          <a:ln/>
        </p:spPr>
        <p:txBody>
          <a:bodyPr/>
          <a:lstStyle/>
          <a:p>
            <a:endParaRPr lang="th-TH"/>
          </a:p>
        </p:txBody>
      </p:sp>
      <p:sp>
        <p:nvSpPr>
          <p:cNvPr id="24" name="Shape 22"/>
          <p:cNvSpPr/>
          <p:nvPr/>
        </p:nvSpPr>
        <p:spPr>
          <a:xfrm>
            <a:off x="4919472" y="1280160"/>
            <a:ext cx="411480" cy="411480"/>
          </a:xfrm>
          <a:prstGeom prst="rect">
            <a:avLst/>
          </a:prstGeom>
          <a:solidFill>
            <a:srgbClr val="1976D2"/>
          </a:solidFill>
          <a:ln/>
        </p:spPr>
        <p:txBody>
          <a:bodyPr/>
          <a:lstStyle/>
          <a:p>
            <a:endParaRPr lang="th-TH"/>
          </a:p>
        </p:txBody>
      </p:sp>
      <p:sp>
        <p:nvSpPr>
          <p:cNvPr id="25" name="Text 23"/>
          <p:cNvSpPr/>
          <p:nvPr/>
        </p:nvSpPr>
        <p:spPr>
          <a:xfrm>
            <a:off x="4919472" y="128016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26" name="Text 24"/>
          <p:cNvSpPr/>
          <p:nvPr/>
        </p:nvSpPr>
        <p:spPr>
          <a:xfrm>
            <a:off x="5449824" y="1280160"/>
            <a:ext cx="3200400" cy="384048"/>
          </a:xfrm>
          <a:prstGeom prst="rect">
            <a:avLst/>
          </a:prstGeom>
          <a:noFill/>
          <a:ln/>
        </p:spPr>
        <p:txBody>
          <a:bodyPr wrap="square" lIns="0" tIns="0" rIns="0" bIns="0" rtlCol="0" anchor="ctr"/>
          <a:lstStyle/>
          <a:p>
            <a:pPr marL="0" indent="0">
              <a:buNone/>
            </a:pPr>
            <a:r>
              <a:rPr lang="en-US" sz="1200" b="1" dirty="0">
                <a:solidFill>
                  <a:srgbClr val="1976D2"/>
                </a:solidFill>
                <a:latin typeface="Calibri" pitchFamily="34" charset="0"/>
                <a:ea typeface="Calibri" pitchFamily="34" charset="-122"/>
                <a:cs typeface="Calibri" pitchFamily="34" charset="-120"/>
              </a:rPr>
              <a:t>Pandemic Recovery Ramp-Up</a:t>
            </a:r>
            <a:endParaRPr lang="en-US" sz="1200" dirty="0"/>
          </a:p>
        </p:txBody>
      </p:sp>
      <p:sp>
        <p:nvSpPr>
          <p:cNvPr id="27" name="Text 25"/>
          <p:cNvSpPr/>
          <p:nvPr/>
        </p:nvSpPr>
        <p:spPr>
          <a:xfrm>
            <a:off x="4919472" y="1773936"/>
            <a:ext cx="3749040" cy="841248"/>
          </a:xfrm>
          <a:prstGeom prst="rect">
            <a:avLst/>
          </a:prstGeom>
          <a:noFill/>
          <a:ln/>
        </p:spPr>
        <p:txBody>
          <a:bodyPr wrap="square" lIns="0" tIns="0" rIns="0" bIns="0" rtlCol="0" anchor="ctr"/>
          <a:lstStyle/>
          <a:p>
            <a:pPr marL="0" indent="0">
              <a:lnSpc>
                <a:spcPct val="130000"/>
              </a:lnSpc>
              <a:buNone/>
            </a:pPr>
            <a:r>
              <a:rPr lang="en-US" sz="1050" dirty="0">
                <a:solidFill>
                  <a:srgbClr val="37474F"/>
                </a:solidFill>
                <a:latin typeface="Calibri" pitchFamily="34" charset="0"/>
                <a:ea typeface="Calibri" pitchFamily="34" charset="-122"/>
                <a:cs typeface="Calibri" pitchFamily="34" charset="-120"/>
              </a:rPr>
              <a:t>Congestion rate climbed from 10.5% in January to 29.6% in June, tracking the return to pre-pandemic commuting patterns throughout 2021.</a:t>
            </a:r>
            <a:endParaRPr lang="en-US" sz="1050" dirty="0"/>
          </a:p>
        </p:txBody>
      </p:sp>
      <p:sp>
        <p:nvSpPr>
          <p:cNvPr id="28" name="Shape 26"/>
          <p:cNvSpPr/>
          <p:nvPr/>
        </p:nvSpPr>
        <p:spPr>
          <a:xfrm>
            <a:off x="4736592" y="2852928"/>
            <a:ext cx="4096512" cy="1572768"/>
          </a:xfrm>
          <a:prstGeom prst="rect">
            <a:avLst/>
          </a:prstGeom>
          <a:solidFill>
            <a:srgbClr val="FFFFFF"/>
          </a:solidFill>
          <a:ln w="9525">
            <a:solidFill>
              <a:srgbClr val="CFD8DC"/>
            </a:solidFill>
            <a:prstDash val="solid"/>
          </a:ln>
          <a:effectLst>
            <a:outerShdw blurRad="63500" dist="25400" dir="8100000" algn="bl" rotWithShape="0">
              <a:srgbClr val="000000">
                <a:alpha val="9000"/>
              </a:srgbClr>
            </a:outerShdw>
          </a:effectLst>
        </p:spPr>
        <p:txBody>
          <a:bodyPr/>
          <a:lstStyle/>
          <a:p>
            <a:endParaRPr lang="th-TH"/>
          </a:p>
        </p:txBody>
      </p:sp>
      <p:sp>
        <p:nvSpPr>
          <p:cNvPr id="29" name="Shape 27"/>
          <p:cNvSpPr/>
          <p:nvPr/>
        </p:nvSpPr>
        <p:spPr>
          <a:xfrm>
            <a:off x="4736592" y="2852928"/>
            <a:ext cx="4096512" cy="64008"/>
          </a:xfrm>
          <a:prstGeom prst="rect">
            <a:avLst/>
          </a:prstGeom>
          <a:solidFill>
            <a:srgbClr val="1565C0"/>
          </a:solidFill>
          <a:ln/>
        </p:spPr>
        <p:txBody>
          <a:bodyPr/>
          <a:lstStyle/>
          <a:p>
            <a:endParaRPr lang="th-TH"/>
          </a:p>
        </p:txBody>
      </p:sp>
      <p:sp>
        <p:nvSpPr>
          <p:cNvPr id="30" name="Shape 28"/>
          <p:cNvSpPr/>
          <p:nvPr/>
        </p:nvSpPr>
        <p:spPr>
          <a:xfrm>
            <a:off x="4919472" y="3017520"/>
            <a:ext cx="411480" cy="411480"/>
          </a:xfrm>
          <a:prstGeom prst="rect">
            <a:avLst/>
          </a:prstGeom>
          <a:solidFill>
            <a:srgbClr val="1565C0"/>
          </a:solidFill>
          <a:ln/>
        </p:spPr>
        <p:txBody>
          <a:bodyPr/>
          <a:lstStyle/>
          <a:p>
            <a:endParaRPr lang="th-TH"/>
          </a:p>
        </p:txBody>
      </p:sp>
      <p:sp>
        <p:nvSpPr>
          <p:cNvPr id="31" name="Text 29"/>
          <p:cNvSpPr/>
          <p:nvPr/>
        </p:nvSpPr>
        <p:spPr>
          <a:xfrm>
            <a:off x="4919472" y="301752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32" name="Text 30"/>
          <p:cNvSpPr/>
          <p:nvPr/>
        </p:nvSpPr>
        <p:spPr>
          <a:xfrm>
            <a:off x="5449824" y="3017520"/>
            <a:ext cx="3200400" cy="384048"/>
          </a:xfrm>
          <a:prstGeom prst="rect">
            <a:avLst/>
          </a:prstGeom>
          <a:noFill/>
          <a:ln/>
        </p:spPr>
        <p:txBody>
          <a:bodyPr wrap="square" lIns="0" tIns="0" rIns="0" bIns="0" rtlCol="0" anchor="ctr"/>
          <a:lstStyle/>
          <a:p>
            <a:pPr marL="0" indent="0">
              <a:buNone/>
            </a:pPr>
            <a:r>
              <a:rPr lang="en-US" sz="1200" b="1" dirty="0">
                <a:solidFill>
                  <a:srgbClr val="1565C0"/>
                </a:solidFill>
                <a:latin typeface="Calibri" pitchFamily="34" charset="0"/>
                <a:ea typeface="Calibri" pitchFamily="34" charset="-122"/>
                <a:cs typeface="Calibri" pitchFamily="34" charset="-120"/>
              </a:rPr>
              <a:t>Strong Daily Autocorrelation</a:t>
            </a:r>
            <a:endParaRPr lang="en-US" sz="1200" dirty="0"/>
          </a:p>
        </p:txBody>
      </p:sp>
      <p:sp>
        <p:nvSpPr>
          <p:cNvPr id="33" name="Text 31"/>
          <p:cNvSpPr/>
          <p:nvPr/>
        </p:nvSpPr>
        <p:spPr>
          <a:xfrm>
            <a:off x="4919472" y="3511296"/>
            <a:ext cx="3749040" cy="841248"/>
          </a:xfrm>
          <a:prstGeom prst="rect">
            <a:avLst/>
          </a:prstGeom>
          <a:noFill/>
          <a:ln/>
        </p:spPr>
        <p:txBody>
          <a:bodyPr wrap="square" lIns="0" tIns="0" rIns="0" bIns="0" rtlCol="0" anchor="ctr"/>
          <a:lstStyle/>
          <a:p>
            <a:pPr marL="0" indent="0">
              <a:lnSpc>
                <a:spcPct val="130000"/>
              </a:lnSpc>
              <a:buNone/>
            </a:pPr>
            <a:r>
              <a:rPr lang="en-US" sz="1050" dirty="0">
                <a:solidFill>
                  <a:srgbClr val="37474F"/>
                </a:solidFill>
                <a:latin typeface="Calibri" pitchFamily="34" charset="0"/>
                <a:ea typeface="Calibri" pitchFamily="34" charset="-122"/>
                <a:cs typeface="Calibri" pitchFamily="34" charset="-120"/>
              </a:rPr>
              <a:t>Lag-1 correlation r = 0.999; lag-288 (1 day) r = 0.946. The ADF test confirms stationarity (p ≈ 0), enabling direct ARIMA modelling without differencing.</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A2342"/>
          </a:solidFill>
          <a:ln/>
        </p:spPr>
        <p:txBody>
          <a:bodyPr/>
          <a:lstStyle/>
          <a:p>
            <a:endParaRPr lang="th-TH"/>
          </a:p>
        </p:txBody>
      </p:sp>
      <p:sp>
        <p:nvSpPr>
          <p:cNvPr id="3" name="Shape 1"/>
          <p:cNvSpPr/>
          <p:nvPr/>
        </p:nvSpPr>
        <p:spPr>
          <a:xfrm>
            <a:off x="0" y="960120"/>
            <a:ext cx="9144000" cy="41148"/>
          </a:xfrm>
          <a:prstGeom prst="rect">
            <a:avLst/>
          </a:prstGeom>
          <a:solidFill>
            <a:srgbClr val="1976D2"/>
          </a:solidFill>
          <a:ln/>
        </p:spPr>
        <p:txBody>
          <a:bodyPr/>
          <a:lstStyle/>
          <a:p>
            <a:endParaRPr lang="th-TH"/>
          </a:p>
        </p:txBody>
      </p:sp>
      <p:sp>
        <p:nvSpPr>
          <p:cNvPr id="4" name="Text 2"/>
          <p:cNvSpPr/>
          <p:nvPr/>
        </p:nvSpPr>
        <p:spPr>
          <a:xfrm>
            <a:off x="411480" y="91440"/>
            <a:ext cx="7955280" cy="502920"/>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Ridership Trends &amp; Congestion Correlation</a:t>
            </a:r>
            <a:endParaRPr lang="en-US" sz="2000" dirty="0"/>
          </a:p>
        </p:txBody>
      </p:sp>
      <p:sp>
        <p:nvSpPr>
          <p:cNvPr id="5" name="Text 3"/>
          <p:cNvSpPr/>
          <p:nvPr/>
        </p:nvSpPr>
        <p:spPr>
          <a:xfrm>
            <a:off x="411480" y="576072"/>
            <a:ext cx="8046720" cy="320040"/>
          </a:xfrm>
          <a:prstGeom prst="rect">
            <a:avLst/>
          </a:prstGeom>
          <a:noFill/>
          <a:ln/>
        </p:spPr>
        <p:txBody>
          <a:bodyPr wrap="square" lIns="0" tIns="0" rIns="0" bIns="0" rtlCol="0" anchor="ctr"/>
          <a:lstStyle/>
          <a:p>
            <a:pPr marL="0" indent="0">
              <a:buNone/>
            </a:pPr>
            <a:r>
              <a:rPr lang="en-US" sz="1100" dirty="0">
                <a:solidFill>
                  <a:srgbClr val="BBDEFB"/>
                </a:solidFill>
                <a:latin typeface="Calibri" pitchFamily="34" charset="0"/>
                <a:ea typeface="Calibri" pitchFamily="34" charset="-122"/>
                <a:cs typeface="Calibri" pitchFamily="34" charset="-120"/>
              </a:rPr>
              <a:t>LA transit ridership vs. traffic flow — monthly analysis, 2021</a:t>
            </a:r>
            <a:endParaRPr lang="en-US" sz="1100" dirty="0"/>
          </a:p>
        </p:txBody>
      </p:sp>
      <p:sp>
        <p:nvSpPr>
          <p:cNvPr id="6" name="Shape 4"/>
          <p:cNvSpPr/>
          <p:nvPr/>
        </p:nvSpPr>
        <p:spPr>
          <a:xfrm>
            <a:off x="8641080" y="201168"/>
            <a:ext cx="347472" cy="347472"/>
          </a:xfrm>
          <a:prstGeom prst="ellipse">
            <a:avLst/>
          </a:prstGeom>
          <a:solidFill>
            <a:srgbClr val="1976D2"/>
          </a:solidFill>
          <a:ln/>
        </p:spPr>
        <p:txBody>
          <a:bodyPr/>
          <a:lstStyle/>
          <a:p>
            <a:endParaRPr lang="th-TH"/>
          </a:p>
        </p:txBody>
      </p:sp>
      <p:sp>
        <p:nvSpPr>
          <p:cNvPr id="7" name="Shape 5"/>
          <p:cNvSpPr/>
          <p:nvPr/>
        </p:nvSpPr>
        <p:spPr>
          <a:xfrm>
            <a:off x="0" y="4850892"/>
            <a:ext cx="9144000" cy="292608"/>
          </a:xfrm>
          <a:prstGeom prst="rect">
            <a:avLst/>
          </a:prstGeom>
          <a:solidFill>
            <a:srgbClr val="E3F0FF"/>
          </a:solidFill>
          <a:ln/>
        </p:spPr>
        <p:txBody>
          <a:bodyPr/>
          <a:lstStyle/>
          <a:p>
            <a:endParaRPr lang="th-TH"/>
          </a:p>
        </p:txBody>
      </p:sp>
      <p:sp>
        <p:nvSpPr>
          <p:cNvPr id="8" name="Text 6"/>
          <p:cNvSpPr/>
          <p:nvPr/>
        </p:nvSpPr>
        <p:spPr>
          <a:xfrm>
            <a:off x="320040" y="4869180"/>
            <a:ext cx="7315200" cy="256032"/>
          </a:xfrm>
          <a:prstGeom prst="rect">
            <a:avLst/>
          </a:prstGeom>
          <a:noFill/>
          <a:ln/>
        </p:spPr>
        <p:txBody>
          <a:bodyPr wrap="square" lIns="0" tIns="0" rIns="0" bIns="0" rtlCol="0" anchor="ctr"/>
          <a:lstStyle/>
          <a:p>
            <a:pPr marL="0" indent="0">
              <a:buNone/>
            </a:pPr>
            <a:r>
              <a:rPr lang="en-US" sz="850" dirty="0">
                <a:solidFill>
                  <a:srgbClr val="607D8B"/>
                </a:solidFill>
                <a:latin typeface="Calibri" pitchFamily="34" charset="0"/>
                <a:ea typeface="Calibri" pitchFamily="34" charset="-122"/>
                <a:cs typeface="Calibri" pitchFamily="34" charset="-120"/>
              </a:rPr>
              <a:t>FlowShift  |  Urban Traffic &amp; Transit Demand — Los Angeles 2021</a:t>
            </a:r>
            <a:endParaRPr lang="en-US" sz="850" dirty="0"/>
          </a:p>
        </p:txBody>
      </p:sp>
      <p:sp>
        <p:nvSpPr>
          <p:cNvPr id="9" name="Text 7"/>
          <p:cNvSpPr/>
          <p:nvPr/>
        </p:nvSpPr>
        <p:spPr>
          <a:xfrm>
            <a:off x="8503920" y="4869180"/>
            <a:ext cx="502920" cy="256032"/>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8 / 15</a:t>
            </a:r>
            <a:endParaRPr lang="en-US" sz="850" dirty="0"/>
          </a:p>
        </p:txBody>
      </p:sp>
      <p:sp>
        <p:nvSpPr>
          <p:cNvPr id="10" name="Text 8"/>
          <p:cNvSpPr/>
          <p:nvPr/>
        </p:nvSpPr>
        <p:spPr>
          <a:xfrm>
            <a:off x="384048" y="1078992"/>
            <a:ext cx="5029200" cy="274320"/>
          </a:xfrm>
          <a:prstGeom prst="rect">
            <a:avLst/>
          </a:prstGeom>
          <a:noFill/>
          <a:ln/>
        </p:spPr>
        <p:txBody>
          <a:bodyPr wrap="square" lIns="0" tIns="0" rIns="0" bIns="0" rtlCol="0" anchor="ctr"/>
          <a:lstStyle/>
          <a:p>
            <a:pPr marL="0" indent="0">
              <a:buNone/>
            </a:pPr>
            <a:r>
              <a:rPr lang="en-US" sz="1150" b="1" dirty="0">
                <a:solidFill>
                  <a:srgbClr val="0A2342"/>
                </a:solidFill>
                <a:latin typeface="Calibri" pitchFamily="34" charset="0"/>
                <a:ea typeface="Calibri" pitchFamily="34" charset="-122"/>
                <a:cs typeface="Calibri" pitchFamily="34" charset="-120"/>
              </a:rPr>
              <a:t>Monthly LA Ridership (UPT, millions)</a:t>
            </a:r>
            <a:endParaRPr lang="en-US" sz="1150" dirty="0"/>
          </a:p>
        </p:txBody>
      </p:sp>
      <p:sp>
        <p:nvSpPr>
          <p:cNvPr id="11" name="Shape 9"/>
          <p:cNvSpPr/>
          <p:nvPr/>
        </p:nvSpPr>
        <p:spPr>
          <a:xfrm>
            <a:off x="384048" y="4251960"/>
            <a:ext cx="5669280" cy="22860"/>
          </a:xfrm>
          <a:prstGeom prst="rect">
            <a:avLst/>
          </a:prstGeom>
          <a:solidFill>
            <a:srgbClr val="CFD8DC"/>
          </a:solidFill>
          <a:ln/>
        </p:spPr>
        <p:txBody>
          <a:bodyPr/>
          <a:lstStyle/>
          <a:p>
            <a:endParaRPr lang="th-TH"/>
          </a:p>
        </p:txBody>
      </p:sp>
      <p:sp>
        <p:nvSpPr>
          <p:cNvPr id="12" name="Shape 10"/>
          <p:cNvSpPr/>
          <p:nvPr/>
        </p:nvSpPr>
        <p:spPr>
          <a:xfrm>
            <a:off x="384048" y="3183255"/>
            <a:ext cx="438912" cy="1068705"/>
          </a:xfrm>
          <a:prstGeom prst="rect">
            <a:avLst/>
          </a:prstGeom>
          <a:solidFill>
            <a:srgbClr val="1976D2"/>
          </a:solidFill>
          <a:ln/>
        </p:spPr>
        <p:txBody>
          <a:bodyPr/>
          <a:lstStyle/>
          <a:p>
            <a:endParaRPr lang="th-TH"/>
          </a:p>
        </p:txBody>
      </p:sp>
      <p:sp>
        <p:nvSpPr>
          <p:cNvPr id="13" name="Text 11"/>
          <p:cNvSpPr/>
          <p:nvPr/>
        </p:nvSpPr>
        <p:spPr>
          <a:xfrm>
            <a:off x="384048" y="4288536"/>
            <a:ext cx="438912" cy="201168"/>
          </a:xfrm>
          <a:prstGeom prst="rect">
            <a:avLst/>
          </a:prstGeom>
          <a:noFill/>
          <a:ln/>
        </p:spPr>
        <p:txBody>
          <a:bodyPr wrap="square" lIns="0" tIns="0" rIns="0" bIns="0" rtlCol="0" anchor="ctr"/>
          <a:lstStyle/>
          <a:p>
            <a:pPr marL="0" indent="0" algn="ctr">
              <a:buNone/>
            </a:pPr>
            <a:r>
              <a:rPr lang="en-US" sz="900" dirty="0">
                <a:solidFill>
                  <a:srgbClr val="607D8B"/>
                </a:solidFill>
                <a:latin typeface="Calibri" pitchFamily="34" charset="0"/>
                <a:ea typeface="Calibri" pitchFamily="34" charset="-122"/>
                <a:cs typeface="Calibri" pitchFamily="34" charset="-120"/>
              </a:rPr>
              <a:t>J</a:t>
            </a:r>
            <a:endParaRPr lang="en-US" sz="900" dirty="0"/>
          </a:p>
        </p:txBody>
      </p:sp>
      <p:sp>
        <p:nvSpPr>
          <p:cNvPr id="14" name="Text 12"/>
          <p:cNvSpPr/>
          <p:nvPr/>
        </p:nvSpPr>
        <p:spPr>
          <a:xfrm>
            <a:off x="338328" y="2982087"/>
            <a:ext cx="530352" cy="182880"/>
          </a:xfrm>
          <a:prstGeom prst="rect">
            <a:avLst/>
          </a:prstGeom>
          <a:noFill/>
          <a:ln/>
        </p:spPr>
        <p:txBody>
          <a:bodyPr wrap="square" lIns="0" tIns="0" rIns="0" bIns="0" rtlCol="0" anchor="ctr"/>
          <a:lstStyle/>
          <a:p>
            <a:pPr marL="0" indent="0" algn="ctr">
              <a:buNone/>
            </a:pPr>
            <a:r>
              <a:rPr lang="en-US" sz="850" b="1" dirty="0">
                <a:solidFill>
                  <a:srgbClr val="1565C0"/>
                </a:solidFill>
                <a:latin typeface="Calibri" pitchFamily="34" charset="0"/>
                <a:ea typeface="Calibri" pitchFamily="34" charset="-122"/>
                <a:cs typeface="Calibri" pitchFamily="34" charset="-120"/>
              </a:rPr>
              <a:t>18.7M</a:t>
            </a:r>
            <a:endParaRPr lang="en-US" sz="850" dirty="0"/>
          </a:p>
        </p:txBody>
      </p:sp>
      <p:sp>
        <p:nvSpPr>
          <p:cNvPr id="15" name="Shape 13"/>
          <p:cNvSpPr/>
          <p:nvPr/>
        </p:nvSpPr>
        <p:spPr>
          <a:xfrm>
            <a:off x="859536" y="3154680"/>
            <a:ext cx="438912" cy="1097280"/>
          </a:xfrm>
          <a:prstGeom prst="rect">
            <a:avLst/>
          </a:prstGeom>
          <a:solidFill>
            <a:srgbClr val="1976D2"/>
          </a:solidFill>
          <a:ln/>
        </p:spPr>
        <p:txBody>
          <a:bodyPr/>
          <a:lstStyle/>
          <a:p>
            <a:endParaRPr lang="th-TH"/>
          </a:p>
        </p:txBody>
      </p:sp>
      <p:sp>
        <p:nvSpPr>
          <p:cNvPr id="16" name="Text 14"/>
          <p:cNvSpPr/>
          <p:nvPr/>
        </p:nvSpPr>
        <p:spPr>
          <a:xfrm>
            <a:off x="859536" y="4288536"/>
            <a:ext cx="438912" cy="201168"/>
          </a:xfrm>
          <a:prstGeom prst="rect">
            <a:avLst/>
          </a:prstGeom>
          <a:noFill/>
          <a:ln/>
        </p:spPr>
        <p:txBody>
          <a:bodyPr wrap="square" lIns="0" tIns="0" rIns="0" bIns="0" rtlCol="0" anchor="ctr"/>
          <a:lstStyle/>
          <a:p>
            <a:pPr marL="0" indent="0" algn="ctr">
              <a:buNone/>
            </a:pPr>
            <a:r>
              <a:rPr lang="en-US" sz="900" dirty="0">
                <a:solidFill>
                  <a:srgbClr val="607D8B"/>
                </a:solidFill>
                <a:latin typeface="Calibri" pitchFamily="34" charset="0"/>
                <a:ea typeface="Calibri" pitchFamily="34" charset="-122"/>
                <a:cs typeface="Calibri" pitchFamily="34" charset="-120"/>
              </a:rPr>
              <a:t>F</a:t>
            </a:r>
            <a:endParaRPr lang="en-US" sz="900" dirty="0"/>
          </a:p>
        </p:txBody>
      </p:sp>
      <p:sp>
        <p:nvSpPr>
          <p:cNvPr id="17" name="Shape 15"/>
          <p:cNvSpPr/>
          <p:nvPr/>
        </p:nvSpPr>
        <p:spPr>
          <a:xfrm>
            <a:off x="1335024" y="2966085"/>
            <a:ext cx="438912" cy="1285875"/>
          </a:xfrm>
          <a:prstGeom prst="rect">
            <a:avLst/>
          </a:prstGeom>
          <a:solidFill>
            <a:srgbClr val="1976D2"/>
          </a:solidFill>
          <a:ln/>
        </p:spPr>
        <p:txBody>
          <a:bodyPr/>
          <a:lstStyle/>
          <a:p>
            <a:endParaRPr lang="th-TH"/>
          </a:p>
        </p:txBody>
      </p:sp>
      <p:sp>
        <p:nvSpPr>
          <p:cNvPr id="18" name="Text 16"/>
          <p:cNvSpPr/>
          <p:nvPr/>
        </p:nvSpPr>
        <p:spPr>
          <a:xfrm>
            <a:off x="1335024" y="4288536"/>
            <a:ext cx="438912" cy="201168"/>
          </a:xfrm>
          <a:prstGeom prst="rect">
            <a:avLst/>
          </a:prstGeom>
          <a:noFill/>
          <a:ln/>
        </p:spPr>
        <p:txBody>
          <a:bodyPr wrap="square" lIns="0" tIns="0" rIns="0" bIns="0" rtlCol="0" anchor="ctr"/>
          <a:lstStyle/>
          <a:p>
            <a:pPr marL="0" indent="0" algn="ctr">
              <a:buNone/>
            </a:pPr>
            <a:r>
              <a:rPr lang="en-US" sz="900" dirty="0">
                <a:solidFill>
                  <a:srgbClr val="607D8B"/>
                </a:solidFill>
                <a:latin typeface="Calibri" pitchFamily="34" charset="0"/>
                <a:ea typeface="Calibri" pitchFamily="34" charset="-122"/>
                <a:cs typeface="Calibri" pitchFamily="34" charset="-120"/>
              </a:rPr>
              <a:t>M</a:t>
            </a:r>
            <a:endParaRPr lang="en-US" sz="900" dirty="0"/>
          </a:p>
        </p:txBody>
      </p:sp>
      <p:sp>
        <p:nvSpPr>
          <p:cNvPr id="19" name="Shape 17"/>
          <p:cNvSpPr/>
          <p:nvPr/>
        </p:nvSpPr>
        <p:spPr>
          <a:xfrm>
            <a:off x="1810512" y="2914650"/>
            <a:ext cx="438912" cy="1337310"/>
          </a:xfrm>
          <a:prstGeom prst="rect">
            <a:avLst/>
          </a:prstGeom>
          <a:solidFill>
            <a:srgbClr val="1976D2"/>
          </a:solidFill>
          <a:ln/>
        </p:spPr>
        <p:txBody>
          <a:bodyPr/>
          <a:lstStyle/>
          <a:p>
            <a:endParaRPr lang="th-TH"/>
          </a:p>
        </p:txBody>
      </p:sp>
      <p:sp>
        <p:nvSpPr>
          <p:cNvPr id="20" name="Text 18"/>
          <p:cNvSpPr/>
          <p:nvPr/>
        </p:nvSpPr>
        <p:spPr>
          <a:xfrm>
            <a:off x="1810512" y="4288536"/>
            <a:ext cx="438912" cy="201168"/>
          </a:xfrm>
          <a:prstGeom prst="rect">
            <a:avLst/>
          </a:prstGeom>
          <a:noFill/>
          <a:ln/>
        </p:spPr>
        <p:txBody>
          <a:bodyPr wrap="square" lIns="0" tIns="0" rIns="0" bIns="0" rtlCol="0" anchor="ctr"/>
          <a:lstStyle/>
          <a:p>
            <a:pPr marL="0" indent="0" algn="ctr">
              <a:buNone/>
            </a:pPr>
            <a:r>
              <a:rPr lang="en-US" sz="900" dirty="0">
                <a:solidFill>
                  <a:srgbClr val="607D8B"/>
                </a:solidFill>
                <a:latin typeface="Calibri" pitchFamily="34" charset="0"/>
                <a:ea typeface="Calibri" pitchFamily="34" charset="-122"/>
                <a:cs typeface="Calibri" pitchFamily="34" charset="-120"/>
              </a:rPr>
              <a:t>A</a:t>
            </a:r>
            <a:endParaRPr lang="en-US" sz="900" dirty="0"/>
          </a:p>
        </p:txBody>
      </p:sp>
      <p:sp>
        <p:nvSpPr>
          <p:cNvPr id="21" name="Shape 19"/>
          <p:cNvSpPr/>
          <p:nvPr/>
        </p:nvSpPr>
        <p:spPr>
          <a:xfrm>
            <a:off x="2286000" y="2863215"/>
            <a:ext cx="438912" cy="1388745"/>
          </a:xfrm>
          <a:prstGeom prst="rect">
            <a:avLst/>
          </a:prstGeom>
          <a:solidFill>
            <a:srgbClr val="1976D2"/>
          </a:solidFill>
          <a:ln/>
        </p:spPr>
        <p:txBody>
          <a:bodyPr/>
          <a:lstStyle/>
          <a:p>
            <a:endParaRPr lang="th-TH"/>
          </a:p>
        </p:txBody>
      </p:sp>
      <p:sp>
        <p:nvSpPr>
          <p:cNvPr id="22" name="Text 20"/>
          <p:cNvSpPr/>
          <p:nvPr/>
        </p:nvSpPr>
        <p:spPr>
          <a:xfrm>
            <a:off x="2286000" y="4288536"/>
            <a:ext cx="438912" cy="201168"/>
          </a:xfrm>
          <a:prstGeom prst="rect">
            <a:avLst/>
          </a:prstGeom>
          <a:noFill/>
          <a:ln/>
        </p:spPr>
        <p:txBody>
          <a:bodyPr wrap="square" lIns="0" tIns="0" rIns="0" bIns="0" rtlCol="0" anchor="ctr"/>
          <a:lstStyle/>
          <a:p>
            <a:pPr marL="0" indent="0" algn="ctr">
              <a:buNone/>
            </a:pPr>
            <a:r>
              <a:rPr lang="en-US" sz="900" dirty="0">
                <a:solidFill>
                  <a:srgbClr val="607D8B"/>
                </a:solidFill>
                <a:latin typeface="Calibri" pitchFamily="34" charset="0"/>
                <a:ea typeface="Calibri" pitchFamily="34" charset="-122"/>
                <a:cs typeface="Calibri" pitchFamily="34" charset="-120"/>
              </a:rPr>
              <a:t>M</a:t>
            </a:r>
            <a:endParaRPr lang="en-US" sz="900" dirty="0"/>
          </a:p>
        </p:txBody>
      </p:sp>
      <p:sp>
        <p:nvSpPr>
          <p:cNvPr id="23" name="Shape 21"/>
          <p:cNvSpPr/>
          <p:nvPr/>
        </p:nvSpPr>
        <p:spPr>
          <a:xfrm>
            <a:off x="2761488" y="2794635"/>
            <a:ext cx="438912" cy="1457325"/>
          </a:xfrm>
          <a:prstGeom prst="rect">
            <a:avLst/>
          </a:prstGeom>
          <a:solidFill>
            <a:srgbClr val="1976D2"/>
          </a:solidFill>
          <a:ln/>
        </p:spPr>
        <p:txBody>
          <a:bodyPr/>
          <a:lstStyle/>
          <a:p>
            <a:endParaRPr lang="th-TH"/>
          </a:p>
        </p:txBody>
      </p:sp>
      <p:sp>
        <p:nvSpPr>
          <p:cNvPr id="24" name="Text 22"/>
          <p:cNvSpPr/>
          <p:nvPr/>
        </p:nvSpPr>
        <p:spPr>
          <a:xfrm>
            <a:off x="2761488" y="4288536"/>
            <a:ext cx="438912" cy="201168"/>
          </a:xfrm>
          <a:prstGeom prst="rect">
            <a:avLst/>
          </a:prstGeom>
          <a:noFill/>
          <a:ln/>
        </p:spPr>
        <p:txBody>
          <a:bodyPr wrap="square" lIns="0" tIns="0" rIns="0" bIns="0" rtlCol="0" anchor="ctr"/>
          <a:lstStyle/>
          <a:p>
            <a:pPr marL="0" indent="0" algn="ctr">
              <a:buNone/>
            </a:pPr>
            <a:r>
              <a:rPr lang="en-US" sz="900" dirty="0">
                <a:solidFill>
                  <a:srgbClr val="607D8B"/>
                </a:solidFill>
                <a:latin typeface="Calibri" pitchFamily="34" charset="0"/>
                <a:ea typeface="Calibri" pitchFamily="34" charset="-122"/>
                <a:cs typeface="Calibri" pitchFamily="34" charset="-120"/>
              </a:rPr>
              <a:t>J</a:t>
            </a:r>
            <a:endParaRPr lang="en-US" sz="900" dirty="0"/>
          </a:p>
        </p:txBody>
      </p:sp>
      <p:sp>
        <p:nvSpPr>
          <p:cNvPr id="25" name="Shape 23"/>
          <p:cNvSpPr/>
          <p:nvPr/>
        </p:nvSpPr>
        <p:spPr>
          <a:xfrm>
            <a:off x="3236976" y="2686050"/>
            <a:ext cx="438912" cy="1565910"/>
          </a:xfrm>
          <a:prstGeom prst="rect">
            <a:avLst/>
          </a:prstGeom>
          <a:solidFill>
            <a:srgbClr val="1976D2"/>
          </a:solidFill>
          <a:ln/>
        </p:spPr>
        <p:txBody>
          <a:bodyPr/>
          <a:lstStyle/>
          <a:p>
            <a:endParaRPr lang="th-TH"/>
          </a:p>
        </p:txBody>
      </p:sp>
      <p:sp>
        <p:nvSpPr>
          <p:cNvPr id="26" name="Text 24"/>
          <p:cNvSpPr/>
          <p:nvPr/>
        </p:nvSpPr>
        <p:spPr>
          <a:xfrm>
            <a:off x="3236976" y="4288536"/>
            <a:ext cx="438912" cy="201168"/>
          </a:xfrm>
          <a:prstGeom prst="rect">
            <a:avLst/>
          </a:prstGeom>
          <a:noFill/>
          <a:ln/>
        </p:spPr>
        <p:txBody>
          <a:bodyPr wrap="square" lIns="0" tIns="0" rIns="0" bIns="0" rtlCol="0" anchor="ctr"/>
          <a:lstStyle/>
          <a:p>
            <a:pPr marL="0" indent="0" algn="ctr">
              <a:buNone/>
            </a:pPr>
            <a:r>
              <a:rPr lang="en-US" sz="900" dirty="0">
                <a:solidFill>
                  <a:srgbClr val="607D8B"/>
                </a:solidFill>
                <a:latin typeface="Calibri" pitchFamily="34" charset="0"/>
                <a:ea typeface="Calibri" pitchFamily="34" charset="-122"/>
                <a:cs typeface="Calibri" pitchFamily="34" charset="-120"/>
              </a:rPr>
              <a:t>J</a:t>
            </a:r>
            <a:endParaRPr lang="en-US" sz="900" dirty="0"/>
          </a:p>
        </p:txBody>
      </p:sp>
      <p:sp>
        <p:nvSpPr>
          <p:cNvPr id="27" name="Shape 25"/>
          <p:cNvSpPr/>
          <p:nvPr/>
        </p:nvSpPr>
        <p:spPr>
          <a:xfrm>
            <a:off x="3712464" y="2588895"/>
            <a:ext cx="438912" cy="1663065"/>
          </a:xfrm>
          <a:prstGeom prst="rect">
            <a:avLst/>
          </a:prstGeom>
          <a:solidFill>
            <a:srgbClr val="1976D2"/>
          </a:solidFill>
          <a:ln/>
        </p:spPr>
        <p:txBody>
          <a:bodyPr/>
          <a:lstStyle/>
          <a:p>
            <a:endParaRPr lang="th-TH"/>
          </a:p>
        </p:txBody>
      </p:sp>
      <p:sp>
        <p:nvSpPr>
          <p:cNvPr id="28" name="Text 26"/>
          <p:cNvSpPr/>
          <p:nvPr/>
        </p:nvSpPr>
        <p:spPr>
          <a:xfrm>
            <a:off x="3712464" y="4288536"/>
            <a:ext cx="438912" cy="201168"/>
          </a:xfrm>
          <a:prstGeom prst="rect">
            <a:avLst/>
          </a:prstGeom>
          <a:noFill/>
          <a:ln/>
        </p:spPr>
        <p:txBody>
          <a:bodyPr wrap="square" lIns="0" tIns="0" rIns="0" bIns="0" rtlCol="0" anchor="ctr"/>
          <a:lstStyle/>
          <a:p>
            <a:pPr marL="0" indent="0" algn="ctr">
              <a:buNone/>
            </a:pPr>
            <a:r>
              <a:rPr lang="en-US" sz="900" dirty="0">
                <a:solidFill>
                  <a:srgbClr val="607D8B"/>
                </a:solidFill>
                <a:latin typeface="Calibri" pitchFamily="34" charset="0"/>
                <a:ea typeface="Calibri" pitchFamily="34" charset="-122"/>
                <a:cs typeface="Calibri" pitchFamily="34" charset="-120"/>
              </a:rPr>
              <a:t>A</a:t>
            </a:r>
            <a:endParaRPr lang="en-US" sz="900" dirty="0"/>
          </a:p>
        </p:txBody>
      </p:sp>
      <p:sp>
        <p:nvSpPr>
          <p:cNvPr id="29" name="Shape 27"/>
          <p:cNvSpPr/>
          <p:nvPr/>
        </p:nvSpPr>
        <p:spPr>
          <a:xfrm>
            <a:off x="4187952" y="2537460"/>
            <a:ext cx="438912" cy="1714500"/>
          </a:xfrm>
          <a:prstGeom prst="rect">
            <a:avLst/>
          </a:prstGeom>
          <a:solidFill>
            <a:srgbClr val="1976D2"/>
          </a:solidFill>
          <a:ln/>
        </p:spPr>
        <p:txBody>
          <a:bodyPr/>
          <a:lstStyle/>
          <a:p>
            <a:endParaRPr lang="th-TH"/>
          </a:p>
        </p:txBody>
      </p:sp>
      <p:sp>
        <p:nvSpPr>
          <p:cNvPr id="30" name="Text 28"/>
          <p:cNvSpPr/>
          <p:nvPr/>
        </p:nvSpPr>
        <p:spPr>
          <a:xfrm>
            <a:off x="4187952" y="4288536"/>
            <a:ext cx="438912" cy="201168"/>
          </a:xfrm>
          <a:prstGeom prst="rect">
            <a:avLst/>
          </a:prstGeom>
          <a:noFill/>
          <a:ln/>
        </p:spPr>
        <p:txBody>
          <a:bodyPr wrap="square" lIns="0" tIns="0" rIns="0" bIns="0" rtlCol="0" anchor="ctr"/>
          <a:lstStyle/>
          <a:p>
            <a:pPr marL="0" indent="0" algn="ctr">
              <a:buNone/>
            </a:pPr>
            <a:r>
              <a:rPr lang="en-US" sz="900" dirty="0">
                <a:solidFill>
                  <a:srgbClr val="607D8B"/>
                </a:solidFill>
                <a:latin typeface="Calibri" pitchFamily="34" charset="0"/>
                <a:ea typeface="Calibri" pitchFamily="34" charset="-122"/>
                <a:cs typeface="Calibri" pitchFamily="34" charset="-120"/>
              </a:rPr>
              <a:t>S</a:t>
            </a:r>
            <a:endParaRPr lang="en-US" sz="900" dirty="0"/>
          </a:p>
        </p:txBody>
      </p:sp>
      <p:sp>
        <p:nvSpPr>
          <p:cNvPr id="31" name="Shape 29"/>
          <p:cNvSpPr/>
          <p:nvPr/>
        </p:nvSpPr>
        <p:spPr>
          <a:xfrm>
            <a:off x="4663440" y="2451735"/>
            <a:ext cx="438912" cy="1800225"/>
          </a:xfrm>
          <a:prstGeom prst="rect">
            <a:avLst/>
          </a:prstGeom>
          <a:solidFill>
            <a:srgbClr val="0A2342"/>
          </a:solidFill>
          <a:ln/>
        </p:spPr>
        <p:txBody>
          <a:bodyPr/>
          <a:lstStyle/>
          <a:p>
            <a:endParaRPr lang="th-TH"/>
          </a:p>
        </p:txBody>
      </p:sp>
      <p:sp>
        <p:nvSpPr>
          <p:cNvPr id="32" name="Text 30"/>
          <p:cNvSpPr/>
          <p:nvPr/>
        </p:nvSpPr>
        <p:spPr>
          <a:xfrm>
            <a:off x="4663440" y="4288536"/>
            <a:ext cx="438912" cy="201168"/>
          </a:xfrm>
          <a:prstGeom prst="rect">
            <a:avLst/>
          </a:prstGeom>
          <a:noFill/>
          <a:ln/>
        </p:spPr>
        <p:txBody>
          <a:bodyPr wrap="square" lIns="0" tIns="0" rIns="0" bIns="0" rtlCol="0" anchor="ctr"/>
          <a:lstStyle/>
          <a:p>
            <a:pPr marL="0" indent="0" algn="ctr">
              <a:buNone/>
            </a:pPr>
            <a:r>
              <a:rPr lang="en-US" sz="900" dirty="0">
                <a:solidFill>
                  <a:srgbClr val="607D8B"/>
                </a:solidFill>
                <a:latin typeface="Calibri" pitchFamily="34" charset="0"/>
                <a:ea typeface="Calibri" pitchFamily="34" charset="-122"/>
                <a:cs typeface="Calibri" pitchFamily="34" charset="-120"/>
              </a:rPr>
              <a:t>O</a:t>
            </a:r>
            <a:endParaRPr lang="en-US" sz="900" dirty="0"/>
          </a:p>
        </p:txBody>
      </p:sp>
      <p:sp>
        <p:nvSpPr>
          <p:cNvPr id="33" name="Text 31"/>
          <p:cNvSpPr/>
          <p:nvPr/>
        </p:nvSpPr>
        <p:spPr>
          <a:xfrm>
            <a:off x="4617720" y="2250567"/>
            <a:ext cx="530352" cy="182880"/>
          </a:xfrm>
          <a:prstGeom prst="rect">
            <a:avLst/>
          </a:prstGeom>
          <a:noFill/>
          <a:ln/>
        </p:spPr>
        <p:txBody>
          <a:bodyPr wrap="square" lIns="0" tIns="0" rIns="0" bIns="0" rtlCol="0" anchor="ctr"/>
          <a:lstStyle/>
          <a:p>
            <a:pPr marL="0" indent="0" algn="ctr">
              <a:buNone/>
            </a:pPr>
            <a:r>
              <a:rPr lang="en-US" sz="850" b="1" dirty="0">
                <a:solidFill>
                  <a:srgbClr val="1565C0"/>
                </a:solidFill>
                <a:latin typeface="Calibri" pitchFamily="34" charset="0"/>
                <a:ea typeface="Calibri" pitchFamily="34" charset="-122"/>
                <a:cs typeface="Calibri" pitchFamily="34" charset="-120"/>
              </a:rPr>
              <a:t>31.5M</a:t>
            </a:r>
            <a:endParaRPr lang="en-US" sz="850" dirty="0"/>
          </a:p>
        </p:txBody>
      </p:sp>
      <p:sp>
        <p:nvSpPr>
          <p:cNvPr id="34" name="Shape 32"/>
          <p:cNvSpPr/>
          <p:nvPr/>
        </p:nvSpPr>
        <p:spPr>
          <a:xfrm>
            <a:off x="5138928" y="2503170"/>
            <a:ext cx="438912" cy="1748790"/>
          </a:xfrm>
          <a:prstGeom prst="rect">
            <a:avLst/>
          </a:prstGeom>
          <a:solidFill>
            <a:srgbClr val="1976D2"/>
          </a:solidFill>
          <a:ln/>
        </p:spPr>
        <p:txBody>
          <a:bodyPr/>
          <a:lstStyle/>
          <a:p>
            <a:endParaRPr lang="th-TH"/>
          </a:p>
        </p:txBody>
      </p:sp>
      <p:sp>
        <p:nvSpPr>
          <p:cNvPr id="35" name="Text 33"/>
          <p:cNvSpPr/>
          <p:nvPr/>
        </p:nvSpPr>
        <p:spPr>
          <a:xfrm>
            <a:off x="5138928" y="4288536"/>
            <a:ext cx="438912" cy="201168"/>
          </a:xfrm>
          <a:prstGeom prst="rect">
            <a:avLst/>
          </a:prstGeom>
          <a:noFill/>
          <a:ln/>
        </p:spPr>
        <p:txBody>
          <a:bodyPr wrap="square" lIns="0" tIns="0" rIns="0" bIns="0" rtlCol="0" anchor="ctr"/>
          <a:lstStyle/>
          <a:p>
            <a:pPr marL="0" indent="0" algn="ctr">
              <a:buNone/>
            </a:pPr>
            <a:r>
              <a:rPr lang="en-US" sz="900" dirty="0">
                <a:solidFill>
                  <a:srgbClr val="607D8B"/>
                </a:solidFill>
                <a:latin typeface="Calibri" pitchFamily="34" charset="0"/>
                <a:ea typeface="Calibri" pitchFamily="34" charset="-122"/>
                <a:cs typeface="Calibri" pitchFamily="34" charset="-120"/>
              </a:rPr>
              <a:t>N</a:t>
            </a:r>
            <a:endParaRPr lang="en-US" sz="900" dirty="0"/>
          </a:p>
        </p:txBody>
      </p:sp>
      <p:sp>
        <p:nvSpPr>
          <p:cNvPr id="36" name="Shape 34"/>
          <p:cNvSpPr/>
          <p:nvPr/>
        </p:nvSpPr>
        <p:spPr>
          <a:xfrm>
            <a:off x="5614416" y="2611755"/>
            <a:ext cx="438912" cy="1640205"/>
          </a:xfrm>
          <a:prstGeom prst="rect">
            <a:avLst/>
          </a:prstGeom>
          <a:solidFill>
            <a:srgbClr val="1976D2"/>
          </a:solidFill>
          <a:ln/>
        </p:spPr>
        <p:txBody>
          <a:bodyPr/>
          <a:lstStyle/>
          <a:p>
            <a:endParaRPr lang="th-TH"/>
          </a:p>
        </p:txBody>
      </p:sp>
      <p:sp>
        <p:nvSpPr>
          <p:cNvPr id="37" name="Text 35"/>
          <p:cNvSpPr/>
          <p:nvPr/>
        </p:nvSpPr>
        <p:spPr>
          <a:xfrm>
            <a:off x="5614416" y="4288536"/>
            <a:ext cx="438912" cy="201168"/>
          </a:xfrm>
          <a:prstGeom prst="rect">
            <a:avLst/>
          </a:prstGeom>
          <a:noFill/>
          <a:ln/>
        </p:spPr>
        <p:txBody>
          <a:bodyPr wrap="square" lIns="0" tIns="0" rIns="0" bIns="0" rtlCol="0" anchor="ctr"/>
          <a:lstStyle/>
          <a:p>
            <a:pPr marL="0" indent="0" algn="ctr">
              <a:buNone/>
            </a:pPr>
            <a:r>
              <a:rPr lang="en-US" sz="900" dirty="0">
                <a:solidFill>
                  <a:srgbClr val="607D8B"/>
                </a:solidFill>
                <a:latin typeface="Calibri" pitchFamily="34" charset="0"/>
                <a:ea typeface="Calibri" pitchFamily="34" charset="-122"/>
                <a:cs typeface="Calibri" pitchFamily="34" charset="-120"/>
              </a:rPr>
              <a:t>D</a:t>
            </a:r>
            <a:endParaRPr lang="en-US" sz="900" dirty="0"/>
          </a:p>
        </p:txBody>
      </p:sp>
      <p:sp>
        <p:nvSpPr>
          <p:cNvPr id="38" name="Text 36"/>
          <p:cNvSpPr/>
          <p:nvPr/>
        </p:nvSpPr>
        <p:spPr>
          <a:xfrm>
            <a:off x="384048" y="4526280"/>
            <a:ext cx="2743200" cy="228600"/>
          </a:xfrm>
          <a:prstGeom prst="rect">
            <a:avLst/>
          </a:prstGeom>
          <a:noFill/>
          <a:ln/>
        </p:spPr>
        <p:txBody>
          <a:bodyPr wrap="square" lIns="0" tIns="0" rIns="0" bIns="0" rtlCol="0" anchor="ctr"/>
          <a:lstStyle/>
          <a:p>
            <a:pPr marL="0" indent="0">
              <a:buNone/>
            </a:pPr>
            <a:r>
              <a:rPr lang="en-US" sz="1000" i="1" dirty="0">
                <a:solidFill>
                  <a:srgbClr val="1565C0"/>
                </a:solidFill>
                <a:latin typeface="Calibri" pitchFamily="34" charset="0"/>
                <a:ea typeface="Calibri" pitchFamily="34" charset="-122"/>
                <a:cs typeface="Calibri" pitchFamily="34" charset="-120"/>
              </a:rPr>
              <a:t>+68%  Jan → Oct</a:t>
            </a:r>
            <a:endParaRPr lang="en-US" sz="1000" dirty="0"/>
          </a:p>
        </p:txBody>
      </p:sp>
      <p:sp>
        <p:nvSpPr>
          <p:cNvPr id="39" name="Shape 37"/>
          <p:cNvSpPr/>
          <p:nvPr/>
        </p:nvSpPr>
        <p:spPr>
          <a:xfrm>
            <a:off x="6263640" y="1097280"/>
            <a:ext cx="27432" cy="3429000"/>
          </a:xfrm>
          <a:prstGeom prst="rect">
            <a:avLst/>
          </a:prstGeom>
          <a:solidFill>
            <a:srgbClr val="CFD8DC"/>
          </a:solidFill>
          <a:ln/>
        </p:spPr>
        <p:txBody>
          <a:bodyPr/>
          <a:lstStyle/>
          <a:p>
            <a:endParaRPr lang="th-TH"/>
          </a:p>
        </p:txBody>
      </p:sp>
      <p:sp>
        <p:nvSpPr>
          <p:cNvPr id="40" name="Text 38"/>
          <p:cNvSpPr/>
          <p:nvPr/>
        </p:nvSpPr>
        <p:spPr>
          <a:xfrm>
            <a:off x="6400800" y="1078992"/>
            <a:ext cx="2468880" cy="274320"/>
          </a:xfrm>
          <a:prstGeom prst="rect">
            <a:avLst/>
          </a:prstGeom>
          <a:noFill/>
          <a:ln/>
        </p:spPr>
        <p:txBody>
          <a:bodyPr wrap="square" lIns="0" tIns="0" rIns="0" bIns="0" rtlCol="0" anchor="ctr"/>
          <a:lstStyle/>
          <a:p>
            <a:pPr marL="0" indent="0">
              <a:buNone/>
            </a:pPr>
            <a:r>
              <a:rPr lang="en-US" sz="1150" b="1" dirty="0">
                <a:solidFill>
                  <a:srgbClr val="0A2342"/>
                </a:solidFill>
                <a:latin typeface="Calibri" pitchFamily="34" charset="0"/>
                <a:ea typeface="Calibri" pitchFamily="34" charset="-122"/>
                <a:cs typeface="Calibri" pitchFamily="34" charset="-120"/>
              </a:rPr>
              <a:t>Statistical Correlation</a:t>
            </a:r>
            <a:endParaRPr lang="en-US" sz="1150" dirty="0"/>
          </a:p>
        </p:txBody>
      </p:sp>
      <p:sp>
        <p:nvSpPr>
          <p:cNvPr id="41" name="Shape 39"/>
          <p:cNvSpPr/>
          <p:nvPr/>
        </p:nvSpPr>
        <p:spPr>
          <a:xfrm>
            <a:off x="6400800" y="1463040"/>
            <a:ext cx="2468880" cy="804672"/>
          </a:xfrm>
          <a:prstGeom prst="rect">
            <a:avLst/>
          </a:prstGeom>
          <a:solidFill>
            <a:srgbClr val="E3F0FF"/>
          </a:solidFill>
          <a:ln w="7620">
            <a:solidFill>
              <a:srgbClr val="CFD8DC"/>
            </a:solidFill>
            <a:prstDash val="solid"/>
          </a:ln>
        </p:spPr>
        <p:txBody>
          <a:bodyPr/>
          <a:lstStyle/>
          <a:p>
            <a:endParaRPr lang="th-TH"/>
          </a:p>
        </p:txBody>
      </p:sp>
      <p:sp>
        <p:nvSpPr>
          <p:cNvPr id="42" name="Text 40"/>
          <p:cNvSpPr/>
          <p:nvPr/>
        </p:nvSpPr>
        <p:spPr>
          <a:xfrm>
            <a:off x="6492240" y="1517904"/>
            <a:ext cx="1188720" cy="256032"/>
          </a:xfrm>
          <a:prstGeom prst="rect">
            <a:avLst/>
          </a:prstGeom>
          <a:noFill/>
          <a:ln/>
        </p:spPr>
        <p:txBody>
          <a:bodyPr wrap="square" lIns="0" tIns="0" rIns="0" bIns="0" rtlCol="0" anchor="ctr"/>
          <a:lstStyle/>
          <a:p>
            <a:pPr marL="0" indent="0">
              <a:buNone/>
            </a:pPr>
            <a:r>
              <a:rPr lang="en-US" sz="1000" b="1" dirty="0">
                <a:solidFill>
                  <a:srgbClr val="0A2342"/>
                </a:solidFill>
                <a:latin typeface="Calibri" pitchFamily="34" charset="0"/>
                <a:ea typeface="Calibri" pitchFamily="34" charset="-122"/>
                <a:cs typeface="Calibri" pitchFamily="34" charset="-120"/>
              </a:rPr>
              <a:t>Pearson r</a:t>
            </a:r>
            <a:endParaRPr lang="en-US" sz="1000" dirty="0"/>
          </a:p>
        </p:txBody>
      </p:sp>
      <p:sp>
        <p:nvSpPr>
          <p:cNvPr id="43" name="Text 41"/>
          <p:cNvSpPr/>
          <p:nvPr/>
        </p:nvSpPr>
        <p:spPr>
          <a:xfrm>
            <a:off x="7772400" y="1517904"/>
            <a:ext cx="1005840" cy="256032"/>
          </a:xfrm>
          <a:prstGeom prst="rect">
            <a:avLst/>
          </a:prstGeom>
          <a:noFill/>
          <a:ln/>
        </p:spPr>
        <p:txBody>
          <a:bodyPr wrap="square" lIns="0" tIns="0" rIns="0" bIns="0" rtlCol="0" anchor="ctr"/>
          <a:lstStyle/>
          <a:p>
            <a:pPr marL="0" indent="0" algn="r">
              <a:buNone/>
            </a:pPr>
            <a:r>
              <a:rPr lang="en-US" sz="1600" b="1" dirty="0">
                <a:solidFill>
                  <a:srgbClr val="1565C0"/>
                </a:solidFill>
                <a:latin typeface="Calibri" pitchFamily="34" charset="0"/>
                <a:ea typeface="Calibri" pitchFamily="34" charset="-122"/>
                <a:cs typeface="Calibri" pitchFamily="34" charset="-120"/>
              </a:rPr>
              <a:t>0.732</a:t>
            </a:r>
            <a:endParaRPr lang="en-US" sz="1600" dirty="0"/>
          </a:p>
        </p:txBody>
      </p:sp>
      <p:sp>
        <p:nvSpPr>
          <p:cNvPr id="44" name="Text 42"/>
          <p:cNvSpPr/>
          <p:nvPr/>
        </p:nvSpPr>
        <p:spPr>
          <a:xfrm>
            <a:off x="6492240" y="1792224"/>
            <a:ext cx="1554480" cy="201168"/>
          </a:xfrm>
          <a:prstGeom prst="rect">
            <a:avLst/>
          </a:prstGeom>
          <a:noFill/>
          <a:ln/>
        </p:spPr>
        <p:txBody>
          <a:bodyPr wrap="square" lIns="0" tIns="0" rIns="0" bIns="0" rtlCol="0" anchor="ctr"/>
          <a:lstStyle/>
          <a:p>
            <a:pPr marL="0" indent="0">
              <a:buNone/>
            </a:pPr>
            <a:r>
              <a:rPr lang="en-US" sz="900" dirty="0">
                <a:solidFill>
                  <a:srgbClr val="607D8B"/>
                </a:solidFill>
                <a:latin typeface="Calibri" pitchFamily="34" charset="0"/>
                <a:ea typeface="Calibri" pitchFamily="34" charset="-122"/>
                <a:cs typeface="Calibri" pitchFamily="34" charset="-120"/>
              </a:rPr>
              <a:t>Avg Flow vs Ridership</a:t>
            </a:r>
            <a:endParaRPr lang="en-US" sz="900" dirty="0"/>
          </a:p>
        </p:txBody>
      </p:sp>
      <p:sp>
        <p:nvSpPr>
          <p:cNvPr id="45" name="Text 43"/>
          <p:cNvSpPr/>
          <p:nvPr/>
        </p:nvSpPr>
        <p:spPr>
          <a:xfrm>
            <a:off x="7772400" y="1828800"/>
            <a:ext cx="1005840" cy="201168"/>
          </a:xfrm>
          <a:prstGeom prst="rect">
            <a:avLst/>
          </a:prstGeom>
          <a:noFill/>
          <a:ln/>
        </p:spPr>
        <p:txBody>
          <a:bodyPr wrap="square" lIns="0" tIns="0" rIns="0" bIns="0" rtlCol="0" anchor="ctr"/>
          <a:lstStyle/>
          <a:p>
            <a:pPr marL="0" indent="0" algn="r">
              <a:buNone/>
            </a:pPr>
            <a:r>
              <a:rPr lang="en-US" sz="950" dirty="0">
                <a:solidFill>
                  <a:srgbClr val="607D8B"/>
                </a:solidFill>
                <a:latin typeface="Calibri" pitchFamily="34" charset="0"/>
                <a:ea typeface="Calibri" pitchFamily="34" charset="-122"/>
                <a:cs typeface="Calibri" pitchFamily="34" charset="-120"/>
              </a:rPr>
              <a:t>p = 0.007</a:t>
            </a:r>
            <a:endParaRPr lang="en-US" sz="950" dirty="0"/>
          </a:p>
        </p:txBody>
      </p:sp>
      <p:sp>
        <p:nvSpPr>
          <p:cNvPr id="46" name="Shape 44"/>
          <p:cNvSpPr/>
          <p:nvPr/>
        </p:nvSpPr>
        <p:spPr>
          <a:xfrm>
            <a:off x="6400800" y="2395728"/>
            <a:ext cx="2468880" cy="804672"/>
          </a:xfrm>
          <a:prstGeom prst="rect">
            <a:avLst/>
          </a:prstGeom>
          <a:solidFill>
            <a:srgbClr val="FFFFFF"/>
          </a:solidFill>
          <a:ln w="7620">
            <a:solidFill>
              <a:srgbClr val="CFD8DC"/>
            </a:solidFill>
            <a:prstDash val="solid"/>
          </a:ln>
        </p:spPr>
        <p:txBody>
          <a:bodyPr/>
          <a:lstStyle/>
          <a:p>
            <a:endParaRPr lang="th-TH"/>
          </a:p>
        </p:txBody>
      </p:sp>
      <p:sp>
        <p:nvSpPr>
          <p:cNvPr id="47" name="Text 45"/>
          <p:cNvSpPr/>
          <p:nvPr/>
        </p:nvSpPr>
        <p:spPr>
          <a:xfrm>
            <a:off x="6492240" y="2450592"/>
            <a:ext cx="1188720" cy="256032"/>
          </a:xfrm>
          <a:prstGeom prst="rect">
            <a:avLst/>
          </a:prstGeom>
          <a:noFill/>
          <a:ln/>
        </p:spPr>
        <p:txBody>
          <a:bodyPr wrap="square" lIns="0" tIns="0" rIns="0" bIns="0" rtlCol="0" anchor="ctr"/>
          <a:lstStyle/>
          <a:p>
            <a:pPr marL="0" indent="0">
              <a:buNone/>
            </a:pPr>
            <a:r>
              <a:rPr lang="en-US" sz="1000" b="1" dirty="0">
                <a:solidFill>
                  <a:srgbClr val="0A2342"/>
                </a:solidFill>
                <a:latin typeface="Calibri" pitchFamily="34" charset="0"/>
                <a:ea typeface="Calibri" pitchFamily="34" charset="-122"/>
                <a:cs typeface="Calibri" pitchFamily="34" charset="-120"/>
              </a:rPr>
              <a:t>Pearson r</a:t>
            </a:r>
            <a:endParaRPr lang="en-US" sz="1000" dirty="0"/>
          </a:p>
        </p:txBody>
      </p:sp>
      <p:sp>
        <p:nvSpPr>
          <p:cNvPr id="48" name="Text 46"/>
          <p:cNvSpPr/>
          <p:nvPr/>
        </p:nvSpPr>
        <p:spPr>
          <a:xfrm>
            <a:off x="7772400" y="2450592"/>
            <a:ext cx="1005840" cy="256032"/>
          </a:xfrm>
          <a:prstGeom prst="rect">
            <a:avLst/>
          </a:prstGeom>
          <a:noFill/>
          <a:ln/>
        </p:spPr>
        <p:txBody>
          <a:bodyPr wrap="square" lIns="0" tIns="0" rIns="0" bIns="0" rtlCol="0" anchor="ctr"/>
          <a:lstStyle/>
          <a:p>
            <a:pPr marL="0" indent="0" algn="r">
              <a:buNone/>
            </a:pPr>
            <a:r>
              <a:rPr lang="en-US" sz="1600" b="1" dirty="0">
                <a:solidFill>
                  <a:srgbClr val="1565C0"/>
                </a:solidFill>
                <a:latin typeface="Calibri" pitchFamily="34" charset="0"/>
                <a:ea typeface="Calibri" pitchFamily="34" charset="-122"/>
                <a:cs typeface="Calibri" pitchFamily="34" charset="-120"/>
              </a:rPr>
              <a:t>0.708</a:t>
            </a:r>
            <a:endParaRPr lang="en-US" sz="1600" dirty="0"/>
          </a:p>
        </p:txBody>
      </p:sp>
      <p:sp>
        <p:nvSpPr>
          <p:cNvPr id="49" name="Text 47"/>
          <p:cNvSpPr/>
          <p:nvPr/>
        </p:nvSpPr>
        <p:spPr>
          <a:xfrm>
            <a:off x="6492240" y="2724912"/>
            <a:ext cx="1554480" cy="201168"/>
          </a:xfrm>
          <a:prstGeom prst="rect">
            <a:avLst/>
          </a:prstGeom>
          <a:noFill/>
          <a:ln/>
        </p:spPr>
        <p:txBody>
          <a:bodyPr wrap="square" lIns="0" tIns="0" rIns="0" bIns="0" rtlCol="0" anchor="ctr"/>
          <a:lstStyle/>
          <a:p>
            <a:pPr marL="0" indent="0">
              <a:buNone/>
            </a:pPr>
            <a:r>
              <a:rPr lang="en-US" sz="900" dirty="0">
                <a:solidFill>
                  <a:srgbClr val="607D8B"/>
                </a:solidFill>
                <a:latin typeface="Calibri" pitchFamily="34" charset="0"/>
                <a:ea typeface="Calibri" pitchFamily="34" charset="-122"/>
                <a:cs typeface="Calibri" pitchFamily="34" charset="-120"/>
              </a:rPr>
              <a:t>Congestion% vs Ridership</a:t>
            </a:r>
            <a:endParaRPr lang="en-US" sz="900" dirty="0"/>
          </a:p>
        </p:txBody>
      </p:sp>
      <p:sp>
        <p:nvSpPr>
          <p:cNvPr id="50" name="Text 48"/>
          <p:cNvSpPr/>
          <p:nvPr/>
        </p:nvSpPr>
        <p:spPr>
          <a:xfrm>
            <a:off x="7772400" y="2761488"/>
            <a:ext cx="1005840" cy="201168"/>
          </a:xfrm>
          <a:prstGeom prst="rect">
            <a:avLst/>
          </a:prstGeom>
          <a:noFill/>
          <a:ln/>
        </p:spPr>
        <p:txBody>
          <a:bodyPr wrap="square" lIns="0" tIns="0" rIns="0" bIns="0" rtlCol="0" anchor="ctr"/>
          <a:lstStyle/>
          <a:p>
            <a:pPr marL="0" indent="0" algn="r">
              <a:buNone/>
            </a:pPr>
            <a:r>
              <a:rPr lang="en-US" sz="950" dirty="0">
                <a:solidFill>
                  <a:srgbClr val="607D8B"/>
                </a:solidFill>
                <a:latin typeface="Calibri" pitchFamily="34" charset="0"/>
                <a:ea typeface="Calibri" pitchFamily="34" charset="-122"/>
                <a:cs typeface="Calibri" pitchFamily="34" charset="-120"/>
              </a:rPr>
              <a:t>p = 0.010</a:t>
            </a:r>
            <a:endParaRPr lang="en-US" sz="950" dirty="0"/>
          </a:p>
        </p:txBody>
      </p:sp>
      <p:sp>
        <p:nvSpPr>
          <p:cNvPr id="51" name="Shape 49"/>
          <p:cNvSpPr/>
          <p:nvPr/>
        </p:nvSpPr>
        <p:spPr>
          <a:xfrm>
            <a:off x="6400800" y="3328416"/>
            <a:ext cx="2468880" cy="804672"/>
          </a:xfrm>
          <a:prstGeom prst="rect">
            <a:avLst/>
          </a:prstGeom>
          <a:solidFill>
            <a:srgbClr val="E3F0FF"/>
          </a:solidFill>
          <a:ln w="7620">
            <a:solidFill>
              <a:srgbClr val="CFD8DC"/>
            </a:solidFill>
            <a:prstDash val="solid"/>
          </a:ln>
        </p:spPr>
        <p:txBody>
          <a:bodyPr/>
          <a:lstStyle/>
          <a:p>
            <a:endParaRPr lang="th-TH"/>
          </a:p>
        </p:txBody>
      </p:sp>
      <p:sp>
        <p:nvSpPr>
          <p:cNvPr id="52" name="Text 50"/>
          <p:cNvSpPr/>
          <p:nvPr/>
        </p:nvSpPr>
        <p:spPr>
          <a:xfrm>
            <a:off x="6492240" y="3383280"/>
            <a:ext cx="1188720" cy="256032"/>
          </a:xfrm>
          <a:prstGeom prst="rect">
            <a:avLst/>
          </a:prstGeom>
          <a:noFill/>
          <a:ln/>
        </p:spPr>
        <p:txBody>
          <a:bodyPr wrap="square" lIns="0" tIns="0" rIns="0" bIns="0" rtlCol="0" anchor="ctr"/>
          <a:lstStyle/>
          <a:p>
            <a:pPr marL="0" indent="0">
              <a:buNone/>
            </a:pPr>
            <a:r>
              <a:rPr lang="en-US" sz="1000" b="1" dirty="0">
                <a:solidFill>
                  <a:srgbClr val="0A2342"/>
                </a:solidFill>
                <a:latin typeface="Calibri" pitchFamily="34" charset="0"/>
                <a:ea typeface="Calibri" pitchFamily="34" charset="-122"/>
                <a:cs typeface="Calibri" pitchFamily="34" charset="-120"/>
              </a:rPr>
              <a:t>OLS R²</a:t>
            </a:r>
            <a:endParaRPr lang="en-US" sz="1000" dirty="0"/>
          </a:p>
        </p:txBody>
      </p:sp>
      <p:sp>
        <p:nvSpPr>
          <p:cNvPr id="53" name="Text 51"/>
          <p:cNvSpPr/>
          <p:nvPr/>
        </p:nvSpPr>
        <p:spPr>
          <a:xfrm>
            <a:off x="7772400" y="3383280"/>
            <a:ext cx="1005840" cy="256032"/>
          </a:xfrm>
          <a:prstGeom prst="rect">
            <a:avLst/>
          </a:prstGeom>
          <a:noFill/>
          <a:ln/>
        </p:spPr>
        <p:txBody>
          <a:bodyPr wrap="square" lIns="0" tIns="0" rIns="0" bIns="0" rtlCol="0" anchor="ctr"/>
          <a:lstStyle/>
          <a:p>
            <a:pPr marL="0" indent="0" algn="r">
              <a:buNone/>
            </a:pPr>
            <a:r>
              <a:rPr lang="en-US" sz="1600" b="1" dirty="0">
                <a:solidFill>
                  <a:srgbClr val="1565C0"/>
                </a:solidFill>
                <a:latin typeface="Calibri" pitchFamily="34" charset="0"/>
                <a:ea typeface="Calibri" pitchFamily="34" charset="-122"/>
                <a:cs typeface="Calibri" pitchFamily="34" charset="-120"/>
              </a:rPr>
              <a:t>0.579</a:t>
            </a:r>
            <a:endParaRPr lang="en-US" sz="1600" dirty="0"/>
          </a:p>
        </p:txBody>
      </p:sp>
      <p:sp>
        <p:nvSpPr>
          <p:cNvPr id="54" name="Text 52"/>
          <p:cNvSpPr/>
          <p:nvPr/>
        </p:nvSpPr>
        <p:spPr>
          <a:xfrm>
            <a:off x="6492240" y="3657600"/>
            <a:ext cx="1554480" cy="201168"/>
          </a:xfrm>
          <a:prstGeom prst="rect">
            <a:avLst/>
          </a:prstGeom>
          <a:noFill/>
          <a:ln/>
        </p:spPr>
        <p:txBody>
          <a:bodyPr wrap="square" lIns="0" tIns="0" rIns="0" bIns="0" rtlCol="0" anchor="ctr"/>
          <a:lstStyle/>
          <a:p>
            <a:pPr marL="0" indent="0">
              <a:buNone/>
            </a:pPr>
            <a:r>
              <a:rPr lang="en-US" sz="900" dirty="0">
                <a:solidFill>
                  <a:srgbClr val="607D8B"/>
                </a:solidFill>
                <a:latin typeface="Calibri" pitchFamily="34" charset="0"/>
                <a:ea typeface="Calibri" pitchFamily="34" charset="-122"/>
                <a:cs typeface="Calibri" pitchFamily="34" charset="-120"/>
              </a:rPr>
              <a:t>Ridership ~ Flow + Cong%</a:t>
            </a:r>
            <a:endParaRPr lang="en-US" sz="900" dirty="0"/>
          </a:p>
        </p:txBody>
      </p:sp>
      <p:sp>
        <p:nvSpPr>
          <p:cNvPr id="55" name="Text 53"/>
          <p:cNvSpPr/>
          <p:nvPr/>
        </p:nvSpPr>
        <p:spPr>
          <a:xfrm>
            <a:off x="7772400" y="3694176"/>
            <a:ext cx="1005840" cy="201168"/>
          </a:xfrm>
          <a:prstGeom prst="rect">
            <a:avLst/>
          </a:prstGeom>
          <a:noFill/>
          <a:ln/>
        </p:spPr>
        <p:txBody>
          <a:bodyPr wrap="square" lIns="0" tIns="0" rIns="0" bIns="0" rtlCol="0" anchor="ctr"/>
          <a:lstStyle/>
          <a:p>
            <a:pPr marL="0" indent="0" algn="r">
              <a:buNone/>
            </a:pPr>
            <a:r>
              <a:rPr lang="en-US" sz="950" dirty="0">
                <a:solidFill>
                  <a:srgbClr val="607D8B"/>
                </a:solidFill>
                <a:latin typeface="Calibri" pitchFamily="34" charset="0"/>
                <a:ea typeface="Calibri" pitchFamily="34" charset="-122"/>
                <a:cs typeface="Calibri" pitchFamily="34" charset="-120"/>
              </a:rPr>
              <a:t>—</a:t>
            </a:r>
            <a:endParaRPr lang="en-US" sz="950" dirty="0"/>
          </a:p>
        </p:txBody>
      </p:sp>
      <p:sp>
        <p:nvSpPr>
          <p:cNvPr id="56" name="Shape 54"/>
          <p:cNvSpPr/>
          <p:nvPr/>
        </p:nvSpPr>
        <p:spPr>
          <a:xfrm>
            <a:off x="320040" y="4617720"/>
            <a:ext cx="8503920" cy="347472"/>
          </a:xfrm>
          <a:prstGeom prst="rect">
            <a:avLst/>
          </a:prstGeom>
          <a:solidFill>
            <a:srgbClr val="0A2342"/>
          </a:solidFill>
          <a:ln/>
        </p:spPr>
        <p:txBody>
          <a:bodyPr/>
          <a:lstStyle/>
          <a:p>
            <a:endParaRPr lang="th-TH"/>
          </a:p>
        </p:txBody>
      </p:sp>
      <p:sp>
        <p:nvSpPr>
          <p:cNvPr id="57" name="Text 55"/>
          <p:cNvSpPr/>
          <p:nvPr/>
        </p:nvSpPr>
        <p:spPr>
          <a:xfrm>
            <a:off x="457200" y="4626864"/>
            <a:ext cx="8321040" cy="310896"/>
          </a:xfrm>
          <a:prstGeom prst="rect">
            <a:avLst/>
          </a:prstGeom>
          <a:noFill/>
          <a:ln/>
        </p:spPr>
        <p:txBody>
          <a:bodyPr wrap="square" lIns="0" tIns="0" rIns="0" bIns="0" rtlCol="0" anchor="ctr"/>
          <a:lstStyle/>
          <a:p>
            <a:pPr marL="0" indent="0">
              <a:buNone/>
            </a:pPr>
            <a:r>
              <a:rPr lang="en-US" sz="1000" i="1" dirty="0">
                <a:solidFill>
                  <a:srgbClr val="BBDEFB"/>
                </a:solidFill>
                <a:latin typeface="Calibri" pitchFamily="34" charset="0"/>
                <a:ea typeface="Calibri" pitchFamily="34" charset="-122"/>
                <a:cs typeface="Calibri" pitchFamily="34" charset="-120"/>
              </a:rPr>
              <a:t>Both metrics rise together through 2021 (pandemic recovery). Higher congestion months correlate with higher ridership  (r = 0.73, p &lt; 0.01).</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A2342"/>
          </a:solidFill>
          <a:ln/>
        </p:spPr>
        <p:txBody>
          <a:bodyPr/>
          <a:lstStyle/>
          <a:p>
            <a:endParaRPr lang="th-TH"/>
          </a:p>
        </p:txBody>
      </p:sp>
      <p:sp>
        <p:nvSpPr>
          <p:cNvPr id="3" name="Shape 1"/>
          <p:cNvSpPr/>
          <p:nvPr/>
        </p:nvSpPr>
        <p:spPr>
          <a:xfrm>
            <a:off x="0" y="960120"/>
            <a:ext cx="9144000" cy="41148"/>
          </a:xfrm>
          <a:prstGeom prst="rect">
            <a:avLst/>
          </a:prstGeom>
          <a:solidFill>
            <a:srgbClr val="1976D2"/>
          </a:solidFill>
          <a:ln/>
        </p:spPr>
        <p:txBody>
          <a:bodyPr/>
          <a:lstStyle/>
          <a:p>
            <a:endParaRPr lang="th-TH"/>
          </a:p>
        </p:txBody>
      </p:sp>
      <p:sp>
        <p:nvSpPr>
          <p:cNvPr id="4" name="Text 2"/>
          <p:cNvSpPr/>
          <p:nvPr/>
        </p:nvSpPr>
        <p:spPr>
          <a:xfrm>
            <a:off x="411480" y="91440"/>
            <a:ext cx="7955280" cy="502920"/>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Statistical Hypothesis Testing</a:t>
            </a:r>
            <a:endParaRPr lang="en-US" sz="2000" dirty="0"/>
          </a:p>
        </p:txBody>
      </p:sp>
      <p:sp>
        <p:nvSpPr>
          <p:cNvPr id="5" name="Text 3"/>
          <p:cNvSpPr/>
          <p:nvPr/>
        </p:nvSpPr>
        <p:spPr>
          <a:xfrm>
            <a:off x="411480" y="576072"/>
            <a:ext cx="8046720" cy="320040"/>
          </a:xfrm>
          <a:prstGeom prst="rect">
            <a:avLst/>
          </a:prstGeom>
          <a:noFill/>
          <a:ln/>
        </p:spPr>
        <p:txBody>
          <a:bodyPr wrap="square" lIns="0" tIns="0" rIns="0" bIns="0" rtlCol="0" anchor="ctr"/>
          <a:lstStyle/>
          <a:p>
            <a:pPr marL="0" indent="0">
              <a:buNone/>
            </a:pPr>
            <a:r>
              <a:rPr lang="en-US" sz="1100" dirty="0">
                <a:solidFill>
                  <a:srgbClr val="BBDEFB"/>
                </a:solidFill>
                <a:latin typeface="Calibri" pitchFamily="34" charset="0"/>
                <a:ea typeface="Calibri" pitchFamily="34" charset="-122"/>
                <a:cs typeface="Calibri" pitchFamily="34" charset="-120"/>
              </a:rPr>
              <a:t>Welch t-tests and correlation analysis on the full 2021 dataset</a:t>
            </a:r>
            <a:endParaRPr lang="en-US" sz="1100" dirty="0"/>
          </a:p>
        </p:txBody>
      </p:sp>
      <p:sp>
        <p:nvSpPr>
          <p:cNvPr id="6" name="Shape 4"/>
          <p:cNvSpPr/>
          <p:nvPr/>
        </p:nvSpPr>
        <p:spPr>
          <a:xfrm>
            <a:off x="8641080" y="201168"/>
            <a:ext cx="347472" cy="347472"/>
          </a:xfrm>
          <a:prstGeom prst="ellipse">
            <a:avLst/>
          </a:prstGeom>
          <a:solidFill>
            <a:srgbClr val="1976D2"/>
          </a:solidFill>
          <a:ln/>
        </p:spPr>
        <p:txBody>
          <a:bodyPr/>
          <a:lstStyle/>
          <a:p>
            <a:endParaRPr lang="th-TH"/>
          </a:p>
        </p:txBody>
      </p:sp>
      <p:sp>
        <p:nvSpPr>
          <p:cNvPr id="7" name="Shape 5"/>
          <p:cNvSpPr/>
          <p:nvPr/>
        </p:nvSpPr>
        <p:spPr>
          <a:xfrm>
            <a:off x="0" y="4850892"/>
            <a:ext cx="9144000" cy="292608"/>
          </a:xfrm>
          <a:prstGeom prst="rect">
            <a:avLst/>
          </a:prstGeom>
          <a:solidFill>
            <a:srgbClr val="E3F0FF"/>
          </a:solidFill>
          <a:ln/>
        </p:spPr>
        <p:txBody>
          <a:bodyPr/>
          <a:lstStyle/>
          <a:p>
            <a:endParaRPr lang="th-TH"/>
          </a:p>
        </p:txBody>
      </p:sp>
      <p:sp>
        <p:nvSpPr>
          <p:cNvPr id="8" name="Text 6"/>
          <p:cNvSpPr/>
          <p:nvPr/>
        </p:nvSpPr>
        <p:spPr>
          <a:xfrm>
            <a:off x="320040" y="4869180"/>
            <a:ext cx="7315200" cy="256032"/>
          </a:xfrm>
          <a:prstGeom prst="rect">
            <a:avLst/>
          </a:prstGeom>
          <a:noFill/>
          <a:ln/>
        </p:spPr>
        <p:txBody>
          <a:bodyPr wrap="square" lIns="0" tIns="0" rIns="0" bIns="0" rtlCol="0" anchor="ctr"/>
          <a:lstStyle/>
          <a:p>
            <a:pPr marL="0" indent="0">
              <a:buNone/>
            </a:pPr>
            <a:r>
              <a:rPr lang="en-US" sz="850" dirty="0">
                <a:solidFill>
                  <a:srgbClr val="607D8B"/>
                </a:solidFill>
                <a:latin typeface="Calibri" pitchFamily="34" charset="0"/>
                <a:ea typeface="Calibri" pitchFamily="34" charset="-122"/>
                <a:cs typeface="Calibri" pitchFamily="34" charset="-120"/>
              </a:rPr>
              <a:t>FlowShift  |  Urban Traffic &amp; Transit Demand — Los Angeles 2021</a:t>
            </a:r>
            <a:endParaRPr lang="en-US" sz="850" dirty="0"/>
          </a:p>
        </p:txBody>
      </p:sp>
      <p:sp>
        <p:nvSpPr>
          <p:cNvPr id="9" name="Text 7"/>
          <p:cNvSpPr/>
          <p:nvPr/>
        </p:nvSpPr>
        <p:spPr>
          <a:xfrm>
            <a:off x="8503920" y="4869180"/>
            <a:ext cx="502920" cy="256032"/>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9 / 15</a:t>
            </a:r>
            <a:endParaRPr lang="en-US" sz="850" dirty="0"/>
          </a:p>
        </p:txBody>
      </p:sp>
      <p:sp>
        <p:nvSpPr>
          <p:cNvPr id="10" name="Shape 8"/>
          <p:cNvSpPr/>
          <p:nvPr/>
        </p:nvSpPr>
        <p:spPr>
          <a:xfrm>
            <a:off x="320040" y="1115568"/>
            <a:ext cx="8503920" cy="1078992"/>
          </a:xfrm>
          <a:prstGeom prst="rect">
            <a:avLst/>
          </a:prstGeom>
          <a:solidFill>
            <a:srgbClr val="FFFFFF"/>
          </a:solidFill>
          <a:ln w="9525">
            <a:solidFill>
              <a:srgbClr val="CFD8DC"/>
            </a:solidFill>
            <a:prstDash val="solid"/>
          </a:ln>
          <a:effectLst>
            <a:outerShdw blurRad="50800" dist="12700" dir="8100000" algn="bl" rotWithShape="0">
              <a:srgbClr val="000000">
                <a:alpha val="8000"/>
              </a:srgbClr>
            </a:outerShdw>
          </a:effectLst>
        </p:spPr>
        <p:txBody>
          <a:bodyPr/>
          <a:lstStyle/>
          <a:p>
            <a:endParaRPr lang="th-TH"/>
          </a:p>
        </p:txBody>
      </p:sp>
      <p:sp>
        <p:nvSpPr>
          <p:cNvPr id="11" name="Shape 9"/>
          <p:cNvSpPr/>
          <p:nvPr/>
        </p:nvSpPr>
        <p:spPr>
          <a:xfrm>
            <a:off x="320040" y="1115568"/>
            <a:ext cx="91440" cy="1078992"/>
          </a:xfrm>
          <a:prstGeom prst="rect">
            <a:avLst/>
          </a:prstGeom>
          <a:solidFill>
            <a:srgbClr val="1565C0"/>
          </a:solidFill>
          <a:ln/>
        </p:spPr>
        <p:txBody>
          <a:bodyPr/>
          <a:lstStyle/>
          <a:p>
            <a:endParaRPr lang="th-TH"/>
          </a:p>
        </p:txBody>
      </p:sp>
      <p:sp>
        <p:nvSpPr>
          <p:cNvPr id="12" name="Text 10"/>
          <p:cNvSpPr/>
          <p:nvPr/>
        </p:nvSpPr>
        <p:spPr>
          <a:xfrm>
            <a:off x="548640" y="1207008"/>
            <a:ext cx="4114800" cy="347472"/>
          </a:xfrm>
          <a:prstGeom prst="rect">
            <a:avLst/>
          </a:prstGeom>
          <a:noFill/>
          <a:ln/>
        </p:spPr>
        <p:txBody>
          <a:bodyPr wrap="square" lIns="0" tIns="0" rIns="0" bIns="0" rtlCol="0" anchor="ctr"/>
          <a:lstStyle/>
          <a:p>
            <a:pPr marL="0" indent="0">
              <a:buNone/>
            </a:pPr>
            <a:r>
              <a:rPr lang="en-US" sz="1300" b="1" dirty="0">
                <a:solidFill>
                  <a:srgbClr val="1565C0"/>
                </a:solidFill>
                <a:latin typeface="Calibri" pitchFamily="34" charset="0"/>
                <a:ea typeface="Calibri" pitchFamily="34" charset="-122"/>
                <a:cs typeface="Calibri" pitchFamily="34" charset="-120"/>
              </a:rPr>
              <a:t>Weekday vs. Weekend Flow</a:t>
            </a:r>
            <a:endParaRPr lang="en-US" sz="1300" dirty="0"/>
          </a:p>
        </p:txBody>
      </p:sp>
      <p:sp>
        <p:nvSpPr>
          <p:cNvPr id="13" name="Text 11"/>
          <p:cNvSpPr/>
          <p:nvPr/>
        </p:nvSpPr>
        <p:spPr>
          <a:xfrm>
            <a:off x="548640" y="1591056"/>
            <a:ext cx="5029200" cy="256032"/>
          </a:xfrm>
          <a:prstGeom prst="rect">
            <a:avLst/>
          </a:prstGeom>
          <a:noFill/>
          <a:ln/>
        </p:spPr>
        <p:txBody>
          <a:bodyPr wrap="square" lIns="0" tIns="0" rIns="0" bIns="0" rtlCol="0" anchor="ctr"/>
          <a:lstStyle/>
          <a:p>
            <a:pPr marL="0" indent="0">
              <a:buNone/>
            </a:pPr>
            <a:r>
              <a:rPr lang="en-US" sz="1050" dirty="0">
                <a:solidFill>
                  <a:srgbClr val="37474F"/>
                </a:solidFill>
                <a:latin typeface="Calibri" pitchFamily="34" charset="0"/>
                <a:ea typeface="Calibri" pitchFamily="34" charset="-122"/>
                <a:cs typeface="Calibri" pitchFamily="34" charset="-120"/>
              </a:rPr>
              <a:t>1,988,090  ·  1,814,300   +9.6%   Significant at α = 0.05  ✓</a:t>
            </a:r>
            <a:endParaRPr lang="en-US" sz="1050" dirty="0"/>
          </a:p>
        </p:txBody>
      </p:sp>
      <p:sp>
        <p:nvSpPr>
          <p:cNvPr id="14" name="Shape 12"/>
          <p:cNvSpPr/>
          <p:nvPr/>
        </p:nvSpPr>
        <p:spPr>
          <a:xfrm>
            <a:off x="5760720" y="1243584"/>
            <a:ext cx="2880360" cy="804672"/>
          </a:xfrm>
          <a:prstGeom prst="rect">
            <a:avLst/>
          </a:prstGeom>
          <a:solidFill>
            <a:srgbClr val="1565C0"/>
          </a:solidFill>
          <a:ln/>
        </p:spPr>
        <p:txBody>
          <a:bodyPr/>
          <a:lstStyle/>
          <a:p>
            <a:endParaRPr lang="th-TH"/>
          </a:p>
        </p:txBody>
      </p:sp>
      <p:sp>
        <p:nvSpPr>
          <p:cNvPr id="15" name="Text 13"/>
          <p:cNvSpPr/>
          <p:nvPr/>
        </p:nvSpPr>
        <p:spPr>
          <a:xfrm>
            <a:off x="5760720" y="1243584"/>
            <a:ext cx="2880360" cy="8046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t = 27.50</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p = 2.1 × 10⁻¹⁶⁵</a:t>
            </a:r>
            <a:endParaRPr lang="en-US" sz="1300" dirty="0"/>
          </a:p>
        </p:txBody>
      </p:sp>
      <p:sp>
        <p:nvSpPr>
          <p:cNvPr id="16" name="Shape 14"/>
          <p:cNvSpPr/>
          <p:nvPr/>
        </p:nvSpPr>
        <p:spPr>
          <a:xfrm>
            <a:off x="320040" y="2340864"/>
            <a:ext cx="8503920" cy="1078992"/>
          </a:xfrm>
          <a:prstGeom prst="rect">
            <a:avLst/>
          </a:prstGeom>
          <a:solidFill>
            <a:srgbClr val="FFFFFF"/>
          </a:solidFill>
          <a:ln w="9525">
            <a:solidFill>
              <a:srgbClr val="CFD8DC"/>
            </a:solidFill>
            <a:prstDash val="solid"/>
          </a:ln>
          <a:effectLst>
            <a:outerShdw blurRad="50800" dist="12700" dir="8100000" algn="bl" rotWithShape="0">
              <a:srgbClr val="000000">
                <a:alpha val="8000"/>
              </a:srgbClr>
            </a:outerShdw>
          </a:effectLst>
        </p:spPr>
        <p:txBody>
          <a:bodyPr/>
          <a:lstStyle/>
          <a:p>
            <a:endParaRPr lang="th-TH"/>
          </a:p>
        </p:txBody>
      </p:sp>
      <p:sp>
        <p:nvSpPr>
          <p:cNvPr id="17" name="Shape 15"/>
          <p:cNvSpPr/>
          <p:nvPr/>
        </p:nvSpPr>
        <p:spPr>
          <a:xfrm>
            <a:off x="320040" y="2340864"/>
            <a:ext cx="91440" cy="1078992"/>
          </a:xfrm>
          <a:prstGeom prst="rect">
            <a:avLst/>
          </a:prstGeom>
          <a:solidFill>
            <a:srgbClr val="0A2342"/>
          </a:solidFill>
          <a:ln/>
        </p:spPr>
        <p:txBody>
          <a:bodyPr/>
          <a:lstStyle/>
          <a:p>
            <a:endParaRPr lang="th-TH"/>
          </a:p>
        </p:txBody>
      </p:sp>
      <p:sp>
        <p:nvSpPr>
          <p:cNvPr id="18" name="Text 16"/>
          <p:cNvSpPr/>
          <p:nvPr/>
        </p:nvSpPr>
        <p:spPr>
          <a:xfrm>
            <a:off x="548640" y="2432304"/>
            <a:ext cx="4114800" cy="347472"/>
          </a:xfrm>
          <a:prstGeom prst="rect">
            <a:avLst/>
          </a:prstGeom>
          <a:noFill/>
          <a:ln/>
        </p:spPr>
        <p:txBody>
          <a:bodyPr wrap="square" lIns="0" tIns="0" rIns="0" bIns="0" rtlCol="0" anchor="ctr"/>
          <a:lstStyle/>
          <a:p>
            <a:pPr marL="0" indent="0">
              <a:buNone/>
            </a:pPr>
            <a:r>
              <a:rPr lang="en-US" sz="1300" b="1" dirty="0">
                <a:solidFill>
                  <a:srgbClr val="0A2342"/>
                </a:solidFill>
                <a:latin typeface="Calibri" pitchFamily="34" charset="0"/>
                <a:ea typeface="Calibri" pitchFamily="34" charset="-122"/>
                <a:cs typeface="Calibri" pitchFamily="34" charset="-120"/>
              </a:rPr>
              <a:t>Peak vs. Off-Peak Flow</a:t>
            </a:r>
            <a:endParaRPr lang="en-US" sz="1300" dirty="0"/>
          </a:p>
        </p:txBody>
      </p:sp>
      <p:sp>
        <p:nvSpPr>
          <p:cNvPr id="19" name="Text 17"/>
          <p:cNvSpPr/>
          <p:nvPr/>
        </p:nvSpPr>
        <p:spPr>
          <a:xfrm>
            <a:off x="548640" y="2816352"/>
            <a:ext cx="5029200" cy="256032"/>
          </a:xfrm>
          <a:prstGeom prst="rect">
            <a:avLst/>
          </a:prstGeom>
          <a:noFill/>
          <a:ln/>
        </p:spPr>
        <p:txBody>
          <a:bodyPr wrap="square" lIns="0" tIns="0" rIns="0" bIns="0" rtlCol="0" anchor="ctr"/>
          <a:lstStyle/>
          <a:p>
            <a:pPr marL="0" indent="0">
              <a:buNone/>
            </a:pPr>
            <a:r>
              <a:rPr lang="en-US" sz="1050" dirty="0">
                <a:solidFill>
                  <a:srgbClr val="37474F"/>
                </a:solidFill>
                <a:latin typeface="Calibri" pitchFamily="34" charset="0"/>
                <a:ea typeface="Calibri" pitchFamily="34" charset="-122"/>
                <a:cs typeface="Calibri" pitchFamily="34" charset="-120"/>
              </a:rPr>
              <a:t>2,489,320  ·  1,754,808   +41.9%   Overwhelming significance  ✓</a:t>
            </a:r>
            <a:endParaRPr lang="en-US" sz="1050" dirty="0"/>
          </a:p>
        </p:txBody>
      </p:sp>
      <p:sp>
        <p:nvSpPr>
          <p:cNvPr id="20" name="Shape 18"/>
          <p:cNvSpPr/>
          <p:nvPr/>
        </p:nvSpPr>
        <p:spPr>
          <a:xfrm>
            <a:off x="5760720" y="2468880"/>
            <a:ext cx="2880360" cy="804672"/>
          </a:xfrm>
          <a:prstGeom prst="rect">
            <a:avLst/>
          </a:prstGeom>
          <a:solidFill>
            <a:srgbClr val="0A2342"/>
          </a:solidFill>
          <a:ln/>
        </p:spPr>
        <p:txBody>
          <a:bodyPr/>
          <a:lstStyle/>
          <a:p>
            <a:endParaRPr lang="th-TH"/>
          </a:p>
        </p:txBody>
      </p:sp>
      <p:sp>
        <p:nvSpPr>
          <p:cNvPr id="21" name="Text 19"/>
          <p:cNvSpPr/>
          <p:nvPr/>
        </p:nvSpPr>
        <p:spPr>
          <a:xfrm>
            <a:off x="5760720" y="2468880"/>
            <a:ext cx="2880360" cy="8046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t = 166.97</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p ≈ 0</a:t>
            </a:r>
            <a:endParaRPr lang="en-US" sz="1300" dirty="0"/>
          </a:p>
        </p:txBody>
      </p:sp>
      <p:sp>
        <p:nvSpPr>
          <p:cNvPr id="22" name="Shape 20"/>
          <p:cNvSpPr/>
          <p:nvPr/>
        </p:nvSpPr>
        <p:spPr>
          <a:xfrm>
            <a:off x="320040" y="3566160"/>
            <a:ext cx="8503920" cy="1078992"/>
          </a:xfrm>
          <a:prstGeom prst="rect">
            <a:avLst/>
          </a:prstGeom>
          <a:solidFill>
            <a:srgbClr val="FFFFFF"/>
          </a:solidFill>
          <a:ln w="9525">
            <a:solidFill>
              <a:srgbClr val="CFD8DC"/>
            </a:solidFill>
            <a:prstDash val="solid"/>
          </a:ln>
          <a:effectLst>
            <a:outerShdw blurRad="50800" dist="12700" dir="8100000" algn="bl" rotWithShape="0">
              <a:srgbClr val="000000">
                <a:alpha val="8000"/>
              </a:srgbClr>
            </a:outerShdw>
          </a:effectLst>
        </p:spPr>
        <p:txBody>
          <a:bodyPr/>
          <a:lstStyle/>
          <a:p>
            <a:endParaRPr lang="th-TH"/>
          </a:p>
        </p:txBody>
      </p:sp>
      <p:sp>
        <p:nvSpPr>
          <p:cNvPr id="23" name="Shape 21"/>
          <p:cNvSpPr/>
          <p:nvPr/>
        </p:nvSpPr>
        <p:spPr>
          <a:xfrm>
            <a:off x="320040" y="3566160"/>
            <a:ext cx="91440" cy="1078992"/>
          </a:xfrm>
          <a:prstGeom prst="rect">
            <a:avLst/>
          </a:prstGeom>
          <a:solidFill>
            <a:srgbClr val="1976D2"/>
          </a:solidFill>
          <a:ln/>
        </p:spPr>
        <p:txBody>
          <a:bodyPr/>
          <a:lstStyle/>
          <a:p>
            <a:endParaRPr lang="th-TH"/>
          </a:p>
        </p:txBody>
      </p:sp>
      <p:sp>
        <p:nvSpPr>
          <p:cNvPr id="24" name="Text 22"/>
          <p:cNvSpPr/>
          <p:nvPr/>
        </p:nvSpPr>
        <p:spPr>
          <a:xfrm>
            <a:off x="548640" y="3657600"/>
            <a:ext cx="4114800" cy="347472"/>
          </a:xfrm>
          <a:prstGeom prst="rect">
            <a:avLst/>
          </a:prstGeom>
          <a:noFill/>
          <a:ln/>
        </p:spPr>
        <p:txBody>
          <a:bodyPr wrap="square" lIns="0" tIns="0" rIns="0" bIns="0" rtlCol="0" anchor="ctr"/>
          <a:lstStyle/>
          <a:p>
            <a:pPr marL="0" indent="0">
              <a:buNone/>
            </a:pPr>
            <a:r>
              <a:rPr lang="en-US" sz="1300" b="1" dirty="0">
                <a:solidFill>
                  <a:srgbClr val="1976D2"/>
                </a:solidFill>
                <a:latin typeface="Calibri" pitchFamily="34" charset="0"/>
                <a:ea typeface="Calibri" pitchFamily="34" charset="-122"/>
                <a:cs typeface="Calibri" pitchFamily="34" charset="-120"/>
              </a:rPr>
              <a:t>Flow Autocorrelation</a:t>
            </a:r>
            <a:endParaRPr lang="en-US" sz="1300" dirty="0"/>
          </a:p>
        </p:txBody>
      </p:sp>
      <p:sp>
        <p:nvSpPr>
          <p:cNvPr id="25" name="Text 23"/>
          <p:cNvSpPr/>
          <p:nvPr/>
        </p:nvSpPr>
        <p:spPr>
          <a:xfrm>
            <a:off x="548640" y="4041648"/>
            <a:ext cx="5029200" cy="256032"/>
          </a:xfrm>
          <a:prstGeom prst="rect">
            <a:avLst/>
          </a:prstGeom>
          <a:noFill/>
          <a:ln/>
        </p:spPr>
        <p:txBody>
          <a:bodyPr wrap="square" lIns="0" tIns="0" rIns="0" bIns="0" rtlCol="0" anchor="ctr"/>
          <a:lstStyle/>
          <a:p>
            <a:pPr marL="0" indent="0">
              <a:buNone/>
            </a:pPr>
            <a:r>
              <a:rPr lang="en-US" sz="1050" dirty="0">
                <a:solidFill>
                  <a:srgbClr val="37474F"/>
                </a:solidFill>
                <a:latin typeface="Calibri" pitchFamily="34" charset="0"/>
                <a:ea typeface="Calibri" pitchFamily="34" charset="-122"/>
                <a:cs typeface="Calibri" pitchFamily="34" charset="-120"/>
              </a:rPr>
              <a:t>ADF stat: −41.70   p ≈ 0   Series is stationary  ✓</a:t>
            </a:r>
            <a:endParaRPr lang="en-US" sz="1050" dirty="0"/>
          </a:p>
        </p:txBody>
      </p:sp>
      <p:sp>
        <p:nvSpPr>
          <p:cNvPr id="26" name="Shape 24"/>
          <p:cNvSpPr/>
          <p:nvPr/>
        </p:nvSpPr>
        <p:spPr>
          <a:xfrm>
            <a:off x="5760720" y="3694176"/>
            <a:ext cx="2880360" cy="804672"/>
          </a:xfrm>
          <a:prstGeom prst="rect">
            <a:avLst/>
          </a:prstGeom>
          <a:solidFill>
            <a:srgbClr val="1976D2"/>
          </a:solidFill>
          <a:ln/>
        </p:spPr>
        <p:txBody>
          <a:bodyPr/>
          <a:lstStyle/>
          <a:p>
            <a:endParaRPr lang="th-TH"/>
          </a:p>
        </p:txBody>
      </p:sp>
      <p:sp>
        <p:nvSpPr>
          <p:cNvPr id="27" name="Text 25"/>
          <p:cNvSpPr/>
          <p:nvPr/>
        </p:nvSpPr>
        <p:spPr>
          <a:xfrm>
            <a:off x="5760720" y="3694176"/>
            <a:ext cx="2880360" cy="8046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 = 0.999</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lag-288: r = 0.946</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A2342"/>
          </a:solidFill>
          <a:ln/>
        </p:spPr>
        <p:txBody>
          <a:bodyPr/>
          <a:lstStyle/>
          <a:p>
            <a:endParaRPr lang="th-TH"/>
          </a:p>
        </p:txBody>
      </p:sp>
      <p:sp>
        <p:nvSpPr>
          <p:cNvPr id="3" name="Shape 1"/>
          <p:cNvSpPr/>
          <p:nvPr/>
        </p:nvSpPr>
        <p:spPr>
          <a:xfrm>
            <a:off x="0" y="960120"/>
            <a:ext cx="9144000" cy="41148"/>
          </a:xfrm>
          <a:prstGeom prst="rect">
            <a:avLst/>
          </a:prstGeom>
          <a:solidFill>
            <a:srgbClr val="1976D2"/>
          </a:solidFill>
          <a:ln/>
        </p:spPr>
        <p:txBody>
          <a:bodyPr/>
          <a:lstStyle/>
          <a:p>
            <a:endParaRPr lang="th-TH"/>
          </a:p>
        </p:txBody>
      </p:sp>
      <p:sp>
        <p:nvSpPr>
          <p:cNvPr id="4" name="Text 2"/>
          <p:cNvSpPr/>
          <p:nvPr/>
        </p:nvSpPr>
        <p:spPr>
          <a:xfrm>
            <a:off x="411480" y="91440"/>
            <a:ext cx="7955280" cy="502920"/>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Predictive Modelling — Regression</a:t>
            </a:r>
            <a:endParaRPr lang="en-US" sz="2000" dirty="0"/>
          </a:p>
        </p:txBody>
      </p:sp>
      <p:sp>
        <p:nvSpPr>
          <p:cNvPr id="5" name="Text 3"/>
          <p:cNvSpPr/>
          <p:nvPr/>
        </p:nvSpPr>
        <p:spPr>
          <a:xfrm>
            <a:off x="411480" y="576072"/>
            <a:ext cx="8046720" cy="320040"/>
          </a:xfrm>
          <a:prstGeom prst="rect">
            <a:avLst/>
          </a:prstGeom>
          <a:noFill/>
          <a:ln/>
        </p:spPr>
        <p:txBody>
          <a:bodyPr wrap="square" lIns="0" tIns="0" rIns="0" bIns="0" rtlCol="0" anchor="ctr"/>
          <a:lstStyle/>
          <a:p>
            <a:pPr marL="0" indent="0">
              <a:buNone/>
            </a:pPr>
            <a:r>
              <a:rPr lang="en-US" sz="1100" dirty="0">
                <a:solidFill>
                  <a:srgbClr val="BBDEFB"/>
                </a:solidFill>
                <a:latin typeface="Calibri" pitchFamily="34" charset="0"/>
                <a:ea typeface="Calibri" pitchFamily="34" charset="-122"/>
                <a:cs typeface="Calibri" pitchFamily="34" charset="-120"/>
              </a:rPr>
              <a:t>6 models across two feature groups: with and without lag features</a:t>
            </a:r>
            <a:endParaRPr lang="en-US" sz="1100" dirty="0"/>
          </a:p>
        </p:txBody>
      </p:sp>
      <p:sp>
        <p:nvSpPr>
          <p:cNvPr id="6" name="Shape 4"/>
          <p:cNvSpPr/>
          <p:nvPr/>
        </p:nvSpPr>
        <p:spPr>
          <a:xfrm>
            <a:off x="8641080" y="201168"/>
            <a:ext cx="347472" cy="347472"/>
          </a:xfrm>
          <a:prstGeom prst="ellipse">
            <a:avLst/>
          </a:prstGeom>
          <a:solidFill>
            <a:srgbClr val="1976D2"/>
          </a:solidFill>
          <a:ln/>
        </p:spPr>
        <p:txBody>
          <a:bodyPr/>
          <a:lstStyle/>
          <a:p>
            <a:endParaRPr lang="th-TH"/>
          </a:p>
        </p:txBody>
      </p:sp>
      <p:sp>
        <p:nvSpPr>
          <p:cNvPr id="7" name="Shape 5"/>
          <p:cNvSpPr/>
          <p:nvPr/>
        </p:nvSpPr>
        <p:spPr>
          <a:xfrm>
            <a:off x="0" y="4850892"/>
            <a:ext cx="9144000" cy="292608"/>
          </a:xfrm>
          <a:prstGeom prst="rect">
            <a:avLst/>
          </a:prstGeom>
          <a:solidFill>
            <a:srgbClr val="E3F0FF"/>
          </a:solidFill>
          <a:ln/>
        </p:spPr>
        <p:txBody>
          <a:bodyPr/>
          <a:lstStyle/>
          <a:p>
            <a:endParaRPr lang="th-TH"/>
          </a:p>
        </p:txBody>
      </p:sp>
      <p:sp>
        <p:nvSpPr>
          <p:cNvPr id="8" name="Text 6"/>
          <p:cNvSpPr/>
          <p:nvPr/>
        </p:nvSpPr>
        <p:spPr>
          <a:xfrm>
            <a:off x="320040" y="4869180"/>
            <a:ext cx="7315200" cy="256032"/>
          </a:xfrm>
          <a:prstGeom prst="rect">
            <a:avLst/>
          </a:prstGeom>
          <a:noFill/>
          <a:ln/>
        </p:spPr>
        <p:txBody>
          <a:bodyPr wrap="square" lIns="0" tIns="0" rIns="0" bIns="0" rtlCol="0" anchor="ctr"/>
          <a:lstStyle/>
          <a:p>
            <a:pPr marL="0" indent="0">
              <a:buNone/>
            </a:pPr>
            <a:r>
              <a:rPr lang="en-US" sz="850" dirty="0">
                <a:solidFill>
                  <a:srgbClr val="607D8B"/>
                </a:solidFill>
                <a:latin typeface="Calibri" pitchFamily="34" charset="0"/>
                <a:ea typeface="Calibri" pitchFamily="34" charset="-122"/>
                <a:cs typeface="Calibri" pitchFamily="34" charset="-120"/>
              </a:rPr>
              <a:t>FlowShift  |  Urban Traffic &amp; Transit Demand — Los Angeles 2021</a:t>
            </a:r>
            <a:endParaRPr lang="en-US" sz="850" dirty="0"/>
          </a:p>
        </p:txBody>
      </p:sp>
      <p:sp>
        <p:nvSpPr>
          <p:cNvPr id="9" name="Text 7"/>
          <p:cNvSpPr/>
          <p:nvPr/>
        </p:nvSpPr>
        <p:spPr>
          <a:xfrm>
            <a:off x="8503920" y="4869180"/>
            <a:ext cx="502920" cy="256032"/>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10 / 15</a:t>
            </a:r>
            <a:endParaRPr lang="en-US" sz="850" dirty="0"/>
          </a:p>
        </p:txBody>
      </p:sp>
      <p:sp>
        <p:nvSpPr>
          <p:cNvPr id="10" name="Shape 8"/>
          <p:cNvSpPr/>
          <p:nvPr/>
        </p:nvSpPr>
        <p:spPr>
          <a:xfrm>
            <a:off x="320040" y="1115568"/>
            <a:ext cx="3246120" cy="384048"/>
          </a:xfrm>
          <a:prstGeom prst="rect">
            <a:avLst/>
          </a:prstGeom>
          <a:solidFill>
            <a:srgbClr val="0A2342"/>
          </a:solidFill>
          <a:ln/>
        </p:spPr>
        <p:txBody>
          <a:bodyPr/>
          <a:lstStyle/>
          <a:p>
            <a:endParaRPr lang="th-TH"/>
          </a:p>
        </p:txBody>
      </p:sp>
      <p:sp>
        <p:nvSpPr>
          <p:cNvPr id="11" name="Text 9"/>
          <p:cNvSpPr/>
          <p:nvPr/>
        </p:nvSpPr>
        <p:spPr>
          <a:xfrm>
            <a:off x="365760" y="1161288"/>
            <a:ext cx="3154680" cy="292608"/>
          </a:xfrm>
          <a:prstGeom prst="rect">
            <a:avLst/>
          </a:prstGeom>
          <a:noFill/>
          <a:ln/>
        </p:spPr>
        <p:txBody>
          <a:bodyPr wrap="square" lIns="0" tIns="0" rIns="0" bIns="0"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2" name="Shape 10"/>
          <p:cNvSpPr/>
          <p:nvPr/>
        </p:nvSpPr>
        <p:spPr>
          <a:xfrm>
            <a:off x="3566160" y="1115568"/>
            <a:ext cx="1600200" cy="384048"/>
          </a:xfrm>
          <a:prstGeom prst="rect">
            <a:avLst/>
          </a:prstGeom>
          <a:solidFill>
            <a:srgbClr val="0A2342"/>
          </a:solidFill>
          <a:ln/>
        </p:spPr>
        <p:txBody>
          <a:bodyPr/>
          <a:lstStyle/>
          <a:p>
            <a:endParaRPr lang="th-TH"/>
          </a:p>
        </p:txBody>
      </p:sp>
      <p:sp>
        <p:nvSpPr>
          <p:cNvPr id="13" name="Text 11"/>
          <p:cNvSpPr/>
          <p:nvPr/>
        </p:nvSpPr>
        <p:spPr>
          <a:xfrm>
            <a:off x="3611880" y="1161288"/>
            <a:ext cx="150876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MAE</a:t>
            </a:r>
            <a:endParaRPr lang="en-US" sz="1100" dirty="0"/>
          </a:p>
        </p:txBody>
      </p:sp>
      <p:sp>
        <p:nvSpPr>
          <p:cNvPr id="14" name="Shape 12"/>
          <p:cNvSpPr/>
          <p:nvPr/>
        </p:nvSpPr>
        <p:spPr>
          <a:xfrm>
            <a:off x="5166360" y="1115568"/>
            <a:ext cx="1600200" cy="384048"/>
          </a:xfrm>
          <a:prstGeom prst="rect">
            <a:avLst/>
          </a:prstGeom>
          <a:solidFill>
            <a:srgbClr val="0A2342"/>
          </a:solidFill>
          <a:ln/>
        </p:spPr>
        <p:txBody>
          <a:bodyPr/>
          <a:lstStyle/>
          <a:p>
            <a:endParaRPr lang="th-TH"/>
          </a:p>
        </p:txBody>
      </p:sp>
      <p:sp>
        <p:nvSpPr>
          <p:cNvPr id="15" name="Text 13"/>
          <p:cNvSpPr/>
          <p:nvPr/>
        </p:nvSpPr>
        <p:spPr>
          <a:xfrm>
            <a:off x="5212080" y="1161288"/>
            <a:ext cx="150876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RMSE</a:t>
            </a:r>
            <a:endParaRPr lang="en-US" sz="1100" dirty="0"/>
          </a:p>
        </p:txBody>
      </p:sp>
      <p:sp>
        <p:nvSpPr>
          <p:cNvPr id="16" name="Shape 14"/>
          <p:cNvSpPr/>
          <p:nvPr/>
        </p:nvSpPr>
        <p:spPr>
          <a:xfrm>
            <a:off x="6766560" y="1115568"/>
            <a:ext cx="1280160" cy="384048"/>
          </a:xfrm>
          <a:prstGeom prst="rect">
            <a:avLst/>
          </a:prstGeom>
          <a:solidFill>
            <a:srgbClr val="0A2342"/>
          </a:solidFill>
          <a:ln/>
        </p:spPr>
        <p:txBody>
          <a:bodyPr/>
          <a:lstStyle/>
          <a:p>
            <a:endParaRPr lang="th-TH"/>
          </a:p>
        </p:txBody>
      </p:sp>
      <p:sp>
        <p:nvSpPr>
          <p:cNvPr id="17" name="Text 15"/>
          <p:cNvSpPr/>
          <p:nvPr/>
        </p:nvSpPr>
        <p:spPr>
          <a:xfrm>
            <a:off x="6812280" y="1161288"/>
            <a:ext cx="118872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R²</a:t>
            </a:r>
            <a:endParaRPr lang="en-US" sz="1100" dirty="0"/>
          </a:p>
        </p:txBody>
      </p:sp>
      <p:sp>
        <p:nvSpPr>
          <p:cNvPr id="18" name="Shape 16"/>
          <p:cNvSpPr/>
          <p:nvPr/>
        </p:nvSpPr>
        <p:spPr>
          <a:xfrm>
            <a:off x="8046720" y="1115568"/>
            <a:ext cx="822960" cy="384048"/>
          </a:xfrm>
          <a:prstGeom prst="rect">
            <a:avLst/>
          </a:prstGeom>
          <a:solidFill>
            <a:srgbClr val="0A2342"/>
          </a:solidFill>
          <a:ln/>
        </p:spPr>
        <p:txBody>
          <a:bodyPr/>
          <a:lstStyle/>
          <a:p>
            <a:endParaRPr lang="th-TH"/>
          </a:p>
        </p:txBody>
      </p:sp>
      <p:sp>
        <p:nvSpPr>
          <p:cNvPr id="19" name="Text 17"/>
          <p:cNvSpPr/>
          <p:nvPr/>
        </p:nvSpPr>
        <p:spPr>
          <a:xfrm>
            <a:off x="8092440" y="1161288"/>
            <a:ext cx="73152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Group</a:t>
            </a:r>
            <a:endParaRPr lang="en-US" sz="1100" dirty="0"/>
          </a:p>
        </p:txBody>
      </p:sp>
      <p:sp>
        <p:nvSpPr>
          <p:cNvPr id="20" name="Shape 18"/>
          <p:cNvSpPr/>
          <p:nvPr/>
        </p:nvSpPr>
        <p:spPr>
          <a:xfrm>
            <a:off x="320040" y="1499616"/>
            <a:ext cx="3246120" cy="457200"/>
          </a:xfrm>
          <a:prstGeom prst="rect">
            <a:avLst/>
          </a:prstGeom>
          <a:solidFill>
            <a:srgbClr val="FFFFFF"/>
          </a:solidFill>
          <a:ln w="6350">
            <a:solidFill>
              <a:srgbClr val="CFD8DC"/>
            </a:solidFill>
            <a:prstDash val="solid"/>
          </a:ln>
        </p:spPr>
        <p:txBody>
          <a:bodyPr/>
          <a:lstStyle/>
          <a:p>
            <a:endParaRPr lang="th-TH"/>
          </a:p>
        </p:txBody>
      </p:sp>
      <p:sp>
        <p:nvSpPr>
          <p:cNvPr id="21" name="Text 19"/>
          <p:cNvSpPr/>
          <p:nvPr/>
        </p:nvSpPr>
        <p:spPr>
          <a:xfrm>
            <a:off x="365760" y="1517904"/>
            <a:ext cx="3154680" cy="384048"/>
          </a:xfrm>
          <a:prstGeom prst="rect">
            <a:avLst/>
          </a:prstGeom>
          <a:noFill/>
          <a:ln/>
        </p:spPr>
        <p:txBody>
          <a:bodyPr wrap="square" lIns="0" tIns="0" rIns="0" bIns="0" rtlCol="0" anchor="ctr"/>
          <a:lstStyle/>
          <a:p>
            <a:pPr marL="0" indent="0" algn="l">
              <a:buNone/>
            </a:pPr>
            <a:r>
              <a:rPr lang="en-US" sz="1100" dirty="0">
                <a:solidFill>
                  <a:srgbClr val="37474F"/>
                </a:solidFill>
                <a:latin typeface="Calibri" pitchFamily="34" charset="0"/>
                <a:ea typeface="Calibri" pitchFamily="34" charset="-122"/>
                <a:cs typeface="Calibri" pitchFamily="34" charset="-120"/>
              </a:rPr>
              <a:t>Linear Regression (no lag)</a:t>
            </a:r>
            <a:endParaRPr lang="en-US" sz="1100" dirty="0"/>
          </a:p>
        </p:txBody>
      </p:sp>
      <p:sp>
        <p:nvSpPr>
          <p:cNvPr id="22" name="Shape 20"/>
          <p:cNvSpPr/>
          <p:nvPr/>
        </p:nvSpPr>
        <p:spPr>
          <a:xfrm>
            <a:off x="3566160" y="1499616"/>
            <a:ext cx="1600200" cy="457200"/>
          </a:xfrm>
          <a:prstGeom prst="rect">
            <a:avLst/>
          </a:prstGeom>
          <a:solidFill>
            <a:srgbClr val="FFFFFF"/>
          </a:solidFill>
          <a:ln w="6350">
            <a:solidFill>
              <a:srgbClr val="CFD8DC"/>
            </a:solidFill>
            <a:prstDash val="solid"/>
          </a:ln>
        </p:spPr>
        <p:txBody>
          <a:bodyPr/>
          <a:lstStyle/>
          <a:p>
            <a:endParaRPr lang="th-TH"/>
          </a:p>
        </p:txBody>
      </p:sp>
      <p:sp>
        <p:nvSpPr>
          <p:cNvPr id="23" name="Text 21"/>
          <p:cNvSpPr/>
          <p:nvPr/>
        </p:nvSpPr>
        <p:spPr>
          <a:xfrm>
            <a:off x="3611880" y="1517904"/>
            <a:ext cx="1508760" cy="384048"/>
          </a:xfrm>
          <a:prstGeom prst="rect">
            <a:avLst/>
          </a:prstGeom>
          <a:noFill/>
          <a:ln/>
        </p:spPr>
        <p:txBody>
          <a:bodyPr wrap="square" lIns="0" tIns="0" rIns="0" bIns="0" rtlCol="0" anchor="ctr"/>
          <a:lstStyle/>
          <a:p>
            <a:pPr marL="0" indent="0" algn="ctr">
              <a:buNone/>
            </a:pPr>
            <a:r>
              <a:rPr lang="en-US" sz="1100" dirty="0">
                <a:solidFill>
                  <a:srgbClr val="1565C0"/>
                </a:solidFill>
                <a:latin typeface="Calibri" pitchFamily="34" charset="0"/>
                <a:ea typeface="Calibri" pitchFamily="34" charset="-122"/>
                <a:cs typeface="Calibri" pitchFamily="34" charset="-120"/>
              </a:rPr>
              <a:t>716,450</a:t>
            </a:r>
            <a:endParaRPr lang="en-US" sz="1100" dirty="0"/>
          </a:p>
        </p:txBody>
      </p:sp>
      <p:sp>
        <p:nvSpPr>
          <p:cNvPr id="24" name="Shape 22"/>
          <p:cNvSpPr/>
          <p:nvPr/>
        </p:nvSpPr>
        <p:spPr>
          <a:xfrm>
            <a:off x="5166360" y="1499616"/>
            <a:ext cx="1600200" cy="457200"/>
          </a:xfrm>
          <a:prstGeom prst="rect">
            <a:avLst/>
          </a:prstGeom>
          <a:solidFill>
            <a:srgbClr val="FFFFFF"/>
          </a:solidFill>
          <a:ln w="6350">
            <a:solidFill>
              <a:srgbClr val="CFD8DC"/>
            </a:solidFill>
            <a:prstDash val="solid"/>
          </a:ln>
        </p:spPr>
        <p:txBody>
          <a:bodyPr/>
          <a:lstStyle/>
          <a:p>
            <a:endParaRPr lang="th-TH"/>
          </a:p>
        </p:txBody>
      </p:sp>
      <p:sp>
        <p:nvSpPr>
          <p:cNvPr id="25" name="Text 23"/>
          <p:cNvSpPr/>
          <p:nvPr/>
        </p:nvSpPr>
        <p:spPr>
          <a:xfrm>
            <a:off x="5212080" y="1517904"/>
            <a:ext cx="1508760" cy="384048"/>
          </a:xfrm>
          <a:prstGeom prst="rect">
            <a:avLst/>
          </a:prstGeom>
          <a:noFill/>
          <a:ln/>
        </p:spPr>
        <p:txBody>
          <a:bodyPr wrap="square" lIns="0" tIns="0" rIns="0" bIns="0" rtlCol="0" anchor="ctr"/>
          <a:lstStyle/>
          <a:p>
            <a:pPr marL="0" indent="0" algn="ctr">
              <a:buNone/>
            </a:pPr>
            <a:r>
              <a:rPr lang="en-US" sz="1100" dirty="0">
                <a:solidFill>
                  <a:srgbClr val="1565C0"/>
                </a:solidFill>
                <a:latin typeface="Calibri" pitchFamily="34" charset="0"/>
                <a:ea typeface="Calibri" pitchFamily="34" charset="-122"/>
                <a:cs typeface="Calibri" pitchFamily="34" charset="-120"/>
              </a:rPr>
              <a:t>803,409</a:t>
            </a:r>
            <a:endParaRPr lang="en-US" sz="1100" dirty="0"/>
          </a:p>
        </p:txBody>
      </p:sp>
      <p:sp>
        <p:nvSpPr>
          <p:cNvPr id="26" name="Shape 24"/>
          <p:cNvSpPr/>
          <p:nvPr/>
        </p:nvSpPr>
        <p:spPr>
          <a:xfrm>
            <a:off x="6766560" y="1499616"/>
            <a:ext cx="1280160" cy="457200"/>
          </a:xfrm>
          <a:prstGeom prst="rect">
            <a:avLst/>
          </a:prstGeom>
          <a:solidFill>
            <a:srgbClr val="FFFFFF"/>
          </a:solidFill>
          <a:ln w="6350">
            <a:solidFill>
              <a:srgbClr val="CFD8DC"/>
            </a:solidFill>
            <a:prstDash val="solid"/>
          </a:ln>
        </p:spPr>
        <p:txBody>
          <a:bodyPr/>
          <a:lstStyle/>
          <a:p>
            <a:endParaRPr lang="th-TH"/>
          </a:p>
        </p:txBody>
      </p:sp>
      <p:sp>
        <p:nvSpPr>
          <p:cNvPr id="27" name="Text 25"/>
          <p:cNvSpPr/>
          <p:nvPr/>
        </p:nvSpPr>
        <p:spPr>
          <a:xfrm>
            <a:off x="6812280" y="1517904"/>
            <a:ext cx="1188720" cy="384048"/>
          </a:xfrm>
          <a:prstGeom prst="rect">
            <a:avLst/>
          </a:prstGeom>
          <a:noFill/>
          <a:ln/>
        </p:spPr>
        <p:txBody>
          <a:bodyPr wrap="square" lIns="0" tIns="0" rIns="0" bIns="0" rtlCol="0" anchor="ctr"/>
          <a:lstStyle/>
          <a:p>
            <a:pPr marL="0" indent="0" algn="ctr">
              <a:buNone/>
            </a:pPr>
            <a:r>
              <a:rPr lang="en-US" sz="1100" dirty="0">
                <a:solidFill>
                  <a:srgbClr val="1565C0"/>
                </a:solidFill>
                <a:latin typeface="Calibri" pitchFamily="34" charset="0"/>
                <a:ea typeface="Calibri" pitchFamily="34" charset="-122"/>
                <a:cs typeface="Calibri" pitchFamily="34" charset="-120"/>
              </a:rPr>
              <a:t>0.231</a:t>
            </a:r>
            <a:endParaRPr lang="en-US" sz="1100" dirty="0"/>
          </a:p>
        </p:txBody>
      </p:sp>
      <p:sp>
        <p:nvSpPr>
          <p:cNvPr id="28" name="Shape 26"/>
          <p:cNvSpPr/>
          <p:nvPr/>
        </p:nvSpPr>
        <p:spPr>
          <a:xfrm>
            <a:off x="8046720" y="1499616"/>
            <a:ext cx="822960" cy="457200"/>
          </a:xfrm>
          <a:prstGeom prst="rect">
            <a:avLst/>
          </a:prstGeom>
          <a:solidFill>
            <a:srgbClr val="FFFFFF"/>
          </a:solidFill>
          <a:ln w="6350">
            <a:solidFill>
              <a:srgbClr val="CFD8DC"/>
            </a:solidFill>
            <a:prstDash val="solid"/>
          </a:ln>
        </p:spPr>
        <p:txBody>
          <a:bodyPr/>
          <a:lstStyle/>
          <a:p>
            <a:endParaRPr lang="th-TH"/>
          </a:p>
        </p:txBody>
      </p:sp>
      <p:sp>
        <p:nvSpPr>
          <p:cNvPr id="29" name="Text 27"/>
          <p:cNvSpPr/>
          <p:nvPr/>
        </p:nvSpPr>
        <p:spPr>
          <a:xfrm>
            <a:off x="8092440" y="1517904"/>
            <a:ext cx="731520" cy="384048"/>
          </a:xfrm>
          <a:prstGeom prst="rect">
            <a:avLst/>
          </a:prstGeom>
          <a:noFill/>
          <a:ln/>
        </p:spPr>
        <p:txBody>
          <a:bodyPr wrap="square" lIns="0" tIns="0" rIns="0" bIns="0" rtlCol="0" anchor="ctr"/>
          <a:lstStyle/>
          <a:p>
            <a:pPr marL="0" indent="0" algn="ctr">
              <a:buNone/>
            </a:pPr>
            <a:r>
              <a:rPr lang="en-US" sz="1100" dirty="0">
                <a:solidFill>
                  <a:srgbClr val="1565C0"/>
                </a:solidFill>
                <a:latin typeface="Calibri" pitchFamily="34" charset="0"/>
                <a:ea typeface="Calibri" pitchFamily="34" charset="-122"/>
                <a:cs typeface="Calibri" pitchFamily="34" charset="-120"/>
              </a:rPr>
              <a:t>B</a:t>
            </a:r>
            <a:endParaRPr lang="en-US" sz="1100" dirty="0"/>
          </a:p>
        </p:txBody>
      </p:sp>
      <p:sp>
        <p:nvSpPr>
          <p:cNvPr id="30" name="Shape 28"/>
          <p:cNvSpPr/>
          <p:nvPr/>
        </p:nvSpPr>
        <p:spPr>
          <a:xfrm>
            <a:off x="320040" y="1975104"/>
            <a:ext cx="3246120" cy="457200"/>
          </a:xfrm>
          <a:prstGeom prst="rect">
            <a:avLst/>
          </a:prstGeom>
          <a:solidFill>
            <a:srgbClr val="ECEFF1"/>
          </a:solidFill>
          <a:ln w="6350">
            <a:solidFill>
              <a:srgbClr val="CFD8DC"/>
            </a:solidFill>
            <a:prstDash val="solid"/>
          </a:ln>
        </p:spPr>
        <p:txBody>
          <a:bodyPr/>
          <a:lstStyle/>
          <a:p>
            <a:endParaRPr lang="th-TH"/>
          </a:p>
        </p:txBody>
      </p:sp>
      <p:sp>
        <p:nvSpPr>
          <p:cNvPr id="31" name="Text 29"/>
          <p:cNvSpPr/>
          <p:nvPr/>
        </p:nvSpPr>
        <p:spPr>
          <a:xfrm>
            <a:off x="365760" y="1993392"/>
            <a:ext cx="3154680" cy="384048"/>
          </a:xfrm>
          <a:prstGeom prst="rect">
            <a:avLst/>
          </a:prstGeom>
          <a:noFill/>
          <a:ln/>
        </p:spPr>
        <p:txBody>
          <a:bodyPr wrap="square" lIns="0" tIns="0" rIns="0" bIns="0" rtlCol="0" anchor="ctr"/>
          <a:lstStyle/>
          <a:p>
            <a:pPr marL="0" indent="0" algn="l">
              <a:buNone/>
            </a:pPr>
            <a:r>
              <a:rPr lang="en-US" sz="1100" dirty="0">
                <a:solidFill>
                  <a:srgbClr val="37474F"/>
                </a:solidFill>
                <a:latin typeface="Calibri" pitchFamily="34" charset="0"/>
                <a:ea typeface="Calibri" pitchFamily="34" charset="-122"/>
                <a:cs typeface="Calibri" pitchFamily="34" charset="-120"/>
              </a:rPr>
              <a:t>Random Forest (no lag)</a:t>
            </a:r>
            <a:endParaRPr lang="en-US" sz="1100" dirty="0"/>
          </a:p>
        </p:txBody>
      </p:sp>
      <p:sp>
        <p:nvSpPr>
          <p:cNvPr id="32" name="Shape 30"/>
          <p:cNvSpPr/>
          <p:nvPr/>
        </p:nvSpPr>
        <p:spPr>
          <a:xfrm>
            <a:off x="3566160" y="1975104"/>
            <a:ext cx="1600200" cy="457200"/>
          </a:xfrm>
          <a:prstGeom prst="rect">
            <a:avLst/>
          </a:prstGeom>
          <a:solidFill>
            <a:srgbClr val="ECEFF1"/>
          </a:solidFill>
          <a:ln w="6350">
            <a:solidFill>
              <a:srgbClr val="CFD8DC"/>
            </a:solidFill>
            <a:prstDash val="solid"/>
          </a:ln>
        </p:spPr>
        <p:txBody>
          <a:bodyPr/>
          <a:lstStyle/>
          <a:p>
            <a:endParaRPr lang="th-TH"/>
          </a:p>
        </p:txBody>
      </p:sp>
      <p:sp>
        <p:nvSpPr>
          <p:cNvPr id="33" name="Text 31"/>
          <p:cNvSpPr/>
          <p:nvPr/>
        </p:nvSpPr>
        <p:spPr>
          <a:xfrm>
            <a:off x="3611880" y="1993392"/>
            <a:ext cx="1508760" cy="384048"/>
          </a:xfrm>
          <a:prstGeom prst="rect">
            <a:avLst/>
          </a:prstGeom>
          <a:noFill/>
          <a:ln/>
        </p:spPr>
        <p:txBody>
          <a:bodyPr wrap="square" lIns="0" tIns="0" rIns="0" bIns="0" rtlCol="0" anchor="ctr"/>
          <a:lstStyle/>
          <a:p>
            <a:pPr marL="0" indent="0" algn="ctr">
              <a:buNone/>
            </a:pPr>
            <a:r>
              <a:rPr lang="en-US" sz="1100" dirty="0">
                <a:solidFill>
                  <a:srgbClr val="1565C0"/>
                </a:solidFill>
                <a:latin typeface="Calibri" pitchFamily="34" charset="0"/>
                <a:ea typeface="Calibri" pitchFamily="34" charset="-122"/>
                <a:cs typeface="Calibri" pitchFamily="34" charset="-120"/>
              </a:rPr>
              <a:t>123,187</a:t>
            </a:r>
            <a:endParaRPr lang="en-US" sz="1100" dirty="0"/>
          </a:p>
        </p:txBody>
      </p:sp>
      <p:sp>
        <p:nvSpPr>
          <p:cNvPr id="34" name="Shape 32"/>
          <p:cNvSpPr/>
          <p:nvPr/>
        </p:nvSpPr>
        <p:spPr>
          <a:xfrm>
            <a:off x="5166360" y="1975104"/>
            <a:ext cx="1600200" cy="457200"/>
          </a:xfrm>
          <a:prstGeom prst="rect">
            <a:avLst/>
          </a:prstGeom>
          <a:solidFill>
            <a:srgbClr val="ECEFF1"/>
          </a:solidFill>
          <a:ln w="6350">
            <a:solidFill>
              <a:srgbClr val="CFD8DC"/>
            </a:solidFill>
            <a:prstDash val="solid"/>
          </a:ln>
        </p:spPr>
        <p:txBody>
          <a:bodyPr/>
          <a:lstStyle/>
          <a:p>
            <a:endParaRPr lang="th-TH"/>
          </a:p>
        </p:txBody>
      </p:sp>
      <p:sp>
        <p:nvSpPr>
          <p:cNvPr id="35" name="Text 33"/>
          <p:cNvSpPr/>
          <p:nvPr/>
        </p:nvSpPr>
        <p:spPr>
          <a:xfrm>
            <a:off x="5212080" y="1993392"/>
            <a:ext cx="1508760" cy="384048"/>
          </a:xfrm>
          <a:prstGeom prst="rect">
            <a:avLst/>
          </a:prstGeom>
          <a:noFill/>
          <a:ln/>
        </p:spPr>
        <p:txBody>
          <a:bodyPr wrap="square" lIns="0" tIns="0" rIns="0" bIns="0" rtlCol="0" anchor="ctr"/>
          <a:lstStyle/>
          <a:p>
            <a:pPr marL="0" indent="0" algn="ctr">
              <a:buNone/>
            </a:pPr>
            <a:r>
              <a:rPr lang="en-US" sz="1100" dirty="0">
                <a:solidFill>
                  <a:srgbClr val="1565C0"/>
                </a:solidFill>
                <a:latin typeface="Calibri" pitchFamily="34" charset="0"/>
                <a:ea typeface="Calibri" pitchFamily="34" charset="-122"/>
                <a:cs typeface="Calibri" pitchFamily="34" charset="-120"/>
              </a:rPr>
              <a:t>195,205</a:t>
            </a:r>
            <a:endParaRPr lang="en-US" sz="1100" dirty="0"/>
          </a:p>
        </p:txBody>
      </p:sp>
      <p:sp>
        <p:nvSpPr>
          <p:cNvPr id="36" name="Shape 34"/>
          <p:cNvSpPr/>
          <p:nvPr/>
        </p:nvSpPr>
        <p:spPr>
          <a:xfrm>
            <a:off x="6766560" y="1975104"/>
            <a:ext cx="1280160" cy="457200"/>
          </a:xfrm>
          <a:prstGeom prst="rect">
            <a:avLst/>
          </a:prstGeom>
          <a:solidFill>
            <a:srgbClr val="ECEFF1"/>
          </a:solidFill>
          <a:ln w="6350">
            <a:solidFill>
              <a:srgbClr val="CFD8DC"/>
            </a:solidFill>
            <a:prstDash val="solid"/>
          </a:ln>
        </p:spPr>
        <p:txBody>
          <a:bodyPr/>
          <a:lstStyle/>
          <a:p>
            <a:endParaRPr lang="th-TH"/>
          </a:p>
        </p:txBody>
      </p:sp>
      <p:sp>
        <p:nvSpPr>
          <p:cNvPr id="37" name="Text 35"/>
          <p:cNvSpPr/>
          <p:nvPr/>
        </p:nvSpPr>
        <p:spPr>
          <a:xfrm>
            <a:off x="6812280" y="1993392"/>
            <a:ext cx="1188720" cy="384048"/>
          </a:xfrm>
          <a:prstGeom prst="rect">
            <a:avLst/>
          </a:prstGeom>
          <a:noFill/>
          <a:ln/>
        </p:spPr>
        <p:txBody>
          <a:bodyPr wrap="square" lIns="0" tIns="0" rIns="0" bIns="0" rtlCol="0" anchor="ctr"/>
          <a:lstStyle/>
          <a:p>
            <a:pPr marL="0" indent="0" algn="ctr">
              <a:buNone/>
            </a:pPr>
            <a:r>
              <a:rPr lang="en-US" sz="1100" dirty="0">
                <a:solidFill>
                  <a:srgbClr val="1565C0"/>
                </a:solidFill>
                <a:latin typeface="Calibri" pitchFamily="34" charset="0"/>
                <a:ea typeface="Calibri" pitchFamily="34" charset="-122"/>
                <a:cs typeface="Calibri" pitchFamily="34" charset="-120"/>
              </a:rPr>
              <a:t>0.955</a:t>
            </a:r>
            <a:endParaRPr lang="en-US" sz="1100" dirty="0"/>
          </a:p>
        </p:txBody>
      </p:sp>
      <p:sp>
        <p:nvSpPr>
          <p:cNvPr id="38" name="Shape 36"/>
          <p:cNvSpPr/>
          <p:nvPr/>
        </p:nvSpPr>
        <p:spPr>
          <a:xfrm>
            <a:off x="8046720" y="1975104"/>
            <a:ext cx="822960" cy="457200"/>
          </a:xfrm>
          <a:prstGeom prst="rect">
            <a:avLst/>
          </a:prstGeom>
          <a:solidFill>
            <a:srgbClr val="ECEFF1"/>
          </a:solidFill>
          <a:ln w="6350">
            <a:solidFill>
              <a:srgbClr val="CFD8DC"/>
            </a:solidFill>
            <a:prstDash val="solid"/>
          </a:ln>
        </p:spPr>
        <p:txBody>
          <a:bodyPr/>
          <a:lstStyle/>
          <a:p>
            <a:endParaRPr lang="th-TH"/>
          </a:p>
        </p:txBody>
      </p:sp>
      <p:sp>
        <p:nvSpPr>
          <p:cNvPr id="39" name="Text 37"/>
          <p:cNvSpPr/>
          <p:nvPr/>
        </p:nvSpPr>
        <p:spPr>
          <a:xfrm>
            <a:off x="8092440" y="1993392"/>
            <a:ext cx="731520" cy="384048"/>
          </a:xfrm>
          <a:prstGeom prst="rect">
            <a:avLst/>
          </a:prstGeom>
          <a:noFill/>
          <a:ln/>
        </p:spPr>
        <p:txBody>
          <a:bodyPr wrap="square" lIns="0" tIns="0" rIns="0" bIns="0" rtlCol="0" anchor="ctr"/>
          <a:lstStyle/>
          <a:p>
            <a:pPr marL="0" indent="0" algn="ctr">
              <a:buNone/>
            </a:pPr>
            <a:r>
              <a:rPr lang="en-US" sz="1100" dirty="0">
                <a:solidFill>
                  <a:srgbClr val="1565C0"/>
                </a:solidFill>
                <a:latin typeface="Calibri" pitchFamily="34" charset="0"/>
                <a:ea typeface="Calibri" pitchFamily="34" charset="-122"/>
                <a:cs typeface="Calibri" pitchFamily="34" charset="-120"/>
              </a:rPr>
              <a:t>B</a:t>
            </a:r>
            <a:endParaRPr lang="en-US" sz="1100" dirty="0"/>
          </a:p>
        </p:txBody>
      </p:sp>
      <p:sp>
        <p:nvSpPr>
          <p:cNvPr id="40" name="Shape 38"/>
          <p:cNvSpPr/>
          <p:nvPr/>
        </p:nvSpPr>
        <p:spPr>
          <a:xfrm>
            <a:off x="320040" y="2450592"/>
            <a:ext cx="3246120" cy="457200"/>
          </a:xfrm>
          <a:prstGeom prst="rect">
            <a:avLst/>
          </a:prstGeom>
          <a:solidFill>
            <a:srgbClr val="FFFFFF"/>
          </a:solidFill>
          <a:ln w="6350">
            <a:solidFill>
              <a:srgbClr val="CFD8DC"/>
            </a:solidFill>
            <a:prstDash val="solid"/>
          </a:ln>
        </p:spPr>
        <p:txBody>
          <a:bodyPr/>
          <a:lstStyle/>
          <a:p>
            <a:endParaRPr lang="th-TH"/>
          </a:p>
        </p:txBody>
      </p:sp>
      <p:sp>
        <p:nvSpPr>
          <p:cNvPr id="41" name="Text 39"/>
          <p:cNvSpPr/>
          <p:nvPr/>
        </p:nvSpPr>
        <p:spPr>
          <a:xfrm>
            <a:off x="365760" y="2468880"/>
            <a:ext cx="3154680" cy="384048"/>
          </a:xfrm>
          <a:prstGeom prst="rect">
            <a:avLst/>
          </a:prstGeom>
          <a:noFill/>
          <a:ln/>
        </p:spPr>
        <p:txBody>
          <a:bodyPr wrap="square" lIns="0" tIns="0" rIns="0" bIns="0" rtlCol="0" anchor="ctr"/>
          <a:lstStyle/>
          <a:p>
            <a:pPr marL="0" indent="0" algn="l">
              <a:buNone/>
            </a:pPr>
            <a:r>
              <a:rPr lang="en-US" sz="1100" dirty="0">
                <a:solidFill>
                  <a:srgbClr val="37474F"/>
                </a:solidFill>
                <a:latin typeface="Calibri" pitchFamily="34" charset="0"/>
                <a:ea typeface="Calibri" pitchFamily="34" charset="-122"/>
                <a:cs typeface="Calibri" pitchFamily="34" charset="-120"/>
              </a:rPr>
              <a:t>Linear Regression (with lag)</a:t>
            </a:r>
            <a:endParaRPr lang="en-US" sz="1100" dirty="0"/>
          </a:p>
        </p:txBody>
      </p:sp>
      <p:sp>
        <p:nvSpPr>
          <p:cNvPr id="42" name="Shape 40"/>
          <p:cNvSpPr/>
          <p:nvPr/>
        </p:nvSpPr>
        <p:spPr>
          <a:xfrm>
            <a:off x="3566160" y="2450592"/>
            <a:ext cx="1600200" cy="457200"/>
          </a:xfrm>
          <a:prstGeom prst="rect">
            <a:avLst/>
          </a:prstGeom>
          <a:solidFill>
            <a:srgbClr val="FFFFFF"/>
          </a:solidFill>
          <a:ln w="6350">
            <a:solidFill>
              <a:srgbClr val="CFD8DC"/>
            </a:solidFill>
            <a:prstDash val="solid"/>
          </a:ln>
        </p:spPr>
        <p:txBody>
          <a:bodyPr/>
          <a:lstStyle/>
          <a:p>
            <a:endParaRPr lang="th-TH"/>
          </a:p>
        </p:txBody>
      </p:sp>
      <p:sp>
        <p:nvSpPr>
          <p:cNvPr id="43" name="Text 41"/>
          <p:cNvSpPr/>
          <p:nvPr/>
        </p:nvSpPr>
        <p:spPr>
          <a:xfrm>
            <a:off x="3611880" y="2468880"/>
            <a:ext cx="1508760" cy="384048"/>
          </a:xfrm>
          <a:prstGeom prst="rect">
            <a:avLst/>
          </a:prstGeom>
          <a:noFill/>
          <a:ln/>
        </p:spPr>
        <p:txBody>
          <a:bodyPr wrap="square" lIns="0" tIns="0" rIns="0" bIns="0" rtlCol="0" anchor="ctr"/>
          <a:lstStyle/>
          <a:p>
            <a:pPr marL="0" indent="0" algn="ctr">
              <a:buNone/>
            </a:pPr>
            <a:r>
              <a:rPr lang="en-US" sz="1100" dirty="0">
                <a:solidFill>
                  <a:srgbClr val="1565C0"/>
                </a:solidFill>
                <a:latin typeface="Calibri" pitchFamily="34" charset="0"/>
                <a:ea typeface="Calibri" pitchFamily="34" charset="-122"/>
                <a:cs typeface="Calibri" pitchFamily="34" charset="-120"/>
              </a:rPr>
              <a:t>21,881</a:t>
            </a:r>
            <a:endParaRPr lang="en-US" sz="1100" dirty="0"/>
          </a:p>
        </p:txBody>
      </p:sp>
      <p:sp>
        <p:nvSpPr>
          <p:cNvPr id="44" name="Shape 42"/>
          <p:cNvSpPr/>
          <p:nvPr/>
        </p:nvSpPr>
        <p:spPr>
          <a:xfrm>
            <a:off x="5166360" y="2450592"/>
            <a:ext cx="1600200" cy="457200"/>
          </a:xfrm>
          <a:prstGeom prst="rect">
            <a:avLst/>
          </a:prstGeom>
          <a:solidFill>
            <a:srgbClr val="FFFFFF"/>
          </a:solidFill>
          <a:ln w="6350">
            <a:solidFill>
              <a:srgbClr val="CFD8DC"/>
            </a:solidFill>
            <a:prstDash val="solid"/>
          </a:ln>
        </p:spPr>
        <p:txBody>
          <a:bodyPr/>
          <a:lstStyle/>
          <a:p>
            <a:endParaRPr lang="th-TH"/>
          </a:p>
        </p:txBody>
      </p:sp>
      <p:sp>
        <p:nvSpPr>
          <p:cNvPr id="45" name="Text 43"/>
          <p:cNvSpPr/>
          <p:nvPr/>
        </p:nvSpPr>
        <p:spPr>
          <a:xfrm>
            <a:off x="5212080" y="2468880"/>
            <a:ext cx="1508760" cy="384048"/>
          </a:xfrm>
          <a:prstGeom prst="rect">
            <a:avLst/>
          </a:prstGeom>
          <a:noFill/>
          <a:ln/>
        </p:spPr>
        <p:txBody>
          <a:bodyPr wrap="square" lIns="0" tIns="0" rIns="0" bIns="0" rtlCol="0" anchor="ctr"/>
          <a:lstStyle/>
          <a:p>
            <a:pPr marL="0" indent="0" algn="ctr">
              <a:buNone/>
            </a:pPr>
            <a:r>
              <a:rPr lang="en-US" sz="1100" dirty="0">
                <a:solidFill>
                  <a:srgbClr val="1565C0"/>
                </a:solidFill>
                <a:latin typeface="Calibri" pitchFamily="34" charset="0"/>
                <a:ea typeface="Calibri" pitchFamily="34" charset="-122"/>
                <a:cs typeface="Calibri" pitchFamily="34" charset="-120"/>
              </a:rPr>
              <a:t>31,021</a:t>
            </a:r>
            <a:endParaRPr lang="en-US" sz="1100" dirty="0"/>
          </a:p>
        </p:txBody>
      </p:sp>
      <p:sp>
        <p:nvSpPr>
          <p:cNvPr id="46" name="Shape 44"/>
          <p:cNvSpPr/>
          <p:nvPr/>
        </p:nvSpPr>
        <p:spPr>
          <a:xfrm>
            <a:off x="6766560" y="2450592"/>
            <a:ext cx="1280160" cy="457200"/>
          </a:xfrm>
          <a:prstGeom prst="rect">
            <a:avLst/>
          </a:prstGeom>
          <a:solidFill>
            <a:srgbClr val="FFFFFF"/>
          </a:solidFill>
          <a:ln w="6350">
            <a:solidFill>
              <a:srgbClr val="CFD8DC"/>
            </a:solidFill>
            <a:prstDash val="solid"/>
          </a:ln>
        </p:spPr>
        <p:txBody>
          <a:bodyPr/>
          <a:lstStyle/>
          <a:p>
            <a:endParaRPr lang="th-TH"/>
          </a:p>
        </p:txBody>
      </p:sp>
      <p:sp>
        <p:nvSpPr>
          <p:cNvPr id="47" name="Text 45"/>
          <p:cNvSpPr/>
          <p:nvPr/>
        </p:nvSpPr>
        <p:spPr>
          <a:xfrm>
            <a:off x="6812280" y="2468880"/>
            <a:ext cx="1188720" cy="384048"/>
          </a:xfrm>
          <a:prstGeom prst="rect">
            <a:avLst/>
          </a:prstGeom>
          <a:noFill/>
          <a:ln/>
        </p:spPr>
        <p:txBody>
          <a:bodyPr wrap="square" lIns="0" tIns="0" rIns="0" bIns="0" rtlCol="0" anchor="ctr"/>
          <a:lstStyle/>
          <a:p>
            <a:pPr marL="0" indent="0" algn="ctr">
              <a:buNone/>
            </a:pPr>
            <a:r>
              <a:rPr lang="en-US" sz="1100" dirty="0">
                <a:solidFill>
                  <a:srgbClr val="1565C0"/>
                </a:solidFill>
                <a:latin typeface="Calibri" pitchFamily="34" charset="0"/>
                <a:ea typeface="Calibri" pitchFamily="34" charset="-122"/>
                <a:cs typeface="Calibri" pitchFamily="34" charset="-120"/>
              </a:rPr>
              <a:t>0.999</a:t>
            </a:r>
            <a:endParaRPr lang="en-US" sz="1100" dirty="0"/>
          </a:p>
        </p:txBody>
      </p:sp>
      <p:sp>
        <p:nvSpPr>
          <p:cNvPr id="48" name="Shape 46"/>
          <p:cNvSpPr/>
          <p:nvPr/>
        </p:nvSpPr>
        <p:spPr>
          <a:xfrm>
            <a:off x="8046720" y="2450592"/>
            <a:ext cx="822960" cy="457200"/>
          </a:xfrm>
          <a:prstGeom prst="rect">
            <a:avLst/>
          </a:prstGeom>
          <a:solidFill>
            <a:srgbClr val="FFFFFF"/>
          </a:solidFill>
          <a:ln w="6350">
            <a:solidFill>
              <a:srgbClr val="CFD8DC"/>
            </a:solidFill>
            <a:prstDash val="solid"/>
          </a:ln>
        </p:spPr>
        <p:txBody>
          <a:bodyPr/>
          <a:lstStyle/>
          <a:p>
            <a:endParaRPr lang="th-TH"/>
          </a:p>
        </p:txBody>
      </p:sp>
      <p:sp>
        <p:nvSpPr>
          <p:cNvPr id="49" name="Text 47"/>
          <p:cNvSpPr/>
          <p:nvPr/>
        </p:nvSpPr>
        <p:spPr>
          <a:xfrm>
            <a:off x="8092440" y="2468880"/>
            <a:ext cx="731520" cy="384048"/>
          </a:xfrm>
          <a:prstGeom prst="rect">
            <a:avLst/>
          </a:prstGeom>
          <a:noFill/>
          <a:ln/>
        </p:spPr>
        <p:txBody>
          <a:bodyPr wrap="square" lIns="0" tIns="0" rIns="0" bIns="0" rtlCol="0" anchor="ctr"/>
          <a:lstStyle/>
          <a:p>
            <a:pPr marL="0" indent="0" algn="ctr">
              <a:buNone/>
            </a:pPr>
            <a:r>
              <a:rPr lang="en-US" sz="1100" dirty="0">
                <a:solidFill>
                  <a:srgbClr val="1565C0"/>
                </a:solidFill>
                <a:latin typeface="Calibri" pitchFamily="34" charset="0"/>
                <a:ea typeface="Calibri" pitchFamily="34" charset="-122"/>
                <a:cs typeface="Calibri" pitchFamily="34" charset="-120"/>
              </a:rPr>
              <a:t>A</a:t>
            </a:r>
            <a:endParaRPr lang="en-US" sz="1100" dirty="0"/>
          </a:p>
        </p:txBody>
      </p:sp>
      <p:sp>
        <p:nvSpPr>
          <p:cNvPr id="50" name="Shape 48"/>
          <p:cNvSpPr/>
          <p:nvPr/>
        </p:nvSpPr>
        <p:spPr>
          <a:xfrm>
            <a:off x="320040" y="2926080"/>
            <a:ext cx="3246120" cy="457200"/>
          </a:xfrm>
          <a:prstGeom prst="rect">
            <a:avLst/>
          </a:prstGeom>
          <a:solidFill>
            <a:srgbClr val="E3F0FF"/>
          </a:solidFill>
          <a:ln w="6350">
            <a:solidFill>
              <a:srgbClr val="CFD8DC"/>
            </a:solidFill>
            <a:prstDash val="solid"/>
          </a:ln>
        </p:spPr>
        <p:txBody>
          <a:bodyPr/>
          <a:lstStyle/>
          <a:p>
            <a:endParaRPr lang="th-TH"/>
          </a:p>
        </p:txBody>
      </p:sp>
      <p:sp>
        <p:nvSpPr>
          <p:cNvPr id="51" name="Text 49"/>
          <p:cNvSpPr/>
          <p:nvPr/>
        </p:nvSpPr>
        <p:spPr>
          <a:xfrm>
            <a:off x="365760" y="2944368"/>
            <a:ext cx="3154680" cy="384048"/>
          </a:xfrm>
          <a:prstGeom prst="rect">
            <a:avLst/>
          </a:prstGeom>
          <a:noFill/>
          <a:ln/>
        </p:spPr>
        <p:txBody>
          <a:bodyPr wrap="square" lIns="0" tIns="0" rIns="0" bIns="0" rtlCol="0" anchor="ctr"/>
          <a:lstStyle/>
          <a:p>
            <a:pPr marL="0" indent="0" algn="l">
              <a:buNone/>
            </a:pPr>
            <a:r>
              <a:rPr lang="en-US" sz="1150" b="1" dirty="0">
                <a:solidFill>
                  <a:srgbClr val="0A2342"/>
                </a:solidFill>
                <a:latin typeface="Calibri" pitchFamily="34" charset="0"/>
                <a:ea typeface="Calibri" pitchFamily="34" charset="-122"/>
                <a:cs typeface="Calibri" pitchFamily="34" charset="-120"/>
              </a:rPr>
              <a:t>Random Forest (with lag)  ★ Best</a:t>
            </a:r>
            <a:endParaRPr lang="en-US" sz="1150" dirty="0"/>
          </a:p>
        </p:txBody>
      </p:sp>
      <p:sp>
        <p:nvSpPr>
          <p:cNvPr id="52" name="Shape 50"/>
          <p:cNvSpPr/>
          <p:nvPr/>
        </p:nvSpPr>
        <p:spPr>
          <a:xfrm>
            <a:off x="3566160" y="2926080"/>
            <a:ext cx="1600200" cy="457200"/>
          </a:xfrm>
          <a:prstGeom prst="rect">
            <a:avLst/>
          </a:prstGeom>
          <a:solidFill>
            <a:srgbClr val="E3F0FF"/>
          </a:solidFill>
          <a:ln w="6350">
            <a:solidFill>
              <a:srgbClr val="CFD8DC"/>
            </a:solidFill>
            <a:prstDash val="solid"/>
          </a:ln>
        </p:spPr>
        <p:txBody>
          <a:bodyPr/>
          <a:lstStyle/>
          <a:p>
            <a:endParaRPr lang="th-TH"/>
          </a:p>
        </p:txBody>
      </p:sp>
      <p:sp>
        <p:nvSpPr>
          <p:cNvPr id="53" name="Text 51"/>
          <p:cNvSpPr/>
          <p:nvPr/>
        </p:nvSpPr>
        <p:spPr>
          <a:xfrm>
            <a:off x="3611880" y="2944368"/>
            <a:ext cx="1508760" cy="384048"/>
          </a:xfrm>
          <a:prstGeom prst="rect">
            <a:avLst/>
          </a:prstGeom>
          <a:noFill/>
          <a:ln/>
        </p:spPr>
        <p:txBody>
          <a:bodyPr wrap="square" lIns="0" tIns="0" rIns="0" bIns="0" rtlCol="0" anchor="ctr"/>
          <a:lstStyle/>
          <a:p>
            <a:pPr marL="0" indent="0" algn="ctr">
              <a:buNone/>
            </a:pPr>
            <a:r>
              <a:rPr lang="en-US" sz="1150" dirty="0">
                <a:solidFill>
                  <a:srgbClr val="0A2342"/>
                </a:solidFill>
                <a:latin typeface="Calibri" pitchFamily="34" charset="0"/>
                <a:ea typeface="Calibri" pitchFamily="34" charset="-122"/>
                <a:cs typeface="Calibri" pitchFamily="34" charset="-120"/>
              </a:rPr>
              <a:t>15,923</a:t>
            </a:r>
            <a:endParaRPr lang="en-US" sz="1150" dirty="0"/>
          </a:p>
        </p:txBody>
      </p:sp>
      <p:sp>
        <p:nvSpPr>
          <p:cNvPr id="54" name="Shape 52"/>
          <p:cNvSpPr/>
          <p:nvPr/>
        </p:nvSpPr>
        <p:spPr>
          <a:xfrm>
            <a:off x="5166360" y="2926080"/>
            <a:ext cx="1600200" cy="457200"/>
          </a:xfrm>
          <a:prstGeom prst="rect">
            <a:avLst/>
          </a:prstGeom>
          <a:solidFill>
            <a:srgbClr val="E3F0FF"/>
          </a:solidFill>
          <a:ln w="6350">
            <a:solidFill>
              <a:srgbClr val="CFD8DC"/>
            </a:solidFill>
            <a:prstDash val="solid"/>
          </a:ln>
        </p:spPr>
        <p:txBody>
          <a:bodyPr/>
          <a:lstStyle/>
          <a:p>
            <a:endParaRPr lang="th-TH"/>
          </a:p>
        </p:txBody>
      </p:sp>
      <p:sp>
        <p:nvSpPr>
          <p:cNvPr id="55" name="Text 53"/>
          <p:cNvSpPr/>
          <p:nvPr/>
        </p:nvSpPr>
        <p:spPr>
          <a:xfrm>
            <a:off x="5212080" y="2944368"/>
            <a:ext cx="1508760" cy="384048"/>
          </a:xfrm>
          <a:prstGeom prst="rect">
            <a:avLst/>
          </a:prstGeom>
          <a:noFill/>
          <a:ln/>
        </p:spPr>
        <p:txBody>
          <a:bodyPr wrap="square" lIns="0" tIns="0" rIns="0" bIns="0" rtlCol="0" anchor="ctr"/>
          <a:lstStyle/>
          <a:p>
            <a:pPr marL="0" indent="0" algn="ctr">
              <a:buNone/>
            </a:pPr>
            <a:r>
              <a:rPr lang="en-US" sz="1150" dirty="0">
                <a:solidFill>
                  <a:srgbClr val="0A2342"/>
                </a:solidFill>
                <a:latin typeface="Calibri" pitchFamily="34" charset="0"/>
                <a:ea typeface="Calibri" pitchFamily="34" charset="-122"/>
                <a:cs typeface="Calibri" pitchFamily="34" charset="-120"/>
              </a:rPr>
              <a:t>25,265</a:t>
            </a:r>
            <a:endParaRPr lang="en-US" sz="1150" dirty="0"/>
          </a:p>
        </p:txBody>
      </p:sp>
      <p:sp>
        <p:nvSpPr>
          <p:cNvPr id="56" name="Shape 54"/>
          <p:cNvSpPr/>
          <p:nvPr/>
        </p:nvSpPr>
        <p:spPr>
          <a:xfrm>
            <a:off x="6766560" y="2926080"/>
            <a:ext cx="1280160" cy="457200"/>
          </a:xfrm>
          <a:prstGeom prst="rect">
            <a:avLst/>
          </a:prstGeom>
          <a:solidFill>
            <a:srgbClr val="E3F0FF"/>
          </a:solidFill>
          <a:ln w="6350">
            <a:solidFill>
              <a:srgbClr val="CFD8DC"/>
            </a:solidFill>
            <a:prstDash val="solid"/>
          </a:ln>
        </p:spPr>
        <p:txBody>
          <a:bodyPr/>
          <a:lstStyle/>
          <a:p>
            <a:endParaRPr lang="th-TH"/>
          </a:p>
        </p:txBody>
      </p:sp>
      <p:sp>
        <p:nvSpPr>
          <p:cNvPr id="57" name="Text 55"/>
          <p:cNvSpPr/>
          <p:nvPr/>
        </p:nvSpPr>
        <p:spPr>
          <a:xfrm>
            <a:off x="6812280" y="2944368"/>
            <a:ext cx="1188720" cy="384048"/>
          </a:xfrm>
          <a:prstGeom prst="rect">
            <a:avLst/>
          </a:prstGeom>
          <a:noFill/>
          <a:ln/>
        </p:spPr>
        <p:txBody>
          <a:bodyPr wrap="square" lIns="0" tIns="0" rIns="0" bIns="0" rtlCol="0" anchor="ctr"/>
          <a:lstStyle/>
          <a:p>
            <a:pPr marL="0" indent="0" algn="ctr">
              <a:buNone/>
            </a:pPr>
            <a:r>
              <a:rPr lang="en-US" sz="1150" dirty="0">
                <a:solidFill>
                  <a:srgbClr val="0A2342"/>
                </a:solidFill>
                <a:latin typeface="Calibri" pitchFamily="34" charset="0"/>
                <a:ea typeface="Calibri" pitchFamily="34" charset="-122"/>
                <a:cs typeface="Calibri" pitchFamily="34" charset="-120"/>
              </a:rPr>
              <a:t>0.999</a:t>
            </a:r>
            <a:endParaRPr lang="en-US" sz="1150" dirty="0"/>
          </a:p>
        </p:txBody>
      </p:sp>
      <p:sp>
        <p:nvSpPr>
          <p:cNvPr id="58" name="Shape 56"/>
          <p:cNvSpPr/>
          <p:nvPr/>
        </p:nvSpPr>
        <p:spPr>
          <a:xfrm>
            <a:off x="8046720" y="2926080"/>
            <a:ext cx="822960" cy="457200"/>
          </a:xfrm>
          <a:prstGeom prst="rect">
            <a:avLst/>
          </a:prstGeom>
          <a:solidFill>
            <a:srgbClr val="E3F0FF"/>
          </a:solidFill>
          <a:ln w="6350">
            <a:solidFill>
              <a:srgbClr val="CFD8DC"/>
            </a:solidFill>
            <a:prstDash val="solid"/>
          </a:ln>
        </p:spPr>
        <p:txBody>
          <a:bodyPr/>
          <a:lstStyle/>
          <a:p>
            <a:endParaRPr lang="th-TH"/>
          </a:p>
        </p:txBody>
      </p:sp>
      <p:sp>
        <p:nvSpPr>
          <p:cNvPr id="59" name="Text 57"/>
          <p:cNvSpPr/>
          <p:nvPr/>
        </p:nvSpPr>
        <p:spPr>
          <a:xfrm>
            <a:off x="8092440" y="2944368"/>
            <a:ext cx="731520" cy="384048"/>
          </a:xfrm>
          <a:prstGeom prst="rect">
            <a:avLst/>
          </a:prstGeom>
          <a:noFill/>
          <a:ln/>
        </p:spPr>
        <p:txBody>
          <a:bodyPr wrap="square" lIns="0" tIns="0" rIns="0" bIns="0" rtlCol="0" anchor="ctr"/>
          <a:lstStyle/>
          <a:p>
            <a:pPr marL="0" indent="0" algn="ctr">
              <a:buNone/>
            </a:pPr>
            <a:r>
              <a:rPr lang="en-US" sz="1150" dirty="0">
                <a:solidFill>
                  <a:srgbClr val="0A2342"/>
                </a:solidFill>
                <a:latin typeface="Calibri" pitchFamily="34" charset="0"/>
                <a:ea typeface="Calibri" pitchFamily="34" charset="-122"/>
                <a:cs typeface="Calibri" pitchFamily="34" charset="-120"/>
              </a:rPr>
              <a:t>A</a:t>
            </a:r>
            <a:endParaRPr lang="en-US" sz="1150" dirty="0"/>
          </a:p>
        </p:txBody>
      </p:sp>
      <p:sp>
        <p:nvSpPr>
          <p:cNvPr id="60" name="Shape 58"/>
          <p:cNvSpPr/>
          <p:nvPr/>
        </p:nvSpPr>
        <p:spPr>
          <a:xfrm>
            <a:off x="320040" y="3401568"/>
            <a:ext cx="3246120" cy="457200"/>
          </a:xfrm>
          <a:prstGeom prst="rect">
            <a:avLst/>
          </a:prstGeom>
          <a:solidFill>
            <a:srgbClr val="FFFFFF"/>
          </a:solidFill>
          <a:ln w="6350">
            <a:solidFill>
              <a:srgbClr val="CFD8DC"/>
            </a:solidFill>
            <a:prstDash val="solid"/>
          </a:ln>
        </p:spPr>
        <p:txBody>
          <a:bodyPr/>
          <a:lstStyle/>
          <a:p>
            <a:endParaRPr lang="th-TH"/>
          </a:p>
        </p:txBody>
      </p:sp>
      <p:sp>
        <p:nvSpPr>
          <p:cNvPr id="61" name="Text 59"/>
          <p:cNvSpPr/>
          <p:nvPr/>
        </p:nvSpPr>
        <p:spPr>
          <a:xfrm>
            <a:off x="365760" y="3419856"/>
            <a:ext cx="3154680" cy="384048"/>
          </a:xfrm>
          <a:prstGeom prst="rect">
            <a:avLst/>
          </a:prstGeom>
          <a:noFill/>
          <a:ln/>
        </p:spPr>
        <p:txBody>
          <a:bodyPr wrap="square" lIns="0" tIns="0" rIns="0" bIns="0" rtlCol="0" anchor="ctr"/>
          <a:lstStyle/>
          <a:p>
            <a:pPr marL="0" indent="0" algn="l">
              <a:buNone/>
            </a:pPr>
            <a:r>
              <a:rPr lang="en-US" sz="1100" dirty="0">
                <a:solidFill>
                  <a:srgbClr val="37474F"/>
                </a:solidFill>
                <a:latin typeface="Calibri" pitchFamily="34" charset="0"/>
                <a:ea typeface="Calibri" pitchFamily="34" charset="-122"/>
                <a:cs typeface="Calibri" pitchFamily="34" charset="-120"/>
              </a:rPr>
              <a:t>ARIMA (2,1,2) rolling</a:t>
            </a:r>
            <a:endParaRPr lang="en-US" sz="1100" dirty="0"/>
          </a:p>
        </p:txBody>
      </p:sp>
      <p:sp>
        <p:nvSpPr>
          <p:cNvPr id="62" name="Shape 60"/>
          <p:cNvSpPr/>
          <p:nvPr/>
        </p:nvSpPr>
        <p:spPr>
          <a:xfrm>
            <a:off x="3566160" y="3401568"/>
            <a:ext cx="1600200" cy="457200"/>
          </a:xfrm>
          <a:prstGeom prst="rect">
            <a:avLst/>
          </a:prstGeom>
          <a:solidFill>
            <a:srgbClr val="FFFFFF"/>
          </a:solidFill>
          <a:ln w="6350">
            <a:solidFill>
              <a:srgbClr val="CFD8DC"/>
            </a:solidFill>
            <a:prstDash val="solid"/>
          </a:ln>
        </p:spPr>
        <p:txBody>
          <a:bodyPr/>
          <a:lstStyle/>
          <a:p>
            <a:endParaRPr lang="th-TH"/>
          </a:p>
        </p:txBody>
      </p:sp>
      <p:sp>
        <p:nvSpPr>
          <p:cNvPr id="63" name="Text 61"/>
          <p:cNvSpPr/>
          <p:nvPr/>
        </p:nvSpPr>
        <p:spPr>
          <a:xfrm>
            <a:off x="3611880" y="3419856"/>
            <a:ext cx="1508760" cy="384048"/>
          </a:xfrm>
          <a:prstGeom prst="rect">
            <a:avLst/>
          </a:prstGeom>
          <a:noFill/>
          <a:ln/>
        </p:spPr>
        <p:txBody>
          <a:bodyPr wrap="square" lIns="0" tIns="0" rIns="0" bIns="0" rtlCol="0" anchor="ctr"/>
          <a:lstStyle/>
          <a:p>
            <a:pPr marL="0" indent="0" algn="ctr">
              <a:buNone/>
            </a:pPr>
            <a:r>
              <a:rPr lang="en-US" sz="1100" dirty="0">
                <a:solidFill>
                  <a:srgbClr val="1565C0"/>
                </a:solidFill>
                <a:latin typeface="Calibri" pitchFamily="34" charset="0"/>
                <a:ea typeface="Calibri" pitchFamily="34" charset="-122"/>
                <a:cs typeface="Calibri" pitchFamily="34" charset="-120"/>
              </a:rPr>
              <a:t>19,851</a:t>
            </a:r>
            <a:endParaRPr lang="en-US" sz="1100" dirty="0"/>
          </a:p>
        </p:txBody>
      </p:sp>
      <p:sp>
        <p:nvSpPr>
          <p:cNvPr id="64" name="Shape 62"/>
          <p:cNvSpPr/>
          <p:nvPr/>
        </p:nvSpPr>
        <p:spPr>
          <a:xfrm>
            <a:off x="5166360" y="3401568"/>
            <a:ext cx="1600200" cy="457200"/>
          </a:xfrm>
          <a:prstGeom prst="rect">
            <a:avLst/>
          </a:prstGeom>
          <a:solidFill>
            <a:srgbClr val="FFFFFF"/>
          </a:solidFill>
          <a:ln w="6350">
            <a:solidFill>
              <a:srgbClr val="CFD8DC"/>
            </a:solidFill>
            <a:prstDash val="solid"/>
          </a:ln>
        </p:spPr>
        <p:txBody>
          <a:bodyPr/>
          <a:lstStyle/>
          <a:p>
            <a:endParaRPr lang="th-TH"/>
          </a:p>
        </p:txBody>
      </p:sp>
      <p:sp>
        <p:nvSpPr>
          <p:cNvPr id="65" name="Text 63"/>
          <p:cNvSpPr/>
          <p:nvPr/>
        </p:nvSpPr>
        <p:spPr>
          <a:xfrm>
            <a:off x="5212080" y="3419856"/>
            <a:ext cx="1508760" cy="384048"/>
          </a:xfrm>
          <a:prstGeom prst="rect">
            <a:avLst/>
          </a:prstGeom>
          <a:noFill/>
          <a:ln/>
        </p:spPr>
        <p:txBody>
          <a:bodyPr wrap="square" lIns="0" tIns="0" rIns="0" bIns="0" rtlCol="0" anchor="ctr"/>
          <a:lstStyle/>
          <a:p>
            <a:pPr marL="0" indent="0" algn="ctr">
              <a:buNone/>
            </a:pPr>
            <a:r>
              <a:rPr lang="en-US" sz="1100" dirty="0">
                <a:solidFill>
                  <a:srgbClr val="1565C0"/>
                </a:solidFill>
                <a:latin typeface="Calibri" pitchFamily="34" charset="0"/>
                <a:ea typeface="Calibri" pitchFamily="34" charset="-122"/>
                <a:cs typeface="Calibri" pitchFamily="34" charset="-120"/>
              </a:rPr>
              <a:t>40,844</a:t>
            </a:r>
            <a:endParaRPr lang="en-US" sz="1100" dirty="0"/>
          </a:p>
        </p:txBody>
      </p:sp>
      <p:sp>
        <p:nvSpPr>
          <p:cNvPr id="66" name="Shape 64"/>
          <p:cNvSpPr/>
          <p:nvPr/>
        </p:nvSpPr>
        <p:spPr>
          <a:xfrm>
            <a:off x="6766560" y="3401568"/>
            <a:ext cx="1280160" cy="457200"/>
          </a:xfrm>
          <a:prstGeom prst="rect">
            <a:avLst/>
          </a:prstGeom>
          <a:solidFill>
            <a:srgbClr val="FFFFFF"/>
          </a:solidFill>
          <a:ln w="6350">
            <a:solidFill>
              <a:srgbClr val="CFD8DC"/>
            </a:solidFill>
            <a:prstDash val="solid"/>
          </a:ln>
        </p:spPr>
        <p:txBody>
          <a:bodyPr/>
          <a:lstStyle/>
          <a:p>
            <a:endParaRPr lang="th-TH"/>
          </a:p>
        </p:txBody>
      </p:sp>
      <p:sp>
        <p:nvSpPr>
          <p:cNvPr id="67" name="Text 65"/>
          <p:cNvSpPr/>
          <p:nvPr/>
        </p:nvSpPr>
        <p:spPr>
          <a:xfrm>
            <a:off x="6812280" y="3419856"/>
            <a:ext cx="1188720" cy="384048"/>
          </a:xfrm>
          <a:prstGeom prst="rect">
            <a:avLst/>
          </a:prstGeom>
          <a:noFill/>
          <a:ln/>
        </p:spPr>
        <p:txBody>
          <a:bodyPr wrap="square" lIns="0" tIns="0" rIns="0" bIns="0" rtlCol="0" anchor="ctr"/>
          <a:lstStyle/>
          <a:p>
            <a:pPr marL="0" indent="0" algn="ctr">
              <a:buNone/>
            </a:pPr>
            <a:r>
              <a:rPr lang="en-US" sz="1100" dirty="0">
                <a:solidFill>
                  <a:srgbClr val="1565C0"/>
                </a:solidFill>
                <a:latin typeface="Calibri" pitchFamily="34" charset="0"/>
                <a:ea typeface="Calibri" pitchFamily="34" charset="-122"/>
                <a:cs typeface="Calibri" pitchFamily="34" charset="-120"/>
              </a:rPr>
              <a:t>—</a:t>
            </a:r>
            <a:endParaRPr lang="en-US" sz="1100" dirty="0"/>
          </a:p>
        </p:txBody>
      </p:sp>
      <p:sp>
        <p:nvSpPr>
          <p:cNvPr id="68" name="Shape 66"/>
          <p:cNvSpPr/>
          <p:nvPr/>
        </p:nvSpPr>
        <p:spPr>
          <a:xfrm>
            <a:off x="8046720" y="3401568"/>
            <a:ext cx="822960" cy="457200"/>
          </a:xfrm>
          <a:prstGeom prst="rect">
            <a:avLst/>
          </a:prstGeom>
          <a:solidFill>
            <a:srgbClr val="FFFFFF"/>
          </a:solidFill>
          <a:ln w="6350">
            <a:solidFill>
              <a:srgbClr val="CFD8DC"/>
            </a:solidFill>
            <a:prstDash val="solid"/>
          </a:ln>
        </p:spPr>
        <p:txBody>
          <a:bodyPr/>
          <a:lstStyle/>
          <a:p>
            <a:endParaRPr lang="th-TH"/>
          </a:p>
        </p:txBody>
      </p:sp>
      <p:sp>
        <p:nvSpPr>
          <p:cNvPr id="69" name="Text 67"/>
          <p:cNvSpPr/>
          <p:nvPr/>
        </p:nvSpPr>
        <p:spPr>
          <a:xfrm>
            <a:off x="8092440" y="3419856"/>
            <a:ext cx="731520" cy="384048"/>
          </a:xfrm>
          <a:prstGeom prst="rect">
            <a:avLst/>
          </a:prstGeom>
          <a:noFill/>
          <a:ln/>
        </p:spPr>
        <p:txBody>
          <a:bodyPr wrap="square" lIns="0" tIns="0" rIns="0" bIns="0" rtlCol="0" anchor="ctr"/>
          <a:lstStyle/>
          <a:p>
            <a:pPr marL="0" indent="0" algn="ctr">
              <a:buNone/>
            </a:pPr>
            <a:r>
              <a:rPr lang="en-US" sz="1100" dirty="0">
                <a:solidFill>
                  <a:srgbClr val="1565C0"/>
                </a:solidFill>
                <a:latin typeface="Calibri" pitchFamily="34" charset="0"/>
                <a:ea typeface="Calibri" pitchFamily="34" charset="-122"/>
                <a:cs typeface="Calibri" pitchFamily="34" charset="-120"/>
              </a:rPr>
              <a:t>TS</a:t>
            </a:r>
            <a:endParaRPr lang="en-US" sz="1100" dirty="0"/>
          </a:p>
        </p:txBody>
      </p:sp>
      <p:sp>
        <p:nvSpPr>
          <p:cNvPr id="70" name="Shape 68"/>
          <p:cNvSpPr/>
          <p:nvPr/>
        </p:nvSpPr>
        <p:spPr>
          <a:xfrm>
            <a:off x="320040" y="3877056"/>
            <a:ext cx="3246120" cy="457200"/>
          </a:xfrm>
          <a:prstGeom prst="rect">
            <a:avLst/>
          </a:prstGeom>
          <a:solidFill>
            <a:srgbClr val="ECEFF1"/>
          </a:solidFill>
          <a:ln w="6350">
            <a:solidFill>
              <a:srgbClr val="CFD8DC"/>
            </a:solidFill>
            <a:prstDash val="solid"/>
          </a:ln>
        </p:spPr>
        <p:txBody>
          <a:bodyPr/>
          <a:lstStyle/>
          <a:p>
            <a:endParaRPr lang="th-TH"/>
          </a:p>
        </p:txBody>
      </p:sp>
      <p:sp>
        <p:nvSpPr>
          <p:cNvPr id="71" name="Text 69"/>
          <p:cNvSpPr/>
          <p:nvPr/>
        </p:nvSpPr>
        <p:spPr>
          <a:xfrm>
            <a:off x="365760" y="3895344"/>
            <a:ext cx="3154680" cy="384048"/>
          </a:xfrm>
          <a:prstGeom prst="rect">
            <a:avLst/>
          </a:prstGeom>
          <a:noFill/>
          <a:ln/>
        </p:spPr>
        <p:txBody>
          <a:bodyPr wrap="square" lIns="0" tIns="0" rIns="0" bIns="0" rtlCol="0" anchor="ctr"/>
          <a:lstStyle/>
          <a:p>
            <a:pPr marL="0" indent="0" algn="l">
              <a:buNone/>
            </a:pPr>
            <a:r>
              <a:rPr lang="en-US" sz="1100" dirty="0">
                <a:solidFill>
                  <a:srgbClr val="37474F"/>
                </a:solidFill>
                <a:latin typeface="Calibri" pitchFamily="34" charset="0"/>
                <a:ea typeface="Calibri" pitchFamily="34" charset="-122"/>
                <a:cs typeface="Calibri" pitchFamily="34" charset="-120"/>
              </a:rPr>
              <a:t>LSTM (with lag, 30 epochs)</a:t>
            </a:r>
            <a:endParaRPr lang="en-US" sz="1100" dirty="0"/>
          </a:p>
        </p:txBody>
      </p:sp>
      <p:sp>
        <p:nvSpPr>
          <p:cNvPr id="72" name="Shape 70"/>
          <p:cNvSpPr/>
          <p:nvPr/>
        </p:nvSpPr>
        <p:spPr>
          <a:xfrm>
            <a:off x="3566160" y="3877056"/>
            <a:ext cx="1600200" cy="457200"/>
          </a:xfrm>
          <a:prstGeom prst="rect">
            <a:avLst/>
          </a:prstGeom>
          <a:solidFill>
            <a:srgbClr val="ECEFF1"/>
          </a:solidFill>
          <a:ln w="6350">
            <a:solidFill>
              <a:srgbClr val="CFD8DC"/>
            </a:solidFill>
            <a:prstDash val="solid"/>
          </a:ln>
        </p:spPr>
        <p:txBody>
          <a:bodyPr/>
          <a:lstStyle/>
          <a:p>
            <a:endParaRPr lang="th-TH"/>
          </a:p>
        </p:txBody>
      </p:sp>
      <p:sp>
        <p:nvSpPr>
          <p:cNvPr id="73" name="Text 71"/>
          <p:cNvSpPr/>
          <p:nvPr/>
        </p:nvSpPr>
        <p:spPr>
          <a:xfrm>
            <a:off x="3611880" y="3895344"/>
            <a:ext cx="1508760" cy="384048"/>
          </a:xfrm>
          <a:prstGeom prst="rect">
            <a:avLst/>
          </a:prstGeom>
          <a:noFill/>
          <a:ln/>
        </p:spPr>
        <p:txBody>
          <a:bodyPr wrap="square" lIns="0" tIns="0" rIns="0" bIns="0" rtlCol="0" anchor="ctr"/>
          <a:lstStyle/>
          <a:p>
            <a:pPr marL="0" indent="0" algn="ctr">
              <a:buNone/>
            </a:pPr>
            <a:r>
              <a:rPr lang="en-US" sz="1100" dirty="0">
                <a:solidFill>
                  <a:srgbClr val="1565C0"/>
                </a:solidFill>
                <a:latin typeface="Calibri" pitchFamily="34" charset="0"/>
                <a:ea typeface="Calibri" pitchFamily="34" charset="-122"/>
                <a:cs typeface="Calibri" pitchFamily="34" charset="-120"/>
              </a:rPr>
              <a:t>48,443</a:t>
            </a:r>
            <a:endParaRPr lang="en-US" sz="1100" dirty="0"/>
          </a:p>
        </p:txBody>
      </p:sp>
      <p:sp>
        <p:nvSpPr>
          <p:cNvPr id="74" name="Shape 72"/>
          <p:cNvSpPr/>
          <p:nvPr/>
        </p:nvSpPr>
        <p:spPr>
          <a:xfrm>
            <a:off x="5166360" y="3877056"/>
            <a:ext cx="1600200" cy="457200"/>
          </a:xfrm>
          <a:prstGeom prst="rect">
            <a:avLst/>
          </a:prstGeom>
          <a:solidFill>
            <a:srgbClr val="ECEFF1"/>
          </a:solidFill>
          <a:ln w="6350">
            <a:solidFill>
              <a:srgbClr val="CFD8DC"/>
            </a:solidFill>
            <a:prstDash val="solid"/>
          </a:ln>
        </p:spPr>
        <p:txBody>
          <a:bodyPr/>
          <a:lstStyle/>
          <a:p>
            <a:endParaRPr lang="th-TH"/>
          </a:p>
        </p:txBody>
      </p:sp>
      <p:sp>
        <p:nvSpPr>
          <p:cNvPr id="75" name="Text 73"/>
          <p:cNvSpPr/>
          <p:nvPr/>
        </p:nvSpPr>
        <p:spPr>
          <a:xfrm>
            <a:off x="5212080" y="3895344"/>
            <a:ext cx="1508760" cy="384048"/>
          </a:xfrm>
          <a:prstGeom prst="rect">
            <a:avLst/>
          </a:prstGeom>
          <a:noFill/>
          <a:ln/>
        </p:spPr>
        <p:txBody>
          <a:bodyPr wrap="square" lIns="0" tIns="0" rIns="0" bIns="0" rtlCol="0" anchor="ctr"/>
          <a:lstStyle/>
          <a:p>
            <a:pPr marL="0" indent="0" algn="ctr">
              <a:buNone/>
            </a:pPr>
            <a:r>
              <a:rPr lang="en-US" sz="1100" dirty="0">
                <a:solidFill>
                  <a:srgbClr val="1565C0"/>
                </a:solidFill>
                <a:latin typeface="Calibri" pitchFamily="34" charset="0"/>
                <a:ea typeface="Calibri" pitchFamily="34" charset="-122"/>
                <a:cs typeface="Calibri" pitchFamily="34" charset="-120"/>
              </a:rPr>
              <a:t>62,466</a:t>
            </a:r>
            <a:endParaRPr lang="en-US" sz="1100" dirty="0"/>
          </a:p>
        </p:txBody>
      </p:sp>
      <p:sp>
        <p:nvSpPr>
          <p:cNvPr id="76" name="Shape 74"/>
          <p:cNvSpPr/>
          <p:nvPr/>
        </p:nvSpPr>
        <p:spPr>
          <a:xfrm>
            <a:off x="6766560" y="3877056"/>
            <a:ext cx="1280160" cy="457200"/>
          </a:xfrm>
          <a:prstGeom prst="rect">
            <a:avLst/>
          </a:prstGeom>
          <a:solidFill>
            <a:srgbClr val="ECEFF1"/>
          </a:solidFill>
          <a:ln w="6350">
            <a:solidFill>
              <a:srgbClr val="CFD8DC"/>
            </a:solidFill>
            <a:prstDash val="solid"/>
          </a:ln>
        </p:spPr>
        <p:txBody>
          <a:bodyPr/>
          <a:lstStyle/>
          <a:p>
            <a:endParaRPr lang="th-TH"/>
          </a:p>
        </p:txBody>
      </p:sp>
      <p:sp>
        <p:nvSpPr>
          <p:cNvPr id="77" name="Text 75"/>
          <p:cNvSpPr/>
          <p:nvPr/>
        </p:nvSpPr>
        <p:spPr>
          <a:xfrm>
            <a:off x="6812280" y="3895344"/>
            <a:ext cx="1188720" cy="384048"/>
          </a:xfrm>
          <a:prstGeom prst="rect">
            <a:avLst/>
          </a:prstGeom>
          <a:noFill/>
          <a:ln/>
        </p:spPr>
        <p:txBody>
          <a:bodyPr wrap="square" lIns="0" tIns="0" rIns="0" bIns="0" rtlCol="0" anchor="ctr"/>
          <a:lstStyle/>
          <a:p>
            <a:pPr marL="0" indent="0" algn="ctr">
              <a:buNone/>
            </a:pPr>
            <a:r>
              <a:rPr lang="en-US" sz="1100" dirty="0">
                <a:solidFill>
                  <a:srgbClr val="1565C0"/>
                </a:solidFill>
                <a:latin typeface="Calibri" pitchFamily="34" charset="0"/>
                <a:ea typeface="Calibri" pitchFamily="34" charset="-122"/>
                <a:cs typeface="Calibri" pitchFamily="34" charset="-120"/>
              </a:rPr>
              <a:t>0.995</a:t>
            </a:r>
            <a:endParaRPr lang="en-US" sz="1100" dirty="0"/>
          </a:p>
        </p:txBody>
      </p:sp>
      <p:sp>
        <p:nvSpPr>
          <p:cNvPr id="78" name="Shape 76"/>
          <p:cNvSpPr/>
          <p:nvPr/>
        </p:nvSpPr>
        <p:spPr>
          <a:xfrm>
            <a:off x="8046720" y="3877056"/>
            <a:ext cx="822960" cy="457200"/>
          </a:xfrm>
          <a:prstGeom prst="rect">
            <a:avLst/>
          </a:prstGeom>
          <a:solidFill>
            <a:srgbClr val="ECEFF1"/>
          </a:solidFill>
          <a:ln w="6350">
            <a:solidFill>
              <a:srgbClr val="CFD8DC"/>
            </a:solidFill>
            <a:prstDash val="solid"/>
          </a:ln>
        </p:spPr>
        <p:txBody>
          <a:bodyPr/>
          <a:lstStyle/>
          <a:p>
            <a:endParaRPr lang="th-TH"/>
          </a:p>
        </p:txBody>
      </p:sp>
      <p:sp>
        <p:nvSpPr>
          <p:cNvPr id="79" name="Text 77"/>
          <p:cNvSpPr/>
          <p:nvPr/>
        </p:nvSpPr>
        <p:spPr>
          <a:xfrm>
            <a:off x="8092440" y="3895344"/>
            <a:ext cx="731520" cy="384048"/>
          </a:xfrm>
          <a:prstGeom prst="rect">
            <a:avLst/>
          </a:prstGeom>
          <a:noFill/>
          <a:ln/>
        </p:spPr>
        <p:txBody>
          <a:bodyPr wrap="square" lIns="0" tIns="0" rIns="0" bIns="0" rtlCol="0" anchor="ctr"/>
          <a:lstStyle/>
          <a:p>
            <a:pPr marL="0" indent="0" algn="ctr">
              <a:buNone/>
            </a:pPr>
            <a:r>
              <a:rPr lang="en-US" sz="1100" dirty="0">
                <a:solidFill>
                  <a:srgbClr val="1565C0"/>
                </a:solidFill>
                <a:latin typeface="Calibri" pitchFamily="34" charset="0"/>
                <a:ea typeface="Calibri" pitchFamily="34" charset="-122"/>
                <a:cs typeface="Calibri" pitchFamily="34" charset="-120"/>
              </a:rPr>
              <a:t>TS</a:t>
            </a:r>
            <a:endParaRPr lang="en-US" sz="1100" dirty="0"/>
          </a:p>
        </p:txBody>
      </p:sp>
      <p:sp>
        <p:nvSpPr>
          <p:cNvPr id="80" name="Text 78"/>
          <p:cNvSpPr/>
          <p:nvPr/>
        </p:nvSpPr>
        <p:spPr>
          <a:xfrm>
            <a:off x="320040" y="4736592"/>
            <a:ext cx="8503920" cy="201168"/>
          </a:xfrm>
          <a:prstGeom prst="rect">
            <a:avLst/>
          </a:prstGeom>
          <a:noFill/>
          <a:ln/>
        </p:spPr>
        <p:txBody>
          <a:bodyPr wrap="square" lIns="0" tIns="0" rIns="0" bIns="0" rtlCol="0" anchor="ctr"/>
          <a:lstStyle/>
          <a:p>
            <a:pPr marL="0" indent="0">
              <a:buNone/>
            </a:pPr>
            <a:r>
              <a:rPr lang="en-US" sz="900" i="1" dirty="0">
                <a:solidFill>
                  <a:srgbClr val="607D8B"/>
                </a:solidFill>
                <a:latin typeface="Calibri" pitchFamily="34" charset="0"/>
                <a:ea typeface="Calibri" pitchFamily="34" charset="-122"/>
                <a:cs typeface="Calibri" pitchFamily="34" charset="-120"/>
              </a:rPr>
              <a:t>Group A = with lag features  ·  Group B = calendar features only  ·  TS = time series  ·  ★ best overall model</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A2342"/>
          </a:solidFill>
          <a:ln/>
        </p:spPr>
        <p:txBody>
          <a:bodyPr/>
          <a:lstStyle/>
          <a:p>
            <a:endParaRPr lang="th-TH"/>
          </a:p>
        </p:txBody>
      </p:sp>
      <p:sp>
        <p:nvSpPr>
          <p:cNvPr id="3" name="Shape 1"/>
          <p:cNvSpPr/>
          <p:nvPr/>
        </p:nvSpPr>
        <p:spPr>
          <a:xfrm>
            <a:off x="0" y="960120"/>
            <a:ext cx="9144000" cy="41148"/>
          </a:xfrm>
          <a:prstGeom prst="rect">
            <a:avLst/>
          </a:prstGeom>
          <a:solidFill>
            <a:srgbClr val="1976D2"/>
          </a:solidFill>
          <a:ln/>
        </p:spPr>
        <p:txBody>
          <a:bodyPr/>
          <a:lstStyle/>
          <a:p>
            <a:endParaRPr lang="th-TH"/>
          </a:p>
        </p:txBody>
      </p:sp>
      <p:sp>
        <p:nvSpPr>
          <p:cNvPr id="4" name="Text 2"/>
          <p:cNvSpPr/>
          <p:nvPr/>
        </p:nvSpPr>
        <p:spPr>
          <a:xfrm>
            <a:off x="411480" y="91440"/>
            <a:ext cx="7955280" cy="502920"/>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Model Performance — Visual Breakdown</a:t>
            </a:r>
            <a:endParaRPr lang="en-US" sz="2000" dirty="0"/>
          </a:p>
        </p:txBody>
      </p:sp>
      <p:sp>
        <p:nvSpPr>
          <p:cNvPr id="5" name="Text 3"/>
          <p:cNvSpPr/>
          <p:nvPr/>
        </p:nvSpPr>
        <p:spPr>
          <a:xfrm>
            <a:off x="411480" y="576072"/>
            <a:ext cx="8046720" cy="320040"/>
          </a:xfrm>
          <a:prstGeom prst="rect">
            <a:avLst/>
          </a:prstGeom>
          <a:noFill/>
          <a:ln/>
        </p:spPr>
        <p:txBody>
          <a:bodyPr wrap="square" lIns="0" tIns="0" rIns="0" bIns="0" rtlCol="0" anchor="ctr"/>
          <a:lstStyle/>
          <a:p>
            <a:pPr marL="0" indent="0">
              <a:buNone/>
            </a:pPr>
            <a:r>
              <a:rPr lang="en-US" sz="1100" dirty="0">
                <a:solidFill>
                  <a:srgbClr val="BBDEFB"/>
                </a:solidFill>
                <a:latin typeface="Calibri" pitchFamily="34" charset="0"/>
                <a:ea typeface="Calibri" pitchFamily="34" charset="-122"/>
                <a:cs typeface="Calibri" pitchFamily="34" charset="-120"/>
              </a:rPr>
              <a:t>R² comparison across all regression models · feature importance (Random Forest, no-lag group)</a:t>
            </a:r>
            <a:endParaRPr lang="en-US" sz="1100" dirty="0"/>
          </a:p>
        </p:txBody>
      </p:sp>
      <p:sp>
        <p:nvSpPr>
          <p:cNvPr id="6" name="Shape 4"/>
          <p:cNvSpPr/>
          <p:nvPr/>
        </p:nvSpPr>
        <p:spPr>
          <a:xfrm>
            <a:off x="8641080" y="201168"/>
            <a:ext cx="347472" cy="347472"/>
          </a:xfrm>
          <a:prstGeom prst="ellipse">
            <a:avLst/>
          </a:prstGeom>
          <a:solidFill>
            <a:srgbClr val="1976D2"/>
          </a:solidFill>
          <a:ln/>
        </p:spPr>
        <p:txBody>
          <a:bodyPr/>
          <a:lstStyle/>
          <a:p>
            <a:endParaRPr lang="th-TH"/>
          </a:p>
        </p:txBody>
      </p:sp>
      <p:sp>
        <p:nvSpPr>
          <p:cNvPr id="7" name="Shape 5"/>
          <p:cNvSpPr/>
          <p:nvPr/>
        </p:nvSpPr>
        <p:spPr>
          <a:xfrm>
            <a:off x="0" y="4850892"/>
            <a:ext cx="9144000" cy="292608"/>
          </a:xfrm>
          <a:prstGeom prst="rect">
            <a:avLst/>
          </a:prstGeom>
          <a:solidFill>
            <a:srgbClr val="E3F0FF"/>
          </a:solidFill>
          <a:ln/>
        </p:spPr>
        <p:txBody>
          <a:bodyPr/>
          <a:lstStyle/>
          <a:p>
            <a:endParaRPr lang="th-TH"/>
          </a:p>
        </p:txBody>
      </p:sp>
      <p:sp>
        <p:nvSpPr>
          <p:cNvPr id="8" name="Text 6"/>
          <p:cNvSpPr/>
          <p:nvPr/>
        </p:nvSpPr>
        <p:spPr>
          <a:xfrm>
            <a:off x="320040" y="4869180"/>
            <a:ext cx="7315200" cy="256032"/>
          </a:xfrm>
          <a:prstGeom prst="rect">
            <a:avLst/>
          </a:prstGeom>
          <a:noFill/>
          <a:ln/>
        </p:spPr>
        <p:txBody>
          <a:bodyPr wrap="square" lIns="0" tIns="0" rIns="0" bIns="0" rtlCol="0" anchor="ctr"/>
          <a:lstStyle/>
          <a:p>
            <a:pPr marL="0" indent="0">
              <a:buNone/>
            </a:pPr>
            <a:r>
              <a:rPr lang="en-US" sz="850" dirty="0">
                <a:solidFill>
                  <a:srgbClr val="607D8B"/>
                </a:solidFill>
                <a:latin typeface="Calibri" pitchFamily="34" charset="0"/>
                <a:ea typeface="Calibri" pitchFamily="34" charset="-122"/>
                <a:cs typeface="Calibri" pitchFamily="34" charset="-120"/>
              </a:rPr>
              <a:t>FlowShift  |  Urban Traffic &amp; Transit Demand — Los Angeles 2021</a:t>
            </a:r>
            <a:endParaRPr lang="en-US" sz="850" dirty="0"/>
          </a:p>
        </p:txBody>
      </p:sp>
      <p:sp>
        <p:nvSpPr>
          <p:cNvPr id="9" name="Text 7"/>
          <p:cNvSpPr/>
          <p:nvPr/>
        </p:nvSpPr>
        <p:spPr>
          <a:xfrm>
            <a:off x="8503920" y="4869180"/>
            <a:ext cx="502920" cy="256032"/>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11 / 15</a:t>
            </a:r>
            <a:endParaRPr lang="en-US" sz="850" dirty="0"/>
          </a:p>
        </p:txBody>
      </p:sp>
      <p:sp>
        <p:nvSpPr>
          <p:cNvPr id="10" name="Text 8"/>
          <p:cNvSpPr/>
          <p:nvPr/>
        </p:nvSpPr>
        <p:spPr>
          <a:xfrm>
            <a:off x="320040" y="1051560"/>
            <a:ext cx="4114800" cy="274320"/>
          </a:xfrm>
          <a:prstGeom prst="rect">
            <a:avLst/>
          </a:prstGeom>
          <a:noFill/>
          <a:ln/>
        </p:spPr>
        <p:txBody>
          <a:bodyPr wrap="square" lIns="0" tIns="0" rIns="0" bIns="0" rtlCol="0" anchor="ctr"/>
          <a:lstStyle/>
          <a:p>
            <a:pPr marL="0" indent="0">
              <a:buNone/>
            </a:pPr>
            <a:r>
              <a:rPr lang="en-US" sz="1150" b="1" dirty="0">
                <a:solidFill>
                  <a:srgbClr val="0A2342"/>
                </a:solidFill>
                <a:latin typeface="Calibri" pitchFamily="34" charset="0"/>
                <a:ea typeface="Calibri" pitchFamily="34" charset="-122"/>
                <a:cs typeface="Calibri" pitchFamily="34" charset="-120"/>
              </a:rPr>
              <a:t>R² Score Comparison</a:t>
            </a:r>
            <a:endParaRPr lang="en-US" sz="1150" dirty="0"/>
          </a:p>
        </p:txBody>
      </p:sp>
      <p:graphicFrame>
        <p:nvGraphicFramePr>
          <p:cNvPr id="11" name="Chart 0"/>
          <p:cNvGraphicFramePr/>
          <p:nvPr/>
        </p:nvGraphicFramePr>
        <p:xfrm>
          <a:off x="320040" y="1353312"/>
          <a:ext cx="4114800" cy="3456432"/>
        </p:xfrm>
        <a:graphic>
          <a:graphicData uri="http://schemas.openxmlformats.org/drawingml/2006/chart">
            <c:chart xmlns:c="http://schemas.openxmlformats.org/drawingml/2006/chart" xmlns:r="http://schemas.openxmlformats.org/officeDocument/2006/relationships" r:id="rId3"/>
          </a:graphicData>
        </a:graphic>
      </p:graphicFrame>
      <p:sp>
        <p:nvSpPr>
          <p:cNvPr id="12" name="Shape 9"/>
          <p:cNvSpPr/>
          <p:nvPr/>
        </p:nvSpPr>
        <p:spPr>
          <a:xfrm>
            <a:off x="4663440" y="1051560"/>
            <a:ext cx="27432" cy="3794760"/>
          </a:xfrm>
          <a:prstGeom prst="rect">
            <a:avLst/>
          </a:prstGeom>
          <a:solidFill>
            <a:srgbClr val="CFD8DC"/>
          </a:solidFill>
          <a:ln/>
        </p:spPr>
        <p:txBody>
          <a:bodyPr/>
          <a:lstStyle/>
          <a:p>
            <a:endParaRPr lang="th-TH"/>
          </a:p>
        </p:txBody>
      </p:sp>
      <p:sp>
        <p:nvSpPr>
          <p:cNvPr id="13" name="Text 10"/>
          <p:cNvSpPr/>
          <p:nvPr/>
        </p:nvSpPr>
        <p:spPr>
          <a:xfrm>
            <a:off x="4800600" y="1051560"/>
            <a:ext cx="4114800" cy="274320"/>
          </a:xfrm>
          <a:prstGeom prst="rect">
            <a:avLst/>
          </a:prstGeom>
          <a:noFill/>
          <a:ln/>
        </p:spPr>
        <p:txBody>
          <a:bodyPr wrap="square" lIns="0" tIns="0" rIns="0" bIns="0" rtlCol="0" anchor="ctr"/>
          <a:lstStyle/>
          <a:p>
            <a:pPr marL="0" indent="0">
              <a:buNone/>
            </a:pPr>
            <a:r>
              <a:rPr lang="en-US" sz="1150" b="1" dirty="0">
                <a:solidFill>
                  <a:srgbClr val="0A2342"/>
                </a:solidFill>
                <a:latin typeface="Calibri" pitchFamily="34" charset="0"/>
                <a:ea typeface="Calibri" pitchFamily="34" charset="-122"/>
                <a:cs typeface="Calibri" pitchFamily="34" charset="-120"/>
              </a:rPr>
              <a:t>Feature Importance  (RF no-lag)</a:t>
            </a:r>
            <a:endParaRPr lang="en-US" sz="1150" dirty="0"/>
          </a:p>
        </p:txBody>
      </p:sp>
      <p:graphicFrame>
        <p:nvGraphicFramePr>
          <p:cNvPr id="14" name="Chart 1"/>
          <p:cNvGraphicFramePr/>
          <p:nvPr/>
        </p:nvGraphicFramePr>
        <p:xfrm>
          <a:off x="4800600" y="1353312"/>
          <a:ext cx="4114800" cy="3456432"/>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A2342"/>
          </a:solidFill>
          <a:ln/>
        </p:spPr>
        <p:txBody>
          <a:bodyPr/>
          <a:lstStyle/>
          <a:p>
            <a:endParaRPr lang="th-TH"/>
          </a:p>
        </p:txBody>
      </p:sp>
      <p:sp>
        <p:nvSpPr>
          <p:cNvPr id="3" name="Shape 1"/>
          <p:cNvSpPr/>
          <p:nvPr/>
        </p:nvSpPr>
        <p:spPr>
          <a:xfrm>
            <a:off x="0" y="960120"/>
            <a:ext cx="9144000" cy="41148"/>
          </a:xfrm>
          <a:prstGeom prst="rect">
            <a:avLst/>
          </a:prstGeom>
          <a:solidFill>
            <a:srgbClr val="1976D2"/>
          </a:solidFill>
          <a:ln/>
        </p:spPr>
        <p:txBody>
          <a:bodyPr/>
          <a:lstStyle/>
          <a:p>
            <a:endParaRPr lang="th-TH"/>
          </a:p>
        </p:txBody>
      </p:sp>
      <p:sp>
        <p:nvSpPr>
          <p:cNvPr id="4" name="Text 2"/>
          <p:cNvSpPr/>
          <p:nvPr/>
        </p:nvSpPr>
        <p:spPr>
          <a:xfrm>
            <a:off x="411480" y="91440"/>
            <a:ext cx="7955280" cy="502920"/>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Classification — Congestion Detection</a:t>
            </a:r>
            <a:endParaRPr lang="en-US" sz="2000" dirty="0"/>
          </a:p>
        </p:txBody>
      </p:sp>
      <p:sp>
        <p:nvSpPr>
          <p:cNvPr id="5" name="Text 3"/>
          <p:cNvSpPr/>
          <p:nvPr/>
        </p:nvSpPr>
        <p:spPr>
          <a:xfrm>
            <a:off x="411480" y="576072"/>
            <a:ext cx="8046720" cy="320040"/>
          </a:xfrm>
          <a:prstGeom prst="rect">
            <a:avLst/>
          </a:prstGeom>
          <a:noFill/>
          <a:ln/>
        </p:spPr>
        <p:txBody>
          <a:bodyPr wrap="square" lIns="0" tIns="0" rIns="0" bIns="0" rtlCol="0" anchor="ctr"/>
          <a:lstStyle/>
          <a:p>
            <a:pPr marL="0" indent="0">
              <a:buNone/>
            </a:pPr>
            <a:r>
              <a:rPr lang="en-US" sz="1100" dirty="0">
                <a:solidFill>
                  <a:srgbClr val="BBDEFB"/>
                </a:solidFill>
                <a:latin typeface="Calibri" pitchFamily="34" charset="0"/>
                <a:ea typeface="Calibri" pitchFamily="34" charset="-122"/>
                <a:cs typeface="Calibri" pitchFamily="34" charset="-120"/>
              </a:rPr>
              <a:t>Predicting congested vs. free-flow using calendar features only (no lag)</a:t>
            </a:r>
            <a:endParaRPr lang="en-US" sz="1100" dirty="0"/>
          </a:p>
        </p:txBody>
      </p:sp>
      <p:sp>
        <p:nvSpPr>
          <p:cNvPr id="6" name="Shape 4"/>
          <p:cNvSpPr/>
          <p:nvPr/>
        </p:nvSpPr>
        <p:spPr>
          <a:xfrm>
            <a:off x="8641080" y="201168"/>
            <a:ext cx="347472" cy="347472"/>
          </a:xfrm>
          <a:prstGeom prst="ellipse">
            <a:avLst/>
          </a:prstGeom>
          <a:solidFill>
            <a:srgbClr val="1976D2"/>
          </a:solidFill>
          <a:ln/>
        </p:spPr>
        <p:txBody>
          <a:bodyPr/>
          <a:lstStyle/>
          <a:p>
            <a:endParaRPr lang="th-TH"/>
          </a:p>
        </p:txBody>
      </p:sp>
      <p:sp>
        <p:nvSpPr>
          <p:cNvPr id="7" name="Shape 5"/>
          <p:cNvSpPr/>
          <p:nvPr/>
        </p:nvSpPr>
        <p:spPr>
          <a:xfrm>
            <a:off x="0" y="4850892"/>
            <a:ext cx="9144000" cy="292608"/>
          </a:xfrm>
          <a:prstGeom prst="rect">
            <a:avLst/>
          </a:prstGeom>
          <a:solidFill>
            <a:srgbClr val="E3F0FF"/>
          </a:solidFill>
          <a:ln/>
        </p:spPr>
        <p:txBody>
          <a:bodyPr/>
          <a:lstStyle/>
          <a:p>
            <a:endParaRPr lang="th-TH"/>
          </a:p>
        </p:txBody>
      </p:sp>
      <p:sp>
        <p:nvSpPr>
          <p:cNvPr id="8" name="Text 6"/>
          <p:cNvSpPr/>
          <p:nvPr/>
        </p:nvSpPr>
        <p:spPr>
          <a:xfrm>
            <a:off x="320040" y="4869180"/>
            <a:ext cx="7315200" cy="256032"/>
          </a:xfrm>
          <a:prstGeom prst="rect">
            <a:avLst/>
          </a:prstGeom>
          <a:noFill/>
          <a:ln/>
        </p:spPr>
        <p:txBody>
          <a:bodyPr wrap="square" lIns="0" tIns="0" rIns="0" bIns="0" rtlCol="0" anchor="ctr"/>
          <a:lstStyle/>
          <a:p>
            <a:pPr marL="0" indent="0">
              <a:buNone/>
            </a:pPr>
            <a:r>
              <a:rPr lang="en-US" sz="850" dirty="0">
                <a:solidFill>
                  <a:srgbClr val="607D8B"/>
                </a:solidFill>
                <a:latin typeface="Calibri" pitchFamily="34" charset="0"/>
                <a:ea typeface="Calibri" pitchFamily="34" charset="-122"/>
                <a:cs typeface="Calibri" pitchFamily="34" charset="-120"/>
              </a:rPr>
              <a:t>FlowShift  |  Urban Traffic &amp; Transit Demand — Los Angeles 2021</a:t>
            </a:r>
            <a:endParaRPr lang="en-US" sz="850" dirty="0"/>
          </a:p>
        </p:txBody>
      </p:sp>
      <p:sp>
        <p:nvSpPr>
          <p:cNvPr id="9" name="Text 7"/>
          <p:cNvSpPr/>
          <p:nvPr/>
        </p:nvSpPr>
        <p:spPr>
          <a:xfrm>
            <a:off x="8503920" y="4869180"/>
            <a:ext cx="502920" cy="256032"/>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12 / 15</a:t>
            </a:r>
            <a:endParaRPr lang="en-US" sz="850" dirty="0"/>
          </a:p>
        </p:txBody>
      </p:sp>
      <p:sp>
        <p:nvSpPr>
          <p:cNvPr id="10" name="Shape 8"/>
          <p:cNvSpPr/>
          <p:nvPr/>
        </p:nvSpPr>
        <p:spPr>
          <a:xfrm>
            <a:off x="2834640" y="1115568"/>
            <a:ext cx="5989320" cy="365760"/>
          </a:xfrm>
          <a:prstGeom prst="rect">
            <a:avLst/>
          </a:prstGeom>
          <a:solidFill>
            <a:srgbClr val="0A2342"/>
          </a:solidFill>
          <a:ln/>
        </p:spPr>
        <p:txBody>
          <a:bodyPr/>
          <a:lstStyle/>
          <a:p>
            <a:endParaRPr lang="th-TH"/>
          </a:p>
        </p:txBody>
      </p:sp>
      <p:sp>
        <p:nvSpPr>
          <p:cNvPr id="11" name="Text 9"/>
          <p:cNvSpPr/>
          <p:nvPr/>
        </p:nvSpPr>
        <p:spPr>
          <a:xfrm>
            <a:off x="2834640" y="1115568"/>
            <a:ext cx="1197864" cy="36576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Accuracy</a:t>
            </a:r>
            <a:endParaRPr lang="en-US" sz="1050" dirty="0"/>
          </a:p>
        </p:txBody>
      </p:sp>
      <p:sp>
        <p:nvSpPr>
          <p:cNvPr id="12" name="Text 10"/>
          <p:cNvSpPr/>
          <p:nvPr/>
        </p:nvSpPr>
        <p:spPr>
          <a:xfrm>
            <a:off x="4032504" y="1115568"/>
            <a:ext cx="1197864" cy="36576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Precision</a:t>
            </a:r>
            <a:endParaRPr lang="en-US" sz="1050" dirty="0"/>
          </a:p>
        </p:txBody>
      </p:sp>
      <p:sp>
        <p:nvSpPr>
          <p:cNvPr id="13" name="Text 11"/>
          <p:cNvSpPr/>
          <p:nvPr/>
        </p:nvSpPr>
        <p:spPr>
          <a:xfrm>
            <a:off x="5230368" y="1115568"/>
            <a:ext cx="1197864" cy="36576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Recall</a:t>
            </a:r>
            <a:endParaRPr lang="en-US" sz="1050" dirty="0"/>
          </a:p>
        </p:txBody>
      </p:sp>
      <p:sp>
        <p:nvSpPr>
          <p:cNvPr id="14" name="Text 12"/>
          <p:cNvSpPr/>
          <p:nvPr/>
        </p:nvSpPr>
        <p:spPr>
          <a:xfrm>
            <a:off x="6428232" y="1115568"/>
            <a:ext cx="1197864" cy="36576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F1 Score</a:t>
            </a:r>
            <a:endParaRPr lang="en-US" sz="1050" dirty="0"/>
          </a:p>
        </p:txBody>
      </p:sp>
      <p:sp>
        <p:nvSpPr>
          <p:cNvPr id="15" name="Text 13"/>
          <p:cNvSpPr/>
          <p:nvPr/>
        </p:nvSpPr>
        <p:spPr>
          <a:xfrm>
            <a:off x="7626096" y="1115568"/>
            <a:ext cx="1197864" cy="36576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AUC-ROC</a:t>
            </a:r>
            <a:endParaRPr lang="en-US" sz="1050" dirty="0"/>
          </a:p>
        </p:txBody>
      </p:sp>
      <p:sp>
        <p:nvSpPr>
          <p:cNvPr id="16" name="Shape 14"/>
          <p:cNvSpPr/>
          <p:nvPr/>
        </p:nvSpPr>
        <p:spPr>
          <a:xfrm>
            <a:off x="320040" y="1572768"/>
            <a:ext cx="2468880" cy="804672"/>
          </a:xfrm>
          <a:prstGeom prst="rect">
            <a:avLst/>
          </a:prstGeom>
          <a:solidFill>
            <a:srgbClr val="1565C0"/>
          </a:solidFill>
          <a:ln/>
        </p:spPr>
        <p:txBody>
          <a:bodyPr/>
          <a:lstStyle/>
          <a:p>
            <a:endParaRPr lang="th-TH"/>
          </a:p>
        </p:txBody>
      </p:sp>
      <p:sp>
        <p:nvSpPr>
          <p:cNvPr id="17" name="Text 15"/>
          <p:cNvSpPr/>
          <p:nvPr/>
        </p:nvSpPr>
        <p:spPr>
          <a:xfrm>
            <a:off x="384048" y="1664208"/>
            <a:ext cx="2340864"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Decision Tree</a:t>
            </a:r>
            <a:endParaRPr lang="en-US" sz="1300" dirty="0"/>
          </a:p>
        </p:txBody>
      </p:sp>
      <p:sp>
        <p:nvSpPr>
          <p:cNvPr id="18" name="Text 16"/>
          <p:cNvSpPr/>
          <p:nvPr/>
        </p:nvSpPr>
        <p:spPr>
          <a:xfrm>
            <a:off x="384048" y="2029968"/>
            <a:ext cx="2340864" cy="256032"/>
          </a:xfrm>
          <a:prstGeom prst="rect">
            <a:avLst/>
          </a:prstGeom>
          <a:noFill/>
          <a:ln/>
        </p:spPr>
        <p:txBody>
          <a:bodyPr wrap="square" lIns="0" tIns="0" rIns="0" bIns="0" rtlCol="0" anchor="ctr"/>
          <a:lstStyle/>
          <a:p>
            <a:pPr marL="0" indent="0" algn="ctr">
              <a:buNone/>
            </a:pPr>
            <a:r>
              <a:rPr lang="en-US" sz="1000" dirty="0">
                <a:solidFill>
                  <a:srgbClr val="BBDEFB"/>
                </a:solidFill>
                <a:latin typeface="Calibri" pitchFamily="34" charset="0"/>
                <a:ea typeface="Calibri" pitchFamily="34" charset="-122"/>
                <a:cs typeface="Calibri" pitchFamily="34" charset="-120"/>
              </a:rPr>
              <a:t>max depth = 8</a:t>
            </a:r>
            <a:endParaRPr lang="en-US" sz="1000" dirty="0"/>
          </a:p>
        </p:txBody>
      </p:sp>
      <p:sp>
        <p:nvSpPr>
          <p:cNvPr id="19" name="Shape 17"/>
          <p:cNvSpPr/>
          <p:nvPr/>
        </p:nvSpPr>
        <p:spPr>
          <a:xfrm>
            <a:off x="2834640" y="1572768"/>
            <a:ext cx="1197864" cy="804672"/>
          </a:xfrm>
          <a:prstGeom prst="rect">
            <a:avLst/>
          </a:prstGeom>
          <a:solidFill>
            <a:srgbClr val="E3F0FF"/>
          </a:solidFill>
          <a:ln w="6350">
            <a:solidFill>
              <a:srgbClr val="CFD8DC"/>
            </a:solidFill>
            <a:prstDash val="solid"/>
          </a:ln>
        </p:spPr>
        <p:txBody>
          <a:bodyPr/>
          <a:lstStyle/>
          <a:p>
            <a:endParaRPr lang="th-TH"/>
          </a:p>
        </p:txBody>
      </p:sp>
      <p:sp>
        <p:nvSpPr>
          <p:cNvPr id="20" name="Text 18"/>
          <p:cNvSpPr/>
          <p:nvPr/>
        </p:nvSpPr>
        <p:spPr>
          <a:xfrm>
            <a:off x="2834640" y="1572768"/>
            <a:ext cx="1197864" cy="804672"/>
          </a:xfrm>
          <a:prstGeom prst="rect">
            <a:avLst/>
          </a:prstGeom>
          <a:noFill/>
          <a:ln/>
        </p:spPr>
        <p:txBody>
          <a:bodyPr wrap="square" lIns="0" tIns="0" rIns="0" bIns="0" rtlCol="0" anchor="ctr"/>
          <a:lstStyle/>
          <a:p>
            <a:pPr marL="0" indent="0" algn="ctr">
              <a:buNone/>
            </a:pPr>
            <a:r>
              <a:rPr lang="en-US" sz="1300" dirty="0">
                <a:solidFill>
                  <a:srgbClr val="37474F"/>
                </a:solidFill>
                <a:latin typeface="Calibri" pitchFamily="34" charset="0"/>
                <a:ea typeface="Calibri" pitchFamily="34" charset="-122"/>
                <a:cs typeface="Calibri" pitchFamily="34" charset="-120"/>
              </a:rPr>
              <a:t>90.8%</a:t>
            </a:r>
            <a:endParaRPr lang="en-US" sz="1300" dirty="0"/>
          </a:p>
        </p:txBody>
      </p:sp>
      <p:sp>
        <p:nvSpPr>
          <p:cNvPr id="21" name="Shape 19"/>
          <p:cNvSpPr/>
          <p:nvPr/>
        </p:nvSpPr>
        <p:spPr>
          <a:xfrm>
            <a:off x="4032504" y="1572768"/>
            <a:ext cx="1197864" cy="804672"/>
          </a:xfrm>
          <a:prstGeom prst="rect">
            <a:avLst/>
          </a:prstGeom>
          <a:solidFill>
            <a:srgbClr val="E3F0FF"/>
          </a:solidFill>
          <a:ln w="6350">
            <a:solidFill>
              <a:srgbClr val="CFD8DC"/>
            </a:solidFill>
            <a:prstDash val="solid"/>
          </a:ln>
        </p:spPr>
        <p:txBody>
          <a:bodyPr/>
          <a:lstStyle/>
          <a:p>
            <a:endParaRPr lang="th-TH"/>
          </a:p>
        </p:txBody>
      </p:sp>
      <p:sp>
        <p:nvSpPr>
          <p:cNvPr id="22" name="Text 20"/>
          <p:cNvSpPr/>
          <p:nvPr/>
        </p:nvSpPr>
        <p:spPr>
          <a:xfrm>
            <a:off x="4032504" y="1572768"/>
            <a:ext cx="1197864" cy="804672"/>
          </a:xfrm>
          <a:prstGeom prst="rect">
            <a:avLst/>
          </a:prstGeom>
          <a:noFill/>
          <a:ln/>
        </p:spPr>
        <p:txBody>
          <a:bodyPr wrap="square" lIns="0" tIns="0" rIns="0" bIns="0" rtlCol="0" anchor="ctr"/>
          <a:lstStyle/>
          <a:p>
            <a:pPr marL="0" indent="0" algn="ctr">
              <a:buNone/>
            </a:pPr>
            <a:r>
              <a:rPr lang="en-US" sz="1300" dirty="0">
                <a:solidFill>
                  <a:srgbClr val="37474F"/>
                </a:solidFill>
                <a:latin typeface="Calibri" pitchFamily="34" charset="0"/>
                <a:ea typeface="Calibri" pitchFamily="34" charset="-122"/>
                <a:cs typeface="Calibri" pitchFamily="34" charset="-120"/>
              </a:rPr>
              <a:t>76.3%</a:t>
            </a:r>
            <a:endParaRPr lang="en-US" sz="1300" dirty="0"/>
          </a:p>
        </p:txBody>
      </p:sp>
      <p:sp>
        <p:nvSpPr>
          <p:cNvPr id="23" name="Shape 21"/>
          <p:cNvSpPr/>
          <p:nvPr/>
        </p:nvSpPr>
        <p:spPr>
          <a:xfrm>
            <a:off x="5230368" y="1572768"/>
            <a:ext cx="1197864" cy="804672"/>
          </a:xfrm>
          <a:prstGeom prst="rect">
            <a:avLst/>
          </a:prstGeom>
          <a:solidFill>
            <a:srgbClr val="E3F0FF"/>
          </a:solidFill>
          <a:ln w="6350">
            <a:solidFill>
              <a:srgbClr val="CFD8DC"/>
            </a:solidFill>
            <a:prstDash val="solid"/>
          </a:ln>
        </p:spPr>
        <p:txBody>
          <a:bodyPr/>
          <a:lstStyle/>
          <a:p>
            <a:endParaRPr lang="th-TH"/>
          </a:p>
        </p:txBody>
      </p:sp>
      <p:sp>
        <p:nvSpPr>
          <p:cNvPr id="24" name="Text 22"/>
          <p:cNvSpPr/>
          <p:nvPr/>
        </p:nvSpPr>
        <p:spPr>
          <a:xfrm>
            <a:off x="5230368" y="1572768"/>
            <a:ext cx="1197864" cy="804672"/>
          </a:xfrm>
          <a:prstGeom prst="rect">
            <a:avLst/>
          </a:prstGeom>
          <a:noFill/>
          <a:ln/>
        </p:spPr>
        <p:txBody>
          <a:bodyPr wrap="square" lIns="0" tIns="0" rIns="0" bIns="0" rtlCol="0" anchor="ctr"/>
          <a:lstStyle/>
          <a:p>
            <a:pPr marL="0" indent="0" algn="ctr">
              <a:buNone/>
            </a:pPr>
            <a:r>
              <a:rPr lang="en-US" sz="1300" dirty="0">
                <a:solidFill>
                  <a:srgbClr val="37474F"/>
                </a:solidFill>
                <a:latin typeface="Calibri" pitchFamily="34" charset="0"/>
                <a:ea typeface="Calibri" pitchFamily="34" charset="-122"/>
                <a:cs typeface="Calibri" pitchFamily="34" charset="-120"/>
              </a:rPr>
              <a:t>91.5%</a:t>
            </a:r>
            <a:endParaRPr lang="en-US" sz="1300" dirty="0"/>
          </a:p>
        </p:txBody>
      </p:sp>
      <p:sp>
        <p:nvSpPr>
          <p:cNvPr id="25" name="Shape 23"/>
          <p:cNvSpPr/>
          <p:nvPr/>
        </p:nvSpPr>
        <p:spPr>
          <a:xfrm>
            <a:off x="6428232" y="1572768"/>
            <a:ext cx="1197864" cy="804672"/>
          </a:xfrm>
          <a:prstGeom prst="rect">
            <a:avLst/>
          </a:prstGeom>
          <a:solidFill>
            <a:srgbClr val="E3F0FF"/>
          </a:solidFill>
          <a:ln w="6350">
            <a:solidFill>
              <a:srgbClr val="CFD8DC"/>
            </a:solidFill>
            <a:prstDash val="solid"/>
          </a:ln>
        </p:spPr>
        <p:txBody>
          <a:bodyPr/>
          <a:lstStyle/>
          <a:p>
            <a:endParaRPr lang="th-TH"/>
          </a:p>
        </p:txBody>
      </p:sp>
      <p:sp>
        <p:nvSpPr>
          <p:cNvPr id="26" name="Text 24"/>
          <p:cNvSpPr/>
          <p:nvPr/>
        </p:nvSpPr>
        <p:spPr>
          <a:xfrm>
            <a:off x="6428232" y="1572768"/>
            <a:ext cx="1197864" cy="804672"/>
          </a:xfrm>
          <a:prstGeom prst="rect">
            <a:avLst/>
          </a:prstGeom>
          <a:noFill/>
          <a:ln/>
        </p:spPr>
        <p:txBody>
          <a:bodyPr wrap="square" lIns="0" tIns="0" rIns="0" bIns="0" rtlCol="0" anchor="ctr"/>
          <a:lstStyle/>
          <a:p>
            <a:pPr marL="0" indent="0" algn="ctr">
              <a:buNone/>
            </a:pPr>
            <a:r>
              <a:rPr lang="en-US" sz="1300" dirty="0">
                <a:solidFill>
                  <a:srgbClr val="37474F"/>
                </a:solidFill>
                <a:latin typeface="Calibri" pitchFamily="34" charset="0"/>
                <a:ea typeface="Calibri" pitchFamily="34" charset="-122"/>
                <a:cs typeface="Calibri" pitchFamily="34" charset="-120"/>
              </a:rPr>
              <a:t>83.2%</a:t>
            </a:r>
            <a:endParaRPr lang="en-US" sz="1300" dirty="0"/>
          </a:p>
        </p:txBody>
      </p:sp>
      <p:sp>
        <p:nvSpPr>
          <p:cNvPr id="27" name="Shape 25"/>
          <p:cNvSpPr/>
          <p:nvPr/>
        </p:nvSpPr>
        <p:spPr>
          <a:xfrm>
            <a:off x="7626096" y="1572768"/>
            <a:ext cx="1197864" cy="804672"/>
          </a:xfrm>
          <a:prstGeom prst="rect">
            <a:avLst/>
          </a:prstGeom>
          <a:solidFill>
            <a:srgbClr val="E3F0FF"/>
          </a:solidFill>
          <a:ln w="6350">
            <a:solidFill>
              <a:srgbClr val="CFD8DC"/>
            </a:solidFill>
            <a:prstDash val="solid"/>
          </a:ln>
        </p:spPr>
        <p:txBody>
          <a:bodyPr/>
          <a:lstStyle/>
          <a:p>
            <a:endParaRPr lang="th-TH"/>
          </a:p>
        </p:txBody>
      </p:sp>
      <p:sp>
        <p:nvSpPr>
          <p:cNvPr id="28" name="Text 26"/>
          <p:cNvSpPr/>
          <p:nvPr/>
        </p:nvSpPr>
        <p:spPr>
          <a:xfrm>
            <a:off x="7626096" y="1572768"/>
            <a:ext cx="1197864" cy="804672"/>
          </a:xfrm>
          <a:prstGeom prst="rect">
            <a:avLst/>
          </a:prstGeom>
          <a:noFill/>
          <a:ln/>
        </p:spPr>
        <p:txBody>
          <a:bodyPr wrap="square" lIns="0" tIns="0" rIns="0" bIns="0" rtlCol="0" anchor="ctr"/>
          <a:lstStyle/>
          <a:p>
            <a:pPr marL="0" indent="0" algn="ctr">
              <a:buNone/>
            </a:pPr>
            <a:r>
              <a:rPr lang="en-US" sz="1600" b="1" dirty="0">
                <a:solidFill>
                  <a:srgbClr val="1565C0"/>
                </a:solidFill>
                <a:latin typeface="Calibri" pitchFamily="34" charset="0"/>
                <a:ea typeface="Calibri" pitchFamily="34" charset="-122"/>
                <a:cs typeface="Calibri" pitchFamily="34" charset="-120"/>
              </a:rPr>
              <a:t>0.959</a:t>
            </a:r>
            <a:endParaRPr lang="en-US" sz="1600" dirty="0"/>
          </a:p>
        </p:txBody>
      </p:sp>
      <p:sp>
        <p:nvSpPr>
          <p:cNvPr id="29" name="Shape 27"/>
          <p:cNvSpPr/>
          <p:nvPr/>
        </p:nvSpPr>
        <p:spPr>
          <a:xfrm>
            <a:off x="320040" y="2532888"/>
            <a:ext cx="2468880" cy="804672"/>
          </a:xfrm>
          <a:prstGeom prst="rect">
            <a:avLst/>
          </a:prstGeom>
          <a:solidFill>
            <a:srgbClr val="0A2342"/>
          </a:solidFill>
          <a:ln/>
        </p:spPr>
        <p:txBody>
          <a:bodyPr/>
          <a:lstStyle/>
          <a:p>
            <a:endParaRPr lang="th-TH"/>
          </a:p>
        </p:txBody>
      </p:sp>
      <p:sp>
        <p:nvSpPr>
          <p:cNvPr id="30" name="Text 28"/>
          <p:cNvSpPr/>
          <p:nvPr/>
        </p:nvSpPr>
        <p:spPr>
          <a:xfrm>
            <a:off x="384048" y="2624328"/>
            <a:ext cx="2340864"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KNN</a:t>
            </a:r>
            <a:endParaRPr lang="en-US" sz="1300" dirty="0"/>
          </a:p>
        </p:txBody>
      </p:sp>
      <p:sp>
        <p:nvSpPr>
          <p:cNvPr id="31" name="Text 29"/>
          <p:cNvSpPr/>
          <p:nvPr/>
        </p:nvSpPr>
        <p:spPr>
          <a:xfrm>
            <a:off x="384048" y="2990088"/>
            <a:ext cx="2340864" cy="256032"/>
          </a:xfrm>
          <a:prstGeom prst="rect">
            <a:avLst/>
          </a:prstGeom>
          <a:noFill/>
          <a:ln/>
        </p:spPr>
        <p:txBody>
          <a:bodyPr wrap="square" lIns="0" tIns="0" rIns="0" bIns="0" rtlCol="0" anchor="ctr"/>
          <a:lstStyle/>
          <a:p>
            <a:pPr marL="0" indent="0" algn="ctr">
              <a:buNone/>
            </a:pPr>
            <a:r>
              <a:rPr lang="en-US" sz="1000" dirty="0">
                <a:solidFill>
                  <a:srgbClr val="BBDEFB"/>
                </a:solidFill>
                <a:latin typeface="Calibri" pitchFamily="34" charset="0"/>
                <a:ea typeface="Calibri" pitchFamily="34" charset="-122"/>
                <a:cs typeface="Calibri" pitchFamily="34" charset="-120"/>
              </a:rPr>
              <a:t>k = 5</a:t>
            </a:r>
            <a:endParaRPr lang="en-US" sz="1000" dirty="0"/>
          </a:p>
        </p:txBody>
      </p:sp>
      <p:sp>
        <p:nvSpPr>
          <p:cNvPr id="32" name="Shape 30"/>
          <p:cNvSpPr/>
          <p:nvPr/>
        </p:nvSpPr>
        <p:spPr>
          <a:xfrm>
            <a:off x="2834640" y="2532888"/>
            <a:ext cx="1197864" cy="804672"/>
          </a:xfrm>
          <a:prstGeom prst="rect">
            <a:avLst/>
          </a:prstGeom>
          <a:solidFill>
            <a:srgbClr val="FFFFFF"/>
          </a:solidFill>
          <a:ln w="6350">
            <a:solidFill>
              <a:srgbClr val="CFD8DC"/>
            </a:solidFill>
            <a:prstDash val="solid"/>
          </a:ln>
        </p:spPr>
        <p:txBody>
          <a:bodyPr/>
          <a:lstStyle/>
          <a:p>
            <a:endParaRPr lang="th-TH"/>
          </a:p>
        </p:txBody>
      </p:sp>
      <p:sp>
        <p:nvSpPr>
          <p:cNvPr id="33" name="Text 31"/>
          <p:cNvSpPr/>
          <p:nvPr/>
        </p:nvSpPr>
        <p:spPr>
          <a:xfrm>
            <a:off x="2834640" y="2532888"/>
            <a:ext cx="1197864" cy="804672"/>
          </a:xfrm>
          <a:prstGeom prst="rect">
            <a:avLst/>
          </a:prstGeom>
          <a:noFill/>
          <a:ln/>
        </p:spPr>
        <p:txBody>
          <a:bodyPr wrap="square" lIns="0" tIns="0" rIns="0" bIns="0" rtlCol="0" anchor="ctr"/>
          <a:lstStyle/>
          <a:p>
            <a:pPr marL="0" indent="0" algn="ctr">
              <a:buNone/>
            </a:pPr>
            <a:r>
              <a:rPr lang="en-US" sz="1300" dirty="0">
                <a:solidFill>
                  <a:srgbClr val="37474F"/>
                </a:solidFill>
                <a:latin typeface="Calibri" pitchFamily="34" charset="0"/>
                <a:ea typeface="Calibri" pitchFamily="34" charset="-122"/>
                <a:cs typeface="Calibri" pitchFamily="34" charset="-120"/>
              </a:rPr>
              <a:t>89.0%</a:t>
            </a:r>
            <a:endParaRPr lang="en-US" sz="1300" dirty="0"/>
          </a:p>
        </p:txBody>
      </p:sp>
      <p:sp>
        <p:nvSpPr>
          <p:cNvPr id="34" name="Shape 32"/>
          <p:cNvSpPr/>
          <p:nvPr/>
        </p:nvSpPr>
        <p:spPr>
          <a:xfrm>
            <a:off x="4032504" y="2532888"/>
            <a:ext cx="1197864" cy="804672"/>
          </a:xfrm>
          <a:prstGeom prst="rect">
            <a:avLst/>
          </a:prstGeom>
          <a:solidFill>
            <a:srgbClr val="FFFFFF"/>
          </a:solidFill>
          <a:ln w="6350">
            <a:solidFill>
              <a:srgbClr val="CFD8DC"/>
            </a:solidFill>
            <a:prstDash val="solid"/>
          </a:ln>
        </p:spPr>
        <p:txBody>
          <a:bodyPr/>
          <a:lstStyle/>
          <a:p>
            <a:endParaRPr lang="th-TH"/>
          </a:p>
        </p:txBody>
      </p:sp>
      <p:sp>
        <p:nvSpPr>
          <p:cNvPr id="35" name="Text 33"/>
          <p:cNvSpPr/>
          <p:nvPr/>
        </p:nvSpPr>
        <p:spPr>
          <a:xfrm>
            <a:off x="4032504" y="2532888"/>
            <a:ext cx="1197864" cy="804672"/>
          </a:xfrm>
          <a:prstGeom prst="rect">
            <a:avLst/>
          </a:prstGeom>
          <a:noFill/>
          <a:ln/>
        </p:spPr>
        <p:txBody>
          <a:bodyPr wrap="square" lIns="0" tIns="0" rIns="0" bIns="0" rtlCol="0" anchor="ctr"/>
          <a:lstStyle/>
          <a:p>
            <a:pPr marL="0" indent="0" algn="ctr">
              <a:buNone/>
            </a:pPr>
            <a:r>
              <a:rPr lang="en-US" sz="1300" dirty="0">
                <a:solidFill>
                  <a:srgbClr val="37474F"/>
                </a:solidFill>
                <a:latin typeface="Calibri" pitchFamily="34" charset="0"/>
                <a:ea typeface="Calibri" pitchFamily="34" charset="-122"/>
                <a:cs typeface="Calibri" pitchFamily="34" charset="-120"/>
              </a:rPr>
              <a:t>73.0%</a:t>
            </a:r>
            <a:endParaRPr lang="en-US" sz="1300" dirty="0"/>
          </a:p>
        </p:txBody>
      </p:sp>
      <p:sp>
        <p:nvSpPr>
          <p:cNvPr id="36" name="Shape 34"/>
          <p:cNvSpPr/>
          <p:nvPr/>
        </p:nvSpPr>
        <p:spPr>
          <a:xfrm>
            <a:off x="5230368" y="2532888"/>
            <a:ext cx="1197864" cy="804672"/>
          </a:xfrm>
          <a:prstGeom prst="rect">
            <a:avLst/>
          </a:prstGeom>
          <a:solidFill>
            <a:srgbClr val="FFFFFF"/>
          </a:solidFill>
          <a:ln w="6350">
            <a:solidFill>
              <a:srgbClr val="CFD8DC"/>
            </a:solidFill>
            <a:prstDash val="solid"/>
          </a:ln>
        </p:spPr>
        <p:txBody>
          <a:bodyPr/>
          <a:lstStyle/>
          <a:p>
            <a:endParaRPr lang="th-TH"/>
          </a:p>
        </p:txBody>
      </p:sp>
      <p:sp>
        <p:nvSpPr>
          <p:cNvPr id="37" name="Text 35"/>
          <p:cNvSpPr/>
          <p:nvPr/>
        </p:nvSpPr>
        <p:spPr>
          <a:xfrm>
            <a:off x="5230368" y="2532888"/>
            <a:ext cx="1197864" cy="804672"/>
          </a:xfrm>
          <a:prstGeom prst="rect">
            <a:avLst/>
          </a:prstGeom>
          <a:noFill/>
          <a:ln/>
        </p:spPr>
        <p:txBody>
          <a:bodyPr wrap="square" lIns="0" tIns="0" rIns="0" bIns="0" rtlCol="0" anchor="ctr"/>
          <a:lstStyle/>
          <a:p>
            <a:pPr marL="0" indent="0" algn="ctr">
              <a:buNone/>
            </a:pPr>
            <a:r>
              <a:rPr lang="en-US" sz="1300" dirty="0">
                <a:solidFill>
                  <a:srgbClr val="37474F"/>
                </a:solidFill>
                <a:latin typeface="Calibri" pitchFamily="34" charset="0"/>
                <a:ea typeface="Calibri" pitchFamily="34" charset="-122"/>
                <a:cs typeface="Calibri" pitchFamily="34" charset="-120"/>
              </a:rPr>
              <a:t>86.0%</a:t>
            </a:r>
            <a:endParaRPr lang="en-US" sz="1300" dirty="0"/>
          </a:p>
        </p:txBody>
      </p:sp>
      <p:sp>
        <p:nvSpPr>
          <p:cNvPr id="38" name="Shape 36"/>
          <p:cNvSpPr/>
          <p:nvPr/>
        </p:nvSpPr>
        <p:spPr>
          <a:xfrm>
            <a:off x="6428232" y="2532888"/>
            <a:ext cx="1197864" cy="804672"/>
          </a:xfrm>
          <a:prstGeom prst="rect">
            <a:avLst/>
          </a:prstGeom>
          <a:solidFill>
            <a:srgbClr val="FFFFFF"/>
          </a:solidFill>
          <a:ln w="6350">
            <a:solidFill>
              <a:srgbClr val="CFD8DC"/>
            </a:solidFill>
            <a:prstDash val="solid"/>
          </a:ln>
        </p:spPr>
        <p:txBody>
          <a:bodyPr/>
          <a:lstStyle/>
          <a:p>
            <a:endParaRPr lang="th-TH"/>
          </a:p>
        </p:txBody>
      </p:sp>
      <p:sp>
        <p:nvSpPr>
          <p:cNvPr id="39" name="Text 37"/>
          <p:cNvSpPr/>
          <p:nvPr/>
        </p:nvSpPr>
        <p:spPr>
          <a:xfrm>
            <a:off x="6428232" y="2532888"/>
            <a:ext cx="1197864" cy="804672"/>
          </a:xfrm>
          <a:prstGeom prst="rect">
            <a:avLst/>
          </a:prstGeom>
          <a:noFill/>
          <a:ln/>
        </p:spPr>
        <p:txBody>
          <a:bodyPr wrap="square" lIns="0" tIns="0" rIns="0" bIns="0" rtlCol="0" anchor="ctr"/>
          <a:lstStyle/>
          <a:p>
            <a:pPr marL="0" indent="0" algn="ctr">
              <a:buNone/>
            </a:pPr>
            <a:r>
              <a:rPr lang="en-US" sz="1300" dirty="0">
                <a:solidFill>
                  <a:srgbClr val="37474F"/>
                </a:solidFill>
                <a:latin typeface="Calibri" pitchFamily="34" charset="0"/>
                <a:ea typeface="Calibri" pitchFamily="34" charset="-122"/>
                <a:cs typeface="Calibri" pitchFamily="34" charset="-120"/>
              </a:rPr>
              <a:t>79.0%</a:t>
            </a:r>
            <a:endParaRPr lang="en-US" sz="1300" dirty="0"/>
          </a:p>
        </p:txBody>
      </p:sp>
      <p:sp>
        <p:nvSpPr>
          <p:cNvPr id="40" name="Shape 38"/>
          <p:cNvSpPr/>
          <p:nvPr/>
        </p:nvSpPr>
        <p:spPr>
          <a:xfrm>
            <a:off x="7626096" y="2532888"/>
            <a:ext cx="1197864" cy="804672"/>
          </a:xfrm>
          <a:prstGeom prst="rect">
            <a:avLst/>
          </a:prstGeom>
          <a:solidFill>
            <a:srgbClr val="FFFFFF"/>
          </a:solidFill>
          <a:ln w="6350">
            <a:solidFill>
              <a:srgbClr val="CFD8DC"/>
            </a:solidFill>
            <a:prstDash val="solid"/>
          </a:ln>
        </p:spPr>
        <p:txBody>
          <a:bodyPr/>
          <a:lstStyle/>
          <a:p>
            <a:endParaRPr lang="th-TH"/>
          </a:p>
        </p:txBody>
      </p:sp>
      <p:sp>
        <p:nvSpPr>
          <p:cNvPr id="41" name="Text 39"/>
          <p:cNvSpPr/>
          <p:nvPr/>
        </p:nvSpPr>
        <p:spPr>
          <a:xfrm>
            <a:off x="7626096" y="2532888"/>
            <a:ext cx="1197864" cy="804672"/>
          </a:xfrm>
          <a:prstGeom prst="rect">
            <a:avLst/>
          </a:prstGeom>
          <a:noFill/>
          <a:ln/>
        </p:spPr>
        <p:txBody>
          <a:bodyPr wrap="square" lIns="0" tIns="0" rIns="0" bIns="0" rtlCol="0" anchor="ctr"/>
          <a:lstStyle/>
          <a:p>
            <a:pPr marL="0" indent="0" algn="ctr">
              <a:buNone/>
            </a:pPr>
            <a:r>
              <a:rPr lang="en-US" sz="1600" b="1" dirty="0">
                <a:solidFill>
                  <a:srgbClr val="0A2342"/>
                </a:solidFill>
                <a:latin typeface="Calibri" pitchFamily="34" charset="0"/>
                <a:ea typeface="Calibri" pitchFamily="34" charset="-122"/>
                <a:cs typeface="Calibri" pitchFamily="34" charset="-120"/>
              </a:rPr>
              <a:t>0.922</a:t>
            </a:r>
            <a:endParaRPr lang="en-US" sz="1600" dirty="0"/>
          </a:p>
        </p:txBody>
      </p:sp>
      <p:sp>
        <p:nvSpPr>
          <p:cNvPr id="42" name="Shape 40"/>
          <p:cNvSpPr/>
          <p:nvPr/>
        </p:nvSpPr>
        <p:spPr>
          <a:xfrm>
            <a:off x="320040" y="3493008"/>
            <a:ext cx="2468880" cy="804672"/>
          </a:xfrm>
          <a:prstGeom prst="rect">
            <a:avLst/>
          </a:prstGeom>
          <a:solidFill>
            <a:srgbClr val="1976D2"/>
          </a:solidFill>
          <a:ln/>
        </p:spPr>
        <p:txBody>
          <a:bodyPr/>
          <a:lstStyle/>
          <a:p>
            <a:endParaRPr lang="th-TH"/>
          </a:p>
        </p:txBody>
      </p:sp>
      <p:sp>
        <p:nvSpPr>
          <p:cNvPr id="43" name="Text 41"/>
          <p:cNvSpPr/>
          <p:nvPr/>
        </p:nvSpPr>
        <p:spPr>
          <a:xfrm>
            <a:off x="384048" y="3584448"/>
            <a:ext cx="2340864"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Random Forest</a:t>
            </a:r>
            <a:endParaRPr lang="en-US" sz="1300" dirty="0"/>
          </a:p>
        </p:txBody>
      </p:sp>
      <p:sp>
        <p:nvSpPr>
          <p:cNvPr id="44" name="Text 42"/>
          <p:cNvSpPr/>
          <p:nvPr/>
        </p:nvSpPr>
        <p:spPr>
          <a:xfrm>
            <a:off x="384048" y="3950208"/>
            <a:ext cx="2340864" cy="256032"/>
          </a:xfrm>
          <a:prstGeom prst="rect">
            <a:avLst/>
          </a:prstGeom>
          <a:noFill/>
          <a:ln/>
        </p:spPr>
        <p:txBody>
          <a:bodyPr wrap="square" lIns="0" tIns="0" rIns="0" bIns="0" rtlCol="0" anchor="ctr"/>
          <a:lstStyle/>
          <a:p>
            <a:pPr marL="0" indent="0" algn="ctr">
              <a:buNone/>
            </a:pPr>
            <a:r>
              <a:rPr lang="en-US" sz="1000" dirty="0">
                <a:solidFill>
                  <a:srgbClr val="BBDEFB"/>
                </a:solidFill>
                <a:latin typeface="Calibri" pitchFamily="34" charset="0"/>
                <a:ea typeface="Calibri" pitchFamily="34" charset="-122"/>
                <a:cs typeface="Calibri" pitchFamily="34" charset="-120"/>
              </a:rPr>
              <a:t>100 estimators</a:t>
            </a:r>
            <a:endParaRPr lang="en-US" sz="1000" dirty="0"/>
          </a:p>
        </p:txBody>
      </p:sp>
      <p:sp>
        <p:nvSpPr>
          <p:cNvPr id="45" name="Shape 43"/>
          <p:cNvSpPr/>
          <p:nvPr/>
        </p:nvSpPr>
        <p:spPr>
          <a:xfrm>
            <a:off x="2834640" y="3493008"/>
            <a:ext cx="1197864" cy="804672"/>
          </a:xfrm>
          <a:prstGeom prst="rect">
            <a:avLst/>
          </a:prstGeom>
          <a:solidFill>
            <a:srgbClr val="E3F0FF"/>
          </a:solidFill>
          <a:ln w="6350">
            <a:solidFill>
              <a:srgbClr val="CFD8DC"/>
            </a:solidFill>
            <a:prstDash val="solid"/>
          </a:ln>
        </p:spPr>
        <p:txBody>
          <a:bodyPr/>
          <a:lstStyle/>
          <a:p>
            <a:endParaRPr lang="th-TH"/>
          </a:p>
        </p:txBody>
      </p:sp>
      <p:sp>
        <p:nvSpPr>
          <p:cNvPr id="46" name="Text 44"/>
          <p:cNvSpPr/>
          <p:nvPr/>
        </p:nvSpPr>
        <p:spPr>
          <a:xfrm>
            <a:off x="2834640" y="3493008"/>
            <a:ext cx="1197864" cy="804672"/>
          </a:xfrm>
          <a:prstGeom prst="rect">
            <a:avLst/>
          </a:prstGeom>
          <a:noFill/>
          <a:ln/>
        </p:spPr>
        <p:txBody>
          <a:bodyPr wrap="square" lIns="0" tIns="0" rIns="0" bIns="0" rtlCol="0" anchor="ctr"/>
          <a:lstStyle/>
          <a:p>
            <a:pPr marL="0" indent="0" algn="ctr">
              <a:buNone/>
            </a:pPr>
            <a:r>
              <a:rPr lang="en-US" sz="1300" dirty="0">
                <a:solidFill>
                  <a:srgbClr val="37474F"/>
                </a:solidFill>
                <a:latin typeface="Calibri" pitchFamily="34" charset="0"/>
                <a:ea typeface="Calibri" pitchFamily="34" charset="-122"/>
                <a:cs typeface="Calibri" pitchFamily="34" charset="-120"/>
              </a:rPr>
              <a:t>—</a:t>
            </a:r>
            <a:endParaRPr lang="en-US" sz="1300" dirty="0"/>
          </a:p>
        </p:txBody>
      </p:sp>
      <p:sp>
        <p:nvSpPr>
          <p:cNvPr id="47" name="Shape 45"/>
          <p:cNvSpPr/>
          <p:nvPr/>
        </p:nvSpPr>
        <p:spPr>
          <a:xfrm>
            <a:off x="4032504" y="3493008"/>
            <a:ext cx="1197864" cy="804672"/>
          </a:xfrm>
          <a:prstGeom prst="rect">
            <a:avLst/>
          </a:prstGeom>
          <a:solidFill>
            <a:srgbClr val="E3F0FF"/>
          </a:solidFill>
          <a:ln w="6350">
            <a:solidFill>
              <a:srgbClr val="CFD8DC"/>
            </a:solidFill>
            <a:prstDash val="solid"/>
          </a:ln>
        </p:spPr>
        <p:txBody>
          <a:bodyPr/>
          <a:lstStyle/>
          <a:p>
            <a:endParaRPr lang="th-TH"/>
          </a:p>
        </p:txBody>
      </p:sp>
      <p:sp>
        <p:nvSpPr>
          <p:cNvPr id="48" name="Text 46"/>
          <p:cNvSpPr/>
          <p:nvPr/>
        </p:nvSpPr>
        <p:spPr>
          <a:xfrm>
            <a:off x="4032504" y="3493008"/>
            <a:ext cx="1197864" cy="804672"/>
          </a:xfrm>
          <a:prstGeom prst="rect">
            <a:avLst/>
          </a:prstGeom>
          <a:noFill/>
          <a:ln/>
        </p:spPr>
        <p:txBody>
          <a:bodyPr wrap="square" lIns="0" tIns="0" rIns="0" bIns="0" rtlCol="0" anchor="ctr"/>
          <a:lstStyle/>
          <a:p>
            <a:pPr marL="0" indent="0" algn="ctr">
              <a:buNone/>
            </a:pPr>
            <a:r>
              <a:rPr lang="en-US" sz="1300" dirty="0">
                <a:solidFill>
                  <a:srgbClr val="37474F"/>
                </a:solidFill>
                <a:latin typeface="Calibri" pitchFamily="34" charset="0"/>
                <a:ea typeface="Calibri" pitchFamily="34" charset="-122"/>
                <a:cs typeface="Calibri" pitchFamily="34" charset="-120"/>
              </a:rPr>
              <a:t>—</a:t>
            </a:r>
            <a:endParaRPr lang="en-US" sz="1300" dirty="0"/>
          </a:p>
        </p:txBody>
      </p:sp>
      <p:sp>
        <p:nvSpPr>
          <p:cNvPr id="49" name="Shape 47"/>
          <p:cNvSpPr/>
          <p:nvPr/>
        </p:nvSpPr>
        <p:spPr>
          <a:xfrm>
            <a:off x="5230368" y="3493008"/>
            <a:ext cx="1197864" cy="804672"/>
          </a:xfrm>
          <a:prstGeom prst="rect">
            <a:avLst/>
          </a:prstGeom>
          <a:solidFill>
            <a:srgbClr val="E3F0FF"/>
          </a:solidFill>
          <a:ln w="6350">
            <a:solidFill>
              <a:srgbClr val="CFD8DC"/>
            </a:solidFill>
            <a:prstDash val="solid"/>
          </a:ln>
        </p:spPr>
        <p:txBody>
          <a:bodyPr/>
          <a:lstStyle/>
          <a:p>
            <a:endParaRPr lang="th-TH"/>
          </a:p>
        </p:txBody>
      </p:sp>
      <p:sp>
        <p:nvSpPr>
          <p:cNvPr id="50" name="Text 48"/>
          <p:cNvSpPr/>
          <p:nvPr/>
        </p:nvSpPr>
        <p:spPr>
          <a:xfrm>
            <a:off x="5230368" y="3493008"/>
            <a:ext cx="1197864" cy="804672"/>
          </a:xfrm>
          <a:prstGeom prst="rect">
            <a:avLst/>
          </a:prstGeom>
          <a:noFill/>
          <a:ln/>
        </p:spPr>
        <p:txBody>
          <a:bodyPr wrap="square" lIns="0" tIns="0" rIns="0" bIns="0" rtlCol="0" anchor="ctr"/>
          <a:lstStyle/>
          <a:p>
            <a:pPr marL="0" indent="0" algn="ctr">
              <a:buNone/>
            </a:pPr>
            <a:r>
              <a:rPr lang="en-US" sz="1300" dirty="0">
                <a:solidFill>
                  <a:srgbClr val="37474F"/>
                </a:solidFill>
                <a:latin typeface="Calibri" pitchFamily="34" charset="0"/>
                <a:ea typeface="Calibri" pitchFamily="34" charset="-122"/>
                <a:cs typeface="Calibri" pitchFamily="34" charset="-120"/>
              </a:rPr>
              <a:t>—</a:t>
            </a:r>
            <a:endParaRPr lang="en-US" sz="1300" dirty="0"/>
          </a:p>
        </p:txBody>
      </p:sp>
      <p:sp>
        <p:nvSpPr>
          <p:cNvPr id="51" name="Shape 49"/>
          <p:cNvSpPr/>
          <p:nvPr/>
        </p:nvSpPr>
        <p:spPr>
          <a:xfrm>
            <a:off x="6428232" y="3493008"/>
            <a:ext cx="1197864" cy="804672"/>
          </a:xfrm>
          <a:prstGeom prst="rect">
            <a:avLst/>
          </a:prstGeom>
          <a:solidFill>
            <a:srgbClr val="E3F0FF"/>
          </a:solidFill>
          <a:ln w="6350">
            <a:solidFill>
              <a:srgbClr val="CFD8DC"/>
            </a:solidFill>
            <a:prstDash val="solid"/>
          </a:ln>
        </p:spPr>
        <p:txBody>
          <a:bodyPr/>
          <a:lstStyle/>
          <a:p>
            <a:endParaRPr lang="th-TH"/>
          </a:p>
        </p:txBody>
      </p:sp>
      <p:sp>
        <p:nvSpPr>
          <p:cNvPr id="52" name="Text 50"/>
          <p:cNvSpPr/>
          <p:nvPr/>
        </p:nvSpPr>
        <p:spPr>
          <a:xfrm>
            <a:off x="6428232" y="3493008"/>
            <a:ext cx="1197864" cy="804672"/>
          </a:xfrm>
          <a:prstGeom prst="rect">
            <a:avLst/>
          </a:prstGeom>
          <a:noFill/>
          <a:ln/>
        </p:spPr>
        <p:txBody>
          <a:bodyPr wrap="square" lIns="0" tIns="0" rIns="0" bIns="0" rtlCol="0" anchor="ctr"/>
          <a:lstStyle/>
          <a:p>
            <a:pPr marL="0" indent="0" algn="ctr">
              <a:buNone/>
            </a:pPr>
            <a:r>
              <a:rPr lang="en-US" sz="1300" dirty="0">
                <a:solidFill>
                  <a:srgbClr val="37474F"/>
                </a:solidFill>
                <a:latin typeface="Calibri" pitchFamily="34" charset="0"/>
                <a:ea typeface="Calibri" pitchFamily="34" charset="-122"/>
                <a:cs typeface="Calibri" pitchFamily="34" charset="-120"/>
              </a:rPr>
              <a:t>—</a:t>
            </a:r>
            <a:endParaRPr lang="en-US" sz="1300" dirty="0"/>
          </a:p>
        </p:txBody>
      </p:sp>
      <p:sp>
        <p:nvSpPr>
          <p:cNvPr id="53" name="Shape 51"/>
          <p:cNvSpPr/>
          <p:nvPr/>
        </p:nvSpPr>
        <p:spPr>
          <a:xfrm>
            <a:off x="7626096" y="3493008"/>
            <a:ext cx="1197864" cy="804672"/>
          </a:xfrm>
          <a:prstGeom prst="rect">
            <a:avLst/>
          </a:prstGeom>
          <a:solidFill>
            <a:srgbClr val="E3F0FF"/>
          </a:solidFill>
          <a:ln w="6350">
            <a:solidFill>
              <a:srgbClr val="CFD8DC"/>
            </a:solidFill>
            <a:prstDash val="solid"/>
          </a:ln>
        </p:spPr>
        <p:txBody>
          <a:bodyPr/>
          <a:lstStyle/>
          <a:p>
            <a:endParaRPr lang="th-TH"/>
          </a:p>
        </p:txBody>
      </p:sp>
      <p:sp>
        <p:nvSpPr>
          <p:cNvPr id="54" name="Text 52"/>
          <p:cNvSpPr/>
          <p:nvPr/>
        </p:nvSpPr>
        <p:spPr>
          <a:xfrm>
            <a:off x="7626096" y="3493008"/>
            <a:ext cx="1197864" cy="804672"/>
          </a:xfrm>
          <a:prstGeom prst="rect">
            <a:avLst/>
          </a:prstGeom>
          <a:noFill/>
          <a:ln/>
        </p:spPr>
        <p:txBody>
          <a:bodyPr wrap="square" lIns="0" tIns="0" rIns="0" bIns="0" rtlCol="0" anchor="ctr"/>
          <a:lstStyle/>
          <a:p>
            <a:pPr marL="0" indent="0" algn="ctr">
              <a:buNone/>
            </a:pPr>
            <a:r>
              <a:rPr lang="en-US" sz="1600" b="1" dirty="0">
                <a:solidFill>
                  <a:srgbClr val="1976D2"/>
                </a:solidFill>
                <a:latin typeface="Calibri" pitchFamily="34" charset="0"/>
                <a:ea typeface="Calibri" pitchFamily="34" charset="-122"/>
                <a:cs typeface="Calibri" pitchFamily="34" charset="-120"/>
              </a:rPr>
              <a:t>0.956</a:t>
            </a:r>
            <a:endParaRPr lang="en-US" sz="1600" dirty="0"/>
          </a:p>
        </p:txBody>
      </p:sp>
      <p:sp>
        <p:nvSpPr>
          <p:cNvPr id="55" name="Shape 53"/>
          <p:cNvSpPr/>
          <p:nvPr/>
        </p:nvSpPr>
        <p:spPr>
          <a:xfrm>
            <a:off x="320040" y="4553712"/>
            <a:ext cx="8503920" cy="347472"/>
          </a:xfrm>
          <a:prstGeom prst="rect">
            <a:avLst/>
          </a:prstGeom>
          <a:solidFill>
            <a:srgbClr val="0A2342"/>
          </a:solidFill>
          <a:ln/>
        </p:spPr>
        <p:txBody>
          <a:bodyPr/>
          <a:lstStyle/>
          <a:p>
            <a:endParaRPr lang="th-TH"/>
          </a:p>
        </p:txBody>
      </p:sp>
      <p:sp>
        <p:nvSpPr>
          <p:cNvPr id="56" name="Text 54"/>
          <p:cNvSpPr/>
          <p:nvPr/>
        </p:nvSpPr>
        <p:spPr>
          <a:xfrm>
            <a:off x="457200" y="4562856"/>
            <a:ext cx="8321040" cy="310896"/>
          </a:xfrm>
          <a:prstGeom prst="rect">
            <a:avLst/>
          </a:prstGeom>
          <a:noFill/>
          <a:ln/>
        </p:spPr>
        <p:txBody>
          <a:bodyPr wrap="square" lIns="0" tIns="0" rIns="0" bIns="0" rtlCol="0" anchor="ctr"/>
          <a:lstStyle/>
          <a:p>
            <a:pPr marL="0" indent="0">
              <a:buNone/>
            </a:pPr>
            <a:r>
              <a:rPr lang="en-US" sz="1000" i="1" dirty="0">
                <a:solidFill>
                  <a:srgbClr val="BBDEFB"/>
                </a:solidFill>
                <a:latin typeface="Calibri" pitchFamily="34" charset="0"/>
                <a:ea typeface="Calibri" pitchFamily="34" charset="-122"/>
                <a:cs typeface="Calibri" pitchFamily="34" charset="-120"/>
              </a:rPr>
              <a:t>All three classifiers achieve AUC &gt; 0.92 using only hour-of-day and day-of-week — congestion is highly predictable from the calendar alone.</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A2342"/>
          </a:solidFill>
          <a:ln/>
        </p:spPr>
        <p:txBody>
          <a:bodyPr/>
          <a:lstStyle/>
          <a:p>
            <a:endParaRPr lang="th-TH"/>
          </a:p>
        </p:txBody>
      </p:sp>
      <p:sp>
        <p:nvSpPr>
          <p:cNvPr id="3" name="Shape 1"/>
          <p:cNvSpPr/>
          <p:nvPr/>
        </p:nvSpPr>
        <p:spPr>
          <a:xfrm>
            <a:off x="0" y="960120"/>
            <a:ext cx="9144000" cy="41148"/>
          </a:xfrm>
          <a:prstGeom prst="rect">
            <a:avLst/>
          </a:prstGeom>
          <a:solidFill>
            <a:srgbClr val="1976D2"/>
          </a:solidFill>
          <a:ln/>
        </p:spPr>
        <p:txBody>
          <a:bodyPr/>
          <a:lstStyle/>
          <a:p>
            <a:endParaRPr lang="th-TH"/>
          </a:p>
        </p:txBody>
      </p:sp>
      <p:sp>
        <p:nvSpPr>
          <p:cNvPr id="4" name="Text 2"/>
          <p:cNvSpPr/>
          <p:nvPr/>
        </p:nvSpPr>
        <p:spPr>
          <a:xfrm>
            <a:off x="411480" y="91440"/>
            <a:ext cx="7955280" cy="502920"/>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ROC Curves — Congestion Classification</a:t>
            </a:r>
            <a:endParaRPr lang="en-US" sz="2000" dirty="0"/>
          </a:p>
        </p:txBody>
      </p:sp>
      <p:sp>
        <p:nvSpPr>
          <p:cNvPr id="5" name="Text 3"/>
          <p:cNvSpPr/>
          <p:nvPr/>
        </p:nvSpPr>
        <p:spPr>
          <a:xfrm>
            <a:off x="411480" y="576072"/>
            <a:ext cx="8046720" cy="320040"/>
          </a:xfrm>
          <a:prstGeom prst="rect">
            <a:avLst/>
          </a:prstGeom>
          <a:noFill/>
          <a:ln/>
        </p:spPr>
        <p:txBody>
          <a:bodyPr wrap="square" lIns="0" tIns="0" rIns="0" bIns="0" rtlCol="0" anchor="ctr"/>
          <a:lstStyle/>
          <a:p>
            <a:pPr marL="0" indent="0">
              <a:buNone/>
            </a:pPr>
            <a:r>
              <a:rPr lang="en-US" sz="1100" dirty="0">
                <a:solidFill>
                  <a:srgbClr val="BBDEFB"/>
                </a:solidFill>
                <a:latin typeface="Calibri" pitchFamily="34" charset="0"/>
                <a:ea typeface="Calibri" pitchFamily="34" charset="-122"/>
                <a:cs typeface="Calibri" pitchFamily="34" charset="-120"/>
              </a:rPr>
              <a:t>True Positive Rate vs. False Positive Rate · all models trained on no-lag calendar features only</a:t>
            </a:r>
            <a:endParaRPr lang="en-US" sz="1100" dirty="0"/>
          </a:p>
        </p:txBody>
      </p:sp>
      <p:sp>
        <p:nvSpPr>
          <p:cNvPr id="6" name="Shape 4"/>
          <p:cNvSpPr/>
          <p:nvPr/>
        </p:nvSpPr>
        <p:spPr>
          <a:xfrm>
            <a:off x="8641080" y="201168"/>
            <a:ext cx="347472" cy="347472"/>
          </a:xfrm>
          <a:prstGeom prst="ellipse">
            <a:avLst/>
          </a:prstGeom>
          <a:solidFill>
            <a:srgbClr val="1976D2"/>
          </a:solidFill>
          <a:ln/>
        </p:spPr>
        <p:txBody>
          <a:bodyPr/>
          <a:lstStyle/>
          <a:p>
            <a:endParaRPr lang="th-TH"/>
          </a:p>
        </p:txBody>
      </p:sp>
      <p:sp>
        <p:nvSpPr>
          <p:cNvPr id="7" name="Shape 5"/>
          <p:cNvSpPr/>
          <p:nvPr/>
        </p:nvSpPr>
        <p:spPr>
          <a:xfrm>
            <a:off x="0" y="4850892"/>
            <a:ext cx="9144000" cy="292608"/>
          </a:xfrm>
          <a:prstGeom prst="rect">
            <a:avLst/>
          </a:prstGeom>
          <a:solidFill>
            <a:srgbClr val="E3F0FF"/>
          </a:solidFill>
          <a:ln/>
        </p:spPr>
        <p:txBody>
          <a:bodyPr/>
          <a:lstStyle/>
          <a:p>
            <a:endParaRPr lang="th-TH"/>
          </a:p>
        </p:txBody>
      </p:sp>
      <p:sp>
        <p:nvSpPr>
          <p:cNvPr id="8" name="Text 6"/>
          <p:cNvSpPr/>
          <p:nvPr/>
        </p:nvSpPr>
        <p:spPr>
          <a:xfrm>
            <a:off x="320040" y="4869180"/>
            <a:ext cx="7315200" cy="256032"/>
          </a:xfrm>
          <a:prstGeom prst="rect">
            <a:avLst/>
          </a:prstGeom>
          <a:noFill/>
          <a:ln/>
        </p:spPr>
        <p:txBody>
          <a:bodyPr wrap="square" lIns="0" tIns="0" rIns="0" bIns="0" rtlCol="0" anchor="ctr"/>
          <a:lstStyle/>
          <a:p>
            <a:pPr marL="0" indent="0">
              <a:buNone/>
            </a:pPr>
            <a:r>
              <a:rPr lang="en-US" sz="850" dirty="0">
                <a:solidFill>
                  <a:srgbClr val="607D8B"/>
                </a:solidFill>
                <a:latin typeface="Calibri" pitchFamily="34" charset="0"/>
                <a:ea typeface="Calibri" pitchFamily="34" charset="-122"/>
                <a:cs typeface="Calibri" pitchFamily="34" charset="-120"/>
              </a:rPr>
              <a:t>FlowShift  |  Urban Traffic &amp; Transit Demand — Los Angeles 2021</a:t>
            </a:r>
            <a:endParaRPr lang="en-US" sz="850" dirty="0"/>
          </a:p>
        </p:txBody>
      </p:sp>
      <p:sp>
        <p:nvSpPr>
          <p:cNvPr id="9" name="Text 7"/>
          <p:cNvSpPr/>
          <p:nvPr/>
        </p:nvSpPr>
        <p:spPr>
          <a:xfrm>
            <a:off x="8503920" y="4869180"/>
            <a:ext cx="502920" cy="256032"/>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13 / 15</a:t>
            </a:r>
            <a:endParaRPr lang="en-US" sz="850" dirty="0"/>
          </a:p>
        </p:txBody>
      </p:sp>
      <p:sp>
        <p:nvSpPr>
          <p:cNvPr id="10" name="Shape 8"/>
          <p:cNvSpPr/>
          <p:nvPr/>
        </p:nvSpPr>
        <p:spPr>
          <a:xfrm>
            <a:off x="320040" y="1051560"/>
            <a:ext cx="8503920" cy="3401568"/>
          </a:xfrm>
          <a:prstGeom prst="rect">
            <a:avLst/>
          </a:prstGeom>
          <a:solidFill>
            <a:srgbClr val="FFFFFF"/>
          </a:solidFill>
          <a:ln w="9525">
            <a:solidFill>
              <a:srgbClr val="CFD8DC"/>
            </a:solidFill>
            <a:prstDash val="solid"/>
          </a:ln>
          <a:effectLst>
            <a:outerShdw blurRad="63500" dist="25400" dir="8100000" algn="bl" rotWithShape="0">
              <a:srgbClr val="000000">
                <a:alpha val="9000"/>
              </a:srgbClr>
            </a:outerShdw>
          </a:effectLst>
        </p:spPr>
        <p:txBody>
          <a:bodyPr/>
          <a:lstStyle/>
          <a:p>
            <a:endParaRPr lang="th-TH"/>
          </a:p>
        </p:txBody>
      </p:sp>
      <p:sp>
        <p:nvSpPr>
          <p:cNvPr id="11" name="Shape 9"/>
          <p:cNvSpPr/>
          <p:nvPr/>
        </p:nvSpPr>
        <p:spPr>
          <a:xfrm>
            <a:off x="960120" y="4160520"/>
            <a:ext cx="6675120" cy="914"/>
          </a:xfrm>
          <a:prstGeom prst="line">
            <a:avLst/>
          </a:prstGeom>
          <a:noFill/>
          <a:ln w="6350">
            <a:solidFill>
              <a:srgbClr val="CFD8DC"/>
            </a:solidFill>
            <a:prstDash val="solid"/>
          </a:ln>
        </p:spPr>
        <p:txBody>
          <a:bodyPr/>
          <a:lstStyle/>
          <a:p>
            <a:endParaRPr lang="th-TH"/>
          </a:p>
        </p:txBody>
      </p:sp>
      <p:sp>
        <p:nvSpPr>
          <p:cNvPr id="12" name="Text 10"/>
          <p:cNvSpPr/>
          <p:nvPr/>
        </p:nvSpPr>
        <p:spPr>
          <a:xfrm>
            <a:off x="347472" y="4050792"/>
            <a:ext cx="566928" cy="219456"/>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0.0</a:t>
            </a:r>
            <a:endParaRPr lang="en-US" sz="850" dirty="0"/>
          </a:p>
        </p:txBody>
      </p:sp>
      <p:sp>
        <p:nvSpPr>
          <p:cNvPr id="13" name="Shape 11"/>
          <p:cNvSpPr/>
          <p:nvPr/>
        </p:nvSpPr>
        <p:spPr>
          <a:xfrm>
            <a:off x="960120" y="1170432"/>
            <a:ext cx="914" cy="2990088"/>
          </a:xfrm>
          <a:prstGeom prst="line">
            <a:avLst/>
          </a:prstGeom>
          <a:noFill/>
          <a:ln w="6350">
            <a:solidFill>
              <a:srgbClr val="CFD8DC"/>
            </a:solidFill>
            <a:prstDash val="solid"/>
          </a:ln>
        </p:spPr>
        <p:txBody>
          <a:bodyPr/>
          <a:lstStyle/>
          <a:p>
            <a:endParaRPr lang="th-TH"/>
          </a:p>
        </p:txBody>
      </p:sp>
      <p:sp>
        <p:nvSpPr>
          <p:cNvPr id="14" name="Text 12"/>
          <p:cNvSpPr/>
          <p:nvPr/>
        </p:nvSpPr>
        <p:spPr>
          <a:xfrm>
            <a:off x="777240" y="4215384"/>
            <a:ext cx="365760" cy="201168"/>
          </a:xfrm>
          <a:prstGeom prst="rect">
            <a:avLst/>
          </a:prstGeom>
          <a:noFill/>
          <a:ln/>
        </p:spPr>
        <p:txBody>
          <a:bodyPr wrap="square" lIns="0" tIns="0" rIns="0" bIns="0" rtlCol="0" anchor="ctr"/>
          <a:lstStyle/>
          <a:p>
            <a:pPr marL="0" indent="0" algn="ctr">
              <a:buNone/>
            </a:pPr>
            <a:r>
              <a:rPr lang="en-US" sz="850" dirty="0">
                <a:solidFill>
                  <a:srgbClr val="607D8B"/>
                </a:solidFill>
                <a:latin typeface="Calibri" pitchFamily="34" charset="0"/>
                <a:ea typeface="Calibri" pitchFamily="34" charset="-122"/>
                <a:cs typeface="Calibri" pitchFamily="34" charset="-120"/>
              </a:rPr>
              <a:t>0.0</a:t>
            </a:r>
            <a:endParaRPr lang="en-US" sz="850" dirty="0"/>
          </a:p>
        </p:txBody>
      </p:sp>
      <p:sp>
        <p:nvSpPr>
          <p:cNvPr id="15" name="Shape 13"/>
          <p:cNvSpPr/>
          <p:nvPr/>
        </p:nvSpPr>
        <p:spPr>
          <a:xfrm>
            <a:off x="960120" y="3562502"/>
            <a:ext cx="6675120" cy="914"/>
          </a:xfrm>
          <a:prstGeom prst="line">
            <a:avLst/>
          </a:prstGeom>
          <a:noFill/>
          <a:ln w="6350">
            <a:solidFill>
              <a:srgbClr val="CFD8DC"/>
            </a:solidFill>
            <a:prstDash val="solid"/>
          </a:ln>
        </p:spPr>
        <p:txBody>
          <a:bodyPr/>
          <a:lstStyle/>
          <a:p>
            <a:endParaRPr lang="th-TH"/>
          </a:p>
        </p:txBody>
      </p:sp>
      <p:sp>
        <p:nvSpPr>
          <p:cNvPr id="16" name="Text 14"/>
          <p:cNvSpPr/>
          <p:nvPr/>
        </p:nvSpPr>
        <p:spPr>
          <a:xfrm>
            <a:off x="347472" y="3452774"/>
            <a:ext cx="566928" cy="219456"/>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0.2</a:t>
            </a:r>
            <a:endParaRPr lang="en-US" sz="850" dirty="0"/>
          </a:p>
        </p:txBody>
      </p:sp>
      <p:sp>
        <p:nvSpPr>
          <p:cNvPr id="17" name="Shape 15"/>
          <p:cNvSpPr/>
          <p:nvPr/>
        </p:nvSpPr>
        <p:spPr>
          <a:xfrm>
            <a:off x="2295144" y="1170432"/>
            <a:ext cx="914" cy="2990088"/>
          </a:xfrm>
          <a:prstGeom prst="line">
            <a:avLst/>
          </a:prstGeom>
          <a:noFill/>
          <a:ln w="6350">
            <a:solidFill>
              <a:srgbClr val="CFD8DC"/>
            </a:solidFill>
            <a:prstDash val="solid"/>
          </a:ln>
        </p:spPr>
        <p:txBody>
          <a:bodyPr/>
          <a:lstStyle/>
          <a:p>
            <a:endParaRPr lang="th-TH"/>
          </a:p>
        </p:txBody>
      </p:sp>
      <p:sp>
        <p:nvSpPr>
          <p:cNvPr id="18" name="Text 16"/>
          <p:cNvSpPr/>
          <p:nvPr/>
        </p:nvSpPr>
        <p:spPr>
          <a:xfrm>
            <a:off x="2112264" y="4215384"/>
            <a:ext cx="365760" cy="201168"/>
          </a:xfrm>
          <a:prstGeom prst="rect">
            <a:avLst/>
          </a:prstGeom>
          <a:noFill/>
          <a:ln/>
        </p:spPr>
        <p:txBody>
          <a:bodyPr wrap="square" lIns="0" tIns="0" rIns="0" bIns="0" rtlCol="0" anchor="ctr"/>
          <a:lstStyle/>
          <a:p>
            <a:pPr marL="0" indent="0" algn="ctr">
              <a:buNone/>
            </a:pPr>
            <a:r>
              <a:rPr lang="en-US" sz="850" dirty="0">
                <a:solidFill>
                  <a:srgbClr val="607D8B"/>
                </a:solidFill>
                <a:latin typeface="Calibri" pitchFamily="34" charset="0"/>
                <a:ea typeface="Calibri" pitchFamily="34" charset="-122"/>
                <a:cs typeface="Calibri" pitchFamily="34" charset="-120"/>
              </a:rPr>
              <a:t>0.2</a:t>
            </a:r>
            <a:endParaRPr lang="en-US" sz="850" dirty="0"/>
          </a:p>
        </p:txBody>
      </p:sp>
      <p:sp>
        <p:nvSpPr>
          <p:cNvPr id="19" name="Shape 17"/>
          <p:cNvSpPr/>
          <p:nvPr/>
        </p:nvSpPr>
        <p:spPr>
          <a:xfrm>
            <a:off x="960120" y="2964485"/>
            <a:ext cx="6675120" cy="914"/>
          </a:xfrm>
          <a:prstGeom prst="line">
            <a:avLst/>
          </a:prstGeom>
          <a:noFill/>
          <a:ln w="6350">
            <a:solidFill>
              <a:srgbClr val="CFD8DC"/>
            </a:solidFill>
            <a:prstDash val="solid"/>
          </a:ln>
        </p:spPr>
        <p:txBody>
          <a:bodyPr/>
          <a:lstStyle/>
          <a:p>
            <a:endParaRPr lang="th-TH"/>
          </a:p>
        </p:txBody>
      </p:sp>
      <p:sp>
        <p:nvSpPr>
          <p:cNvPr id="20" name="Text 18"/>
          <p:cNvSpPr/>
          <p:nvPr/>
        </p:nvSpPr>
        <p:spPr>
          <a:xfrm>
            <a:off x="347472" y="2854757"/>
            <a:ext cx="566928" cy="219456"/>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0.4</a:t>
            </a:r>
            <a:endParaRPr lang="en-US" sz="850" dirty="0"/>
          </a:p>
        </p:txBody>
      </p:sp>
      <p:sp>
        <p:nvSpPr>
          <p:cNvPr id="21" name="Shape 19"/>
          <p:cNvSpPr/>
          <p:nvPr/>
        </p:nvSpPr>
        <p:spPr>
          <a:xfrm>
            <a:off x="3630168" y="1170432"/>
            <a:ext cx="914" cy="2990088"/>
          </a:xfrm>
          <a:prstGeom prst="line">
            <a:avLst/>
          </a:prstGeom>
          <a:noFill/>
          <a:ln w="6350">
            <a:solidFill>
              <a:srgbClr val="CFD8DC"/>
            </a:solidFill>
            <a:prstDash val="solid"/>
          </a:ln>
        </p:spPr>
        <p:txBody>
          <a:bodyPr/>
          <a:lstStyle/>
          <a:p>
            <a:endParaRPr lang="th-TH"/>
          </a:p>
        </p:txBody>
      </p:sp>
      <p:sp>
        <p:nvSpPr>
          <p:cNvPr id="22" name="Text 20"/>
          <p:cNvSpPr/>
          <p:nvPr/>
        </p:nvSpPr>
        <p:spPr>
          <a:xfrm>
            <a:off x="3447288" y="4215384"/>
            <a:ext cx="365760" cy="201168"/>
          </a:xfrm>
          <a:prstGeom prst="rect">
            <a:avLst/>
          </a:prstGeom>
          <a:noFill/>
          <a:ln/>
        </p:spPr>
        <p:txBody>
          <a:bodyPr wrap="square" lIns="0" tIns="0" rIns="0" bIns="0" rtlCol="0" anchor="ctr"/>
          <a:lstStyle/>
          <a:p>
            <a:pPr marL="0" indent="0" algn="ctr">
              <a:buNone/>
            </a:pPr>
            <a:r>
              <a:rPr lang="en-US" sz="850" dirty="0">
                <a:solidFill>
                  <a:srgbClr val="607D8B"/>
                </a:solidFill>
                <a:latin typeface="Calibri" pitchFamily="34" charset="0"/>
                <a:ea typeface="Calibri" pitchFamily="34" charset="-122"/>
                <a:cs typeface="Calibri" pitchFamily="34" charset="-120"/>
              </a:rPr>
              <a:t>0.4</a:t>
            </a:r>
            <a:endParaRPr lang="en-US" sz="850" dirty="0"/>
          </a:p>
        </p:txBody>
      </p:sp>
      <p:sp>
        <p:nvSpPr>
          <p:cNvPr id="23" name="Shape 21"/>
          <p:cNvSpPr/>
          <p:nvPr/>
        </p:nvSpPr>
        <p:spPr>
          <a:xfrm>
            <a:off x="960120" y="2366467"/>
            <a:ext cx="6675120" cy="914"/>
          </a:xfrm>
          <a:prstGeom prst="line">
            <a:avLst/>
          </a:prstGeom>
          <a:noFill/>
          <a:ln w="6350">
            <a:solidFill>
              <a:srgbClr val="CFD8DC"/>
            </a:solidFill>
            <a:prstDash val="solid"/>
          </a:ln>
        </p:spPr>
        <p:txBody>
          <a:bodyPr/>
          <a:lstStyle/>
          <a:p>
            <a:endParaRPr lang="th-TH"/>
          </a:p>
        </p:txBody>
      </p:sp>
      <p:sp>
        <p:nvSpPr>
          <p:cNvPr id="24" name="Text 22"/>
          <p:cNvSpPr/>
          <p:nvPr/>
        </p:nvSpPr>
        <p:spPr>
          <a:xfrm>
            <a:off x="347472" y="2256739"/>
            <a:ext cx="566928" cy="219456"/>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0.6</a:t>
            </a:r>
            <a:endParaRPr lang="en-US" sz="850" dirty="0"/>
          </a:p>
        </p:txBody>
      </p:sp>
      <p:sp>
        <p:nvSpPr>
          <p:cNvPr id="25" name="Shape 23"/>
          <p:cNvSpPr/>
          <p:nvPr/>
        </p:nvSpPr>
        <p:spPr>
          <a:xfrm>
            <a:off x="4965192" y="1170432"/>
            <a:ext cx="914" cy="2990088"/>
          </a:xfrm>
          <a:prstGeom prst="line">
            <a:avLst/>
          </a:prstGeom>
          <a:noFill/>
          <a:ln w="6350">
            <a:solidFill>
              <a:srgbClr val="CFD8DC"/>
            </a:solidFill>
            <a:prstDash val="solid"/>
          </a:ln>
        </p:spPr>
        <p:txBody>
          <a:bodyPr/>
          <a:lstStyle/>
          <a:p>
            <a:endParaRPr lang="th-TH"/>
          </a:p>
        </p:txBody>
      </p:sp>
      <p:sp>
        <p:nvSpPr>
          <p:cNvPr id="26" name="Text 24"/>
          <p:cNvSpPr/>
          <p:nvPr/>
        </p:nvSpPr>
        <p:spPr>
          <a:xfrm>
            <a:off x="4782312" y="4215384"/>
            <a:ext cx="365760" cy="201168"/>
          </a:xfrm>
          <a:prstGeom prst="rect">
            <a:avLst/>
          </a:prstGeom>
          <a:noFill/>
          <a:ln/>
        </p:spPr>
        <p:txBody>
          <a:bodyPr wrap="square" lIns="0" tIns="0" rIns="0" bIns="0" rtlCol="0" anchor="ctr"/>
          <a:lstStyle/>
          <a:p>
            <a:pPr marL="0" indent="0" algn="ctr">
              <a:buNone/>
            </a:pPr>
            <a:r>
              <a:rPr lang="en-US" sz="850" dirty="0">
                <a:solidFill>
                  <a:srgbClr val="607D8B"/>
                </a:solidFill>
                <a:latin typeface="Calibri" pitchFamily="34" charset="0"/>
                <a:ea typeface="Calibri" pitchFamily="34" charset="-122"/>
                <a:cs typeface="Calibri" pitchFamily="34" charset="-120"/>
              </a:rPr>
              <a:t>0.6</a:t>
            </a:r>
            <a:endParaRPr lang="en-US" sz="850" dirty="0"/>
          </a:p>
        </p:txBody>
      </p:sp>
      <p:sp>
        <p:nvSpPr>
          <p:cNvPr id="27" name="Shape 25"/>
          <p:cNvSpPr/>
          <p:nvPr/>
        </p:nvSpPr>
        <p:spPr>
          <a:xfrm>
            <a:off x="960120" y="1768450"/>
            <a:ext cx="6675120" cy="914"/>
          </a:xfrm>
          <a:prstGeom prst="line">
            <a:avLst/>
          </a:prstGeom>
          <a:noFill/>
          <a:ln w="6350">
            <a:solidFill>
              <a:srgbClr val="CFD8DC"/>
            </a:solidFill>
            <a:prstDash val="solid"/>
          </a:ln>
        </p:spPr>
        <p:txBody>
          <a:bodyPr/>
          <a:lstStyle/>
          <a:p>
            <a:endParaRPr lang="th-TH"/>
          </a:p>
        </p:txBody>
      </p:sp>
      <p:sp>
        <p:nvSpPr>
          <p:cNvPr id="28" name="Text 26"/>
          <p:cNvSpPr/>
          <p:nvPr/>
        </p:nvSpPr>
        <p:spPr>
          <a:xfrm>
            <a:off x="347472" y="1658722"/>
            <a:ext cx="566928" cy="219456"/>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0.8</a:t>
            </a:r>
            <a:endParaRPr lang="en-US" sz="850" dirty="0"/>
          </a:p>
        </p:txBody>
      </p:sp>
      <p:sp>
        <p:nvSpPr>
          <p:cNvPr id="29" name="Shape 27"/>
          <p:cNvSpPr/>
          <p:nvPr/>
        </p:nvSpPr>
        <p:spPr>
          <a:xfrm>
            <a:off x="6300216" y="1170432"/>
            <a:ext cx="914" cy="2990088"/>
          </a:xfrm>
          <a:prstGeom prst="line">
            <a:avLst/>
          </a:prstGeom>
          <a:noFill/>
          <a:ln w="6350">
            <a:solidFill>
              <a:srgbClr val="CFD8DC"/>
            </a:solidFill>
            <a:prstDash val="solid"/>
          </a:ln>
        </p:spPr>
        <p:txBody>
          <a:bodyPr/>
          <a:lstStyle/>
          <a:p>
            <a:endParaRPr lang="th-TH"/>
          </a:p>
        </p:txBody>
      </p:sp>
      <p:sp>
        <p:nvSpPr>
          <p:cNvPr id="30" name="Text 28"/>
          <p:cNvSpPr/>
          <p:nvPr/>
        </p:nvSpPr>
        <p:spPr>
          <a:xfrm>
            <a:off x="6117336" y="4215384"/>
            <a:ext cx="365760" cy="201168"/>
          </a:xfrm>
          <a:prstGeom prst="rect">
            <a:avLst/>
          </a:prstGeom>
          <a:noFill/>
          <a:ln/>
        </p:spPr>
        <p:txBody>
          <a:bodyPr wrap="square" lIns="0" tIns="0" rIns="0" bIns="0" rtlCol="0" anchor="ctr"/>
          <a:lstStyle/>
          <a:p>
            <a:pPr marL="0" indent="0" algn="ctr">
              <a:buNone/>
            </a:pPr>
            <a:r>
              <a:rPr lang="en-US" sz="850" dirty="0">
                <a:solidFill>
                  <a:srgbClr val="607D8B"/>
                </a:solidFill>
                <a:latin typeface="Calibri" pitchFamily="34" charset="0"/>
                <a:ea typeface="Calibri" pitchFamily="34" charset="-122"/>
                <a:cs typeface="Calibri" pitchFamily="34" charset="-120"/>
              </a:rPr>
              <a:t>0.8</a:t>
            </a:r>
            <a:endParaRPr lang="en-US" sz="850" dirty="0"/>
          </a:p>
        </p:txBody>
      </p:sp>
      <p:sp>
        <p:nvSpPr>
          <p:cNvPr id="31" name="Shape 29"/>
          <p:cNvSpPr/>
          <p:nvPr/>
        </p:nvSpPr>
        <p:spPr>
          <a:xfrm>
            <a:off x="960120" y="1170432"/>
            <a:ext cx="6675120" cy="914"/>
          </a:xfrm>
          <a:prstGeom prst="line">
            <a:avLst/>
          </a:prstGeom>
          <a:noFill/>
          <a:ln w="6350">
            <a:solidFill>
              <a:srgbClr val="CFD8DC"/>
            </a:solidFill>
            <a:prstDash val="solid"/>
          </a:ln>
        </p:spPr>
        <p:txBody>
          <a:bodyPr/>
          <a:lstStyle/>
          <a:p>
            <a:endParaRPr lang="th-TH"/>
          </a:p>
        </p:txBody>
      </p:sp>
      <p:sp>
        <p:nvSpPr>
          <p:cNvPr id="32" name="Text 30"/>
          <p:cNvSpPr/>
          <p:nvPr/>
        </p:nvSpPr>
        <p:spPr>
          <a:xfrm>
            <a:off x="347472" y="1060704"/>
            <a:ext cx="566928" cy="219456"/>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1.0</a:t>
            </a:r>
            <a:endParaRPr lang="en-US" sz="850" dirty="0"/>
          </a:p>
        </p:txBody>
      </p:sp>
      <p:sp>
        <p:nvSpPr>
          <p:cNvPr id="33" name="Shape 31"/>
          <p:cNvSpPr/>
          <p:nvPr/>
        </p:nvSpPr>
        <p:spPr>
          <a:xfrm>
            <a:off x="7635240" y="1170432"/>
            <a:ext cx="914" cy="2990088"/>
          </a:xfrm>
          <a:prstGeom prst="line">
            <a:avLst/>
          </a:prstGeom>
          <a:noFill/>
          <a:ln w="6350">
            <a:solidFill>
              <a:srgbClr val="CFD8DC"/>
            </a:solidFill>
            <a:prstDash val="solid"/>
          </a:ln>
        </p:spPr>
        <p:txBody>
          <a:bodyPr/>
          <a:lstStyle/>
          <a:p>
            <a:endParaRPr lang="th-TH"/>
          </a:p>
        </p:txBody>
      </p:sp>
      <p:sp>
        <p:nvSpPr>
          <p:cNvPr id="34" name="Text 32"/>
          <p:cNvSpPr/>
          <p:nvPr/>
        </p:nvSpPr>
        <p:spPr>
          <a:xfrm>
            <a:off x="7452360" y="4215384"/>
            <a:ext cx="365760" cy="201168"/>
          </a:xfrm>
          <a:prstGeom prst="rect">
            <a:avLst/>
          </a:prstGeom>
          <a:noFill/>
          <a:ln/>
        </p:spPr>
        <p:txBody>
          <a:bodyPr wrap="square" lIns="0" tIns="0" rIns="0" bIns="0" rtlCol="0" anchor="ctr"/>
          <a:lstStyle/>
          <a:p>
            <a:pPr marL="0" indent="0" algn="ctr">
              <a:buNone/>
            </a:pPr>
            <a:r>
              <a:rPr lang="en-US" sz="850" dirty="0">
                <a:solidFill>
                  <a:srgbClr val="607D8B"/>
                </a:solidFill>
                <a:latin typeface="Calibri" pitchFamily="34" charset="0"/>
                <a:ea typeface="Calibri" pitchFamily="34" charset="-122"/>
                <a:cs typeface="Calibri" pitchFamily="34" charset="-120"/>
              </a:rPr>
              <a:t>1.0</a:t>
            </a:r>
            <a:endParaRPr lang="en-US" sz="850" dirty="0"/>
          </a:p>
        </p:txBody>
      </p:sp>
      <p:sp>
        <p:nvSpPr>
          <p:cNvPr id="35" name="Shape 33"/>
          <p:cNvSpPr/>
          <p:nvPr/>
        </p:nvSpPr>
        <p:spPr>
          <a:xfrm>
            <a:off x="960120" y="4160520"/>
            <a:ext cx="6675120" cy="914"/>
          </a:xfrm>
          <a:prstGeom prst="line">
            <a:avLst/>
          </a:prstGeom>
          <a:noFill/>
          <a:ln w="12700">
            <a:solidFill>
              <a:srgbClr val="37474F"/>
            </a:solidFill>
            <a:prstDash val="solid"/>
          </a:ln>
        </p:spPr>
        <p:txBody>
          <a:bodyPr/>
          <a:lstStyle/>
          <a:p>
            <a:endParaRPr lang="th-TH"/>
          </a:p>
        </p:txBody>
      </p:sp>
      <p:sp>
        <p:nvSpPr>
          <p:cNvPr id="36" name="Shape 34"/>
          <p:cNvSpPr/>
          <p:nvPr/>
        </p:nvSpPr>
        <p:spPr>
          <a:xfrm>
            <a:off x="960120" y="1170432"/>
            <a:ext cx="914" cy="2990088"/>
          </a:xfrm>
          <a:prstGeom prst="line">
            <a:avLst/>
          </a:prstGeom>
          <a:noFill/>
          <a:ln w="12700">
            <a:solidFill>
              <a:srgbClr val="37474F"/>
            </a:solidFill>
            <a:prstDash val="solid"/>
          </a:ln>
        </p:spPr>
        <p:txBody>
          <a:bodyPr/>
          <a:lstStyle/>
          <a:p>
            <a:endParaRPr lang="th-TH"/>
          </a:p>
        </p:txBody>
      </p:sp>
      <p:sp>
        <p:nvSpPr>
          <p:cNvPr id="37" name="Text 35"/>
          <p:cNvSpPr/>
          <p:nvPr/>
        </p:nvSpPr>
        <p:spPr>
          <a:xfrm>
            <a:off x="3200400" y="4434840"/>
            <a:ext cx="2194560" cy="219456"/>
          </a:xfrm>
          <a:prstGeom prst="rect">
            <a:avLst/>
          </a:prstGeom>
          <a:noFill/>
          <a:ln/>
        </p:spPr>
        <p:txBody>
          <a:bodyPr wrap="square" lIns="0" tIns="0" rIns="0" bIns="0" rtlCol="0" anchor="ctr"/>
          <a:lstStyle/>
          <a:p>
            <a:pPr marL="0" indent="0" algn="ctr">
              <a:buNone/>
            </a:pPr>
            <a:r>
              <a:rPr lang="en-US" sz="950" b="1" dirty="0">
                <a:solidFill>
                  <a:srgbClr val="607D8B"/>
                </a:solidFill>
                <a:latin typeface="Calibri" pitchFamily="34" charset="0"/>
                <a:ea typeface="Calibri" pitchFamily="34" charset="-122"/>
                <a:cs typeface="Calibri" pitchFamily="34" charset="-120"/>
              </a:rPr>
              <a:t>False Positive Rate (FPR)</a:t>
            </a:r>
            <a:endParaRPr lang="en-US" sz="950" dirty="0"/>
          </a:p>
        </p:txBody>
      </p:sp>
      <p:sp>
        <p:nvSpPr>
          <p:cNvPr id="38" name="Text 36"/>
          <p:cNvSpPr/>
          <p:nvPr/>
        </p:nvSpPr>
        <p:spPr>
          <a:xfrm>
            <a:off x="45720" y="2391156"/>
            <a:ext cx="457200" cy="548640"/>
          </a:xfrm>
          <a:prstGeom prst="rect">
            <a:avLst/>
          </a:prstGeom>
          <a:noFill/>
          <a:ln/>
        </p:spPr>
        <p:txBody>
          <a:bodyPr wrap="square" lIns="0" tIns="0" rIns="0" bIns="0" rtlCol="0" anchor="ctr"/>
          <a:lstStyle/>
          <a:p>
            <a:pPr marL="0" indent="0" algn="ctr">
              <a:buNone/>
            </a:pPr>
            <a:r>
              <a:rPr lang="en-US" sz="950" b="1" dirty="0">
                <a:solidFill>
                  <a:srgbClr val="607D8B"/>
                </a:solidFill>
                <a:latin typeface="Calibri" pitchFamily="34" charset="0"/>
                <a:ea typeface="Calibri" pitchFamily="34" charset="-122"/>
                <a:cs typeface="Calibri" pitchFamily="34" charset="-120"/>
              </a:rPr>
              <a:t>TPR</a:t>
            </a:r>
            <a:endParaRPr lang="en-US" sz="950" dirty="0"/>
          </a:p>
        </p:txBody>
      </p:sp>
      <p:sp>
        <p:nvSpPr>
          <p:cNvPr id="39" name="Shape 37"/>
          <p:cNvSpPr/>
          <p:nvPr/>
        </p:nvSpPr>
        <p:spPr>
          <a:xfrm flipV="1">
            <a:off x="960120" y="1170432"/>
            <a:ext cx="6675120" cy="2990088"/>
          </a:xfrm>
          <a:prstGeom prst="line">
            <a:avLst/>
          </a:prstGeom>
          <a:noFill/>
          <a:ln w="15240">
            <a:solidFill>
              <a:srgbClr val="B0BEC5"/>
            </a:solidFill>
            <a:prstDash val="solid"/>
          </a:ln>
        </p:spPr>
        <p:txBody>
          <a:bodyPr/>
          <a:lstStyle/>
          <a:p>
            <a:endParaRPr lang="th-TH"/>
          </a:p>
        </p:txBody>
      </p:sp>
      <p:sp>
        <p:nvSpPr>
          <p:cNvPr id="40" name="Shape 38"/>
          <p:cNvSpPr/>
          <p:nvPr/>
        </p:nvSpPr>
        <p:spPr>
          <a:xfrm flipV="1">
            <a:off x="960120" y="2814980"/>
            <a:ext cx="66751" cy="1345540"/>
          </a:xfrm>
          <a:prstGeom prst="line">
            <a:avLst/>
          </a:prstGeom>
          <a:noFill/>
          <a:ln w="27940">
            <a:solidFill>
              <a:srgbClr val="0A2342"/>
            </a:solidFill>
            <a:prstDash val="solid"/>
          </a:ln>
        </p:spPr>
        <p:txBody>
          <a:bodyPr/>
          <a:lstStyle/>
          <a:p>
            <a:endParaRPr lang="th-TH"/>
          </a:p>
        </p:txBody>
      </p:sp>
      <p:sp>
        <p:nvSpPr>
          <p:cNvPr id="41" name="Shape 39"/>
          <p:cNvSpPr/>
          <p:nvPr/>
        </p:nvSpPr>
        <p:spPr>
          <a:xfrm flipV="1">
            <a:off x="1026871" y="2276765"/>
            <a:ext cx="66751" cy="538216"/>
          </a:xfrm>
          <a:prstGeom prst="line">
            <a:avLst/>
          </a:prstGeom>
          <a:noFill/>
          <a:ln w="27940">
            <a:solidFill>
              <a:srgbClr val="0A2342"/>
            </a:solidFill>
            <a:prstDash val="solid"/>
          </a:ln>
        </p:spPr>
        <p:txBody>
          <a:bodyPr/>
          <a:lstStyle/>
          <a:p>
            <a:endParaRPr lang="th-TH"/>
          </a:p>
        </p:txBody>
      </p:sp>
      <p:sp>
        <p:nvSpPr>
          <p:cNvPr id="42" name="Shape 40"/>
          <p:cNvSpPr/>
          <p:nvPr/>
        </p:nvSpPr>
        <p:spPr>
          <a:xfrm flipV="1">
            <a:off x="1093622" y="1888053"/>
            <a:ext cx="133502" cy="388711"/>
          </a:xfrm>
          <a:prstGeom prst="line">
            <a:avLst/>
          </a:prstGeom>
          <a:noFill/>
          <a:ln w="27940">
            <a:solidFill>
              <a:srgbClr val="0A2342"/>
            </a:solidFill>
            <a:prstDash val="solid"/>
          </a:ln>
        </p:spPr>
        <p:txBody>
          <a:bodyPr/>
          <a:lstStyle/>
          <a:p>
            <a:endParaRPr lang="th-TH"/>
          </a:p>
        </p:txBody>
      </p:sp>
      <p:sp>
        <p:nvSpPr>
          <p:cNvPr id="43" name="Shape 41"/>
          <p:cNvSpPr/>
          <p:nvPr/>
        </p:nvSpPr>
        <p:spPr>
          <a:xfrm flipV="1">
            <a:off x="1227125" y="1678747"/>
            <a:ext cx="133502" cy="209306"/>
          </a:xfrm>
          <a:prstGeom prst="line">
            <a:avLst/>
          </a:prstGeom>
          <a:noFill/>
          <a:ln w="27940">
            <a:solidFill>
              <a:srgbClr val="0A2342"/>
            </a:solidFill>
            <a:prstDash val="solid"/>
          </a:ln>
        </p:spPr>
        <p:txBody>
          <a:bodyPr/>
          <a:lstStyle/>
          <a:p>
            <a:endParaRPr lang="th-TH"/>
          </a:p>
        </p:txBody>
      </p:sp>
      <p:sp>
        <p:nvSpPr>
          <p:cNvPr id="44" name="Shape 42"/>
          <p:cNvSpPr/>
          <p:nvPr/>
        </p:nvSpPr>
        <p:spPr>
          <a:xfrm flipV="1">
            <a:off x="1360627" y="1559143"/>
            <a:ext cx="133502" cy="119604"/>
          </a:xfrm>
          <a:prstGeom prst="line">
            <a:avLst/>
          </a:prstGeom>
          <a:noFill/>
          <a:ln w="27940">
            <a:solidFill>
              <a:srgbClr val="0A2342"/>
            </a:solidFill>
            <a:prstDash val="solid"/>
          </a:ln>
        </p:spPr>
        <p:txBody>
          <a:bodyPr/>
          <a:lstStyle/>
          <a:p>
            <a:endParaRPr lang="th-TH"/>
          </a:p>
        </p:txBody>
      </p:sp>
      <p:sp>
        <p:nvSpPr>
          <p:cNvPr id="45" name="Shape 43"/>
          <p:cNvSpPr/>
          <p:nvPr/>
        </p:nvSpPr>
        <p:spPr>
          <a:xfrm flipV="1">
            <a:off x="1494130" y="1469441"/>
            <a:ext cx="133502" cy="89703"/>
          </a:xfrm>
          <a:prstGeom prst="line">
            <a:avLst/>
          </a:prstGeom>
          <a:noFill/>
          <a:ln w="27940">
            <a:solidFill>
              <a:srgbClr val="0A2342"/>
            </a:solidFill>
            <a:prstDash val="solid"/>
          </a:ln>
        </p:spPr>
        <p:txBody>
          <a:bodyPr/>
          <a:lstStyle/>
          <a:p>
            <a:endParaRPr lang="th-TH"/>
          </a:p>
        </p:txBody>
      </p:sp>
      <p:sp>
        <p:nvSpPr>
          <p:cNvPr id="46" name="Shape 44"/>
          <p:cNvSpPr/>
          <p:nvPr/>
        </p:nvSpPr>
        <p:spPr>
          <a:xfrm flipV="1">
            <a:off x="1627632" y="1379738"/>
            <a:ext cx="333756" cy="89703"/>
          </a:xfrm>
          <a:prstGeom prst="line">
            <a:avLst/>
          </a:prstGeom>
          <a:noFill/>
          <a:ln w="27940">
            <a:solidFill>
              <a:srgbClr val="0A2342"/>
            </a:solidFill>
            <a:prstDash val="solid"/>
          </a:ln>
        </p:spPr>
        <p:txBody>
          <a:bodyPr/>
          <a:lstStyle/>
          <a:p>
            <a:endParaRPr lang="th-TH"/>
          </a:p>
        </p:txBody>
      </p:sp>
      <p:sp>
        <p:nvSpPr>
          <p:cNvPr id="47" name="Shape 45"/>
          <p:cNvSpPr/>
          <p:nvPr/>
        </p:nvSpPr>
        <p:spPr>
          <a:xfrm flipV="1">
            <a:off x="1961388" y="1349837"/>
            <a:ext cx="333756" cy="29901"/>
          </a:xfrm>
          <a:prstGeom prst="line">
            <a:avLst/>
          </a:prstGeom>
          <a:noFill/>
          <a:ln w="27940">
            <a:solidFill>
              <a:srgbClr val="0A2342"/>
            </a:solidFill>
            <a:prstDash val="solid"/>
          </a:ln>
        </p:spPr>
        <p:txBody>
          <a:bodyPr/>
          <a:lstStyle/>
          <a:p>
            <a:endParaRPr lang="th-TH"/>
          </a:p>
        </p:txBody>
      </p:sp>
      <p:sp>
        <p:nvSpPr>
          <p:cNvPr id="48" name="Shape 46"/>
          <p:cNvSpPr/>
          <p:nvPr/>
        </p:nvSpPr>
        <p:spPr>
          <a:xfrm flipV="1">
            <a:off x="2295144" y="1319936"/>
            <a:ext cx="333756" cy="29901"/>
          </a:xfrm>
          <a:prstGeom prst="line">
            <a:avLst/>
          </a:prstGeom>
          <a:noFill/>
          <a:ln w="27940">
            <a:solidFill>
              <a:srgbClr val="0A2342"/>
            </a:solidFill>
            <a:prstDash val="solid"/>
          </a:ln>
        </p:spPr>
        <p:txBody>
          <a:bodyPr/>
          <a:lstStyle/>
          <a:p>
            <a:endParaRPr lang="th-TH"/>
          </a:p>
        </p:txBody>
      </p:sp>
      <p:sp>
        <p:nvSpPr>
          <p:cNvPr id="49" name="Shape 47"/>
          <p:cNvSpPr/>
          <p:nvPr/>
        </p:nvSpPr>
        <p:spPr>
          <a:xfrm flipV="1">
            <a:off x="2628900" y="1290036"/>
            <a:ext cx="333756" cy="29901"/>
          </a:xfrm>
          <a:prstGeom prst="line">
            <a:avLst/>
          </a:prstGeom>
          <a:noFill/>
          <a:ln w="27940">
            <a:solidFill>
              <a:srgbClr val="0A2342"/>
            </a:solidFill>
            <a:prstDash val="solid"/>
          </a:ln>
        </p:spPr>
        <p:txBody>
          <a:bodyPr/>
          <a:lstStyle/>
          <a:p>
            <a:endParaRPr lang="th-TH"/>
          </a:p>
        </p:txBody>
      </p:sp>
      <p:sp>
        <p:nvSpPr>
          <p:cNvPr id="50" name="Shape 48"/>
          <p:cNvSpPr/>
          <p:nvPr/>
        </p:nvSpPr>
        <p:spPr>
          <a:xfrm flipV="1">
            <a:off x="2962656" y="1260135"/>
            <a:ext cx="667512" cy="29901"/>
          </a:xfrm>
          <a:prstGeom prst="line">
            <a:avLst/>
          </a:prstGeom>
          <a:noFill/>
          <a:ln w="27940">
            <a:solidFill>
              <a:srgbClr val="0A2342"/>
            </a:solidFill>
            <a:prstDash val="solid"/>
          </a:ln>
        </p:spPr>
        <p:txBody>
          <a:bodyPr/>
          <a:lstStyle/>
          <a:p>
            <a:endParaRPr lang="th-TH"/>
          </a:p>
        </p:txBody>
      </p:sp>
      <p:sp>
        <p:nvSpPr>
          <p:cNvPr id="51" name="Shape 49"/>
          <p:cNvSpPr/>
          <p:nvPr/>
        </p:nvSpPr>
        <p:spPr>
          <a:xfrm flipV="1">
            <a:off x="3630168" y="1230234"/>
            <a:ext cx="667512" cy="29901"/>
          </a:xfrm>
          <a:prstGeom prst="line">
            <a:avLst/>
          </a:prstGeom>
          <a:noFill/>
          <a:ln w="27940">
            <a:solidFill>
              <a:srgbClr val="0A2342"/>
            </a:solidFill>
            <a:prstDash val="solid"/>
          </a:ln>
        </p:spPr>
        <p:txBody>
          <a:bodyPr/>
          <a:lstStyle/>
          <a:p>
            <a:endParaRPr lang="th-TH"/>
          </a:p>
        </p:txBody>
      </p:sp>
      <p:sp>
        <p:nvSpPr>
          <p:cNvPr id="52" name="Shape 50"/>
          <p:cNvSpPr/>
          <p:nvPr/>
        </p:nvSpPr>
        <p:spPr>
          <a:xfrm flipV="1">
            <a:off x="4297680" y="1200333"/>
            <a:ext cx="667512" cy="29901"/>
          </a:xfrm>
          <a:prstGeom prst="line">
            <a:avLst/>
          </a:prstGeom>
          <a:noFill/>
          <a:ln w="27940">
            <a:solidFill>
              <a:srgbClr val="0A2342"/>
            </a:solidFill>
            <a:prstDash val="solid"/>
          </a:ln>
        </p:spPr>
        <p:txBody>
          <a:bodyPr/>
          <a:lstStyle/>
          <a:p>
            <a:endParaRPr lang="th-TH"/>
          </a:p>
        </p:txBody>
      </p:sp>
      <p:sp>
        <p:nvSpPr>
          <p:cNvPr id="53" name="Shape 51"/>
          <p:cNvSpPr/>
          <p:nvPr/>
        </p:nvSpPr>
        <p:spPr>
          <a:xfrm>
            <a:off x="4965192" y="1200333"/>
            <a:ext cx="667512" cy="914"/>
          </a:xfrm>
          <a:prstGeom prst="line">
            <a:avLst/>
          </a:prstGeom>
          <a:noFill/>
          <a:ln w="27940">
            <a:solidFill>
              <a:srgbClr val="0A2342"/>
            </a:solidFill>
            <a:prstDash val="solid"/>
          </a:ln>
        </p:spPr>
        <p:txBody>
          <a:bodyPr/>
          <a:lstStyle/>
          <a:p>
            <a:endParaRPr lang="th-TH"/>
          </a:p>
        </p:txBody>
      </p:sp>
      <p:sp>
        <p:nvSpPr>
          <p:cNvPr id="54" name="Shape 52"/>
          <p:cNvSpPr/>
          <p:nvPr/>
        </p:nvSpPr>
        <p:spPr>
          <a:xfrm flipV="1">
            <a:off x="5632704" y="1170432"/>
            <a:ext cx="667512" cy="29901"/>
          </a:xfrm>
          <a:prstGeom prst="line">
            <a:avLst/>
          </a:prstGeom>
          <a:noFill/>
          <a:ln w="27940">
            <a:solidFill>
              <a:srgbClr val="0A2342"/>
            </a:solidFill>
            <a:prstDash val="solid"/>
          </a:ln>
        </p:spPr>
        <p:txBody>
          <a:bodyPr/>
          <a:lstStyle/>
          <a:p>
            <a:endParaRPr lang="th-TH"/>
          </a:p>
        </p:txBody>
      </p:sp>
      <p:sp>
        <p:nvSpPr>
          <p:cNvPr id="55" name="Shape 53"/>
          <p:cNvSpPr/>
          <p:nvPr/>
        </p:nvSpPr>
        <p:spPr>
          <a:xfrm>
            <a:off x="6300216" y="1170432"/>
            <a:ext cx="667512" cy="914"/>
          </a:xfrm>
          <a:prstGeom prst="line">
            <a:avLst/>
          </a:prstGeom>
          <a:noFill/>
          <a:ln w="27940">
            <a:solidFill>
              <a:srgbClr val="0A2342"/>
            </a:solidFill>
            <a:prstDash val="solid"/>
          </a:ln>
        </p:spPr>
        <p:txBody>
          <a:bodyPr/>
          <a:lstStyle/>
          <a:p>
            <a:endParaRPr lang="th-TH"/>
          </a:p>
        </p:txBody>
      </p:sp>
      <p:sp>
        <p:nvSpPr>
          <p:cNvPr id="56" name="Shape 54"/>
          <p:cNvSpPr/>
          <p:nvPr/>
        </p:nvSpPr>
        <p:spPr>
          <a:xfrm>
            <a:off x="6967728" y="1170432"/>
            <a:ext cx="667512" cy="914"/>
          </a:xfrm>
          <a:prstGeom prst="line">
            <a:avLst/>
          </a:prstGeom>
          <a:noFill/>
          <a:ln w="27940">
            <a:solidFill>
              <a:srgbClr val="0A2342"/>
            </a:solidFill>
            <a:prstDash val="solid"/>
          </a:ln>
        </p:spPr>
        <p:txBody>
          <a:bodyPr/>
          <a:lstStyle/>
          <a:p>
            <a:endParaRPr lang="th-TH"/>
          </a:p>
        </p:txBody>
      </p:sp>
      <p:sp>
        <p:nvSpPr>
          <p:cNvPr id="57" name="Shape 55"/>
          <p:cNvSpPr/>
          <p:nvPr/>
        </p:nvSpPr>
        <p:spPr>
          <a:xfrm flipV="1">
            <a:off x="960120" y="3143890"/>
            <a:ext cx="66751" cy="1016630"/>
          </a:xfrm>
          <a:prstGeom prst="line">
            <a:avLst/>
          </a:prstGeom>
          <a:noFill/>
          <a:ln w="27940">
            <a:solidFill>
              <a:srgbClr val="1976D2"/>
            </a:solidFill>
            <a:prstDash val="solid"/>
          </a:ln>
        </p:spPr>
        <p:txBody>
          <a:bodyPr/>
          <a:lstStyle/>
          <a:p>
            <a:endParaRPr lang="th-TH"/>
          </a:p>
        </p:txBody>
      </p:sp>
      <p:sp>
        <p:nvSpPr>
          <p:cNvPr id="58" name="Shape 56"/>
          <p:cNvSpPr/>
          <p:nvPr/>
        </p:nvSpPr>
        <p:spPr>
          <a:xfrm flipV="1">
            <a:off x="1026871" y="2665476"/>
            <a:ext cx="66751" cy="478414"/>
          </a:xfrm>
          <a:prstGeom prst="line">
            <a:avLst/>
          </a:prstGeom>
          <a:noFill/>
          <a:ln w="27940">
            <a:solidFill>
              <a:srgbClr val="1976D2"/>
            </a:solidFill>
            <a:prstDash val="solid"/>
          </a:ln>
        </p:spPr>
        <p:txBody>
          <a:bodyPr/>
          <a:lstStyle/>
          <a:p>
            <a:endParaRPr lang="th-TH"/>
          </a:p>
        </p:txBody>
      </p:sp>
      <p:sp>
        <p:nvSpPr>
          <p:cNvPr id="59" name="Shape 57"/>
          <p:cNvSpPr/>
          <p:nvPr/>
        </p:nvSpPr>
        <p:spPr>
          <a:xfrm flipV="1">
            <a:off x="1093622" y="2276765"/>
            <a:ext cx="133502" cy="388711"/>
          </a:xfrm>
          <a:prstGeom prst="line">
            <a:avLst/>
          </a:prstGeom>
          <a:noFill/>
          <a:ln w="27940">
            <a:solidFill>
              <a:srgbClr val="1976D2"/>
            </a:solidFill>
            <a:prstDash val="solid"/>
          </a:ln>
        </p:spPr>
        <p:txBody>
          <a:bodyPr/>
          <a:lstStyle/>
          <a:p>
            <a:endParaRPr lang="th-TH"/>
          </a:p>
        </p:txBody>
      </p:sp>
      <p:sp>
        <p:nvSpPr>
          <p:cNvPr id="60" name="Shape 58"/>
          <p:cNvSpPr/>
          <p:nvPr/>
        </p:nvSpPr>
        <p:spPr>
          <a:xfrm flipV="1">
            <a:off x="1227125" y="2067458"/>
            <a:ext cx="133502" cy="209306"/>
          </a:xfrm>
          <a:prstGeom prst="line">
            <a:avLst/>
          </a:prstGeom>
          <a:noFill/>
          <a:ln w="27940">
            <a:solidFill>
              <a:srgbClr val="1976D2"/>
            </a:solidFill>
            <a:prstDash val="solid"/>
          </a:ln>
        </p:spPr>
        <p:txBody>
          <a:bodyPr/>
          <a:lstStyle/>
          <a:p>
            <a:endParaRPr lang="th-TH"/>
          </a:p>
        </p:txBody>
      </p:sp>
      <p:sp>
        <p:nvSpPr>
          <p:cNvPr id="61" name="Shape 59"/>
          <p:cNvSpPr/>
          <p:nvPr/>
        </p:nvSpPr>
        <p:spPr>
          <a:xfrm flipV="1">
            <a:off x="1360627" y="1917954"/>
            <a:ext cx="133502" cy="149504"/>
          </a:xfrm>
          <a:prstGeom prst="line">
            <a:avLst/>
          </a:prstGeom>
          <a:noFill/>
          <a:ln w="27940">
            <a:solidFill>
              <a:srgbClr val="1976D2"/>
            </a:solidFill>
            <a:prstDash val="solid"/>
          </a:ln>
        </p:spPr>
        <p:txBody>
          <a:bodyPr/>
          <a:lstStyle/>
          <a:p>
            <a:endParaRPr lang="th-TH"/>
          </a:p>
        </p:txBody>
      </p:sp>
      <p:sp>
        <p:nvSpPr>
          <p:cNvPr id="62" name="Shape 60"/>
          <p:cNvSpPr/>
          <p:nvPr/>
        </p:nvSpPr>
        <p:spPr>
          <a:xfrm flipV="1">
            <a:off x="1494130" y="1798350"/>
            <a:ext cx="133502" cy="119604"/>
          </a:xfrm>
          <a:prstGeom prst="line">
            <a:avLst/>
          </a:prstGeom>
          <a:noFill/>
          <a:ln w="27940">
            <a:solidFill>
              <a:srgbClr val="1976D2"/>
            </a:solidFill>
            <a:prstDash val="solid"/>
          </a:ln>
        </p:spPr>
        <p:txBody>
          <a:bodyPr/>
          <a:lstStyle/>
          <a:p>
            <a:endParaRPr lang="th-TH"/>
          </a:p>
        </p:txBody>
      </p:sp>
      <p:sp>
        <p:nvSpPr>
          <p:cNvPr id="63" name="Shape 61"/>
          <p:cNvSpPr/>
          <p:nvPr/>
        </p:nvSpPr>
        <p:spPr>
          <a:xfrm flipV="1">
            <a:off x="1627632" y="1648846"/>
            <a:ext cx="333756" cy="149504"/>
          </a:xfrm>
          <a:prstGeom prst="line">
            <a:avLst/>
          </a:prstGeom>
          <a:noFill/>
          <a:ln w="27940">
            <a:solidFill>
              <a:srgbClr val="1976D2"/>
            </a:solidFill>
            <a:prstDash val="solid"/>
          </a:ln>
        </p:spPr>
        <p:txBody>
          <a:bodyPr/>
          <a:lstStyle/>
          <a:p>
            <a:endParaRPr lang="th-TH"/>
          </a:p>
        </p:txBody>
      </p:sp>
      <p:sp>
        <p:nvSpPr>
          <p:cNvPr id="64" name="Shape 62"/>
          <p:cNvSpPr/>
          <p:nvPr/>
        </p:nvSpPr>
        <p:spPr>
          <a:xfrm flipV="1">
            <a:off x="1961388" y="1559143"/>
            <a:ext cx="333756" cy="89703"/>
          </a:xfrm>
          <a:prstGeom prst="line">
            <a:avLst/>
          </a:prstGeom>
          <a:noFill/>
          <a:ln w="27940">
            <a:solidFill>
              <a:srgbClr val="1976D2"/>
            </a:solidFill>
            <a:prstDash val="solid"/>
          </a:ln>
        </p:spPr>
        <p:txBody>
          <a:bodyPr/>
          <a:lstStyle/>
          <a:p>
            <a:endParaRPr lang="th-TH"/>
          </a:p>
        </p:txBody>
      </p:sp>
      <p:sp>
        <p:nvSpPr>
          <p:cNvPr id="65" name="Shape 63"/>
          <p:cNvSpPr/>
          <p:nvPr/>
        </p:nvSpPr>
        <p:spPr>
          <a:xfrm flipV="1">
            <a:off x="2295144" y="1499342"/>
            <a:ext cx="333756" cy="59802"/>
          </a:xfrm>
          <a:prstGeom prst="line">
            <a:avLst/>
          </a:prstGeom>
          <a:noFill/>
          <a:ln w="27940">
            <a:solidFill>
              <a:srgbClr val="1976D2"/>
            </a:solidFill>
            <a:prstDash val="solid"/>
          </a:ln>
        </p:spPr>
        <p:txBody>
          <a:bodyPr/>
          <a:lstStyle/>
          <a:p>
            <a:endParaRPr lang="th-TH"/>
          </a:p>
        </p:txBody>
      </p:sp>
      <p:sp>
        <p:nvSpPr>
          <p:cNvPr id="66" name="Shape 64"/>
          <p:cNvSpPr/>
          <p:nvPr/>
        </p:nvSpPr>
        <p:spPr>
          <a:xfrm flipV="1">
            <a:off x="2628900" y="1439540"/>
            <a:ext cx="333756" cy="59802"/>
          </a:xfrm>
          <a:prstGeom prst="line">
            <a:avLst/>
          </a:prstGeom>
          <a:noFill/>
          <a:ln w="27940">
            <a:solidFill>
              <a:srgbClr val="1976D2"/>
            </a:solidFill>
            <a:prstDash val="solid"/>
          </a:ln>
        </p:spPr>
        <p:txBody>
          <a:bodyPr/>
          <a:lstStyle/>
          <a:p>
            <a:endParaRPr lang="th-TH"/>
          </a:p>
        </p:txBody>
      </p:sp>
      <p:sp>
        <p:nvSpPr>
          <p:cNvPr id="67" name="Shape 65"/>
          <p:cNvSpPr/>
          <p:nvPr/>
        </p:nvSpPr>
        <p:spPr>
          <a:xfrm flipV="1">
            <a:off x="2962656" y="1379738"/>
            <a:ext cx="667512" cy="59802"/>
          </a:xfrm>
          <a:prstGeom prst="line">
            <a:avLst/>
          </a:prstGeom>
          <a:noFill/>
          <a:ln w="27940">
            <a:solidFill>
              <a:srgbClr val="1976D2"/>
            </a:solidFill>
            <a:prstDash val="solid"/>
          </a:ln>
        </p:spPr>
        <p:txBody>
          <a:bodyPr/>
          <a:lstStyle/>
          <a:p>
            <a:endParaRPr lang="th-TH"/>
          </a:p>
        </p:txBody>
      </p:sp>
      <p:sp>
        <p:nvSpPr>
          <p:cNvPr id="68" name="Shape 66"/>
          <p:cNvSpPr/>
          <p:nvPr/>
        </p:nvSpPr>
        <p:spPr>
          <a:xfrm flipV="1">
            <a:off x="3630168" y="1319936"/>
            <a:ext cx="667512" cy="59802"/>
          </a:xfrm>
          <a:prstGeom prst="line">
            <a:avLst/>
          </a:prstGeom>
          <a:noFill/>
          <a:ln w="27940">
            <a:solidFill>
              <a:srgbClr val="1976D2"/>
            </a:solidFill>
            <a:prstDash val="solid"/>
          </a:ln>
        </p:spPr>
        <p:txBody>
          <a:bodyPr/>
          <a:lstStyle/>
          <a:p>
            <a:endParaRPr lang="th-TH"/>
          </a:p>
        </p:txBody>
      </p:sp>
      <p:sp>
        <p:nvSpPr>
          <p:cNvPr id="69" name="Shape 67"/>
          <p:cNvSpPr/>
          <p:nvPr/>
        </p:nvSpPr>
        <p:spPr>
          <a:xfrm flipV="1">
            <a:off x="4297680" y="1290036"/>
            <a:ext cx="667512" cy="29901"/>
          </a:xfrm>
          <a:prstGeom prst="line">
            <a:avLst/>
          </a:prstGeom>
          <a:noFill/>
          <a:ln w="27940">
            <a:solidFill>
              <a:srgbClr val="1976D2"/>
            </a:solidFill>
            <a:prstDash val="solid"/>
          </a:ln>
        </p:spPr>
        <p:txBody>
          <a:bodyPr/>
          <a:lstStyle/>
          <a:p>
            <a:endParaRPr lang="th-TH"/>
          </a:p>
        </p:txBody>
      </p:sp>
      <p:sp>
        <p:nvSpPr>
          <p:cNvPr id="70" name="Shape 68"/>
          <p:cNvSpPr/>
          <p:nvPr/>
        </p:nvSpPr>
        <p:spPr>
          <a:xfrm flipV="1">
            <a:off x="4965192" y="1260135"/>
            <a:ext cx="667512" cy="29901"/>
          </a:xfrm>
          <a:prstGeom prst="line">
            <a:avLst/>
          </a:prstGeom>
          <a:noFill/>
          <a:ln w="27940">
            <a:solidFill>
              <a:srgbClr val="1976D2"/>
            </a:solidFill>
            <a:prstDash val="solid"/>
          </a:ln>
        </p:spPr>
        <p:txBody>
          <a:bodyPr/>
          <a:lstStyle/>
          <a:p>
            <a:endParaRPr lang="th-TH"/>
          </a:p>
        </p:txBody>
      </p:sp>
      <p:sp>
        <p:nvSpPr>
          <p:cNvPr id="71" name="Shape 69"/>
          <p:cNvSpPr/>
          <p:nvPr/>
        </p:nvSpPr>
        <p:spPr>
          <a:xfrm flipV="1">
            <a:off x="5632704" y="1230234"/>
            <a:ext cx="667512" cy="29901"/>
          </a:xfrm>
          <a:prstGeom prst="line">
            <a:avLst/>
          </a:prstGeom>
          <a:noFill/>
          <a:ln w="27940">
            <a:solidFill>
              <a:srgbClr val="1976D2"/>
            </a:solidFill>
            <a:prstDash val="solid"/>
          </a:ln>
        </p:spPr>
        <p:txBody>
          <a:bodyPr/>
          <a:lstStyle/>
          <a:p>
            <a:endParaRPr lang="th-TH"/>
          </a:p>
        </p:txBody>
      </p:sp>
      <p:sp>
        <p:nvSpPr>
          <p:cNvPr id="72" name="Shape 70"/>
          <p:cNvSpPr/>
          <p:nvPr/>
        </p:nvSpPr>
        <p:spPr>
          <a:xfrm flipV="1">
            <a:off x="6300216" y="1200333"/>
            <a:ext cx="667512" cy="29901"/>
          </a:xfrm>
          <a:prstGeom prst="line">
            <a:avLst/>
          </a:prstGeom>
          <a:noFill/>
          <a:ln w="27940">
            <a:solidFill>
              <a:srgbClr val="1976D2"/>
            </a:solidFill>
            <a:prstDash val="solid"/>
          </a:ln>
        </p:spPr>
        <p:txBody>
          <a:bodyPr/>
          <a:lstStyle/>
          <a:p>
            <a:endParaRPr lang="th-TH"/>
          </a:p>
        </p:txBody>
      </p:sp>
      <p:sp>
        <p:nvSpPr>
          <p:cNvPr id="73" name="Shape 71"/>
          <p:cNvSpPr/>
          <p:nvPr/>
        </p:nvSpPr>
        <p:spPr>
          <a:xfrm flipV="1">
            <a:off x="6967728" y="1170432"/>
            <a:ext cx="667512" cy="29901"/>
          </a:xfrm>
          <a:prstGeom prst="line">
            <a:avLst/>
          </a:prstGeom>
          <a:noFill/>
          <a:ln w="27940">
            <a:solidFill>
              <a:srgbClr val="1976D2"/>
            </a:solidFill>
            <a:prstDash val="solid"/>
          </a:ln>
        </p:spPr>
        <p:txBody>
          <a:bodyPr/>
          <a:lstStyle/>
          <a:p>
            <a:endParaRPr lang="th-TH"/>
          </a:p>
        </p:txBody>
      </p:sp>
      <p:sp>
        <p:nvSpPr>
          <p:cNvPr id="74" name="Shape 72"/>
          <p:cNvSpPr/>
          <p:nvPr/>
        </p:nvSpPr>
        <p:spPr>
          <a:xfrm flipV="1">
            <a:off x="960120" y="2874782"/>
            <a:ext cx="66751" cy="1285738"/>
          </a:xfrm>
          <a:prstGeom prst="line">
            <a:avLst/>
          </a:prstGeom>
          <a:noFill/>
          <a:ln w="27940">
            <a:solidFill>
              <a:srgbClr val="1565C0"/>
            </a:solidFill>
            <a:prstDash val="solid"/>
          </a:ln>
        </p:spPr>
        <p:txBody>
          <a:bodyPr/>
          <a:lstStyle/>
          <a:p>
            <a:endParaRPr lang="th-TH"/>
          </a:p>
        </p:txBody>
      </p:sp>
      <p:sp>
        <p:nvSpPr>
          <p:cNvPr id="75" name="Shape 73"/>
          <p:cNvSpPr/>
          <p:nvPr/>
        </p:nvSpPr>
        <p:spPr>
          <a:xfrm flipV="1">
            <a:off x="1026871" y="2336566"/>
            <a:ext cx="66751" cy="538216"/>
          </a:xfrm>
          <a:prstGeom prst="line">
            <a:avLst/>
          </a:prstGeom>
          <a:noFill/>
          <a:ln w="27940">
            <a:solidFill>
              <a:srgbClr val="1565C0"/>
            </a:solidFill>
            <a:prstDash val="solid"/>
          </a:ln>
        </p:spPr>
        <p:txBody>
          <a:bodyPr/>
          <a:lstStyle/>
          <a:p>
            <a:endParaRPr lang="th-TH"/>
          </a:p>
        </p:txBody>
      </p:sp>
      <p:sp>
        <p:nvSpPr>
          <p:cNvPr id="76" name="Shape 74"/>
          <p:cNvSpPr/>
          <p:nvPr/>
        </p:nvSpPr>
        <p:spPr>
          <a:xfrm flipV="1">
            <a:off x="1093622" y="1947855"/>
            <a:ext cx="133502" cy="388711"/>
          </a:xfrm>
          <a:prstGeom prst="line">
            <a:avLst/>
          </a:prstGeom>
          <a:noFill/>
          <a:ln w="27940">
            <a:solidFill>
              <a:srgbClr val="1565C0"/>
            </a:solidFill>
            <a:prstDash val="solid"/>
          </a:ln>
        </p:spPr>
        <p:txBody>
          <a:bodyPr/>
          <a:lstStyle/>
          <a:p>
            <a:endParaRPr lang="th-TH"/>
          </a:p>
        </p:txBody>
      </p:sp>
      <p:sp>
        <p:nvSpPr>
          <p:cNvPr id="77" name="Shape 75"/>
          <p:cNvSpPr/>
          <p:nvPr/>
        </p:nvSpPr>
        <p:spPr>
          <a:xfrm flipV="1">
            <a:off x="1227125" y="1738549"/>
            <a:ext cx="133502" cy="209306"/>
          </a:xfrm>
          <a:prstGeom prst="line">
            <a:avLst/>
          </a:prstGeom>
          <a:noFill/>
          <a:ln w="27940">
            <a:solidFill>
              <a:srgbClr val="1565C0"/>
            </a:solidFill>
            <a:prstDash val="solid"/>
          </a:ln>
        </p:spPr>
        <p:txBody>
          <a:bodyPr/>
          <a:lstStyle/>
          <a:p>
            <a:endParaRPr lang="th-TH"/>
          </a:p>
        </p:txBody>
      </p:sp>
      <p:sp>
        <p:nvSpPr>
          <p:cNvPr id="78" name="Shape 76"/>
          <p:cNvSpPr/>
          <p:nvPr/>
        </p:nvSpPr>
        <p:spPr>
          <a:xfrm flipV="1">
            <a:off x="1360627" y="1618945"/>
            <a:ext cx="133502" cy="119604"/>
          </a:xfrm>
          <a:prstGeom prst="line">
            <a:avLst/>
          </a:prstGeom>
          <a:noFill/>
          <a:ln w="27940">
            <a:solidFill>
              <a:srgbClr val="1565C0"/>
            </a:solidFill>
            <a:prstDash val="solid"/>
          </a:ln>
        </p:spPr>
        <p:txBody>
          <a:bodyPr/>
          <a:lstStyle/>
          <a:p>
            <a:endParaRPr lang="th-TH"/>
          </a:p>
        </p:txBody>
      </p:sp>
      <p:sp>
        <p:nvSpPr>
          <p:cNvPr id="79" name="Shape 77"/>
          <p:cNvSpPr/>
          <p:nvPr/>
        </p:nvSpPr>
        <p:spPr>
          <a:xfrm flipV="1">
            <a:off x="1494130" y="1529243"/>
            <a:ext cx="133502" cy="89703"/>
          </a:xfrm>
          <a:prstGeom prst="line">
            <a:avLst/>
          </a:prstGeom>
          <a:noFill/>
          <a:ln w="27940">
            <a:solidFill>
              <a:srgbClr val="1565C0"/>
            </a:solidFill>
            <a:prstDash val="solid"/>
          </a:ln>
        </p:spPr>
        <p:txBody>
          <a:bodyPr/>
          <a:lstStyle/>
          <a:p>
            <a:endParaRPr lang="th-TH"/>
          </a:p>
        </p:txBody>
      </p:sp>
      <p:sp>
        <p:nvSpPr>
          <p:cNvPr id="80" name="Shape 78"/>
          <p:cNvSpPr/>
          <p:nvPr/>
        </p:nvSpPr>
        <p:spPr>
          <a:xfrm flipV="1">
            <a:off x="1627632" y="1439540"/>
            <a:ext cx="333756" cy="89703"/>
          </a:xfrm>
          <a:prstGeom prst="line">
            <a:avLst/>
          </a:prstGeom>
          <a:noFill/>
          <a:ln w="27940">
            <a:solidFill>
              <a:srgbClr val="1565C0"/>
            </a:solidFill>
            <a:prstDash val="solid"/>
          </a:ln>
        </p:spPr>
        <p:txBody>
          <a:bodyPr/>
          <a:lstStyle/>
          <a:p>
            <a:endParaRPr lang="th-TH"/>
          </a:p>
        </p:txBody>
      </p:sp>
      <p:sp>
        <p:nvSpPr>
          <p:cNvPr id="81" name="Shape 79"/>
          <p:cNvSpPr/>
          <p:nvPr/>
        </p:nvSpPr>
        <p:spPr>
          <a:xfrm flipV="1">
            <a:off x="1961388" y="1379738"/>
            <a:ext cx="333756" cy="59802"/>
          </a:xfrm>
          <a:prstGeom prst="line">
            <a:avLst/>
          </a:prstGeom>
          <a:noFill/>
          <a:ln w="27940">
            <a:solidFill>
              <a:srgbClr val="1565C0"/>
            </a:solidFill>
            <a:prstDash val="solid"/>
          </a:ln>
        </p:spPr>
        <p:txBody>
          <a:bodyPr/>
          <a:lstStyle/>
          <a:p>
            <a:endParaRPr lang="th-TH"/>
          </a:p>
        </p:txBody>
      </p:sp>
      <p:sp>
        <p:nvSpPr>
          <p:cNvPr id="82" name="Shape 80"/>
          <p:cNvSpPr/>
          <p:nvPr/>
        </p:nvSpPr>
        <p:spPr>
          <a:xfrm flipV="1">
            <a:off x="2295144" y="1349837"/>
            <a:ext cx="333756" cy="29901"/>
          </a:xfrm>
          <a:prstGeom prst="line">
            <a:avLst/>
          </a:prstGeom>
          <a:noFill/>
          <a:ln w="27940">
            <a:solidFill>
              <a:srgbClr val="1565C0"/>
            </a:solidFill>
            <a:prstDash val="solid"/>
          </a:ln>
        </p:spPr>
        <p:txBody>
          <a:bodyPr/>
          <a:lstStyle/>
          <a:p>
            <a:endParaRPr lang="th-TH"/>
          </a:p>
        </p:txBody>
      </p:sp>
      <p:sp>
        <p:nvSpPr>
          <p:cNvPr id="83" name="Shape 81"/>
          <p:cNvSpPr/>
          <p:nvPr/>
        </p:nvSpPr>
        <p:spPr>
          <a:xfrm flipV="1">
            <a:off x="2628900" y="1290036"/>
            <a:ext cx="333756" cy="59802"/>
          </a:xfrm>
          <a:prstGeom prst="line">
            <a:avLst/>
          </a:prstGeom>
          <a:noFill/>
          <a:ln w="27940">
            <a:solidFill>
              <a:srgbClr val="1565C0"/>
            </a:solidFill>
            <a:prstDash val="solid"/>
          </a:ln>
        </p:spPr>
        <p:txBody>
          <a:bodyPr/>
          <a:lstStyle/>
          <a:p>
            <a:endParaRPr lang="th-TH"/>
          </a:p>
        </p:txBody>
      </p:sp>
      <p:sp>
        <p:nvSpPr>
          <p:cNvPr id="84" name="Shape 82"/>
          <p:cNvSpPr/>
          <p:nvPr/>
        </p:nvSpPr>
        <p:spPr>
          <a:xfrm flipV="1">
            <a:off x="2962656" y="1260135"/>
            <a:ext cx="667512" cy="29901"/>
          </a:xfrm>
          <a:prstGeom prst="line">
            <a:avLst/>
          </a:prstGeom>
          <a:noFill/>
          <a:ln w="27940">
            <a:solidFill>
              <a:srgbClr val="1565C0"/>
            </a:solidFill>
            <a:prstDash val="solid"/>
          </a:ln>
        </p:spPr>
        <p:txBody>
          <a:bodyPr/>
          <a:lstStyle/>
          <a:p>
            <a:endParaRPr lang="th-TH"/>
          </a:p>
        </p:txBody>
      </p:sp>
      <p:sp>
        <p:nvSpPr>
          <p:cNvPr id="85" name="Shape 83"/>
          <p:cNvSpPr/>
          <p:nvPr/>
        </p:nvSpPr>
        <p:spPr>
          <a:xfrm flipV="1">
            <a:off x="3630168" y="1230234"/>
            <a:ext cx="667512" cy="29901"/>
          </a:xfrm>
          <a:prstGeom prst="line">
            <a:avLst/>
          </a:prstGeom>
          <a:noFill/>
          <a:ln w="27940">
            <a:solidFill>
              <a:srgbClr val="1565C0"/>
            </a:solidFill>
            <a:prstDash val="solid"/>
          </a:ln>
        </p:spPr>
        <p:txBody>
          <a:bodyPr/>
          <a:lstStyle/>
          <a:p>
            <a:endParaRPr lang="th-TH"/>
          </a:p>
        </p:txBody>
      </p:sp>
      <p:sp>
        <p:nvSpPr>
          <p:cNvPr id="86" name="Shape 84"/>
          <p:cNvSpPr/>
          <p:nvPr/>
        </p:nvSpPr>
        <p:spPr>
          <a:xfrm>
            <a:off x="4297680" y="1230234"/>
            <a:ext cx="667512" cy="914"/>
          </a:xfrm>
          <a:prstGeom prst="line">
            <a:avLst/>
          </a:prstGeom>
          <a:noFill/>
          <a:ln w="27940">
            <a:solidFill>
              <a:srgbClr val="1565C0"/>
            </a:solidFill>
            <a:prstDash val="solid"/>
          </a:ln>
        </p:spPr>
        <p:txBody>
          <a:bodyPr/>
          <a:lstStyle/>
          <a:p>
            <a:endParaRPr lang="th-TH"/>
          </a:p>
        </p:txBody>
      </p:sp>
      <p:sp>
        <p:nvSpPr>
          <p:cNvPr id="87" name="Shape 85"/>
          <p:cNvSpPr/>
          <p:nvPr/>
        </p:nvSpPr>
        <p:spPr>
          <a:xfrm flipV="1">
            <a:off x="4965192" y="1200333"/>
            <a:ext cx="667512" cy="29901"/>
          </a:xfrm>
          <a:prstGeom prst="line">
            <a:avLst/>
          </a:prstGeom>
          <a:noFill/>
          <a:ln w="27940">
            <a:solidFill>
              <a:srgbClr val="1565C0"/>
            </a:solidFill>
            <a:prstDash val="solid"/>
          </a:ln>
        </p:spPr>
        <p:txBody>
          <a:bodyPr/>
          <a:lstStyle/>
          <a:p>
            <a:endParaRPr lang="th-TH"/>
          </a:p>
        </p:txBody>
      </p:sp>
      <p:sp>
        <p:nvSpPr>
          <p:cNvPr id="88" name="Shape 86"/>
          <p:cNvSpPr/>
          <p:nvPr/>
        </p:nvSpPr>
        <p:spPr>
          <a:xfrm flipV="1">
            <a:off x="5632704" y="1170432"/>
            <a:ext cx="667512" cy="29901"/>
          </a:xfrm>
          <a:prstGeom prst="line">
            <a:avLst/>
          </a:prstGeom>
          <a:noFill/>
          <a:ln w="27940">
            <a:solidFill>
              <a:srgbClr val="1565C0"/>
            </a:solidFill>
            <a:prstDash val="solid"/>
          </a:ln>
        </p:spPr>
        <p:txBody>
          <a:bodyPr/>
          <a:lstStyle/>
          <a:p>
            <a:endParaRPr lang="th-TH"/>
          </a:p>
        </p:txBody>
      </p:sp>
      <p:sp>
        <p:nvSpPr>
          <p:cNvPr id="89" name="Shape 87"/>
          <p:cNvSpPr/>
          <p:nvPr/>
        </p:nvSpPr>
        <p:spPr>
          <a:xfrm>
            <a:off x="6300216" y="1170432"/>
            <a:ext cx="667512" cy="914"/>
          </a:xfrm>
          <a:prstGeom prst="line">
            <a:avLst/>
          </a:prstGeom>
          <a:noFill/>
          <a:ln w="27940">
            <a:solidFill>
              <a:srgbClr val="1565C0"/>
            </a:solidFill>
            <a:prstDash val="solid"/>
          </a:ln>
        </p:spPr>
        <p:txBody>
          <a:bodyPr/>
          <a:lstStyle/>
          <a:p>
            <a:endParaRPr lang="th-TH"/>
          </a:p>
        </p:txBody>
      </p:sp>
      <p:sp>
        <p:nvSpPr>
          <p:cNvPr id="90" name="Shape 88"/>
          <p:cNvSpPr/>
          <p:nvPr/>
        </p:nvSpPr>
        <p:spPr>
          <a:xfrm>
            <a:off x="6967728" y="1170432"/>
            <a:ext cx="667512" cy="914"/>
          </a:xfrm>
          <a:prstGeom prst="line">
            <a:avLst/>
          </a:prstGeom>
          <a:noFill/>
          <a:ln w="27940">
            <a:solidFill>
              <a:srgbClr val="1565C0"/>
            </a:solidFill>
            <a:prstDash val="solid"/>
          </a:ln>
        </p:spPr>
        <p:txBody>
          <a:bodyPr/>
          <a:lstStyle/>
          <a:p>
            <a:endParaRPr lang="th-TH"/>
          </a:p>
        </p:txBody>
      </p:sp>
      <p:sp>
        <p:nvSpPr>
          <p:cNvPr id="91" name="Shape 89"/>
          <p:cNvSpPr/>
          <p:nvPr/>
        </p:nvSpPr>
        <p:spPr>
          <a:xfrm>
            <a:off x="7726680" y="1234440"/>
            <a:ext cx="1325880" cy="2423160"/>
          </a:xfrm>
          <a:prstGeom prst="rect">
            <a:avLst/>
          </a:prstGeom>
          <a:solidFill>
            <a:srgbClr val="E3F0FF"/>
          </a:solidFill>
          <a:ln w="7620">
            <a:solidFill>
              <a:srgbClr val="CFD8DC"/>
            </a:solidFill>
            <a:prstDash val="solid"/>
          </a:ln>
        </p:spPr>
        <p:txBody>
          <a:bodyPr/>
          <a:lstStyle/>
          <a:p>
            <a:endParaRPr lang="th-TH"/>
          </a:p>
        </p:txBody>
      </p:sp>
      <p:sp>
        <p:nvSpPr>
          <p:cNvPr id="92" name="Text 90"/>
          <p:cNvSpPr/>
          <p:nvPr/>
        </p:nvSpPr>
        <p:spPr>
          <a:xfrm>
            <a:off x="7799832" y="1325880"/>
            <a:ext cx="1188720" cy="256032"/>
          </a:xfrm>
          <a:prstGeom prst="rect">
            <a:avLst/>
          </a:prstGeom>
          <a:noFill/>
          <a:ln/>
        </p:spPr>
        <p:txBody>
          <a:bodyPr wrap="square" lIns="0" tIns="0" rIns="0" bIns="0" rtlCol="0" anchor="ctr"/>
          <a:lstStyle/>
          <a:p>
            <a:pPr marL="0" indent="0">
              <a:buNone/>
            </a:pPr>
            <a:r>
              <a:rPr lang="en-US" sz="1000" b="1" dirty="0">
                <a:solidFill>
                  <a:srgbClr val="0A2342"/>
                </a:solidFill>
                <a:latin typeface="Calibri" pitchFamily="34" charset="0"/>
                <a:ea typeface="Calibri" pitchFamily="34" charset="-122"/>
                <a:cs typeface="Calibri" pitchFamily="34" charset="-120"/>
              </a:rPr>
              <a:t>Legend</a:t>
            </a:r>
            <a:endParaRPr lang="en-US" sz="1000" dirty="0"/>
          </a:p>
        </p:txBody>
      </p:sp>
      <p:sp>
        <p:nvSpPr>
          <p:cNvPr id="93" name="Shape 91"/>
          <p:cNvSpPr/>
          <p:nvPr/>
        </p:nvSpPr>
        <p:spPr>
          <a:xfrm>
            <a:off x="7799832" y="1783080"/>
            <a:ext cx="274320" cy="914"/>
          </a:xfrm>
          <a:prstGeom prst="line">
            <a:avLst/>
          </a:prstGeom>
          <a:noFill/>
          <a:ln w="25400">
            <a:solidFill>
              <a:srgbClr val="0A2342"/>
            </a:solidFill>
            <a:prstDash val="solid"/>
          </a:ln>
        </p:spPr>
        <p:txBody>
          <a:bodyPr/>
          <a:lstStyle/>
          <a:p>
            <a:endParaRPr lang="th-TH"/>
          </a:p>
        </p:txBody>
      </p:sp>
      <p:sp>
        <p:nvSpPr>
          <p:cNvPr id="94" name="Text 92"/>
          <p:cNvSpPr/>
          <p:nvPr/>
        </p:nvSpPr>
        <p:spPr>
          <a:xfrm>
            <a:off x="8138160" y="1691640"/>
            <a:ext cx="914400" cy="201168"/>
          </a:xfrm>
          <a:prstGeom prst="rect">
            <a:avLst/>
          </a:prstGeom>
          <a:noFill/>
          <a:ln/>
        </p:spPr>
        <p:txBody>
          <a:bodyPr wrap="square" lIns="0" tIns="0" rIns="0" bIns="0" rtlCol="0" anchor="ctr"/>
          <a:lstStyle/>
          <a:p>
            <a:pPr marL="0" indent="0">
              <a:buNone/>
            </a:pPr>
            <a:r>
              <a:rPr lang="en-US" sz="900" b="1" dirty="0">
                <a:solidFill>
                  <a:srgbClr val="37474F"/>
                </a:solidFill>
                <a:latin typeface="Calibri" pitchFamily="34" charset="0"/>
                <a:ea typeface="Calibri" pitchFamily="34" charset="-122"/>
                <a:cs typeface="Calibri" pitchFamily="34" charset="-120"/>
              </a:rPr>
              <a:t>Decision Tree</a:t>
            </a:r>
            <a:endParaRPr lang="en-US" sz="900" dirty="0"/>
          </a:p>
        </p:txBody>
      </p:sp>
      <p:sp>
        <p:nvSpPr>
          <p:cNvPr id="95" name="Text 93"/>
          <p:cNvSpPr/>
          <p:nvPr/>
        </p:nvSpPr>
        <p:spPr>
          <a:xfrm>
            <a:off x="8138160" y="1892808"/>
            <a:ext cx="914400" cy="182880"/>
          </a:xfrm>
          <a:prstGeom prst="rect">
            <a:avLst/>
          </a:prstGeom>
          <a:noFill/>
          <a:ln/>
        </p:spPr>
        <p:txBody>
          <a:bodyPr wrap="square" lIns="0" tIns="0" rIns="0" bIns="0" rtlCol="0" anchor="ctr"/>
          <a:lstStyle/>
          <a:p>
            <a:pPr marL="0" indent="0">
              <a:buNone/>
            </a:pPr>
            <a:r>
              <a:rPr lang="en-US" sz="850" dirty="0">
                <a:solidFill>
                  <a:srgbClr val="0A2342"/>
                </a:solidFill>
                <a:latin typeface="Calibri" pitchFamily="34" charset="0"/>
                <a:ea typeface="Calibri" pitchFamily="34" charset="-122"/>
                <a:cs typeface="Calibri" pitchFamily="34" charset="-120"/>
              </a:rPr>
              <a:t>AUC = 0.959</a:t>
            </a:r>
            <a:endParaRPr lang="en-US" sz="850" dirty="0"/>
          </a:p>
        </p:txBody>
      </p:sp>
      <p:sp>
        <p:nvSpPr>
          <p:cNvPr id="96" name="Shape 94"/>
          <p:cNvSpPr/>
          <p:nvPr/>
        </p:nvSpPr>
        <p:spPr>
          <a:xfrm>
            <a:off x="7799832" y="2258568"/>
            <a:ext cx="274320" cy="914"/>
          </a:xfrm>
          <a:prstGeom prst="line">
            <a:avLst/>
          </a:prstGeom>
          <a:noFill/>
          <a:ln w="25400">
            <a:solidFill>
              <a:srgbClr val="1976D2"/>
            </a:solidFill>
            <a:prstDash val="solid"/>
          </a:ln>
        </p:spPr>
        <p:txBody>
          <a:bodyPr/>
          <a:lstStyle/>
          <a:p>
            <a:endParaRPr lang="th-TH"/>
          </a:p>
        </p:txBody>
      </p:sp>
      <p:sp>
        <p:nvSpPr>
          <p:cNvPr id="97" name="Text 95"/>
          <p:cNvSpPr/>
          <p:nvPr/>
        </p:nvSpPr>
        <p:spPr>
          <a:xfrm>
            <a:off x="8138160" y="2167128"/>
            <a:ext cx="914400" cy="201168"/>
          </a:xfrm>
          <a:prstGeom prst="rect">
            <a:avLst/>
          </a:prstGeom>
          <a:noFill/>
          <a:ln/>
        </p:spPr>
        <p:txBody>
          <a:bodyPr wrap="square" lIns="0" tIns="0" rIns="0" bIns="0" rtlCol="0" anchor="ctr"/>
          <a:lstStyle/>
          <a:p>
            <a:pPr marL="0" indent="0">
              <a:buNone/>
            </a:pPr>
            <a:r>
              <a:rPr lang="en-US" sz="900" b="1" dirty="0">
                <a:solidFill>
                  <a:srgbClr val="37474F"/>
                </a:solidFill>
                <a:latin typeface="Calibri" pitchFamily="34" charset="0"/>
                <a:ea typeface="Calibri" pitchFamily="34" charset="-122"/>
                <a:cs typeface="Calibri" pitchFamily="34" charset="-120"/>
              </a:rPr>
              <a:t>KNN  (k=5)</a:t>
            </a:r>
            <a:endParaRPr lang="en-US" sz="900" dirty="0"/>
          </a:p>
        </p:txBody>
      </p:sp>
      <p:sp>
        <p:nvSpPr>
          <p:cNvPr id="98" name="Text 96"/>
          <p:cNvSpPr/>
          <p:nvPr/>
        </p:nvSpPr>
        <p:spPr>
          <a:xfrm>
            <a:off x="8138160" y="2368296"/>
            <a:ext cx="914400" cy="182880"/>
          </a:xfrm>
          <a:prstGeom prst="rect">
            <a:avLst/>
          </a:prstGeom>
          <a:noFill/>
          <a:ln/>
        </p:spPr>
        <p:txBody>
          <a:bodyPr wrap="square" lIns="0" tIns="0" rIns="0" bIns="0" rtlCol="0" anchor="ctr"/>
          <a:lstStyle/>
          <a:p>
            <a:pPr marL="0" indent="0">
              <a:buNone/>
            </a:pPr>
            <a:r>
              <a:rPr lang="en-US" sz="850" dirty="0">
                <a:solidFill>
                  <a:srgbClr val="1976D2"/>
                </a:solidFill>
                <a:latin typeface="Calibri" pitchFamily="34" charset="0"/>
                <a:ea typeface="Calibri" pitchFamily="34" charset="-122"/>
                <a:cs typeface="Calibri" pitchFamily="34" charset="-120"/>
              </a:rPr>
              <a:t>AUC = 0.922</a:t>
            </a:r>
            <a:endParaRPr lang="en-US" sz="850" dirty="0"/>
          </a:p>
        </p:txBody>
      </p:sp>
      <p:sp>
        <p:nvSpPr>
          <p:cNvPr id="99" name="Shape 97"/>
          <p:cNvSpPr/>
          <p:nvPr/>
        </p:nvSpPr>
        <p:spPr>
          <a:xfrm>
            <a:off x="7799832" y="2734056"/>
            <a:ext cx="274320" cy="914"/>
          </a:xfrm>
          <a:prstGeom prst="line">
            <a:avLst/>
          </a:prstGeom>
          <a:noFill/>
          <a:ln w="25400">
            <a:solidFill>
              <a:srgbClr val="1565C0"/>
            </a:solidFill>
            <a:prstDash val="solid"/>
          </a:ln>
        </p:spPr>
        <p:txBody>
          <a:bodyPr/>
          <a:lstStyle/>
          <a:p>
            <a:endParaRPr lang="th-TH"/>
          </a:p>
        </p:txBody>
      </p:sp>
      <p:sp>
        <p:nvSpPr>
          <p:cNvPr id="100" name="Text 98"/>
          <p:cNvSpPr/>
          <p:nvPr/>
        </p:nvSpPr>
        <p:spPr>
          <a:xfrm>
            <a:off x="8138160" y="2642616"/>
            <a:ext cx="914400" cy="201168"/>
          </a:xfrm>
          <a:prstGeom prst="rect">
            <a:avLst/>
          </a:prstGeom>
          <a:noFill/>
          <a:ln/>
        </p:spPr>
        <p:txBody>
          <a:bodyPr wrap="square" lIns="0" tIns="0" rIns="0" bIns="0" rtlCol="0" anchor="ctr"/>
          <a:lstStyle/>
          <a:p>
            <a:pPr marL="0" indent="0">
              <a:buNone/>
            </a:pPr>
            <a:r>
              <a:rPr lang="en-US" sz="900" b="1" dirty="0">
                <a:solidFill>
                  <a:srgbClr val="37474F"/>
                </a:solidFill>
                <a:latin typeface="Calibri" pitchFamily="34" charset="0"/>
                <a:ea typeface="Calibri" pitchFamily="34" charset="-122"/>
                <a:cs typeface="Calibri" pitchFamily="34" charset="-120"/>
              </a:rPr>
              <a:t>Random Forest</a:t>
            </a:r>
            <a:endParaRPr lang="en-US" sz="900" dirty="0"/>
          </a:p>
        </p:txBody>
      </p:sp>
      <p:sp>
        <p:nvSpPr>
          <p:cNvPr id="101" name="Text 99"/>
          <p:cNvSpPr/>
          <p:nvPr/>
        </p:nvSpPr>
        <p:spPr>
          <a:xfrm>
            <a:off x="8138160" y="2843784"/>
            <a:ext cx="914400" cy="182880"/>
          </a:xfrm>
          <a:prstGeom prst="rect">
            <a:avLst/>
          </a:prstGeom>
          <a:noFill/>
          <a:ln/>
        </p:spPr>
        <p:txBody>
          <a:bodyPr wrap="square" lIns="0" tIns="0" rIns="0" bIns="0" rtlCol="0" anchor="ctr"/>
          <a:lstStyle/>
          <a:p>
            <a:pPr marL="0" indent="0">
              <a:buNone/>
            </a:pPr>
            <a:r>
              <a:rPr lang="en-US" sz="850" dirty="0">
                <a:solidFill>
                  <a:srgbClr val="1565C0"/>
                </a:solidFill>
                <a:latin typeface="Calibri" pitchFamily="34" charset="0"/>
                <a:ea typeface="Calibri" pitchFamily="34" charset="-122"/>
                <a:cs typeface="Calibri" pitchFamily="34" charset="-120"/>
              </a:rPr>
              <a:t>AUC = 0.956</a:t>
            </a:r>
            <a:endParaRPr lang="en-US" sz="850" dirty="0"/>
          </a:p>
        </p:txBody>
      </p:sp>
      <p:sp>
        <p:nvSpPr>
          <p:cNvPr id="102" name="Shape 100"/>
          <p:cNvSpPr/>
          <p:nvPr/>
        </p:nvSpPr>
        <p:spPr>
          <a:xfrm>
            <a:off x="7799832" y="3209544"/>
            <a:ext cx="274320" cy="914"/>
          </a:xfrm>
          <a:prstGeom prst="line">
            <a:avLst/>
          </a:prstGeom>
          <a:noFill/>
          <a:ln w="25400">
            <a:solidFill>
              <a:srgbClr val="B0BEC5"/>
            </a:solidFill>
            <a:prstDash val="solid"/>
          </a:ln>
        </p:spPr>
        <p:txBody>
          <a:bodyPr/>
          <a:lstStyle/>
          <a:p>
            <a:endParaRPr lang="th-TH"/>
          </a:p>
        </p:txBody>
      </p:sp>
      <p:sp>
        <p:nvSpPr>
          <p:cNvPr id="103" name="Text 101"/>
          <p:cNvSpPr/>
          <p:nvPr/>
        </p:nvSpPr>
        <p:spPr>
          <a:xfrm>
            <a:off x="8138160" y="3118104"/>
            <a:ext cx="914400" cy="201168"/>
          </a:xfrm>
          <a:prstGeom prst="rect">
            <a:avLst/>
          </a:prstGeom>
          <a:noFill/>
          <a:ln/>
        </p:spPr>
        <p:txBody>
          <a:bodyPr wrap="square" lIns="0" tIns="0" rIns="0" bIns="0" rtlCol="0" anchor="ctr"/>
          <a:lstStyle/>
          <a:p>
            <a:pPr marL="0" indent="0">
              <a:buNone/>
            </a:pPr>
            <a:r>
              <a:rPr lang="en-US" sz="900" b="1" dirty="0">
                <a:solidFill>
                  <a:srgbClr val="37474F"/>
                </a:solidFill>
                <a:latin typeface="Calibri" pitchFamily="34" charset="0"/>
                <a:ea typeface="Calibri" pitchFamily="34" charset="-122"/>
                <a:cs typeface="Calibri" pitchFamily="34" charset="-120"/>
              </a:rPr>
              <a:t>Random Guess</a:t>
            </a:r>
            <a:endParaRPr lang="en-US" sz="900" dirty="0"/>
          </a:p>
        </p:txBody>
      </p:sp>
      <p:sp>
        <p:nvSpPr>
          <p:cNvPr id="104" name="Text 102"/>
          <p:cNvSpPr/>
          <p:nvPr/>
        </p:nvSpPr>
        <p:spPr>
          <a:xfrm>
            <a:off x="8138160" y="3319272"/>
            <a:ext cx="914400" cy="182880"/>
          </a:xfrm>
          <a:prstGeom prst="rect">
            <a:avLst/>
          </a:prstGeom>
          <a:noFill/>
          <a:ln/>
        </p:spPr>
        <p:txBody>
          <a:bodyPr wrap="square" lIns="0" tIns="0" rIns="0" bIns="0" rtlCol="0" anchor="ctr"/>
          <a:lstStyle/>
          <a:p>
            <a:pPr marL="0" indent="0">
              <a:buNone/>
            </a:pPr>
            <a:r>
              <a:rPr lang="en-US" sz="850" dirty="0">
                <a:solidFill>
                  <a:srgbClr val="B0BEC5"/>
                </a:solidFill>
                <a:latin typeface="Calibri" pitchFamily="34" charset="0"/>
                <a:ea typeface="Calibri" pitchFamily="34" charset="-122"/>
                <a:cs typeface="Calibri" pitchFamily="34" charset="-120"/>
              </a:rPr>
              <a:t>AUC = 0.500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A2342"/>
          </a:solidFill>
          <a:ln/>
        </p:spPr>
        <p:txBody>
          <a:bodyPr/>
          <a:lstStyle/>
          <a:p>
            <a:endParaRPr lang="th-TH"/>
          </a:p>
        </p:txBody>
      </p:sp>
      <p:sp>
        <p:nvSpPr>
          <p:cNvPr id="3" name="Shape 1"/>
          <p:cNvSpPr/>
          <p:nvPr/>
        </p:nvSpPr>
        <p:spPr>
          <a:xfrm>
            <a:off x="0" y="960120"/>
            <a:ext cx="9144000" cy="41148"/>
          </a:xfrm>
          <a:prstGeom prst="rect">
            <a:avLst/>
          </a:prstGeom>
          <a:solidFill>
            <a:srgbClr val="1976D2"/>
          </a:solidFill>
          <a:ln/>
        </p:spPr>
        <p:txBody>
          <a:bodyPr/>
          <a:lstStyle/>
          <a:p>
            <a:endParaRPr lang="th-TH"/>
          </a:p>
        </p:txBody>
      </p:sp>
      <p:sp>
        <p:nvSpPr>
          <p:cNvPr id="4" name="Text 2"/>
          <p:cNvSpPr/>
          <p:nvPr/>
        </p:nvSpPr>
        <p:spPr>
          <a:xfrm>
            <a:off x="411480" y="91440"/>
            <a:ext cx="7955280" cy="502920"/>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Clustering &amp; Time Series Forecasting</a:t>
            </a:r>
            <a:endParaRPr lang="en-US" sz="2000" dirty="0"/>
          </a:p>
        </p:txBody>
      </p:sp>
      <p:sp>
        <p:nvSpPr>
          <p:cNvPr id="5" name="Text 3"/>
          <p:cNvSpPr/>
          <p:nvPr/>
        </p:nvSpPr>
        <p:spPr>
          <a:xfrm>
            <a:off x="411480" y="576072"/>
            <a:ext cx="8046720" cy="320040"/>
          </a:xfrm>
          <a:prstGeom prst="rect">
            <a:avLst/>
          </a:prstGeom>
          <a:noFill/>
          <a:ln/>
        </p:spPr>
        <p:txBody>
          <a:bodyPr wrap="square" lIns="0" tIns="0" rIns="0" bIns="0" rtlCol="0" anchor="ctr"/>
          <a:lstStyle/>
          <a:p>
            <a:pPr marL="0" indent="0">
              <a:buNone/>
            </a:pPr>
            <a:r>
              <a:rPr lang="en-US" sz="1100" dirty="0">
                <a:solidFill>
                  <a:srgbClr val="BBDEFB"/>
                </a:solidFill>
                <a:latin typeface="Calibri" pitchFamily="34" charset="0"/>
                <a:ea typeface="Calibri" pitchFamily="34" charset="-122"/>
                <a:cs typeface="Calibri" pitchFamily="34" charset="-120"/>
              </a:rPr>
              <a:t>K-Means sensor profiling · ARIMA(2,1,2) · LSTM neural network</a:t>
            </a:r>
            <a:endParaRPr lang="en-US" sz="1100" dirty="0"/>
          </a:p>
        </p:txBody>
      </p:sp>
      <p:sp>
        <p:nvSpPr>
          <p:cNvPr id="6" name="Shape 4"/>
          <p:cNvSpPr/>
          <p:nvPr/>
        </p:nvSpPr>
        <p:spPr>
          <a:xfrm>
            <a:off x="8641080" y="201168"/>
            <a:ext cx="347472" cy="347472"/>
          </a:xfrm>
          <a:prstGeom prst="ellipse">
            <a:avLst/>
          </a:prstGeom>
          <a:solidFill>
            <a:srgbClr val="1976D2"/>
          </a:solidFill>
          <a:ln/>
        </p:spPr>
        <p:txBody>
          <a:bodyPr/>
          <a:lstStyle/>
          <a:p>
            <a:endParaRPr lang="th-TH"/>
          </a:p>
        </p:txBody>
      </p:sp>
      <p:sp>
        <p:nvSpPr>
          <p:cNvPr id="7" name="Shape 5"/>
          <p:cNvSpPr/>
          <p:nvPr/>
        </p:nvSpPr>
        <p:spPr>
          <a:xfrm>
            <a:off x="0" y="4850892"/>
            <a:ext cx="9144000" cy="292608"/>
          </a:xfrm>
          <a:prstGeom prst="rect">
            <a:avLst/>
          </a:prstGeom>
          <a:solidFill>
            <a:srgbClr val="E3F0FF"/>
          </a:solidFill>
          <a:ln/>
        </p:spPr>
        <p:txBody>
          <a:bodyPr/>
          <a:lstStyle/>
          <a:p>
            <a:endParaRPr lang="th-TH"/>
          </a:p>
        </p:txBody>
      </p:sp>
      <p:sp>
        <p:nvSpPr>
          <p:cNvPr id="8" name="Text 6"/>
          <p:cNvSpPr/>
          <p:nvPr/>
        </p:nvSpPr>
        <p:spPr>
          <a:xfrm>
            <a:off x="320040" y="4869180"/>
            <a:ext cx="7315200" cy="256032"/>
          </a:xfrm>
          <a:prstGeom prst="rect">
            <a:avLst/>
          </a:prstGeom>
          <a:noFill/>
          <a:ln/>
        </p:spPr>
        <p:txBody>
          <a:bodyPr wrap="square" lIns="0" tIns="0" rIns="0" bIns="0" rtlCol="0" anchor="ctr"/>
          <a:lstStyle/>
          <a:p>
            <a:pPr marL="0" indent="0">
              <a:buNone/>
            </a:pPr>
            <a:r>
              <a:rPr lang="en-US" sz="850" dirty="0">
                <a:solidFill>
                  <a:srgbClr val="607D8B"/>
                </a:solidFill>
                <a:latin typeface="Calibri" pitchFamily="34" charset="0"/>
                <a:ea typeface="Calibri" pitchFamily="34" charset="-122"/>
                <a:cs typeface="Calibri" pitchFamily="34" charset="-120"/>
              </a:rPr>
              <a:t>FlowShift  |  Urban Traffic &amp; Transit Demand — Los Angeles 2021</a:t>
            </a:r>
            <a:endParaRPr lang="en-US" sz="850" dirty="0"/>
          </a:p>
        </p:txBody>
      </p:sp>
      <p:sp>
        <p:nvSpPr>
          <p:cNvPr id="9" name="Text 7"/>
          <p:cNvSpPr/>
          <p:nvPr/>
        </p:nvSpPr>
        <p:spPr>
          <a:xfrm>
            <a:off x="8503920" y="4869180"/>
            <a:ext cx="502920" cy="256032"/>
          </a:xfrm>
          <a:prstGeom prst="rect">
            <a:avLst/>
          </a:prstGeom>
          <a:noFill/>
          <a:ln/>
        </p:spPr>
        <p:txBody>
          <a:bodyPr wrap="square" lIns="0" tIns="0" rIns="0" bIns="0" rtlCol="0" anchor="ctr"/>
          <a:lstStyle/>
          <a:p>
            <a:pPr marL="0" indent="0" algn="r">
              <a:buNone/>
            </a:pPr>
            <a:r>
              <a:rPr lang="en-US" sz="850" dirty="0">
                <a:solidFill>
                  <a:srgbClr val="607D8B"/>
                </a:solidFill>
                <a:latin typeface="Calibri" pitchFamily="34" charset="0"/>
                <a:ea typeface="Calibri" pitchFamily="34" charset="-122"/>
                <a:cs typeface="Calibri" pitchFamily="34" charset="-120"/>
              </a:rPr>
              <a:t>14 / 15</a:t>
            </a:r>
            <a:endParaRPr lang="en-US" sz="850" dirty="0"/>
          </a:p>
        </p:txBody>
      </p:sp>
      <p:sp>
        <p:nvSpPr>
          <p:cNvPr id="10" name="Shape 8"/>
          <p:cNvSpPr/>
          <p:nvPr/>
        </p:nvSpPr>
        <p:spPr>
          <a:xfrm>
            <a:off x="320040" y="1115568"/>
            <a:ext cx="4023360" cy="3429000"/>
          </a:xfrm>
          <a:prstGeom prst="rect">
            <a:avLst/>
          </a:prstGeom>
          <a:solidFill>
            <a:srgbClr val="FFFFFF"/>
          </a:solidFill>
          <a:ln w="9525">
            <a:solidFill>
              <a:srgbClr val="CFD8DC"/>
            </a:solidFill>
            <a:prstDash val="solid"/>
          </a:ln>
          <a:effectLst>
            <a:outerShdw blurRad="63500" dist="25400" dir="8100000" algn="bl" rotWithShape="0">
              <a:srgbClr val="000000">
                <a:alpha val="9000"/>
              </a:srgbClr>
            </a:outerShdw>
          </a:effectLst>
        </p:spPr>
        <p:txBody>
          <a:bodyPr/>
          <a:lstStyle/>
          <a:p>
            <a:endParaRPr lang="th-TH"/>
          </a:p>
        </p:txBody>
      </p:sp>
      <p:sp>
        <p:nvSpPr>
          <p:cNvPr id="11" name="Shape 9"/>
          <p:cNvSpPr/>
          <p:nvPr/>
        </p:nvSpPr>
        <p:spPr>
          <a:xfrm>
            <a:off x="320040" y="1115568"/>
            <a:ext cx="4023360" cy="64008"/>
          </a:xfrm>
          <a:prstGeom prst="rect">
            <a:avLst/>
          </a:prstGeom>
          <a:solidFill>
            <a:srgbClr val="1565C0"/>
          </a:solidFill>
          <a:ln/>
        </p:spPr>
        <p:txBody>
          <a:bodyPr/>
          <a:lstStyle/>
          <a:p>
            <a:endParaRPr lang="th-TH"/>
          </a:p>
        </p:txBody>
      </p:sp>
      <p:sp>
        <p:nvSpPr>
          <p:cNvPr id="12" name="Text 10"/>
          <p:cNvSpPr/>
          <p:nvPr/>
        </p:nvSpPr>
        <p:spPr>
          <a:xfrm>
            <a:off x="457200" y="1188720"/>
            <a:ext cx="3749040" cy="347472"/>
          </a:xfrm>
          <a:prstGeom prst="rect">
            <a:avLst/>
          </a:prstGeom>
          <a:noFill/>
          <a:ln/>
        </p:spPr>
        <p:txBody>
          <a:bodyPr wrap="square" lIns="0" tIns="0" rIns="0" bIns="0" rtlCol="0" anchor="ctr"/>
          <a:lstStyle/>
          <a:p>
            <a:pPr marL="0" indent="0">
              <a:buNone/>
            </a:pPr>
            <a:r>
              <a:rPr lang="en-US" sz="1300" b="1" dirty="0">
                <a:solidFill>
                  <a:srgbClr val="0A2342"/>
                </a:solidFill>
                <a:latin typeface="Calibri" pitchFamily="34" charset="0"/>
                <a:ea typeface="Calibri" pitchFamily="34" charset="-122"/>
                <a:cs typeface="Calibri" pitchFamily="34" charset="-120"/>
              </a:rPr>
              <a:t>K-Means Sensor Clustering</a:t>
            </a:r>
            <a:endParaRPr lang="en-US" sz="1300" dirty="0"/>
          </a:p>
        </p:txBody>
      </p:sp>
      <p:sp>
        <p:nvSpPr>
          <p:cNvPr id="13" name="Shape 11"/>
          <p:cNvSpPr/>
          <p:nvPr/>
        </p:nvSpPr>
        <p:spPr>
          <a:xfrm>
            <a:off x="457200" y="1664208"/>
            <a:ext cx="1051560" cy="329184"/>
          </a:xfrm>
          <a:prstGeom prst="rect">
            <a:avLst/>
          </a:prstGeom>
          <a:solidFill>
            <a:srgbClr val="1565C0"/>
          </a:solidFill>
          <a:ln/>
        </p:spPr>
        <p:txBody>
          <a:bodyPr/>
          <a:lstStyle/>
          <a:p>
            <a:endParaRPr lang="th-TH"/>
          </a:p>
        </p:txBody>
      </p:sp>
      <p:sp>
        <p:nvSpPr>
          <p:cNvPr id="14" name="Text 12"/>
          <p:cNvSpPr/>
          <p:nvPr/>
        </p:nvSpPr>
        <p:spPr>
          <a:xfrm>
            <a:off x="457200" y="1664208"/>
            <a:ext cx="1051560" cy="329184"/>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Optimal k</a:t>
            </a:r>
            <a:endParaRPr lang="en-US" sz="950" dirty="0"/>
          </a:p>
        </p:txBody>
      </p:sp>
      <p:sp>
        <p:nvSpPr>
          <p:cNvPr id="15" name="Text 13"/>
          <p:cNvSpPr/>
          <p:nvPr/>
        </p:nvSpPr>
        <p:spPr>
          <a:xfrm>
            <a:off x="1572768" y="1682496"/>
            <a:ext cx="2606040" cy="292608"/>
          </a:xfrm>
          <a:prstGeom prst="rect">
            <a:avLst/>
          </a:prstGeom>
          <a:noFill/>
          <a:ln/>
        </p:spPr>
        <p:txBody>
          <a:bodyPr wrap="square" lIns="0" tIns="0" rIns="0" bIns="0" rtlCol="0" anchor="ctr"/>
          <a:lstStyle/>
          <a:p>
            <a:pPr marL="0" indent="0">
              <a:buNone/>
            </a:pPr>
            <a:r>
              <a:rPr lang="en-US" sz="1100" dirty="0">
                <a:solidFill>
                  <a:srgbClr val="37474F"/>
                </a:solidFill>
                <a:latin typeface="Calibri" pitchFamily="34" charset="0"/>
                <a:ea typeface="Calibri" pitchFamily="34" charset="-122"/>
                <a:cs typeface="Calibri" pitchFamily="34" charset="-120"/>
              </a:rPr>
              <a:t>k = 2  (elbow + silhouette)</a:t>
            </a:r>
            <a:endParaRPr lang="en-US" sz="1100" dirty="0"/>
          </a:p>
        </p:txBody>
      </p:sp>
      <p:sp>
        <p:nvSpPr>
          <p:cNvPr id="16" name="Shape 14"/>
          <p:cNvSpPr/>
          <p:nvPr/>
        </p:nvSpPr>
        <p:spPr>
          <a:xfrm>
            <a:off x="457200" y="2157984"/>
            <a:ext cx="1051560" cy="329184"/>
          </a:xfrm>
          <a:prstGeom prst="rect">
            <a:avLst/>
          </a:prstGeom>
          <a:solidFill>
            <a:srgbClr val="1976D2"/>
          </a:solidFill>
          <a:ln/>
        </p:spPr>
        <p:txBody>
          <a:bodyPr/>
          <a:lstStyle/>
          <a:p>
            <a:endParaRPr lang="th-TH"/>
          </a:p>
        </p:txBody>
      </p:sp>
      <p:sp>
        <p:nvSpPr>
          <p:cNvPr id="17" name="Text 15"/>
          <p:cNvSpPr/>
          <p:nvPr/>
        </p:nvSpPr>
        <p:spPr>
          <a:xfrm>
            <a:off x="457200" y="2157984"/>
            <a:ext cx="1051560" cy="329184"/>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Cluster 0</a:t>
            </a:r>
            <a:endParaRPr lang="en-US" sz="950" dirty="0"/>
          </a:p>
        </p:txBody>
      </p:sp>
      <p:sp>
        <p:nvSpPr>
          <p:cNvPr id="18" name="Text 16"/>
          <p:cNvSpPr/>
          <p:nvPr/>
        </p:nvSpPr>
        <p:spPr>
          <a:xfrm>
            <a:off x="1572768" y="2176272"/>
            <a:ext cx="2606040" cy="292608"/>
          </a:xfrm>
          <a:prstGeom prst="rect">
            <a:avLst/>
          </a:prstGeom>
          <a:noFill/>
          <a:ln/>
        </p:spPr>
        <p:txBody>
          <a:bodyPr wrap="square" lIns="0" tIns="0" rIns="0" bIns="0" rtlCol="0" anchor="ctr"/>
          <a:lstStyle/>
          <a:p>
            <a:pPr marL="0" indent="0">
              <a:buNone/>
            </a:pPr>
            <a:r>
              <a:rPr lang="en-US" sz="1100" dirty="0">
                <a:solidFill>
                  <a:srgbClr val="37474F"/>
                </a:solidFill>
                <a:latin typeface="Calibri" pitchFamily="34" charset="0"/>
                <a:ea typeface="Calibri" pitchFamily="34" charset="-122"/>
                <a:cs typeface="Calibri" pitchFamily="34" charset="-120"/>
              </a:rPr>
              <a:t>Peripheral &amp; lower-volume routes</a:t>
            </a:r>
            <a:endParaRPr lang="en-US" sz="1100" dirty="0"/>
          </a:p>
        </p:txBody>
      </p:sp>
      <p:sp>
        <p:nvSpPr>
          <p:cNvPr id="19" name="Shape 17"/>
          <p:cNvSpPr/>
          <p:nvPr/>
        </p:nvSpPr>
        <p:spPr>
          <a:xfrm>
            <a:off x="457200" y="2651760"/>
            <a:ext cx="1051560" cy="329184"/>
          </a:xfrm>
          <a:prstGeom prst="rect">
            <a:avLst/>
          </a:prstGeom>
          <a:solidFill>
            <a:srgbClr val="0A2342"/>
          </a:solidFill>
          <a:ln/>
        </p:spPr>
        <p:txBody>
          <a:bodyPr/>
          <a:lstStyle/>
          <a:p>
            <a:endParaRPr lang="th-TH"/>
          </a:p>
        </p:txBody>
      </p:sp>
      <p:sp>
        <p:nvSpPr>
          <p:cNvPr id="20" name="Text 18"/>
          <p:cNvSpPr/>
          <p:nvPr/>
        </p:nvSpPr>
        <p:spPr>
          <a:xfrm>
            <a:off x="457200" y="2651760"/>
            <a:ext cx="1051560" cy="329184"/>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Cluster 1</a:t>
            </a:r>
            <a:endParaRPr lang="en-US" sz="950" dirty="0"/>
          </a:p>
        </p:txBody>
      </p:sp>
      <p:sp>
        <p:nvSpPr>
          <p:cNvPr id="21" name="Text 19"/>
          <p:cNvSpPr/>
          <p:nvPr/>
        </p:nvSpPr>
        <p:spPr>
          <a:xfrm>
            <a:off x="1572768" y="2670048"/>
            <a:ext cx="2606040" cy="292608"/>
          </a:xfrm>
          <a:prstGeom prst="rect">
            <a:avLst/>
          </a:prstGeom>
          <a:noFill/>
          <a:ln/>
        </p:spPr>
        <p:txBody>
          <a:bodyPr wrap="square" lIns="0" tIns="0" rIns="0" bIns="0" rtlCol="0" anchor="ctr"/>
          <a:lstStyle/>
          <a:p>
            <a:pPr marL="0" indent="0">
              <a:buNone/>
            </a:pPr>
            <a:r>
              <a:rPr lang="en-US" sz="1100" dirty="0">
                <a:solidFill>
                  <a:srgbClr val="37474F"/>
                </a:solidFill>
                <a:latin typeface="Calibri" pitchFamily="34" charset="0"/>
                <a:ea typeface="Calibri" pitchFamily="34" charset="-122"/>
                <a:cs typeface="Calibri" pitchFamily="34" charset="-120"/>
              </a:rPr>
              <a:t>Urban corridors — LA Basin, Bay Area</a:t>
            </a:r>
            <a:endParaRPr lang="en-US" sz="1100" dirty="0"/>
          </a:p>
        </p:txBody>
      </p:sp>
      <p:sp>
        <p:nvSpPr>
          <p:cNvPr id="22" name="Shape 20"/>
          <p:cNvSpPr/>
          <p:nvPr/>
        </p:nvSpPr>
        <p:spPr>
          <a:xfrm>
            <a:off x="457200" y="3145536"/>
            <a:ext cx="1051560" cy="329184"/>
          </a:xfrm>
          <a:prstGeom prst="rect">
            <a:avLst/>
          </a:prstGeom>
          <a:solidFill>
            <a:srgbClr val="1565C0"/>
          </a:solidFill>
          <a:ln/>
        </p:spPr>
        <p:txBody>
          <a:bodyPr/>
          <a:lstStyle/>
          <a:p>
            <a:endParaRPr lang="th-TH"/>
          </a:p>
        </p:txBody>
      </p:sp>
      <p:sp>
        <p:nvSpPr>
          <p:cNvPr id="23" name="Text 21"/>
          <p:cNvSpPr/>
          <p:nvPr/>
        </p:nvSpPr>
        <p:spPr>
          <a:xfrm>
            <a:off x="457200" y="3145536"/>
            <a:ext cx="1051560" cy="329184"/>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Spatial</a:t>
            </a:r>
            <a:endParaRPr lang="en-US" sz="950" dirty="0"/>
          </a:p>
        </p:txBody>
      </p:sp>
      <p:sp>
        <p:nvSpPr>
          <p:cNvPr id="24" name="Text 22"/>
          <p:cNvSpPr/>
          <p:nvPr/>
        </p:nvSpPr>
        <p:spPr>
          <a:xfrm>
            <a:off x="1572768" y="3163824"/>
            <a:ext cx="2606040" cy="292608"/>
          </a:xfrm>
          <a:prstGeom prst="rect">
            <a:avLst/>
          </a:prstGeom>
          <a:noFill/>
          <a:ln/>
        </p:spPr>
        <p:txBody>
          <a:bodyPr wrap="square" lIns="0" tIns="0" rIns="0" bIns="0" rtlCol="0" anchor="ctr"/>
          <a:lstStyle/>
          <a:p>
            <a:pPr marL="0" indent="0">
              <a:buNone/>
            </a:pPr>
            <a:r>
              <a:rPr lang="en-US" sz="1100" dirty="0">
                <a:solidFill>
                  <a:srgbClr val="37474F"/>
                </a:solidFill>
                <a:latin typeface="Calibri" pitchFamily="34" charset="0"/>
                <a:ea typeface="Calibri" pitchFamily="34" charset="-122"/>
                <a:cs typeface="Calibri" pitchFamily="34" charset="-120"/>
              </a:rPr>
              <a:t>Cluster 1 dense in Districts 7 and 4/12</a:t>
            </a:r>
            <a:endParaRPr lang="en-US" sz="1100" dirty="0"/>
          </a:p>
        </p:txBody>
      </p:sp>
      <p:sp>
        <p:nvSpPr>
          <p:cNvPr id="25" name="Shape 23"/>
          <p:cNvSpPr/>
          <p:nvPr/>
        </p:nvSpPr>
        <p:spPr>
          <a:xfrm>
            <a:off x="457200" y="3639312"/>
            <a:ext cx="1051560" cy="329184"/>
          </a:xfrm>
          <a:prstGeom prst="rect">
            <a:avLst/>
          </a:prstGeom>
          <a:solidFill>
            <a:srgbClr val="1976D2"/>
          </a:solidFill>
          <a:ln/>
        </p:spPr>
        <p:txBody>
          <a:bodyPr/>
          <a:lstStyle/>
          <a:p>
            <a:endParaRPr lang="th-TH"/>
          </a:p>
        </p:txBody>
      </p:sp>
      <p:sp>
        <p:nvSpPr>
          <p:cNvPr id="26" name="Text 24"/>
          <p:cNvSpPr/>
          <p:nvPr/>
        </p:nvSpPr>
        <p:spPr>
          <a:xfrm>
            <a:off x="457200" y="3639312"/>
            <a:ext cx="1051560" cy="329184"/>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Sensors</a:t>
            </a:r>
            <a:endParaRPr lang="en-US" sz="950" dirty="0"/>
          </a:p>
        </p:txBody>
      </p:sp>
      <p:sp>
        <p:nvSpPr>
          <p:cNvPr id="27" name="Text 25"/>
          <p:cNvSpPr/>
          <p:nvPr/>
        </p:nvSpPr>
        <p:spPr>
          <a:xfrm>
            <a:off x="1572768" y="3657600"/>
            <a:ext cx="2606040" cy="292608"/>
          </a:xfrm>
          <a:prstGeom prst="rect">
            <a:avLst/>
          </a:prstGeom>
          <a:noFill/>
          <a:ln/>
        </p:spPr>
        <p:txBody>
          <a:bodyPr wrap="square" lIns="0" tIns="0" rIns="0" bIns="0" rtlCol="0" anchor="ctr"/>
          <a:lstStyle/>
          <a:p>
            <a:pPr marL="0" indent="0">
              <a:buNone/>
            </a:pPr>
            <a:r>
              <a:rPr lang="en-US" sz="1100" dirty="0">
                <a:solidFill>
                  <a:srgbClr val="37474F"/>
                </a:solidFill>
                <a:latin typeface="Calibri" pitchFamily="34" charset="0"/>
                <a:ea typeface="Calibri" pitchFamily="34" charset="-122"/>
                <a:cs typeface="Calibri" pitchFamily="34" charset="-120"/>
              </a:rPr>
              <a:t>8,509 sensors classified</a:t>
            </a:r>
            <a:endParaRPr lang="en-US" sz="1100" dirty="0"/>
          </a:p>
        </p:txBody>
      </p:sp>
      <p:sp>
        <p:nvSpPr>
          <p:cNvPr id="28" name="Shape 26"/>
          <p:cNvSpPr/>
          <p:nvPr/>
        </p:nvSpPr>
        <p:spPr>
          <a:xfrm>
            <a:off x="4800600" y="1115568"/>
            <a:ext cx="4023360" cy="3429000"/>
          </a:xfrm>
          <a:prstGeom prst="rect">
            <a:avLst/>
          </a:prstGeom>
          <a:solidFill>
            <a:srgbClr val="FFFFFF"/>
          </a:solidFill>
          <a:ln w="9525">
            <a:solidFill>
              <a:srgbClr val="CFD8DC"/>
            </a:solidFill>
            <a:prstDash val="solid"/>
          </a:ln>
          <a:effectLst>
            <a:outerShdw blurRad="63500" dist="25400" dir="8100000" algn="bl" rotWithShape="0">
              <a:srgbClr val="000000">
                <a:alpha val="9000"/>
              </a:srgbClr>
            </a:outerShdw>
          </a:effectLst>
        </p:spPr>
        <p:txBody>
          <a:bodyPr/>
          <a:lstStyle/>
          <a:p>
            <a:endParaRPr lang="th-TH"/>
          </a:p>
        </p:txBody>
      </p:sp>
      <p:sp>
        <p:nvSpPr>
          <p:cNvPr id="29" name="Shape 27"/>
          <p:cNvSpPr/>
          <p:nvPr/>
        </p:nvSpPr>
        <p:spPr>
          <a:xfrm>
            <a:off x="4800600" y="1115568"/>
            <a:ext cx="4023360" cy="64008"/>
          </a:xfrm>
          <a:prstGeom prst="rect">
            <a:avLst/>
          </a:prstGeom>
          <a:solidFill>
            <a:srgbClr val="0A2342"/>
          </a:solidFill>
          <a:ln/>
        </p:spPr>
        <p:txBody>
          <a:bodyPr/>
          <a:lstStyle/>
          <a:p>
            <a:endParaRPr lang="th-TH"/>
          </a:p>
        </p:txBody>
      </p:sp>
      <p:sp>
        <p:nvSpPr>
          <p:cNvPr id="30" name="Text 28"/>
          <p:cNvSpPr/>
          <p:nvPr/>
        </p:nvSpPr>
        <p:spPr>
          <a:xfrm>
            <a:off x="4937760" y="1188720"/>
            <a:ext cx="3749040" cy="347472"/>
          </a:xfrm>
          <a:prstGeom prst="rect">
            <a:avLst/>
          </a:prstGeom>
          <a:noFill/>
          <a:ln/>
        </p:spPr>
        <p:txBody>
          <a:bodyPr wrap="square" lIns="0" tIns="0" rIns="0" bIns="0" rtlCol="0" anchor="ctr"/>
          <a:lstStyle/>
          <a:p>
            <a:pPr marL="0" indent="0">
              <a:buNone/>
            </a:pPr>
            <a:r>
              <a:rPr lang="en-US" sz="1300" b="1" dirty="0">
                <a:solidFill>
                  <a:srgbClr val="0A2342"/>
                </a:solidFill>
                <a:latin typeface="Calibri" pitchFamily="34" charset="0"/>
                <a:ea typeface="Calibri" pitchFamily="34" charset="-122"/>
                <a:cs typeface="Calibri" pitchFamily="34" charset="-120"/>
              </a:rPr>
              <a:t>Time Series Forecasting</a:t>
            </a:r>
            <a:endParaRPr lang="en-US" sz="1300" dirty="0"/>
          </a:p>
        </p:txBody>
      </p:sp>
      <p:sp>
        <p:nvSpPr>
          <p:cNvPr id="31" name="Shape 29"/>
          <p:cNvSpPr/>
          <p:nvPr/>
        </p:nvSpPr>
        <p:spPr>
          <a:xfrm>
            <a:off x="4937760" y="1645920"/>
            <a:ext cx="1508760" cy="292608"/>
          </a:xfrm>
          <a:prstGeom prst="rect">
            <a:avLst/>
          </a:prstGeom>
          <a:solidFill>
            <a:srgbClr val="0A2342"/>
          </a:solidFill>
          <a:ln/>
        </p:spPr>
        <p:txBody>
          <a:bodyPr/>
          <a:lstStyle/>
          <a:p>
            <a:endParaRPr lang="th-TH"/>
          </a:p>
        </p:txBody>
      </p:sp>
      <p:sp>
        <p:nvSpPr>
          <p:cNvPr id="32" name="Text 30"/>
          <p:cNvSpPr/>
          <p:nvPr/>
        </p:nvSpPr>
        <p:spPr>
          <a:xfrm>
            <a:off x="4937760" y="1645920"/>
            <a:ext cx="1508760" cy="29260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Model</a:t>
            </a:r>
            <a:endParaRPr lang="en-US" sz="950" dirty="0"/>
          </a:p>
        </p:txBody>
      </p:sp>
      <p:sp>
        <p:nvSpPr>
          <p:cNvPr id="33" name="Shape 31"/>
          <p:cNvSpPr/>
          <p:nvPr/>
        </p:nvSpPr>
        <p:spPr>
          <a:xfrm>
            <a:off x="6446520" y="1645920"/>
            <a:ext cx="777240" cy="292608"/>
          </a:xfrm>
          <a:prstGeom prst="rect">
            <a:avLst/>
          </a:prstGeom>
          <a:solidFill>
            <a:srgbClr val="0A2342"/>
          </a:solidFill>
          <a:ln/>
        </p:spPr>
        <p:txBody>
          <a:bodyPr/>
          <a:lstStyle/>
          <a:p>
            <a:endParaRPr lang="th-TH"/>
          </a:p>
        </p:txBody>
      </p:sp>
      <p:sp>
        <p:nvSpPr>
          <p:cNvPr id="34" name="Text 32"/>
          <p:cNvSpPr/>
          <p:nvPr/>
        </p:nvSpPr>
        <p:spPr>
          <a:xfrm>
            <a:off x="6446520" y="1645920"/>
            <a:ext cx="777240" cy="29260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MAE</a:t>
            </a:r>
            <a:endParaRPr lang="en-US" sz="950" dirty="0"/>
          </a:p>
        </p:txBody>
      </p:sp>
      <p:sp>
        <p:nvSpPr>
          <p:cNvPr id="35" name="Shape 33"/>
          <p:cNvSpPr/>
          <p:nvPr/>
        </p:nvSpPr>
        <p:spPr>
          <a:xfrm>
            <a:off x="7223760" y="1645920"/>
            <a:ext cx="777240" cy="292608"/>
          </a:xfrm>
          <a:prstGeom prst="rect">
            <a:avLst/>
          </a:prstGeom>
          <a:solidFill>
            <a:srgbClr val="0A2342"/>
          </a:solidFill>
          <a:ln/>
        </p:spPr>
        <p:txBody>
          <a:bodyPr/>
          <a:lstStyle/>
          <a:p>
            <a:endParaRPr lang="th-TH"/>
          </a:p>
        </p:txBody>
      </p:sp>
      <p:sp>
        <p:nvSpPr>
          <p:cNvPr id="36" name="Text 34"/>
          <p:cNvSpPr/>
          <p:nvPr/>
        </p:nvSpPr>
        <p:spPr>
          <a:xfrm>
            <a:off x="7223760" y="1645920"/>
            <a:ext cx="777240" cy="29260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RMSE</a:t>
            </a:r>
            <a:endParaRPr lang="en-US" sz="950" dirty="0"/>
          </a:p>
        </p:txBody>
      </p:sp>
      <p:sp>
        <p:nvSpPr>
          <p:cNvPr id="37" name="Shape 35"/>
          <p:cNvSpPr/>
          <p:nvPr/>
        </p:nvSpPr>
        <p:spPr>
          <a:xfrm>
            <a:off x="8001000" y="1645920"/>
            <a:ext cx="548640" cy="292608"/>
          </a:xfrm>
          <a:prstGeom prst="rect">
            <a:avLst/>
          </a:prstGeom>
          <a:solidFill>
            <a:srgbClr val="0A2342"/>
          </a:solidFill>
          <a:ln/>
        </p:spPr>
        <p:txBody>
          <a:bodyPr/>
          <a:lstStyle/>
          <a:p>
            <a:endParaRPr lang="th-TH"/>
          </a:p>
        </p:txBody>
      </p:sp>
      <p:sp>
        <p:nvSpPr>
          <p:cNvPr id="38" name="Text 36"/>
          <p:cNvSpPr/>
          <p:nvPr/>
        </p:nvSpPr>
        <p:spPr>
          <a:xfrm>
            <a:off x="8001000" y="1645920"/>
            <a:ext cx="548640" cy="29260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R²</a:t>
            </a:r>
            <a:endParaRPr lang="en-US" sz="950" dirty="0"/>
          </a:p>
        </p:txBody>
      </p:sp>
      <p:sp>
        <p:nvSpPr>
          <p:cNvPr id="39" name="Shape 37"/>
          <p:cNvSpPr/>
          <p:nvPr/>
        </p:nvSpPr>
        <p:spPr>
          <a:xfrm>
            <a:off x="4937760" y="1956816"/>
            <a:ext cx="1508760" cy="365760"/>
          </a:xfrm>
          <a:prstGeom prst="rect">
            <a:avLst/>
          </a:prstGeom>
          <a:solidFill>
            <a:srgbClr val="E3F0FF"/>
          </a:solidFill>
          <a:ln w="6350">
            <a:solidFill>
              <a:srgbClr val="CFD8DC"/>
            </a:solidFill>
            <a:prstDash val="solid"/>
          </a:ln>
        </p:spPr>
        <p:txBody>
          <a:bodyPr/>
          <a:lstStyle/>
          <a:p>
            <a:endParaRPr lang="th-TH"/>
          </a:p>
        </p:txBody>
      </p:sp>
      <p:sp>
        <p:nvSpPr>
          <p:cNvPr id="40" name="Text 38"/>
          <p:cNvSpPr/>
          <p:nvPr/>
        </p:nvSpPr>
        <p:spPr>
          <a:xfrm>
            <a:off x="4974336" y="1956816"/>
            <a:ext cx="1435608" cy="365760"/>
          </a:xfrm>
          <a:prstGeom prst="rect">
            <a:avLst/>
          </a:prstGeom>
          <a:noFill/>
          <a:ln/>
        </p:spPr>
        <p:txBody>
          <a:bodyPr wrap="square" lIns="0" tIns="0" rIns="0" bIns="0" rtlCol="0" anchor="ctr"/>
          <a:lstStyle/>
          <a:p>
            <a:pPr marL="0" indent="0" algn="l">
              <a:buNone/>
            </a:pPr>
            <a:r>
              <a:rPr lang="en-US" sz="1100" dirty="0">
                <a:solidFill>
                  <a:srgbClr val="37474F"/>
                </a:solidFill>
                <a:latin typeface="Calibri" pitchFamily="34" charset="0"/>
                <a:ea typeface="Calibri" pitchFamily="34" charset="-122"/>
                <a:cs typeface="Calibri" pitchFamily="34" charset="-120"/>
              </a:rPr>
              <a:t>ARIMA(2,1,2)</a:t>
            </a:r>
            <a:endParaRPr lang="en-US" sz="1100" dirty="0"/>
          </a:p>
        </p:txBody>
      </p:sp>
      <p:sp>
        <p:nvSpPr>
          <p:cNvPr id="41" name="Shape 39"/>
          <p:cNvSpPr/>
          <p:nvPr/>
        </p:nvSpPr>
        <p:spPr>
          <a:xfrm>
            <a:off x="6446520" y="1956816"/>
            <a:ext cx="777240" cy="365760"/>
          </a:xfrm>
          <a:prstGeom prst="rect">
            <a:avLst/>
          </a:prstGeom>
          <a:solidFill>
            <a:srgbClr val="E3F0FF"/>
          </a:solidFill>
          <a:ln w="6350">
            <a:solidFill>
              <a:srgbClr val="CFD8DC"/>
            </a:solidFill>
            <a:prstDash val="solid"/>
          </a:ln>
        </p:spPr>
        <p:txBody>
          <a:bodyPr/>
          <a:lstStyle/>
          <a:p>
            <a:endParaRPr lang="th-TH"/>
          </a:p>
        </p:txBody>
      </p:sp>
      <p:sp>
        <p:nvSpPr>
          <p:cNvPr id="42" name="Text 40"/>
          <p:cNvSpPr/>
          <p:nvPr/>
        </p:nvSpPr>
        <p:spPr>
          <a:xfrm>
            <a:off x="6483096" y="1956816"/>
            <a:ext cx="704088" cy="365760"/>
          </a:xfrm>
          <a:prstGeom prst="rect">
            <a:avLst/>
          </a:prstGeom>
          <a:noFill/>
          <a:ln/>
        </p:spPr>
        <p:txBody>
          <a:bodyPr wrap="square" lIns="0" tIns="0" rIns="0" bIns="0" rtlCol="0" anchor="ctr"/>
          <a:lstStyle/>
          <a:p>
            <a:pPr marL="0" indent="0" algn="ctr">
              <a:buNone/>
            </a:pPr>
            <a:r>
              <a:rPr lang="en-US" sz="1100" dirty="0">
                <a:solidFill>
                  <a:srgbClr val="37474F"/>
                </a:solidFill>
                <a:latin typeface="Calibri" pitchFamily="34" charset="0"/>
                <a:ea typeface="Calibri" pitchFamily="34" charset="-122"/>
                <a:cs typeface="Calibri" pitchFamily="34" charset="-120"/>
              </a:rPr>
              <a:t>19,851</a:t>
            </a:r>
            <a:endParaRPr lang="en-US" sz="1100" dirty="0"/>
          </a:p>
        </p:txBody>
      </p:sp>
      <p:sp>
        <p:nvSpPr>
          <p:cNvPr id="43" name="Shape 41"/>
          <p:cNvSpPr/>
          <p:nvPr/>
        </p:nvSpPr>
        <p:spPr>
          <a:xfrm>
            <a:off x="7223760" y="1956816"/>
            <a:ext cx="777240" cy="365760"/>
          </a:xfrm>
          <a:prstGeom prst="rect">
            <a:avLst/>
          </a:prstGeom>
          <a:solidFill>
            <a:srgbClr val="E3F0FF"/>
          </a:solidFill>
          <a:ln w="6350">
            <a:solidFill>
              <a:srgbClr val="CFD8DC"/>
            </a:solidFill>
            <a:prstDash val="solid"/>
          </a:ln>
        </p:spPr>
        <p:txBody>
          <a:bodyPr/>
          <a:lstStyle/>
          <a:p>
            <a:endParaRPr lang="th-TH"/>
          </a:p>
        </p:txBody>
      </p:sp>
      <p:sp>
        <p:nvSpPr>
          <p:cNvPr id="44" name="Text 42"/>
          <p:cNvSpPr/>
          <p:nvPr/>
        </p:nvSpPr>
        <p:spPr>
          <a:xfrm>
            <a:off x="7260336" y="1956816"/>
            <a:ext cx="704088" cy="365760"/>
          </a:xfrm>
          <a:prstGeom prst="rect">
            <a:avLst/>
          </a:prstGeom>
          <a:noFill/>
          <a:ln/>
        </p:spPr>
        <p:txBody>
          <a:bodyPr wrap="square" lIns="0" tIns="0" rIns="0" bIns="0" rtlCol="0" anchor="ctr"/>
          <a:lstStyle/>
          <a:p>
            <a:pPr marL="0" indent="0" algn="ctr">
              <a:buNone/>
            </a:pPr>
            <a:r>
              <a:rPr lang="en-US" sz="1100" dirty="0">
                <a:solidFill>
                  <a:srgbClr val="37474F"/>
                </a:solidFill>
                <a:latin typeface="Calibri" pitchFamily="34" charset="0"/>
                <a:ea typeface="Calibri" pitchFamily="34" charset="-122"/>
                <a:cs typeface="Calibri" pitchFamily="34" charset="-120"/>
              </a:rPr>
              <a:t>40,844</a:t>
            </a:r>
            <a:endParaRPr lang="en-US" sz="1100" dirty="0"/>
          </a:p>
        </p:txBody>
      </p:sp>
      <p:sp>
        <p:nvSpPr>
          <p:cNvPr id="45" name="Shape 43"/>
          <p:cNvSpPr/>
          <p:nvPr/>
        </p:nvSpPr>
        <p:spPr>
          <a:xfrm>
            <a:off x="8001000" y="1956816"/>
            <a:ext cx="548640" cy="365760"/>
          </a:xfrm>
          <a:prstGeom prst="rect">
            <a:avLst/>
          </a:prstGeom>
          <a:solidFill>
            <a:srgbClr val="E3F0FF"/>
          </a:solidFill>
          <a:ln w="6350">
            <a:solidFill>
              <a:srgbClr val="CFD8DC"/>
            </a:solidFill>
            <a:prstDash val="solid"/>
          </a:ln>
        </p:spPr>
        <p:txBody>
          <a:bodyPr/>
          <a:lstStyle/>
          <a:p>
            <a:endParaRPr lang="th-TH"/>
          </a:p>
        </p:txBody>
      </p:sp>
      <p:sp>
        <p:nvSpPr>
          <p:cNvPr id="46" name="Text 44"/>
          <p:cNvSpPr/>
          <p:nvPr/>
        </p:nvSpPr>
        <p:spPr>
          <a:xfrm>
            <a:off x="8037576" y="1956816"/>
            <a:ext cx="475488" cy="365760"/>
          </a:xfrm>
          <a:prstGeom prst="rect">
            <a:avLst/>
          </a:prstGeom>
          <a:noFill/>
          <a:ln/>
        </p:spPr>
        <p:txBody>
          <a:bodyPr wrap="square" lIns="0" tIns="0" rIns="0" bIns="0" rtlCol="0" anchor="ctr"/>
          <a:lstStyle/>
          <a:p>
            <a:pPr marL="0" indent="0" algn="ctr">
              <a:buNone/>
            </a:pPr>
            <a:r>
              <a:rPr lang="en-US" sz="1100" dirty="0">
                <a:solidFill>
                  <a:srgbClr val="37474F"/>
                </a:solidFill>
                <a:latin typeface="Calibri" pitchFamily="34" charset="0"/>
                <a:ea typeface="Calibri" pitchFamily="34" charset="-122"/>
                <a:cs typeface="Calibri" pitchFamily="34" charset="-120"/>
              </a:rPr>
              <a:t>—</a:t>
            </a:r>
            <a:endParaRPr lang="en-US" sz="1100" dirty="0"/>
          </a:p>
        </p:txBody>
      </p:sp>
      <p:sp>
        <p:nvSpPr>
          <p:cNvPr id="47" name="Shape 45"/>
          <p:cNvSpPr/>
          <p:nvPr/>
        </p:nvSpPr>
        <p:spPr>
          <a:xfrm>
            <a:off x="4937760" y="2359152"/>
            <a:ext cx="1508760" cy="365760"/>
          </a:xfrm>
          <a:prstGeom prst="rect">
            <a:avLst/>
          </a:prstGeom>
          <a:solidFill>
            <a:srgbClr val="FFFFFF"/>
          </a:solidFill>
          <a:ln w="6350">
            <a:solidFill>
              <a:srgbClr val="CFD8DC"/>
            </a:solidFill>
            <a:prstDash val="solid"/>
          </a:ln>
        </p:spPr>
        <p:txBody>
          <a:bodyPr/>
          <a:lstStyle/>
          <a:p>
            <a:endParaRPr lang="th-TH"/>
          </a:p>
        </p:txBody>
      </p:sp>
      <p:sp>
        <p:nvSpPr>
          <p:cNvPr id="48" name="Text 46"/>
          <p:cNvSpPr/>
          <p:nvPr/>
        </p:nvSpPr>
        <p:spPr>
          <a:xfrm>
            <a:off x="4974336" y="2359152"/>
            <a:ext cx="1435608" cy="365760"/>
          </a:xfrm>
          <a:prstGeom prst="rect">
            <a:avLst/>
          </a:prstGeom>
          <a:noFill/>
          <a:ln/>
        </p:spPr>
        <p:txBody>
          <a:bodyPr wrap="square" lIns="0" tIns="0" rIns="0" bIns="0" rtlCol="0" anchor="ctr"/>
          <a:lstStyle/>
          <a:p>
            <a:pPr marL="0" indent="0" algn="l">
              <a:buNone/>
            </a:pPr>
            <a:r>
              <a:rPr lang="en-US" sz="1100" dirty="0">
                <a:solidFill>
                  <a:srgbClr val="37474F"/>
                </a:solidFill>
                <a:latin typeface="Calibri" pitchFamily="34" charset="0"/>
                <a:ea typeface="Calibri" pitchFamily="34" charset="-122"/>
                <a:cs typeface="Calibri" pitchFamily="34" charset="-120"/>
              </a:rPr>
              <a:t>LSTM (30 ep)</a:t>
            </a:r>
            <a:endParaRPr lang="en-US" sz="1100" dirty="0"/>
          </a:p>
        </p:txBody>
      </p:sp>
      <p:sp>
        <p:nvSpPr>
          <p:cNvPr id="49" name="Shape 47"/>
          <p:cNvSpPr/>
          <p:nvPr/>
        </p:nvSpPr>
        <p:spPr>
          <a:xfrm>
            <a:off x="6446520" y="2359152"/>
            <a:ext cx="777240" cy="365760"/>
          </a:xfrm>
          <a:prstGeom prst="rect">
            <a:avLst/>
          </a:prstGeom>
          <a:solidFill>
            <a:srgbClr val="FFFFFF"/>
          </a:solidFill>
          <a:ln w="6350">
            <a:solidFill>
              <a:srgbClr val="CFD8DC"/>
            </a:solidFill>
            <a:prstDash val="solid"/>
          </a:ln>
        </p:spPr>
        <p:txBody>
          <a:bodyPr/>
          <a:lstStyle/>
          <a:p>
            <a:endParaRPr lang="th-TH"/>
          </a:p>
        </p:txBody>
      </p:sp>
      <p:sp>
        <p:nvSpPr>
          <p:cNvPr id="50" name="Text 48"/>
          <p:cNvSpPr/>
          <p:nvPr/>
        </p:nvSpPr>
        <p:spPr>
          <a:xfrm>
            <a:off x="6483096" y="2359152"/>
            <a:ext cx="704088" cy="365760"/>
          </a:xfrm>
          <a:prstGeom prst="rect">
            <a:avLst/>
          </a:prstGeom>
          <a:noFill/>
          <a:ln/>
        </p:spPr>
        <p:txBody>
          <a:bodyPr wrap="square" lIns="0" tIns="0" rIns="0" bIns="0" rtlCol="0" anchor="ctr"/>
          <a:lstStyle/>
          <a:p>
            <a:pPr marL="0" indent="0" algn="ctr">
              <a:buNone/>
            </a:pPr>
            <a:r>
              <a:rPr lang="en-US" sz="1100" dirty="0">
                <a:solidFill>
                  <a:srgbClr val="37474F"/>
                </a:solidFill>
                <a:latin typeface="Calibri" pitchFamily="34" charset="0"/>
                <a:ea typeface="Calibri" pitchFamily="34" charset="-122"/>
                <a:cs typeface="Calibri" pitchFamily="34" charset="-120"/>
              </a:rPr>
              <a:t>48,443</a:t>
            </a:r>
            <a:endParaRPr lang="en-US" sz="1100" dirty="0"/>
          </a:p>
        </p:txBody>
      </p:sp>
      <p:sp>
        <p:nvSpPr>
          <p:cNvPr id="51" name="Shape 49"/>
          <p:cNvSpPr/>
          <p:nvPr/>
        </p:nvSpPr>
        <p:spPr>
          <a:xfrm>
            <a:off x="7223760" y="2359152"/>
            <a:ext cx="777240" cy="365760"/>
          </a:xfrm>
          <a:prstGeom prst="rect">
            <a:avLst/>
          </a:prstGeom>
          <a:solidFill>
            <a:srgbClr val="FFFFFF"/>
          </a:solidFill>
          <a:ln w="6350">
            <a:solidFill>
              <a:srgbClr val="CFD8DC"/>
            </a:solidFill>
            <a:prstDash val="solid"/>
          </a:ln>
        </p:spPr>
        <p:txBody>
          <a:bodyPr/>
          <a:lstStyle/>
          <a:p>
            <a:endParaRPr lang="th-TH"/>
          </a:p>
        </p:txBody>
      </p:sp>
      <p:sp>
        <p:nvSpPr>
          <p:cNvPr id="52" name="Text 50"/>
          <p:cNvSpPr/>
          <p:nvPr/>
        </p:nvSpPr>
        <p:spPr>
          <a:xfrm>
            <a:off x="7260336" y="2359152"/>
            <a:ext cx="704088" cy="365760"/>
          </a:xfrm>
          <a:prstGeom prst="rect">
            <a:avLst/>
          </a:prstGeom>
          <a:noFill/>
          <a:ln/>
        </p:spPr>
        <p:txBody>
          <a:bodyPr wrap="square" lIns="0" tIns="0" rIns="0" bIns="0" rtlCol="0" anchor="ctr"/>
          <a:lstStyle/>
          <a:p>
            <a:pPr marL="0" indent="0" algn="ctr">
              <a:buNone/>
            </a:pPr>
            <a:r>
              <a:rPr lang="en-US" sz="1100" dirty="0">
                <a:solidFill>
                  <a:srgbClr val="37474F"/>
                </a:solidFill>
                <a:latin typeface="Calibri" pitchFamily="34" charset="0"/>
                <a:ea typeface="Calibri" pitchFamily="34" charset="-122"/>
                <a:cs typeface="Calibri" pitchFamily="34" charset="-120"/>
              </a:rPr>
              <a:t>62,466</a:t>
            </a:r>
            <a:endParaRPr lang="en-US" sz="1100" dirty="0"/>
          </a:p>
        </p:txBody>
      </p:sp>
      <p:sp>
        <p:nvSpPr>
          <p:cNvPr id="53" name="Shape 51"/>
          <p:cNvSpPr/>
          <p:nvPr/>
        </p:nvSpPr>
        <p:spPr>
          <a:xfrm>
            <a:off x="8001000" y="2359152"/>
            <a:ext cx="548640" cy="365760"/>
          </a:xfrm>
          <a:prstGeom prst="rect">
            <a:avLst/>
          </a:prstGeom>
          <a:solidFill>
            <a:srgbClr val="FFFFFF"/>
          </a:solidFill>
          <a:ln w="6350">
            <a:solidFill>
              <a:srgbClr val="CFD8DC"/>
            </a:solidFill>
            <a:prstDash val="solid"/>
          </a:ln>
        </p:spPr>
        <p:txBody>
          <a:bodyPr/>
          <a:lstStyle/>
          <a:p>
            <a:endParaRPr lang="th-TH"/>
          </a:p>
        </p:txBody>
      </p:sp>
      <p:sp>
        <p:nvSpPr>
          <p:cNvPr id="54" name="Text 52"/>
          <p:cNvSpPr/>
          <p:nvPr/>
        </p:nvSpPr>
        <p:spPr>
          <a:xfrm>
            <a:off x="8037576" y="2359152"/>
            <a:ext cx="475488" cy="365760"/>
          </a:xfrm>
          <a:prstGeom prst="rect">
            <a:avLst/>
          </a:prstGeom>
          <a:noFill/>
          <a:ln/>
        </p:spPr>
        <p:txBody>
          <a:bodyPr wrap="square" lIns="0" tIns="0" rIns="0" bIns="0" rtlCol="0" anchor="ctr"/>
          <a:lstStyle/>
          <a:p>
            <a:pPr marL="0" indent="0" algn="ctr">
              <a:buNone/>
            </a:pPr>
            <a:r>
              <a:rPr lang="en-US" sz="1100" dirty="0">
                <a:solidFill>
                  <a:srgbClr val="37474F"/>
                </a:solidFill>
                <a:latin typeface="Calibri" pitchFamily="34" charset="0"/>
                <a:ea typeface="Calibri" pitchFamily="34" charset="-122"/>
                <a:cs typeface="Calibri" pitchFamily="34" charset="-120"/>
              </a:rPr>
              <a:t>0.995</a:t>
            </a:r>
            <a:endParaRPr lang="en-US" sz="1100" dirty="0"/>
          </a:p>
        </p:txBody>
      </p:sp>
      <p:sp>
        <p:nvSpPr>
          <p:cNvPr id="55" name="Shape 53"/>
          <p:cNvSpPr/>
          <p:nvPr/>
        </p:nvSpPr>
        <p:spPr>
          <a:xfrm>
            <a:off x="4937760" y="2834640"/>
            <a:ext cx="804672" cy="320040"/>
          </a:xfrm>
          <a:prstGeom prst="rect">
            <a:avLst/>
          </a:prstGeom>
          <a:solidFill>
            <a:srgbClr val="1565C0"/>
          </a:solidFill>
          <a:ln/>
        </p:spPr>
        <p:txBody>
          <a:bodyPr/>
          <a:lstStyle/>
          <a:p>
            <a:endParaRPr lang="th-TH"/>
          </a:p>
        </p:txBody>
      </p:sp>
      <p:sp>
        <p:nvSpPr>
          <p:cNvPr id="56" name="Text 54"/>
          <p:cNvSpPr/>
          <p:nvPr/>
        </p:nvSpPr>
        <p:spPr>
          <a:xfrm>
            <a:off x="4937760" y="2834640"/>
            <a:ext cx="804672" cy="320040"/>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ARIMA</a:t>
            </a:r>
            <a:endParaRPr lang="en-US" sz="950" dirty="0"/>
          </a:p>
        </p:txBody>
      </p:sp>
      <p:sp>
        <p:nvSpPr>
          <p:cNvPr id="57" name="Text 55"/>
          <p:cNvSpPr/>
          <p:nvPr/>
        </p:nvSpPr>
        <p:spPr>
          <a:xfrm>
            <a:off x="5797296" y="2852928"/>
            <a:ext cx="2834640" cy="283464"/>
          </a:xfrm>
          <a:prstGeom prst="rect">
            <a:avLst/>
          </a:prstGeom>
          <a:noFill/>
          <a:ln/>
        </p:spPr>
        <p:txBody>
          <a:bodyPr wrap="square" lIns="0" tIns="0" rIns="0" bIns="0" rtlCol="0" anchor="ctr"/>
          <a:lstStyle/>
          <a:p>
            <a:pPr marL="0" indent="0">
              <a:buNone/>
            </a:pPr>
            <a:r>
              <a:rPr lang="en-US" sz="1050" dirty="0">
                <a:solidFill>
                  <a:srgbClr val="37474F"/>
                </a:solidFill>
                <a:latin typeface="Calibri" pitchFamily="34" charset="0"/>
                <a:ea typeface="Calibri" pitchFamily="34" charset="-122"/>
                <a:cs typeface="Calibri" pitchFamily="34" charset="-120"/>
              </a:rPr>
              <a:t>AIC 13,531.7 · BIC 13,553.4</a:t>
            </a:r>
            <a:endParaRPr lang="en-US" sz="1050" dirty="0"/>
          </a:p>
        </p:txBody>
      </p:sp>
      <p:sp>
        <p:nvSpPr>
          <p:cNvPr id="58" name="Shape 56"/>
          <p:cNvSpPr/>
          <p:nvPr/>
        </p:nvSpPr>
        <p:spPr>
          <a:xfrm>
            <a:off x="4937760" y="3264408"/>
            <a:ext cx="804672" cy="320040"/>
          </a:xfrm>
          <a:prstGeom prst="rect">
            <a:avLst/>
          </a:prstGeom>
          <a:solidFill>
            <a:srgbClr val="1976D2"/>
          </a:solidFill>
          <a:ln/>
        </p:spPr>
        <p:txBody>
          <a:bodyPr/>
          <a:lstStyle/>
          <a:p>
            <a:endParaRPr lang="th-TH"/>
          </a:p>
        </p:txBody>
      </p:sp>
      <p:sp>
        <p:nvSpPr>
          <p:cNvPr id="59" name="Text 57"/>
          <p:cNvSpPr/>
          <p:nvPr/>
        </p:nvSpPr>
        <p:spPr>
          <a:xfrm>
            <a:off x="4937760" y="3264408"/>
            <a:ext cx="804672" cy="320040"/>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LSTM</a:t>
            </a:r>
            <a:endParaRPr lang="en-US" sz="950" dirty="0"/>
          </a:p>
        </p:txBody>
      </p:sp>
      <p:sp>
        <p:nvSpPr>
          <p:cNvPr id="60" name="Text 58"/>
          <p:cNvSpPr/>
          <p:nvPr/>
        </p:nvSpPr>
        <p:spPr>
          <a:xfrm>
            <a:off x="5797296" y="3282696"/>
            <a:ext cx="2834640" cy="283464"/>
          </a:xfrm>
          <a:prstGeom prst="rect">
            <a:avLst/>
          </a:prstGeom>
          <a:noFill/>
          <a:ln/>
        </p:spPr>
        <p:txBody>
          <a:bodyPr wrap="square" lIns="0" tIns="0" rIns="0" bIns="0" rtlCol="0" anchor="ctr"/>
          <a:lstStyle/>
          <a:p>
            <a:pPr marL="0" indent="0">
              <a:buNone/>
            </a:pPr>
            <a:r>
              <a:rPr lang="en-US" sz="1050" dirty="0">
                <a:solidFill>
                  <a:srgbClr val="37474F"/>
                </a:solidFill>
                <a:latin typeface="Calibri" pitchFamily="34" charset="0"/>
                <a:ea typeface="Calibri" pitchFamily="34" charset="-122"/>
                <a:cs typeface="Calibri" pitchFamily="34" charset="-120"/>
              </a:rPr>
              <a:t>2-layer · hidden 64 · dropout 0.2</a:t>
            </a:r>
            <a:endParaRPr lang="en-US" sz="1050" dirty="0"/>
          </a:p>
        </p:txBody>
      </p:sp>
      <p:sp>
        <p:nvSpPr>
          <p:cNvPr id="61" name="Shape 59"/>
          <p:cNvSpPr/>
          <p:nvPr/>
        </p:nvSpPr>
        <p:spPr>
          <a:xfrm>
            <a:off x="4937760" y="3694176"/>
            <a:ext cx="804672" cy="320040"/>
          </a:xfrm>
          <a:prstGeom prst="rect">
            <a:avLst/>
          </a:prstGeom>
          <a:solidFill>
            <a:srgbClr val="1565C0"/>
          </a:solidFill>
          <a:ln/>
        </p:spPr>
        <p:txBody>
          <a:bodyPr/>
          <a:lstStyle/>
          <a:p>
            <a:endParaRPr lang="th-TH"/>
          </a:p>
        </p:txBody>
      </p:sp>
      <p:sp>
        <p:nvSpPr>
          <p:cNvPr id="62" name="Text 60"/>
          <p:cNvSpPr/>
          <p:nvPr/>
        </p:nvSpPr>
        <p:spPr>
          <a:xfrm>
            <a:off x="4937760" y="3694176"/>
            <a:ext cx="804672" cy="320040"/>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GPU</a:t>
            </a:r>
            <a:endParaRPr lang="en-US" sz="950" dirty="0"/>
          </a:p>
        </p:txBody>
      </p:sp>
      <p:sp>
        <p:nvSpPr>
          <p:cNvPr id="63" name="Text 61"/>
          <p:cNvSpPr/>
          <p:nvPr/>
        </p:nvSpPr>
        <p:spPr>
          <a:xfrm>
            <a:off x="5797296" y="3712464"/>
            <a:ext cx="2834640" cy="283464"/>
          </a:xfrm>
          <a:prstGeom prst="rect">
            <a:avLst/>
          </a:prstGeom>
          <a:noFill/>
          <a:ln/>
        </p:spPr>
        <p:txBody>
          <a:bodyPr wrap="square" lIns="0" tIns="0" rIns="0" bIns="0" rtlCol="0" anchor="ctr"/>
          <a:lstStyle/>
          <a:p>
            <a:pPr marL="0" indent="0">
              <a:buNone/>
            </a:pPr>
            <a:r>
              <a:rPr lang="en-US" sz="1050" dirty="0">
                <a:solidFill>
                  <a:srgbClr val="37474F"/>
                </a:solidFill>
                <a:latin typeface="Calibri" pitchFamily="34" charset="0"/>
                <a:ea typeface="Calibri" pitchFamily="34" charset="-122"/>
                <a:cs typeface="Calibri" pitchFamily="34" charset="-120"/>
              </a:rPr>
              <a:t>NVIDIA RTX 4070 Laptop (CUDA)</a:t>
            </a:r>
            <a:endParaRPr lang="en-US" sz="1050" dirty="0"/>
          </a:p>
        </p:txBody>
      </p:sp>
      <p:sp>
        <p:nvSpPr>
          <p:cNvPr id="64" name="Shape 62"/>
          <p:cNvSpPr/>
          <p:nvPr/>
        </p:nvSpPr>
        <p:spPr>
          <a:xfrm>
            <a:off x="4937760" y="4123944"/>
            <a:ext cx="804672" cy="320040"/>
          </a:xfrm>
          <a:prstGeom prst="rect">
            <a:avLst/>
          </a:prstGeom>
          <a:solidFill>
            <a:srgbClr val="1976D2"/>
          </a:solidFill>
          <a:ln/>
        </p:spPr>
        <p:txBody>
          <a:bodyPr/>
          <a:lstStyle/>
          <a:p>
            <a:endParaRPr lang="th-TH"/>
          </a:p>
        </p:txBody>
      </p:sp>
      <p:sp>
        <p:nvSpPr>
          <p:cNvPr id="65" name="Text 63"/>
          <p:cNvSpPr/>
          <p:nvPr/>
        </p:nvSpPr>
        <p:spPr>
          <a:xfrm>
            <a:off x="4937760" y="4123944"/>
            <a:ext cx="804672" cy="320040"/>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Loss</a:t>
            </a:r>
            <a:endParaRPr lang="en-US" sz="950" dirty="0"/>
          </a:p>
        </p:txBody>
      </p:sp>
      <p:sp>
        <p:nvSpPr>
          <p:cNvPr id="66" name="Text 64"/>
          <p:cNvSpPr/>
          <p:nvPr/>
        </p:nvSpPr>
        <p:spPr>
          <a:xfrm>
            <a:off x="5797296" y="4142232"/>
            <a:ext cx="2834640" cy="283464"/>
          </a:xfrm>
          <a:prstGeom prst="rect">
            <a:avLst/>
          </a:prstGeom>
          <a:noFill/>
          <a:ln/>
        </p:spPr>
        <p:txBody>
          <a:bodyPr wrap="square" lIns="0" tIns="0" rIns="0" bIns="0" rtlCol="0" anchor="ctr"/>
          <a:lstStyle/>
          <a:p>
            <a:pPr marL="0" indent="0">
              <a:buNone/>
            </a:pPr>
            <a:r>
              <a:rPr lang="en-US" sz="1050" dirty="0">
                <a:solidFill>
                  <a:srgbClr val="37474F"/>
                </a:solidFill>
                <a:latin typeface="Calibri" pitchFamily="34" charset="0"/>
                <a:ea typeface="Calibri" pitchFamily="34" charset="-122"/>
                <a:cs typeface="Calibri" pitchFamily="34" charset="-120"/>
              </a:rPr>
              <a:t>0.00105 → 0.00048 (epoch 1→30)</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2342"/>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1565C0"/>
          </a:solidFill>
          <a:ln/>
        </p:spPr>
        <p:txBody>
          <a:bodyPr/>
          <a:lstStyle/>
          <a:p>
            <a:endParaRPr lang="th-TH"/>
          </a:p>
        </p:txBody>
      </p:sp>
      <p:sp>
        <p:nvSpPr>
          <p:cNvPr id="3" name="Shape 1"/>
          <p:cNvSpPr/>
          <p:nvPr/>
        </p:nvSpPr>
        <p:spPr>
          <a:xfrm>
            <a:off x="0" y="5079492"/>
            <a:ext cx="9144000" cy="64008"/>
          </a:xfrm>
          <a:prstGeom prst="rect">
            <a:avLst/>
          </a:prstGeom>
          <a:solidFill>
            <a:srgbClr val="1565C0"/>
          </a:solidFill>
          <a:ln/>
        </p:spPr>
        <p:txBody>
          <a:bodyPr/>
          <a:lstStyle/>
          <a:p>
            <a:endParaRPr lang="th-TH"/>
          </a:p>
        </p:txBody>
      </p:sp>
      <p:sp>
        <p:nvSpPr>
          <p:cNvPr id="4" name="Text 2"/>
          <p:cNvSpPr/>
          <p:nvPr/>
        </p:nvSpPr>
        <p:spPr>
          <a:xfrm>
            <a:off x="411480" y="182880"/>
            <a:ext cx="8321040" cy="548640"/>
          </a:xfrm>
          <a:prstGeom prst="rect">
            <a:avLst/>
          </a:prstGeom>
          <a:noFill/>
          <a:ln/>
        </p:spPr>
        <p:txBody>
          <a:bodyPr wrap="square" lIns="0" tIns="0" rIns="0" bIns="0" rtlCol="0" anchor="ctr"/>
          <a:lstStyle/>
          <a:p>
            <a:pPr marL="0" indent="0">
              <a:buNone/>
            </a:pPr>
            <a:r>
              <a:rPr lang="en-US" sz="2600" b="1" kern="0" spc="100" dirty="0">
                <a:solidFill>
                  <a:srgbClr val="FFFFFF"/>
                </a:solidFill>
                <a:latin typeface="Calibri" pitchFamily="34" charset="0"/>
                <a:ea typeface="Calibri" pitchFamily="34" charset="-122"/>
                <a:cs typeface="Calibri" pitchFamily="34" charset="-120"/>
              </a:rPr>
              <a:t>Conclusions</a:t>
            </a:r>
            <a:endParaRPr lang="en-US" sz="2600" dirty="0"/>
          </a:p>
        </p:txBody>
      </p:sp>
      <p:sp>
        <p:nvSpPr>
          <p:cNvPr id="5" name="Shape 3"/>
          <p:cNvSpPr/>
          <p:nvPr/>
        </p:nvSpPr>
        <p:spPr>
          <a:xfrm>
            <a:off x="411480" y="749808"/>
            <a:ext cx="2926080" cy="36576"/>
          </a:xfrm>
          <a:prstGeom prst="rect">
            <a:avLst/>
          </a:prstGeom>
          <a:solidFill>
            <a:srgbClr val="1565C0"/>
          </a:solidFill>
          <a:ln/>
        </p:spPr>
        <p:txBody>
          <a:bodyPr/>
          <a:lstStyle/>
          <a:p>
            <a:endParaRPr lang="th-TH"/>
          </a:p>
        </p:txBody>
      </p:sp>
      <p:sp>
        <p:nvSpPr>
          <p:cNvPr id="6" name="Shape 4"/>
          <p:cNvSpPr/>
          <p:nvPr/>
        </p:nvSpPr>
        <p:spPr>
          <a:xfrm>
            <a:off x="411480" y="932688"/>
            <a:ext cx="502920" cy="713232"/>
          </a:xfrm>
          <a:prstGeom prst="rect">
            <a:avLst/>
          </a:prstGeom>
          <a:solidFill>
            <a:srgbClr val="1565C0"/>
          </a:solidFill>
          <a:ln/>
        </p:spPr>
        <p:txBody>
          <a:bodyPr/>
          <a:lstStyle/>
          <a:p>
            <a:endParaRPr lang="th-TH"/>
          </a:p>
        </p:txBody>
      </p:sp>
      <p:sp>
        <p:nvSpPr>
          <p:cNvPr id="7" name="Text 5"/>
          <p:cNvSpPr/>
          <p:nvPr/>
        </p:nvSpPr>
        <p:spPr>
          <a:xfrm>
            <a:off x="411480" y="932688"/>
            <a:ext cx="502920" cy="713232"/>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01</a:t>
            </a:r>
            <a:endParaRPr lang="en-US" sz="1800" dirty="0"/>
          </a:p>
        </p:txBody>
      </p:sp>
      <p:sp>
        <p:nvSpPr>
          <p:cNvPr id="8" name="Text 6"/>
          <p:cNvSpPr/>
          <p:nvPr/>
        </p:nvSpPr>
        <p:spPr>
          <a:xfrm>
            <a:off x="1024128" y="1005840"/>
            <a:ext cx="7772400" cy="594360"/>
          </a:xfrm>
          <a:prstGeom prst="rect">
            <a:avLst/>
          </a:prstGeom>
          <a:noFill/>
          <a:ln/>
        </p:spPr>
        <p:txBody>
          <a:bodyPr wrap="square" lIns="0" tIns="0" rIns="0" bIns="0" rtlCol="0" anchor="ctr"/>
          <a:lstStyle/>
          <a:p>
            <a:pPr marL="0" indent="0">
              <a:lnSpc>
                <a:spcPct val="125000"/>
              </a:lnSpc>
              <a:buNone/>
            </a:pPr>
            <a:r>
              <a:rPr lang="en-US" sz="1200" dirty="0">
                <a:solidFill>
                  <a:srgbClr val="BBDEFB"/>
                </a:solidFill>
                <a:latin typeface="Calibri" pitchFamily="34" charset="0"/>
                <a:ea typeface="Calibri" pitchFamily="34" charset="-122"/>
                <a:cs typeface="Calibri" pitchFamily="34" charset="-120"/>
              </a:rPr>
              <a:t>Congestion and ridership are positively correlated (r = 0.73, p &lt; 0.01). Both metrics rose through 2021 driven by pandemic recovery — not a simple modal shift.</a:t>
            </a:r>
            <a:endParaRPr lang="en-US" sz="1200" dirty="0"/>
          </a:p>
        </p:txBody>
      </p:sp>
      <p:sp>
        <p:nvSpPr>
          <p:cNvPr id="9" name="Shape 7"/>
          <p:cNvSpPr/>
          <p:nvPr/>
        </p:nvSpPr>
        <p:spPr>
          <a:xfrm>
            <a:off x="411480" y="1901952"/>
            <a:ext cx="502920" cy="713232"/>
          </a:xfrm>
          <a:prstGeom prst="rect">
            <a:avLst/>
          </a:prstGeom>
          <a:solidFill>
            <a:srgbClr val="1976D2"/>
          </a:solidFill>
          <a:ln/>
        </p:spPr>
        <p:txBody>
          <a:bodyPr/>
          <a:lstStyle/>
          <a:p>
            <a:endParaRPr lang="th-TH"/>
          </a:p>
        </p:txBody>
      </p:sp>
      <p:sp>
        <p:nvSpPr>
          <p:cNvPr id="10" name="Text 8"/>
          <p:cNvSpPr/>
          <p:nvPr/>
        </p:nvSpPr>
        <p:spPr>
          <a:xfrm>
            <a:off x="411480" y="1901952"/>
            <a:ext cx="502920" cy="713232"/>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02</a:t>
            </a:r>
            <a:endParaRPr lang="en-US" sz="1800" dirty="0"/>
          </a:p>
        </p:txBody>
      </p:sp>
      <p:sp>
        <p:nvSpPr>
          <p:cNvPr id="11" name="Text 9"/>
          <p:cNvSpPr/>
          <p:nvPr/>
        </p:nvSpPr>
        <p:spPr>
          <a:xfrm>
            <a:off x="1024128" y="1975104"/>
            <a:ext cx="7772400" cy="594360"/>
          </a:xfrm>
          <a:prstGeom prst="rect">
            <a:avLst/>
          </a:prstGeom>
          <a:noFill/>
          <a:ln/>
        </p:spPr>
        <p:txBody>
          <a:bodyPr wrap="square" lIns="0" tIns="0" rIns="0" bIns="0" rtlCol="0" anchor="ctr"/>
          <a:lstStyle/>
          <a:p>
            <a:pPr marL="0" indent="0">
              <a:lnSpc>
                <a:spcPct val="125000"/>
              </a:lnSpc>
              <a:buNone/>
            </a:pPr>
            <a:r>
              <a:rPr lang="en-US" sz="1200" dirty="0">
                <a:solidFill>
                  <a:srgbClr val="BBDEFB"/>
                </a:solidFill>
                <a:latin typeface="Calibri" pitchFamily="34" charset="0"/>
                <a:ea typeface="Calibri" pitchFamily="34" charset="-122"/>
                <a:cs typeface="Calibri" pitchFamily="34" charset="-120"/>
              </a:rPr>
              <a:t>Random Forest (with lag) is the best regression model: R² = 0.9992, MAE = 15,923. Without lag, RF achieves R² = 0.955 — the realistic prediction benchmark.</a:t>
            </a:r>
            <a:endParaRPr lang="en-US" sz="1200" dirty="0"/>
          </a:p>
        </p:txBody>
      </p:sp>
      <p:sp>
        <p:nvSpPr>
          <p:cNvPr id="12" name="Shape 10"/>
          <p:cNvSpPr/>
          <p:nvPr/>
        </p:nvSpPr>
        <p:spPr>
          <a:xfrm>
            <a:off x="411480" y="2871216"/>
            <a:ext cx="502920" cy="713232"/>
          </a:xfrm>
          <a:prstGeom prst="rect">
            <a:avLst/>
          </a:prstGeom>
          <a:solidFill>
            <a:srgbClr val="1565C0"/>
          </a:solidFill>
          <a:ln/>
        </p:spPr>
        <p:txBody>
          <a:bodyPr/>
          <a:lstStyle/>
          <a:p>
            <a:endParaRPr lang="th-TH"/>
          </a:p>
        </p:txBody>
      </p:sp>
      <p:sp>
        <p:nvSpPr>
          <p:cNvPr id="13" name="Text 11"/>
          <p:cNvSpPr/>
          <p:nvPr/>
        </p:nvSpPr>
        <p:spPr>
          <a:xfrm>
            <a:off x="411480" y="2871216"/>
            <a:ext cx="502920" cy="713232"/>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03</a:t>
            </a:r>
            <a:endParaRPr lang="en-US" sz="1800" dirty="0"/>
          </a:p>
        </p:txBody>
      </p:sp>
      <p:sp>
        <p:nvSpPr>
          <p:cNvPr id="14" name="Text 12"/>
          <p:cNvSpPr/>
          <p:nvPr/>
        </p:nvSpPr>
        <p:spPr>
          <a:xfrm>
            <a:off x="1024128" y="2944368"/>
            <a:ext cx="7772400" cy="594360"/>
          </a:xfrm>
          <a:prstGeom prst="rect">
            <a:avLst/>
          </a:prstGeom>
          <a:noFill/>
          <a:ln/>
        </p:spPr>
        <p:txBody>
          <a:bodyPr wrap="square" lIns="0" tIns="0" rIns="0" bIns="0" rtlCol="0" anchor="ctr"/>
          <a:lstStyle/>
          <a:p>
            <a:pPr marL="0" indent="0">
              <a:lnSpc>
                <a:spcPct val="125000"/>
              </a:lnSpc>
              <a:buNone/>
            </a:pPr>
            <a:r>
              <a:rPr lang="en-US" sz="1200" dirty="0">
                <a:solidFill>
                  <a:srgbClr val="BBDEFB"/>
                </a:solidFill>
                <a:latin typeface="Calibri" pitchFamily="34" charset="0"/>
                <a:ea typeface="Calibri" pitchFamily="34" charset="-122"/>
                <a:cs typeface="Calibri" pitchFamily="34" charset="-120"/>
              </a:rPr>
              <a:t>Congestion is highly predictable from calendar features alone (AUC &gt; 0.95), confirming strong time-of-day and day-of-week structure in the flow data.</a:t>
            </a:r>
            <a:endParaRPr lang="en-US" sz="1200" dirty="0"/>
          </a:p>
        </p:txBody>
      </p:sp>
      <p:sp>
        <p:nvSpPr>
          <p:cNvPr id="15" name="Shape 13"/>
          <p:cNvSpPr/>
          <p:nvPr/>
        </p:nvSpPr>
        <p:spPr>
          <a:xfrm>
            <a:off x="411480" y="3840480"/>
            <a:ext cx="502920" cy="713232"/>
          </a:xfrm>
          <a:prstGeom prst="rect">
            <a:avLst/>
          </a:prstGeom>
          <a:solidFill>
            <a:srgbClr val="1976D2"/>
          </a:solidFill>
          <a:ln/>
        </p:spPr>
        <p:txBody>
          <a:bodyPr/>
          <a:lstStyle/>
          <a:p>
            <a:endParaRPr lang="th-TH"/>
          </a:p>
        </p:txBody>
      </p:sp>
      <p:sp>
        <p:nvSpPr>
          <p:cNvPr id="16" name="Text 14"/>
          <p:cNvSpPr/>
          <p:nvPr/>
        </p:nvSpPr>
        <p:spPr>
          <a:xfrm>
            <a:off x="411480" y="3840480"/>
            <a:ext cx="502920" cy="713232"/>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04</a:t>
            </a:r>
            <a:endParaRPr lang="en-US" sz="1800" dirty="0"/>
          </a:p>
        </p:txBody>
      </p:sp>
      <p:sp>
        <p:nvSpPr>
          <p:cNvPr id="17" name="Text 15"/>
          <p:cNvSpPr/>
          <p:nvPr/>
        </p:nvSpPr>
        <p:spPr>
          <a:xfrm>
            <a:off x="1024128" y="3913632"/>
            <a:ext cx="7772400" cy="594360"/>
          </a:xfrm>
          <a:prstGeom prst="rect">
            <a:avLst/>
          </a:prstGeom>
          <a:noFill/>
          <a:ln/>
        </p:spPr>
        <p:txBody>
          <a:bodyPr wrap="square" lIns="0" tIns="0" rIns="0" bIns="0" rtlCol="0" anchor="ctr"/>
          <a:lstStyle/>
          <a:p>
            <a:pPr marL="0" indent="0">
              <a:lnSpc>
                <a:spcPct val="125000"/>
              </a:lnSpc>
              <a:buNone/>
            </a:pPr>
            <a:r>
              <a:rPr lang="en-US" sz="1200" dirty="0">
                <a:solidFill>
                  <a:srgbClr val="BBDEFB"/>
                </a:solidFill>
                <a:latin typeface="Calibri" pitchFamily="34" charset="0"/>
                <a:ea typeface="Calibri" pitchFamily="34" charset="-122"/>
                <a:cs typeface="Calibri" pitchFamily="34" charset="-120"/>
              </a:rPr>
              <a:t>K-Means reveals two sensor archetypes: high-flow urban corridors vs. peripheral routes. Future work: spatial join to transit stops and causal inference methods.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45</TotalTime>
  <Words>3051</Words>
  <Application>Microsoft Office PowerPoint</Application>
  <PresentationFormat>On-screen Show (16:9)</PresentationFormat>
  <Paragraphs>457</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FlowShift — Urban Traffic &amp; Transit Demand LA</dc:title>
  <dc:subject>PptxGenJS Presentation</dc:subject>
  <dc:creator>Data Science and Algorithms — BIT CS</dc:creator>
  <cp:lastModifiedBy>Kantaphon Kitsanakarakat</cp:lastModifiedBy>
  <cp:revision>1</cp:revision>
  <dcterms:created xsi:type="dcterms:W3CDTF">2026-04-19T13:26:29Z</dcterms:created>
  <dcterms:modified xsi:type="dcterms:W3CDTF">2026-04-21T01:48:35Z</dcterms:modified>
</cp:coreProperties>
</file>