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</c:v>
                </c:pt>
              </c:strCache>
            </c:strRef>
          </c:tx>
          <c:spPr>
            <a:solidFill>
              <a:srgbClr val="1976D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747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976D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976D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565C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A234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565C0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LR no-lag</c:v>
                  </c:pt>
                  <c:pt idx="1">
                    <c:v>RF no-lag</c:v>
                  </c:pt>
                  <c:pt idx="2">
                    <c:v>LR w/lag</c:v>
                  </c:pt>
                  <c:pt idx="3">
                    <c:v>RF w/lag</c:v>
                  </c:pt>
                  <c:pt idx="4">
                    <c:v>LSTM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0.231</c:v>
                </c:pt>
                <c:pt idx="1">
                  <c:v>0.955</c:v>
                </c:pt>
                <c:pt idx="2">
                  <c:v>0.999</c:v>
                </c:pt>
                <c:pt idx="3">
                  <c:v>0.999</c:v>
                </c:pt>
                <c:pt idx="4">
                  <c:v>0.995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37474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07D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6350" cap="flat">
              <a:solidFill>
                <a:srgbClr val="CFD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07D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A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E3F0F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7474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3F0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3F0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976D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976D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565C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A2342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Season</c:v>
                  </c:pt>
                  <c:pt idx="1">
                    <c:v>Is_Weekend</c:v>
                  </c:pt>
                  <c:pt idx="2">
                    <c:v>Is_Peak</c:v>
                  </c:pt>
                  <c:pt idx="3">
                    <c:v>Month</c:v>
                  </c:pt>
                  <c:pt idx="4">
                    <c:v>Day of Week</c:v>
                  </c:pt>
                  <c:pt idx="5">
                    <c:v>Hour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0.02</c:v>
                </c:pt>
                <c:pt idx="1">
                  <c:v>0.04</c:v>
                </c:pt>
                <c:pt idx="2">
                  <c:v>0.06</c:v>
                </c:pt>
                <c:pt idx="3">
                  <c:v>0.08</c:v>
                </c:pt>
                <c:pt idx="4">
                  <c:v>0.28</c:v>
                </c:pt>
                <c:pt idx="5">
                  <c:v>0.52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50" u="none">
                  <a:solidFill>
                    <a:srgbClr val="37474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07D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  <c:min val="0"/>
        </c:scaling>
        <c:delete val="0"/>
        <c:axPos val="b"/>
        <c:majorGridlines>
          <c:spPr>
            <a:ln w="6350" cap="flat">
              <a:solidFill>
                <a:srgbClr val="CFD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07D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A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0" y="0"/>
            <a:ext cx="64008" cy="51435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82296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FlowShift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719072"/>
            <a:ext cx="2377440" cy="4114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82880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Analyzing How Urban Traffic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Influences Public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Demand in Los Angeles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338328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Large-ST (ca_his_raw_2021.h5)  +  NTD Ridership</a:t>
            </a:r>
            <a:endParaRPr lang="en-US" sz="9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Data Science and Algorithms  —  BIT CS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206240" y="914400"/>
            <a:ext cx="4663440" cy="1371600"/>
          </a:xfrm>
          <a:prstGeom prst="rect">
            <a:avLst/>
          </a:prstGeom>
          <a:solidFill>
            <a:srgbClr val="E3F0FF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43400" y="9875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43400" y="13258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i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people switch to public transport when roads get congested — and by how much?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06240" y="2606040"/>
            <a:ext cx="1078992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06240" y="2606040"/>
            <a:ext cx="1078992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3" name="Text 11"/>
          <p:cNvSpPr/>
          <p:nvPr/>
        </p:nvSpPr>
        <p:spPr>
          <a:xfrm>
            <a:off x="4279392" y="2715768"/>
            <a:ext cx="932688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8,600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279392" y="3242462"/>
            <a:ext cx="932688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Freeway Sensors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606040"/>
            <a:ext cx="1078992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94960" y="2606040"/>
            <a:ext cx="1078992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7" name="Text 15"/>
          <p:cNvSpPr/>
          <p:nvPr/>
        </p:nvSpPr>
        <p:spPr>
          <a:xfrm>
            <a:off x="5468112" y="2715768"/>
            <a:ext cx="932688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105,120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68112" y="3242462"/>
            <a:ext cx="932688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83680" y="2606040"/>
            <a:ext cx="1078992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83680" y="2606040"/>
            <a:ext cx="1078992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656832" y="2715768"/>
            <a:ext cx="932688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310.8M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656832" y="3242462"/>
            <a:ext cx="932688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UPT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72400" y="2606040"/>
            <a:ext cx="1078992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0" y="2606040"/>
            <a:ext cx="1078992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5" name="Text 23"/>
          <p:cNvSpPr/>
          <p:nvPr/>
        </p:nvSpPr>
        <p:spPr>
          <a:xfrm>
            <a:off x="7845552" y="2715768"/>
            <a:ext cx="932688" cy="5705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845552" y="3242462"/>
            <a:ext cx="932688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Agencies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206240" y="39319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Year 2021  •  California Freeway Network  •  Los Angeles Metro Area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114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Pipeline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7607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methodology: from raw sensor data to actionable insights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41080" y="201168"/>
            <a:ext cx="347472" cy="347472"/>
          </a:xfrm>
          <a:prstGeom prst="ellipse">
            <a:avLst/>
          </a:prstGeom>
          <a:solidFill>
            <a:srgbClr val="1976D2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48691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FlowShift  |  Urban Traffic &amp; Transit Demand — Los Angeles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503920" y="48691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92608" y="1371600"/>
            <a:ext cx="1088136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2608" y="1371600"/>
            <a:ext cx="1088136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Shape 10"/>
          <p:cNvSpPr/>
          <p:nvPr/>
        </p:nvSpPr>
        <p:spPr>
          <a:xfrm>
            <a:off x="608076" y="1508760"/>
            <a:ext cx="457200" cy="457200"/>
          </a:xfrm>
          <a:prstGeom prst="ellipse">
            <a:avLst/>
          </a:prstGeom>
          <a:solidFill>
            <a:srgbClr val="0A2342"/>
          </a:solidFill>
          <a:ln/>
        </p:spPr>
      </p:sp>
      <p:sp>
        <p:nvSpPr>
          <p:cNvPr id="13" name="Text 11"/>
          <p:cNvSpPr/>
          <p:nvPr/>
        </p:nvSpPr>
        <p:spPr>
          <a:xfrm>
            <a:off x="60807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8328" y="2057400"/>
            <a:ext cx="9966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" y="27889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Large-ST HDF5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47472" y="32461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NTD Ridership CSV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47472" y="37033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ca_meta.csv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389888" y="2254910"/>
            <a:ext cx="45720" cy="9144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9" name="Text 17"/>
          <p:cNvSpPr/>
          <p:nvPr/>
        </p:nvSpPr>
        <p:spPr>
          <a:xfrm>
            <a:off x="1380744" y="2172614"/>
            <a:ext cx="91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453896" y="1371600"/>
            <a:ext cx="1088136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453896" y="1371600"/>
            <a:ext cx="1088136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2" name="Shape 20"/>
          <p:cNvSpPr/>
          <p:nvPr/>
        </p:nvSpPr>
        <p:spPr>
          <a:xfrm>
            <a:off x="1769364" y="1508760"/>
            <a:ext cx="457200" cy="457200"/>
          </a:xfrm>
          <a:prstGeom prst="ellipse">
            <a:avLst/>
          </a:prstGeom>
          <a:solidFill>
            <a:srgbClr val="0A2342"/>
          </a:solidFill>
          <a:ln/>
        </p:spPr>
      </p:sp>
      <p:sp>
        <p:nvSpPr>
          <p:cNvPr id="23" name="Text 21"/>
          <p:cNvSpPr/>
          <p:nvPr/>
        </p:nvSpPr>
        <p:spPr>
          <a:xfrm>
            <a:off x="176936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499616" y="2057400"/>
            <a:ext cx="9966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08760" y="27889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imputation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508760" y="32461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removal (3σ)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508760" y="37033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551176" y="2254910"/>
            <a:ext cx="45720" cy="9144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9" name="Text 27"/>
          <p:cNvSpPr/>
          <p:nvPr/>
        </p:nvSpPr>
        <p:spPr>
          <a:xfrm>
            <a:off x="2542032" y="2172614"/>
            <a:ext cx="91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2615184" y="1371600"/>
            <a:ext cx="1088136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615184" y="1371600"/>
            <a:ext cx="1088136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0652" y="1508760"/>
            <a:ext cx="457200" cy="457200"/>
          </a:xfrm>
          <a:prstGeom prst="ellipse">
            <a:avLst/>
          </a:prstGeom>
          <a:solidFill>
            <a:srgbClr val="0A2342"/>
          </a:solidFill>
          <a:ln/>
        </p:spPr>
      </p:sp>
      <p:sp>
        <p:nvSpPr>
          <p:cNvPr id="33" name="Text 31"/>
          <p:cNvSpPr/>
          <p:nvPr/>
        </p:nvSpPr>
        <p:spPr>
          <a:xfrm>
            <a:off x="293065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660904" y="2057400"/>
            <a:ext cx="9966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670048" y="27889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distributions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670048" y="32461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heatmaps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670048" y="37033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Ridership trends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712464" y="2254910"/>
            <a:ext cx="45720" cy="9144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39" name="Text 37"/>
          <p:cNvSpPr/>
          <p:nvPr/>
        </p:nvSpPr>
        <p:spPr>
          <a:xfrm>
            <a:off x="3703320" y="2172614"/>
            <a:ext cx="91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3776472" y="1371600"/>
            <a:ext cx="1088136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776472" y="1371600"/>
            <a:ext cx="1088136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2" name="Shape 40"/>
          <p:cNvSpPr/>
          <p:nvPr/>
        </p:nvSpPr>
        <p:spPr>
          <a:xfrm>
            <a:off x="4091940" y="1508760"/>
            <a:ext cx="457200" cy="457200"/>
          </a:xfrm>
          <a:prstGeom prst="ellipse">
            <a:avLst/>
          </a:prstGeom>
          <a:solidFill>
            <a:srgbClr val="0A2342"/>
          </a:solidFill>
          <a:ln/>
        </p:spPr>
      </p:sp>
      <p:sp>
        <p:nvSpPr>
          <p:cNvPr id="43" name="Text 41"/>
          <p:cNvSpPr/>
          <p:nvPr/>
        </p:nvSpPr>
        <p:spPr>
          <a:xfrm>
            <a:off x="40919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822192" y="2057400"/>
            <a:ext cx="9966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831336" y="27889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&amp; Spearman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3831336" y="32461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t-tests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831336" y="37033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stationarity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873752" y="2254910"/>
            <a:ext cx="45720" cy="9144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9" name="Text 47"/>
          <p:cNvSpPr/>
          <p:nvPr/>
        </p:nvSpPr>
        <p:spPr>
          <a:xfrm>
            <a:off x="4864608" y="2172614"/>
            <a:ext cx="91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4937760" y="1371600"/>
            <a:ext cx="1088136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937760" y="1371600"/>
            <a:ext cx="1088136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2" name="Shape 50"/>
          <p:cNvSpPr/>
          <p:nvPr/>
        </p:nvSpPr>
        <p:spPr>
          <a:xfrm>
            <a:off x="5253228" y="1508760"/>
            <a:ext cx="457200" cy="457200"/>
          </a:xfrm>
          <a:prstGeom prst="ellipse">
            <a:avLst/>
          </a:prstGeom>
          <a:solidFill>
            <a:srgbClr val="0A2342"/>
          </a:solidFill>
          <a:ln/>
        </p:spPr>
      </p:sp>
      <p:sp>
        <p:nvSpPr>
          <p:cNvPr id="53" name="Text 51"/>
          <p:cNvSpPr/>
          <p:nvPr/>
        </p:nvSpPr>
        <p:spPr>
          <a:xfrm>
            <a:off x="5253228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983480" y="2057400"/>
            <a:ext cx="9966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992624" y="27889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(LR, RF)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992624" y="32461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(DT,KNN,RF)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4992624" y="37033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clustering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035040" y="2254910"/>
            <a:ext cx="45720" cy="9144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59" name="Text 57"/>
          <p:cNvSpPr/>
          <p:nvPr/>
        </p:nvSpPr>
        <p:spPr>
          <a:xfrm>
            <a:off x="6025896" y="2172614"/>
            <a:ext cx="91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099048" y="1371600"/>
            <a:ext cx="1088136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099048" y="1371600"/>
            <a:ext cx="1088136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2" name="Shape 60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0A2342"/>
          </a:solidFill>
          <a:ln/>
        </p:spPr>
      </p:sp>
      <p:sp>
        <p:nvSpPr>
          <p:cNvPr id="63" name="Text 61"/>
          <p:cNvSpPr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6144768" y="2057400"/>
            <a:ext cx="9966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153912" y="27889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ARIMA(2,1,2)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6153912" y="32461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(PyTorch)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153912" y="37033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forecast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7196328" y="2254910"/>
            <a:ext cx="45720" cy="9144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69" name="Text 67"/>
          <p:cNvSpPr/>
          <p:nvPr/>
        </p:nvSpPr>
        <p:spPr>
          <a:xfrm>
            <a:off x="7187184" y="2172614"/>
            <a:ext cx="91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7260336" y="1371600"/>
            <a:ext cx="1088136" cy="2926080"/>
          </a:xfrm>
          <a:prstGeom prst="rect">
            <a:avLst/>
          </a:prstGeom>
          <a:solidFill>
            <a:srgbClr val="0A2342"/>
          </a:solidFill>
          <a:ln w="9525">
            <a:solidFill>
              <a:srgbClr val="0A2342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1" name="Shape 69"/>
          <p:cNvSpPr/>
          <p:nvPr/>
        </p:nvSpPr>
        <p:spPr>
          <a:xfrm>
            <a:off x="7260336" y="1371600"/>
            <a:ext cx="1088136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2" name="Shape 70"/>
          <p:cNvSpPr/>
          <p:nvPr/>
        </p:nvSpPr>
        <p:spPr>
          <a:xfrm>
            <a:off x="7575804" y="1508760"/>
            <a:ext cx="457200" cy="457200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73" name="Text 71"/>
          <p:cNvSpPr/>
          <p:nvPr/>
        </p:nvSpPr>
        <p:spPr>
          <a:xfrm>
            <a:off x="7575804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7306056" y="2057400"/>
            <a:ext cx="9966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7315200" y="27889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0.73 correlation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7315200" y="32461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0.999 best model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315200" y="3703320"/>
            <a:ext cx="9784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&gt; 0.95 classifiers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114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7607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complementary data sources merged across the full 2021 calendar year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41080" y="201168"/>
            <a:ext cx="347472" cy="347472"/>
          </a:xfrm>
          <a:prstGeom prst="ellipse">
            <a:avLst/>
          </a:prstGeom>
          <a:solidFill>
            <a:srgbClr val="1976D2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48691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FlowShift  |  Urban Traffic &amp; Transit Demand — Los Angeles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503920" y="48691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1143000"/>
            <a:ext cx="397764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1143000"/>
            <a:ext cx="3977640" cy="640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20700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  —  Large-ST / PeMS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691640"/>
            <a:ext cx="1097280" cy="320040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27632" y="1709928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8,600 freeway sensors across California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1097280" cy="320040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1488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27632" y="2167128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105,120 rows at 5-minute intervals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606040"/>
            <a:ext cx="1097280" cy="320040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06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range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27632" y="2624328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1 – Dec 31, 2021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63240"/>
            <a:ext cx="1097280" cy="320040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cells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627632" y="3081528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904,032,000 total observations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520440"/>
            <a:ext cx="1097280" cy="320040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5204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627632" y="3538728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PeMS districts covered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977640"/>
            <a:ext cx="1097280" cy="320040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3977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627632" y="3995928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per 5-minute window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1143000"/>
            <a:ext cx="397764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846320" y="1143000"/>
            <a:ext cx="3977640" cy="64008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3" name="Text 31"/>
          <p:cNvSpPr/>
          <p:nvPr/>
        </p:nvSpPr>
        <p:spPr>
          <a:xfrm>
            <a:off x="4983480" y="1207008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Ridership  —  NTD Monthly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983480" y="1691640"/>
            <a:ext cx="1097280" cy="3200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5" name="Text 33"/>
          <p:cNvSpPr/>
          <p:nvPr/>
        </p:nvSpPr>
        <p:spPr>
          <a:xfrm>
            <a:off x="4983480" y="1691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Agencies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53912" y="1709928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LA transit agencies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83480" y="2148840"/>
            <a:ext cx="1097280" cy="3200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8" name="Text 36"/>
          <p:cNvSpPr/>
          <p:nvPr/>
        </p:nvSpPr>
        <p:spPr>
          <a:xfrm>
            <a:off x="4983480" y="21488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153912" y="2167128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modes: HR, LR, MB, CR, DR, CB, RB, VP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983480" y="2606040"/>
            <a:ext cx="1097280" cy="3200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41" name="Text 39"/>
          <p:cNvSpPr/>
          <p:nvPr/>
        </p:nvSpPr>
        <p:spPr>
          <a:xfrm>
            <a:off x="4983480" y="26060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153912" y="2624328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 — Unlinked Passenger Trips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983480" y="3063240"/>
            <a:ext cx="1097280" cy="3200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44" name="Text 42"/>
          <p:cNvSpPr/>
          <p:nvPr/>
        </p:nvSpPr>
        <p:spPr>
          <a:xfrm>
            <a:off x="498348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153912" y="3081528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310,753,364 total UPT (2021)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983480" y="3520440"/>
            <a:ext cx="1097280" cy="3200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47" name="Text 45"/>
          <p:cNvSpPr/>
          <p:nvPr/>
        </p:nvSpPr>
        <p:spPr>
          <a:xfrm>
            <a:off x="4983480" y="35204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53912" y="3538728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Angeles Urbanized Zone (UZA)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983480" y="3977640"/>
            <a:ext cx="1097280" cy="32004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50" name="Text 48"/>
          <p:cNvSpPr/>
          <p:nvPr/>
        </p:nvSpPr>
        <p:spPr>
          <a:xfrm>
            <a:off x="4983480" y="3977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153912" y="3995928"/>
            <a:ext cx="2514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aggregates (12 records/agency)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114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 &amp; Feature Engineering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7607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Cleaning, imputation, outlier removal and derived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41080" y="201168"/>
            <a:ext cx="347472" cy="347472"/>
          </a:xfrm>
          <a:prstGeom prst="ellipse">
            <a:avLst/>
          </a:prstGeom>
          <a:solidFill>
            <a:srgbClr val="1976D2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48691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FlowShift  |  Urban Traffic &amp; Transit Demand — Los Angeles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503920" y="48691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1115568"/>
            <a:ext cx="192024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1115568"/>
            <a:ext cx="192024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393192" y="1225296"/>
            <a:ext cx="1773936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93192" y="1762597"/>
            <a:ext cx="1773936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468880" y="1115568"/>
            <a:ext cx="192024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68880" y="1115568"/>
            <a:ext cx="1920240" cy="54864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16" name="Text 14"/>
          <p:cNvSpPr/>
          <p:nvPr/>
        </p:nvSpPr>
        <p:spPr>
          <a:xfrm>
            <a:off x="2542032" y="1225296"/>
            <a:ext cx="1773936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542032" y="1762597"/>
            <a:ext cx="1773936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(&gt;20%)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1115568"/>
            <a:ext cx="192024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1115568"/>
            <a:ext cx="1920240" cy="54864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0" name="Text 18"/>
          <p:cNvSpPr/>
          <p:nvPr/>
        </p:nvSpPr>
        <p:spPr>
          <a:xfrm>
            <a:off x="4690872" y="1225296"/>
            <a:ext cx="1773936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8,509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690872" y="1762597"/>
            <a:ext cx="1773936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66560" y="1115568"/>
            <a:ext cx="192024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766560" y="1115568"/>
            <a:ext cx="192024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39712" y="1225296"/>
            <a:ext cx="1773936" cy="580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920,684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839712" y="1762597"/>
            <a:ext cx="1773936" cy="423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(3σ)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" y="2377440"/>
            <a:ext cx="8503920" cy="36576"/>
          </a:xfrm>
          <a:prstGeom prst="rect">
            <a:avLst/>
          </a:prstGeom>
          <a:solidFill>
            <a:srgbClr val="CFD8D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2450592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Pipeline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0040" y="2834640"/>
            <a:ext cx="1325880" cy="34747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28346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664208" y="2834640"/>
            <a:ext cx="7159752" cy="347472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755648" y="2834640"/>
            <a:ext cx="6976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 · day_of_week · month · season (winter / spring / summer / fall) · is_weekend · is_peak (07–09 h, 17–19 h)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0040" y="3328416"/>
            <a:ext cx="1325880" cy="347472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3" name="Text 31"/>
          <p:cNvSpPr/>
          <p:nvPr/>
        </p:nvSpPr>
        <p:spPr>
          <a:xfrm>
            <a:off x="320040" y="332841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664208" y="3328416"/>
            <a:ext cx="7159752" cy="347472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755648" y="3328416"/>
            <a:ext cx="6976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is_congested = 1 when total flow ≥ 75th percentile (2,765,279 veh / 5 min)  →  25% congestion rate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20040" y="3822192"/>
            <a:ext cx="1325880" cy="34747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82219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Features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664208" y="3822192"/>
            <a:ext cx="7159752" cy="347472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755648" y="3822192"/>
            <a:ext cx="6976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flow_lag1 (5 min)  ·  flow_lag12 (1 hour)  ·  flow_lag288 (1 day)  — captures autocorrelation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20040" y="4315968"/>
            <a:ext cx="1325880" cy="347472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41" name="Text 39"/>
          <p:cNvSpPr/>
          <p:nvPr/>
        </p:nvSpPr>
        <p:spPr>
          <a:xfrm>
            <a:off x="320040" y="431596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664208" y="4315968"/>
            <a:ext cx="7159752" cy="347472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55648" y="4315968"/>
            <a:ext cx="6976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total_flow for regression  ·  is_congested for classification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114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Hourly Traffic Flow Pattern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7607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total flow per hour: weekday vs. weekend · red dashed line = congestion threshold (2.77M veh / 5 min)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41080" y="201168"/>
            <a:ext cx="347472" cy="347472"/>
          </a:xfrm>
          <a:prstGeom prst="ellipse">
            <a:avLst/>
          </a:prstGeom>
          <a:solidFill>
            <a:srgbClr val="1976D2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48691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FlowShift  |  Urban Traffic &amp; Transit Demand — Los Angeles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503920" y="48691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1051560"/>
            <a:ext cx="8503920" cy="344728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78992" y="4224528"/>
            <a:ext cx="7562088" cy="914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" y="409651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0.0M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078992" y="3747326"/>
            <a:ext cx="7562088" cy="914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" y="361931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0.5M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078992" y="3270123"/>
            <a:ext cx="7562088" cy="914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3142107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1.0M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078992" y="2792921"/>
            <a:ext cx="7562088" cy="914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" y="2664905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078992" y="2315718"/>
            <a:ext cx="7562088" cy="914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2187702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2.0M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078992" y="1838516"/>
            <a:ext cx="7562088" cy="914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" y="171050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2.5M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078992" y="1361313"/>
            <a:ext cx="7562088" cy="914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1233297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3.0M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78992" y="4224528"/>
            <a:ext cx="7562088" cy="914"/>
          </a:xfrm>
          <a:prstGeom prst="line">
            <a:avLst/>
          </a:prstGeom>
          <a:noFill/>
          <a:ln w="12700">
            <a:solidFill>
              <a:srgbClr val="CFD8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78992" y="1170432"/>
            <a:ext cx="914" cy="3054096"/>
          </a:xfrm>
          <a:prstGeom prst="line">
            <a:avLst/>
          </a:prstGeom>
          <a:noFill/>
          <a:ln w="12700">
            <a:solidFill>
              <a:srgbClr val="CFD8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6112" y="42793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882471" y="42793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868831" y="42793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6:00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855190" y="42793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41549" y="42793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827909" y="42793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814268" y="42793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800627" y="427939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21:00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078992" y="1580826"/>
            <a:ext cx="230151" cy="914"/>
          </a:xfrm>
          <a:prstGeom prst="line">
            <a:avLst/>
          </a:prstGeom>
          <a:noFill/>
          <a:ln w="19050">
            <a:solidFill>
              <a:srgbClr val="D32F2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736565" y="1580826"/>
            <a:ext cx="230151" cy="914"/>
          </a:xfrm>
          <a:prstGeom prst="line">
            <a:avLst/>
          </a:prstGeom>
          <a:noFill/>
          <a:ln w="19050">
            <a:solidFill>
              <a:srgbClr val="D32F2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394138" y="1580826"/>
            <a:ext cx="230151" cy="914"/>
          </a:xfrm>
          <a:prstGeom prst="line">
            <a:avLst/>
          </a:prstGeom>
          <a:noFill/>
          <a:ln w="19050">
            <a:solidFill>
              <a:srgbClr val="D32F2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51711" y="1580826"/>
            <a:ext cx="230151" cy="914"/>
          </a:xfrm>
          <a:prstGeom prst="line">
            <a:avLst/>
          </a:prstGeom>
          <a:noFill/>
          <a:ln w="19050">
            <a:solidFill>
              <a:srgbClr val="D32F2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09283" y="1580826"/>
            <a:ext cx="230151" cy="914"/>
          </a:xfrm>
          <a:prstGeom prst="line">
            <a:avLst/>
          </a:prstGeom>
          <a:noFill/>
          <a:ln w="19050">
            <a:solidFill>
              <a:srgbClr val="D32F2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366856" y="1580826"/>
            <a:ext cx="230151" cy="914"/>
          </a:xfrm>
          <a:prstGeom prst="line">
            <a:avLst/>
          </a:prstGeom>
          <a:noFill/>
          <a:ln w="19050">
            <a:solidFill>
              <a:srgbClr val="D32F2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4429" y="1580826"/>
            <a:ext cx="230151" cy="914"/>
          </a:xfrm>
          <a:prstGeom prst="line">
            <a:avLst/>
          </a:prstGeom>
          <a:noFill/>
          <a:ln w="19050">
            <a:solidFill>
              <a:srgbClr val="D32F2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82002" y="1580826"/>
            <a:ext cx="230151" cy="914"/>
          </a:xfrm>
          <a:prstGeom prst="line">
            <a:avLst/>
          </a:prstGeom>
          <a:noFill/>
          <a:ln w="19050">
            <a:solidFill>
              <a:srgbClr val="D32F2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39575" y="1580826"/>
            <a:ext cx="230151" cy="914"/>
          </a:xfrm>
          <a:prstGeom prst="line">
            <a:avLst/>
          </a:prstGeom>
          <a:noFill/>
          <a:ln w="19050">
            <a:solidFill>
              <a:srgbClr val="D32F2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97148" y="1580826"/>
            <a:ext cx="230151" cy="914"/>
          </a:xfrm>
          <a:prstGeom prst="line">
            <a:avLst/>
          </a:prstGeom>
          <a:noFill/>
          <a:ln w="19050">
            <a:solidFill>
              <a:srgbClr val="D32F2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54721" y="1580826"/>
            <a:ext cx="230151" cy="914"/>
          </a:xfrm>
          <a:prstGeom prst="line">
            <a:avLst/>
          </a:prstGeom>
          <a:noFill/>
          <a:ln w="19050">
            <a:solidFill>
              <a:srgbClr val="D32F2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2294" y="1580826"/>
            <a:ext cx="230151" cy="914"/>
          </a:xfrm>
          <a:prstGeom prst="line">
            <a:avLst/>
          </a:prstGeom>
          <a:noFill/>
          <a:ln w="19050">
            <a:solidFill>
              <a:srgbClr val="D32F2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78992" y="3451460"/>
            <a:ext cx="328786" cy="181337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407778" y="3632797"/>
            <a:ext cx="328786" cy="104985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736565" y="3737781"/>
            <a:ext cx="328786" cy="28632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2065351" y="3642341"/>
            <a:ext cx="328786" cy="124073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2394138" y="3336931"/>
            <a:ext cx="328786" cy="305410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2722924" y="2888361"/>
            <a:ext cx="328786" cy="448570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3051711" y="2201189"/>
            <a:ext cx="328786" cy="687172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3380497" y="1704899"/>
            <a:ext cx="328786" cy="496291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709283" y="1704899"/>
            <a:ext cx="328786" cy="190881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038070" y="1895780"/>
            <a:ext cx="328786" cy="229057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4366856" y="2105749"/>
            <a:ext cx="328786" cy="19088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4695643" y="2029397"/>
            <a:ext cx="328786" cy="76352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024429" y="2010308"/>
            <a:ext cx="328786" cy="19088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353216" y="1895780"/>
            <a:ext cx="328786" cy="114529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682002" y="1819427"/>
            <a:ext cx="328786" cy="76352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6010789" y="1647635"/>
            <a:ext cx="328786" cy="171793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6339575" y="1456754"/>
            <a:ext cx="328786" cy="190881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668361" y="1456754"/>
            <a:ext cx="328786" cy="76352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97148" y="1533106"/>
            <a:ext cx="328786" cy="276777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325934" y="1809883"/>
            <a:ext cx="328786" cy="410394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654721" y="2220278"/>
            <a:ext cx="328786" cy="267233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983507" y="2487511"/>
            <a:ext cx="328786" cy="391306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312294" y="2878817"/>
            <a:ext cx="328786" cy="372218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78992" y="3356019"/>
            <a:ext cx="328786" cy="190881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407778" y="3546900"/>
            <a:ext cx="328786" cy="114529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736565" y="3661429"/>
            <a:ext cx="328786" cy="66808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065351" y="3728237"/>
            <a:ext cx="328786" cy="914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2394138" y="3642341"/>
            <a:ext cx="328786" cy="85896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2722924" y="3441916"/>
            <a:ext cx="328786" cy="200425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3051711" y="3241491"/>
            <a:ext cx="328786" cy="200425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3380497" y="2974257"/>
            <a:ext cx="328786" cy="267233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3709283" y="2678392"/>
            <a:ext cx="328786" cy="295866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4038070" y="2411159"/>
            <a:ext cx="328786" cy="267233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4366856" y="2201189"/>
            <a:ext cx="328786" cy="209969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4695643" y="2115293"/>
            <a:ext cx="328786" cy="85896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5024429" y="2105749"/>
            <a:ext cx="328786" cy="9544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353216" y="2105749"/>
            <a:ext cx="328786" cy="9544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682002" y="2115293"/>
            <a:ext cx="328786" cy="104985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010789" y="2220278"/>
            <a:ext cx="328786" cy="95441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339575" y="2315718"/>
            <a:ext cx="328786" cy="95441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668361" y="2411159"/>
            <a:ext cx="328786" cy="76352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97148" y="2487511"/>
            <a:ext cx="328786" cy="114529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325934" y="2602040"/>
            <a:ext cx="328786" cy="171793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654721" y="2773832"/>
            <a:ext cx="328786" cy="209969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983507" y="2983802"/>
            <a:ext cx="328786" cy="181337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312294" y="3165138"/>
            <a:ext cx="328786" cy="124073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389243" y="1467155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Peak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6348321" y="121901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Peak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1097280" y="4608576"/>
            <a:ext cx="347472" cy="914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508760" y="451713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Weekday</a:t>
            </a:r>
            <a:endParaRPr lang="en-US" sz="950" dirty="0"/>
          </a:p>
        </p:txBody>
      </p:sp>
      <p:sp>
        <p:nvSpPr>
          <p:cNvPr id="97" name="Shape 95"/>
          <p:cNvSpPr/>
          <p:nvPr/>
        </p:nvSpPr>
        <p:spPr>
          <a:xfrm>
            <a:off x="3703320" y="4608576"/>
            <a:ext cx="347472" cy="914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114800" y="451713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Weekend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6309360" y="4608576"/>
            <a:ext cx="347472" cy="914"/>
          </a:xfrm>
          <a:prstGeom prst="line">
            <a:avLst/>
          </a:prstGeom>
          <a:noFill/>
          <a:ln w="19050">
            <a:solidFill>
              <a:srgbClr val="D32F2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720840" y="451713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threshold (2.77M)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114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— Traffic Flow Heatmap  (Day × Hour)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7607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Darker blue = higher average flow · Friday PM shows the highest congestion of the week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41080" y="201168"/>
            <a:ext cx="347472" cy="347472"/>
          </a:xfrm>
          <a:prstGeom prst="ellipse">
            <a:avLst/>
          </a:prstGeom>
          <a:solidFill>
            <a:srgbClr val="1976D2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48691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FlowShift  |  Urban Traffic &amp; Transit Demand — Los Angeles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503920" y="48691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3152" y="1173045"/>
            <a:ext cx="841248" cy="282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152" y="1643307"/>
            <a:ext cx="841248" cy="282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152" y="2113570"/>
            <a:ext cx="841248" cy="282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3152" y="2583833"/>
            <a:ext cx="841248" cy="282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3152" y="3054096"/>
            <a:ext cx="841248" cy="282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3152" y="3524359"/>
            <a:ext cx="841248" cy="282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3152" y="3994622"/>
            <a:ext cx="841248" cy="282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60120" y="1078992"/>
            <a:ext cx="322326" cy="461119"/>
          </a:xfrm>
          <a:prstGeom prst="rect">
            <a:avLst/>
          </a:prstGeom>
          <a:solidFill>
            <a:srgbClr val="B8C7D9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91590" y="1078992"/>
            <a:ext cx="322326" cy="461119"/>
          </a:xfrm>
          <a:prstGeom prst="rect">
            <a:avLst/>
          </a:prstGeom>
          <a:solidFill>
            <a:srgbClr val="C2D1E3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23060" y="1078992"/>
            <a:ext cx="322326" cy="461119"/>
          </a:xfrm>
          <a:prstGeom prst="rect">
            <a:avLst/>
          </a:prstGeom>
          <a:solidFill>
            <a:srgbClr val="C9D7E8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54530" y="1078992"/>
            <a:ext cx="322326" cy="461119"/>
          </a:xfrm>
          <a:prstGeom prst="rect">
            <a:avLst/>
          </a:prstGeom>
          <a:solidFill>
            <a:srgbClr val="CBD9E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1078992"/>
            <a:ext cx="322326" cy="461119"/>
          </a:xfrm>
          <a:prstGeom prst="rect">
            <a:avLst/>
          </a:prstGeom>
          <a:solidFill>
            <a:srgbClr val="C5D3E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17470" y="1078992"/>
            <a:ext cx="322326" cy="461119"/>
          </a:xfrm>
          <a:prstGeom prst="rect">
            <a:avLst/>
          </a:prstGeom>
          <a:solidFill>
            <a:srgbClr val="B3C3D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48940" y="1078992"/>
            <a:ext cx="322326" cy="461119"/>
          </a:xfrm>
          <a:prstGeom prst="rect">
            <a:avLst/>
          </a:prstGeom>
          <a:solidFill>
            <a:srgbClr val="91A2B7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80410" y="1078992"/>
            <a:ext cx="322326" cy="461119"/>
          </a:xfrm>
          <a:prstGeom prst="rect">
            <a:avLst/>
          </a:prstGeom>
          <a:solidFill>
            <a:srgbClr val="475C77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11880" y="1078992"/>
            <a:ext cx="322326" cy="461119"/>
          </a:xfrm>
          <a:prstGeom prst="rect">
            <a:avLst/>
          </a:prstGeom>
          <a:solidFill>
            <a:srgbClr val="243C59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3350" y="1078992"/>
            <a:ext cx="322326" cy="461119"/>
          </a:xfrm>
          <a:prstGeom prst="rect">
            <a:avLst/>
          </a:prstGeom>
          <a:solidFill>
            <a:srgbClr val="354C68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4820" y="1078992"/>
            <a:ext cx="322326" cy="461119"/>
          </a:xfrm>
          <a:prstGeom prst="rect">
            <a:avLst/>
          </a:prstGeom>
          <a:solidFill>
            <a:srgbClr val="4F657E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06290" y="1078992"/>
            <a:ext cx="322326" cy="461119"/>
          </a:xfrm>
          <a:prstGeom prst="rect">
            <a:avLst/>
          </a:prstGeom>
          <a:solidFill>
            <a:srgbClr val="566B84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0" y="1078992"/>
            <a:ext cx="322326" cy="461119"/>
          </a:xfrm>
          <a:prstGeom prst="rect">
            <a:avLst/>
          </a:prstGeom>
          <a:solidFill>
            <a:srgbClr val="4F657E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269230" y="1078992"/>
            <a:ext cx="322326" cy="461119"/>
          </a:xfrm>
          <a:prstGeom prst="rect">
            <a:avLst/>
          </a:prstGeom>
          <a:solidFill>
            <a:srgbClr val="4F657E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00700" y="1078992"/>
            <a:ext cx="322326" cy="461119"/>
          </a:xfrm>
          <a:prstGeom prst="rect">
            <a:avLst/>
          </a:prstGeom>
          <a:solidFill>
            <a:srgbClr val="4B617B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32170" y="1078992"/>
            <a:ext cx="322326" cy="461119"/>
          </a:xfrm>
          <a:prstGeom prst="rect">
            <a:avLst/>
          </a:prstGeom>
          <a:solidFill>
            <a:srgbClr val="425873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63640" y="1078992"/>
            <a:ext cx="322326" cy="461119"/>
          </a:xfrm>
          <a:prstGeom prst="rect">
            <a:avLst/>
          </a:prstGeom>
          <a:solidFill>
            <a:srgbClr val="314864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95110" y="1078992"/>
            <a:ext cx="322326" cy="461119"/>
          </a:xfrm>
          <a:prstGeom prst="rect">
            <a:avLst/>
          </a:prstGeom>
          <a:solidFill>
            <a:srgbClr val="152D4B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26580" y="1078992"/>
            <a:ext cx="322326" cy="461119"/>
          </a:xfrm>
          <a:prstGeom prst="rect">
            <a:avLst/>
          </a:prstGeom>
          <a:solidFill>
            <a:srgbClr val="20385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58050" y="1078992"/>
            <a:ext cx="322326" cy="461119"/>
          </a:xfrm>
          <a:prstGeom prst="rect">
            <a:avLst/>
          </a:prstGeom>
          <a:solidFill>
            <a:srgbClr val="3A506C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89520" y="1078992"/>
            <a:ext cx="322326" cy="461119"/>
          </a:xfrm>
          <a:prstGeom prst="rect">
            <a:avLst/>
          </a:prstGeom>
          <a:solidFill>
            <a:srgbClr val="61758E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20990" y="1078992"/>
            <a:ext cx="322326" cy="461119"/>
          </a:xfrm>
          <a:prstGeom prst="rect">
            <a:avLst/>
          </a:prstGeom>
          <a:solidFill>
            <a:srgbClr val="8194A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52460" y="1078992"/>
            <a:ext cx="322326" cy="461119"/>
          </a:xfrm>
          <a:prstGeom prst="rect">
            <a:avLst/>
          </a:prstGeom>
          <a:solidFill>
            <a:srgbClr val="9BACC1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583930" y="1078992"/>
            <a:ext cx="322326" cy="461119"/>
          </a:xfrm>
          <a:prstGeom prst="rect">
            <a:avLst/>
          </a:prstGeom>
          <a:solidFill>
            <a:srgbClr val="AFBFD2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60120" y="1549255"/>
            <a:ext cx="322326" cy="461119"/>
          </a:xfrm>
          <a:prstGeom prst="rect">
            <a:avLst/>
          </a:prstGeom>
          <a:solidFill>
            <a:srgbClr val="BCCBDD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91590" y="1549255"/>
            <a:ext cx="322326" cy="461119"/>
          </a:xfrm>
          <a:prstGeom prst="rect">
            <a:avLst/>
          </a:prstGeom>
          <a:solidFill>
            <a:srgbClr val="C5D3E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623060" y="1549255"/>
            <a:ext cx="322326" cy="461119"/>
          </a:xfrm>
          <a:prstGeom prst="rect">
            <a:avLst/>
          </a:prstGeom>
          <a:solidFill>
            <a:srgbClr val="CBD9E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54530" y="1549255"/>
            <a:ext cx="322326" cy="461119"/>
          </a:xfrm>
          <a:prstGeom prst="rect">
            <a:avLst/>
          </a:prstGeom>
          <a:solidFill>
            <a:srgbClr val="CDDCEC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86000" y="1549255"/>
            <a:ext cx="322326" cy="461119"/>
          </a:xfrm>
          <a:prstGeom prst="rect">
            <a:avLst/>
          </a:prstGeom>
          <a:solidFill>
            <a:srgbClr val="C7D5E6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17470" y="1549255"/>
            <a:ext cx="322326" cy="461119"/>
          </a:xfrm>
          <a:prstGeom prst="rect">
            <a:avLst/>
          </a:prstGeom>
          <a:solidFill>
            <a:srgbClr val="B5C5D7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948940" y="1549255"/>
            <a:ext cx="322326" cy="461119"/>
          </a:xfrm>
          <a:prstGeom prst="rect">
            <a:avLst/>
          </a:prstGeom>
          <a:solidFill>
            <a:srgbClr val="8C9EB3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80410" y="1549255"/>
            <a:ext cx="322326" cy="461119"/>
          </a:xfrm>
          <a:prstGeom prst="rect">
            <a:avLst/>
          </a:prstGeom>
          <a:solidFill>
            <a:srgbClr val="425873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611880" y="1549255"/>
            <a:ext cx="322326" cy="461119"/>
          </a:xfrm>
          <a:prstGeom prst="rect">
            <a:avLst/>
          </a:prstGeom>
          <a:solidFill>
            <a:srgbClr val="20385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943350" y="1549255"/>
            <a:ext cx="322326" cy="461119"/>
          </a:xfrm>
          <a:prstGeom prst="rect">
            <a:avLst/>
          </a:prstGeom>
          <a:solidFill>
            <a:srgbClr val="314864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274820" y="1549255"/>
            <a:ext cx="322326" cy="461119"/>
          </a:xfrm>
          <a:prstGeom prst="rect">
            <a:avLst/>
          </a:prstGeom>
          <a:solidFill>
            <a:srgbClr val="4B617B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06290" y="1549255"/>
            <a:ext cx="322326" cy="461119"/>
          </a:xfrm>
          <a:prstGeom prst="rect">
            <a:avLst/>
          </a:prstGeom>
          <a:solidFill>
            <a:srgbClr val="526780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37760" y="1549255"/>
            <a:ext cx="322326" cy="461119"/>
          </a:xfrm>
          <a:prstGeom prst="rect">
            <a:avLst/>
          </a:prstGeom>
          <a:solidFill>
            <a:srgbClr val="4B617B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269230" y="1549255"/>
            <a:ext cx="322326" cy="461119"/>
          </a:xfrm>
          <a:prstGeom prst="rect">
            <a:avLst/>
          </a:prstGeom>
          <a:solidFill>
            <a:srgbClr val="4B617B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600700" y="1549255"/>
            <a:ext cx="322326" cy="461119"/>
          </a:xfrm>
          <a:prstGeom prst="rect">
            <a:avLst/>
          </a:prstGeom>
          <a:solidFill>
            <a:srgbClr val="475C77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932170" y="1549255"/>
            <a:ext cx="322326" cy="461119"/>
          </a:xfrm>
          <a:prstGeom prst="rect">
            <a:avLst/>
          </a:prstGeom>
          <a:solidFill>
            <a:srgbClr val="3E546F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63640" y="1549255"/>
            <a:ext cx="322326" cy="461119"/>
          </a:xfrm>
          <a:prstGeom prst="rect">
            <a:avLst/>
          </a:prstGeom>
          <a:solidFill>
            <a:srgbClr val="2D4460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595110" y="1549255"/>
            <a:ext cx="322326" cy="461119"/>
          </a:xfrm>
          <a:prstGeom prst="rect">
            <a:avLst/>
          </a:prstGeom>
          <a:solidFill>
            <a:srgbClr val="132B4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926580" y="1549255"/>
            <a:ext cx="322326" cy="461119"/>
          </a:xfrm>
          <a:prstGeom prst="rect">
            <a:avLst/>
          </a:prstGeom>
          <a:solidFill>
            <a:srgbClr val="1E3553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258050" y="1549255"/>
            <a:ext cx="322326" cy="461119"/>
          </a:xfrm>
          <a:prstGeom prst="rect">
            <a:avLst/>
          </a:prstGeom>
          <a:solidFill>
            <a:srgbClr val="384E6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589520" y="1549255"/>
            <a:ext cx="322326" cy="461119"/>
          </a:xfrm>
          <a:prstGeom prst="rect">
            <a:avLst/>
          </a:prstGeom>
          <a:solidFill>
            <a:srgbClr val="5F738C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920990" y="1549255"/>
            <a:ext cx="322326" cy="461119"/>
          </a:xfrm>
          <a:prstGeom prst="rect">
            <a:avLst/>
          </a:prstGeom>
          <a:solidFill>
            <a:srgbClr val="7F92A8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252460" y="1549255"/>
            <a:ext cx="322326" cy="461119"/>
          </a:xfrm>
          <a:prstGeom prst="rect">
            <a:avLst/>
          </a:prstGeom>
          <a:solidFill>
            <a:srgbClr val="99AABF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583930" y="1549255"/>
            <a:ext cx="322326" cy="461119"/>
          </a:xfrm>
          <a:prstGeom prst="rect">
            <a:avLst/>
          </a:prstGeom>
          <a:solidFill>
            <a:srgbClr val="B1C1D4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60120" y="2019518"/>
            <a:ext cx="322326" cy="461119"/>
          </a:xfrm>
          <a:prstGeom prst="rect">
            <a:avLst/>
          </a:prstGeom>
          <a:solidFill>
            <a:srgbClr val="BAC9DB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291590" y="2019518"/>
            <a:ext cx="322326" cy="461119"/>
          </a:xfrm>
          <a:prstGeom prst="rect">
            <a:avLst/>
          </a:prstGeom>
          <a:solidFill>
            <a:srgbClr val="C5D3E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623060" y="2019518"/>
            <a:ext cx="322326" cy="461119"/>
          </a:xfrm>
          <a:prstGeom prst="rect">
            <a:avLst/>
          </a:prstGeom>
          <a:solidFill>
            <a:srgbClr val="CBD9E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954530" y="2019518"/>
            <a:ext cx="322326" cy="461119"/>
          </a:xfrm>
          <a:prstGeom prst="rect">
            <a:avLst/>
          </a:prstGeom>
          <a:solidFill>
            <a:srgbClr val="CDDCEC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286000" y="2019518"/>
            <a:ext cx="322326" cy="461119"/>
          </a:xfrm>
          <a:prstGeom prst="rect">
            <a:avLst/>
          </a:prstGeom>
          <a:solidFill>
            <a:srgbClr val="C7D5E6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617470" y="2019518"/>
            <a:ext cx="322326" cy="461119"/>
          </a:xfrm>
          <a:prstGeom prst="rect">
            <a:avLst/>
          </a:prstGeom>
          <a:solidFill>
            <a:srgbClr val="B3C3D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948940" y="2019518"/>
            <a:ext cx="322326" cy="461119"/>
          </a:xfrm>
          <a:prstGeom prst="rect">
            <a:avLst/>
          </a:prstGeom>
          <a:solidFill>
            <a:srgbClr val="8A9CB2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280410" y="2019518"/>
            <a:ext cx="322326" cy="461119"/>
          </a:xfrm>
          <a:prstGeom prst="rect">
            <a:avLst/>
          </a:prstGeom>
          <a:solidFill>
            <a:srgbClr val="405671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611880" y="2019518"/>
            <a:ext cx="322326" cy="461119"/>
          </a:xfrm>
          <a:prstGeom prst="rect">
            <a:avLst/>
          </a:prstGeom>
          <a:solidFill>
            <a:srgbClr val="1E3553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943350" y="2019518"/>
            <a:ext cx="322326" cy="461119"/>
          </a:xfrm>
          <a:prstGeom prst="rect">
            <a:avLst/>
          </a:prstGeom>
          <a:solidFill>
            <a:srgbClr val="2F4662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274820" y="2019518"/>
            <a:ext cx="322326" cy="461119"/>
          </a:xfrm>
          <a:prstGeom prst="rect">
            <a:avLst/>
          </a:prstGeom>
          <a:solidFill>
            <a:srgbClr val="495E79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606290" y="2019518"/>
            <a:ext cx="322326" cy="461119"/>
          </a:xfrm>
          <a:prstGeom prst="rect">
            <a:avLst/>
          </a:prstGeom>
          <a:solidFill>
            <a:srgbClr val="4F657E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937760" y="2019518"/>
            <a:ext cx="322326" cy="461119"/>
          </a:xfrm>
          <a:prstGeom prst="rect">
            <a:avLst/>
          </a:prstGeom>
          <a:solidFill>
            <a:srgbClr val="495E79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269230" y="2019518"/>
            <a:ext cx="322326" cy="461119"/>
          </a:xfrm>
          <a:prstGeom prst="rect">
            <a:avLst/>
          </a:prstGeom>
          <a:solidFill>
            <a:srgbClr val="495E79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600700" y="2019518"/>
            <a:ext cx="322326" cy="461119"/>
          </a:xfrm>
          <a:prstGeom prst="rect">
            <a:avLst/>
          </a:prstGeom>
          <a:solidFill>
            <a:srgbClr val="455A7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932170" y="2019518"/>
            <a:ext cx="322326" cy="461119"/>
          </a:xfrm>
          <a:prstGeom prst="rect">
            <a:avLst/>
          </a:prstGeom>
          <a:solidFill>
            <a:srgbClr val="3C526D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263640" y="2019518"/>
            <a:ext cx="322326" cy="461119"/>
          </a:xfrm>
          <a:prstGeom prst="rect">
            <a:avLst/>
          </a:prstGeom>
          <a:solidFill>
            <a:srgbClr val="2B425E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595110" y="2019518"/>
            <a:ext cx="322326" cy="461119"/>
          </a:xfrm>
          <a:prstGeom prst="rect">
            <a:avLst/>
          </a:prstGeom>
          <a:solidFill>
            <a:srgbClr val="112948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926580" y="2019518"/>
            <a:ext cx="322326" cy="461119"/>
          </a:xfrm>
          <a:prstGeom prst="rect">
            <a:avLst/>
          </a:prstGeom>
          <a:solidFill>
            <a:srgbClr val="1B3351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258050" y="2019518"/>
            <a:ext cx="322326" cy="461119"/>
          </a:xfrm>
          <a:prstGeom prst="rect">
            <a:avLst/>
          </a:prstGeom>
          <a:solidFill>
            <a:srgbClr val="354C68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589520" y="2019518"/>
            <a:ext cx="322326" cy="461119"/>
          </a:xfrm>
          <a:prstGeom prst="rect">
            <a:avLst/>
          </a:prstGeom>
          <a:solidFill>
            <a:srgbClr val="5C718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20990" y="2019518"/>
            <a:ext cx="322326" cy="461119"/>
          </a:xfrm>
          <a:prstGeom prst="rect">
            <a:avLst/>
          </a:prstGeom>
          <a:solidFill>
            <a:srgbClr val="7D90A6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252460" y="2019518"/>
            <a:ext cx="322326" cy="461119"/>
          </a:xfrm>
          <a:prstGeom prst="rect">
            <a:avLst/>
          </a:prstGeom>
          <a:solidFill>
            <a:srgbClr val="97A8BD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8583930" y="2019518"/>
            <a:ext cx="322326" cy="461119"/>
          </a:xfrm>
          <a:prstGeom prst="rect">
            <a:avLst/>
          </a:prstGeom>
          <a:solidFill>
            <a:srgbClr val="AFBFD2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60120" y="2489781"/>
            <a:ext cx="322326" cy="461119"/>
          </a:xfrm>
          <a:prstGeom prst="rect">
            <a:avLst/>
          </a:prstGeom>
          <a:solidFill>
            <a:srgbClr val="B8C7D9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291590" y="2489781"/>
            <a:ext cx="322326" cy="461119"/>
          </a:xfrm>
          <a:prstGeom prst="rect">
            <a:avLst/>
          </a:prstGeom>
          <a:solidFill>
            <a:srgbClr val="C2D1E3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623060" y="2489781"/>
            <a:ext cx="322326" cy="461119"/>
          </a:xfrm>
          <a:prstGeom prst="rect">
            <a:avLst/>
          </a:prstGeom>
          <a:solidFill>
            <a:srgbClr val="C9D7E8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54530" y="2489781"/>
            <a:ext cx="322326" cy="461119"/>
          </a:xfrm>
          <a:prstGeom prst="rect">
            <a:avLst/>
          </a:prstGeom>
          <a:solidFill>
            <a:srgbClr val="CBD9E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286000" y="2489781"/>
            <a:ext cx="322326" cy="461119"/>
          </a:xfrm>
          <a:prstGeom prst="rect">
            <a:avLst/>
          </a:prstGeom>
          <a:solidFill>
            <a:srgbClr val="C5D3E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617470" y="2489781"/>
            <a:ext cx="322326" cy="461119"/>
          </a:xfrm>
          <a:prstGeom prst="rect">
            <a:avLst/>
          </a:prstGeom>
          <a:solidFill>
            <a:srgbClr val="B1C1D4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948940" y="2489781"/>
            <a:ext cx="322326" cy="461119"/>
          </a:xfrm>
          <a:prstGeom prst="rect">
            <a:avLst/>
          </a:prstGeom>
          <a:solidFill>
            <a:srgbClr val="889AB0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280410" y="2489781"/>
            <a:ext cx="322326" cy="461119"/>
          </a:xfrm>
          <a:prstGeom prst="rect">
            <a:avLst/>
          </a:prstGeom>
          <a:solidFill>
            <a:srgbClr val="3E546F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611880" y="2489781"/>
            <a:ext cx="322326" cy="461119"/>
          </a:xfrm>
          <a:prstGeom prst="rect">
            <a:avLst/>
          </a:prstGeom>
          <a:solidFill>
            <a:srgbClr val="223A57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943350" y="2489781"/>
            <a:ext cx="322326" cy="461119"/>
          </a:xfrm>
          <a:prstGeom prst="rect">
            <a:avLst/>
          </a:prstGeom>
          <a:solidFill>
            <a:srgbClr val="334A66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274820" y="2489781"/>
            <a:ext cx="322326" cy="461119"/>
          </a:xfrm>
          <a:prstGeom prst="rect">
            <a:avLst/>
          </a:prstGeom>
          <a:solidFill>
            <a:srgbClr val="4B617B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606290" y="2489781"/>
            <a:ext cx="322326" cy="461119"/>
          </a:xfrm>
          <a:prstGeom prst="rect">
            <a:avLst/>
          </a:prstGeom>
          <a:solidFill>
            <a:srgbClr val="526780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37760" y="2489781"/>
            <a:ext cx="322326" cy="461119"/>
          </a:xfrm>
          <a:prstGeom prst="rect">
            <a:avLst/>
          </a:prstGeom>
          <a:solidFill>
            <a:srgbClr val="4B617B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269230" y="2489781"/>
            <a:ext cx="322326" cy="461119"/>
          </a:xfrm>
          <a:prstGeom prst="rect">
            <a:avLst/>
          </a:prstGeom>
          <a:solidFill>
            <a:srgbClr val="4B617B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600700" y="2489781"/>
            <a:ext cx="322326" cy="461119"/>
          </a:xfrm>
          <a:prstGeom prst="rect">
            <a:avLst/>
          </a:prstGeom>
          <a:solidFill>
            <a:srgbClr val="475C77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932170" y="2489781"/>
            <a:ext cx="322326" cy="461119"/>
          </a:xfrm>
          <a:prstGeom prst="rect">
            <a:avLst/>
          </a:prstGeom>
          <a:solidFill>
            <a:srgbClr val="3E546F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263640" y="2489781"/>
            <a:ext cx="322326" cy="461119"/>
          </a:xfrm>
          <a:prstGeom prst="rect">
            <a:avLst/>
          </a:prstGeom>
          <a:solidFill>
            <a:srgbClr val="2D4460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595110" y="2489781"/>
            <a:ext cx="322326" cy="461119"/>
          </a:xfrm>
          <a:prstGeom prst="rect">
            <a:avLst/>
          </a:prstGeom>
          <a:solidFill>
            <a:srgbClr val="132B4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926580" y="2489781"/>
            <a:ext cx="322326" cy="461119"/>
          </a:xfrm>
          <a:prstGeom prst="rect">
            <a:avLst/>
          </a:prstGeom>
          <a:solidFill>
            <a:srgbClr val="19314F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258050" y="2489781"/>
            <a:ext cx="322326" cy="461119"/>
          </a:xfrm>
          <a:prstGeom prst="rect">
            <a:avLst/>
          </a:prstGeom>
          <a:solidFill>
            <a:srgbClr val="334A66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589520" y="2489781"/>
            <a:ext cx="322326" cy="461119"/>
          </a:xfrm>
          <a:prstGeom prst="rect">
            <a:avLst/>
          </a:prstGeom>
          <a:solidFill>
            <a:srgbClr val="5A6F88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920990" y="2489781"/>
            <a:ext cx="322326" cy="461119"/>
          </a:xfrm>
          <a:prstGeom prst="rect">
            <a:avLst/>
          </a:prstGeom>
          <a:solidFill>
            <a:srgbClr val="7B8EA4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252460" y="2489781"/>
            <a:ext cx="322326" cy="461119"/>
          </a:xfrm>
          <a:prstGeom prst="rect">
            <a:avLst/>
          </a:prstGeom>
          <a:solidFill>
            <a:srgbClr val="95A6BB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583930" y="2489781"/>
            <a:ext cx="322326" cy="461119"/>
          </a:xfrm>
          <a:prstGeom prst="rect">
            <a:avLst/>
          </a:prstGeom>
          <a:solidFill>
            <a:srgbClr val="ADBDD0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60120" y="2960043"/>
            <a:ext cx="322326" cy="461119"/>
          </a:xfrm>
          <a:prstGeom prst="rect">
            <a:avLst/>
          </a:prstGeom>
          <a:solidFill>
            <a:srgbClr val="B5C5D7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291590" y="2960043"/>
            <a:ext cx="322326" cy="461119"/>
          </a:xfrm>
          <a:prstGeom prst="rect">
            <a:avLst/>
          </a:prstGeom>
          <a:solidFill>
            <a:srgbClr val="C0CFE1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623060" y="2960043"/>
            <a:ext cx="322326" cy="461119"/>
          </a:xfrm>
          <a:prstGeom prst="rect">
            <a:avLst/>
          </a:prstGeom>
          <a:solidFill>
            <a:srgbClr val="C9D7E8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54530" y="2960043"/>
            <a:ext cx="322326" cy="461119"/>
          </a:xfrm>
          <a:prstGeom prst="rect">
            <a:avLst/>
          </a:prstGeom>
          <a:solidFill>
            <a:srgbClr val="CBD9E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286000" y="2960043"/>
            <a:ext cx="322326" cy="461119"/>
          </a:xfrm>
          <a:prstGeom prst="rect">
            <a:avLst/>
          </a:prstGeom>
          <a:solidFill>
            <a:srgbClr val="C5D3E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617470" y="2960043"/>
            <a:ext cx="322326" cy="461119"/>
          </a:xfrm>
          <a:prstGeom prst="rect">
            <a:avLst/>
          </a:prstGeom>
          <a:solidFill>
            <a:srgbClr val="B1C1D4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948940" y="2960043"/>
            <a:ext cx="322326" cy="461119"/>
          </a:xfrm>
          <a:prstGeom prst="rect">
            <a:avLst/>
          </a:prstGeom>
          <a:solidFill>
            <a:srgbClr val="8698AE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280410" y="2960043"/>
            <a:ext cx="322326" cy="461119"/>
          </a:xfrm>
          <a:prstGeom prst="rect">
            <a:avLst/>
          </a:prstGeom>
          <a:solidFill>
            <a:srgbClr val="3C526D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3611880" y="2960043"/>
            <a:ext cx="322326" cy="461119"/>
          </a:xfrm>
          <a:prstGeom prst="rect">
            <a:avLst/>
          </a:prstGeom>
          <a:solidFill>
            <a:srgbClr val="20385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943350" y="2960043"/>
            <a:ext cx="322326" cy="461119"/>
          </a:xfrm>
          <a:prstGeom prst="rect">
            <a:avLst/>
          </a:prstGeom>
          <a:solidFill>
            <a:srgbClr val="2F4662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274820" y="2960043"/>
            <a:ext cx="322326" cy="461119"/>
          </a:xfrm>
          <a:prstGeom prst="rect">
            <a:avLst/>
          </a:prstGeom>
          <a:solidFill>
            <a:srgbClr val="455A7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606290" y="2960043"/>
            <a:ext cx="322326" cy="461119"/>
          </a:xfrm>
          <a:prstGeom prst="rect">
            <a:avLst/>
          </a:prstGeom>
          <a:solidFill>
            <a:srgbClr val="4B617B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37760" y="2960043"/>
            <a:ext cx="322326" cy="461119"/>
          </a:xfrm>
          <a:prstGeom prst="rect">
            <a:avLst/>
          </a:prstGeom>
          <a:solidFill>
            <a:srgbClr val="455A7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269230" y="2960043"/>
            <a:ext cx="322326" cy="461119"/>
          </a:xfrm>
          <a:prstGeom prst="rect">
            <a:avLst/>
          </a:prstGeom>
          <a:solidFill>
            <a:srgbClr val="425873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600700" y="2960043"/>
            <a:ext cx="322326" cy="461119"/>
          </a:xfrm>
          <a:prstGeom prst="rect">
            <a:avLst/>
          </a:prstGeom>
          <a:solidFill>
            <a:srgbClr val="3E546F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5932170" y="2960043"/>
            <a:ext cx="322326" cy="461119"/>
          </a:xfrm>
          <a:prstGeom prst="rect">
            <a:avLst/>
          </a:prstGeom>
          <a:solidFill>
            <a:srgbClr val="354C68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6263640" y="2960043"/>
            <a:ext cx="322326" cy="461119"/>
          </a:xfrm>
          <a:prstGeom prst="rect">
            <a:avLst/>
          </a:prstGeom>
          <a:solidFill>
            <a:srgbClr val="243C59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6595110" y="2960043"/>
            <a:ext cx="322326" cy="461119"/>
          </a:xfrm>
          <a:prstGeom prst="rect">
            <a:avLst/>
          </a:prstGeom>
          <a:solidFill>
            <a:srgbClr val="0A2342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6926580" y="2960043"/>
            <a:ext cx="322326" cy="461119"/>
          </a:xfrm>
          <a:prstGeom prst="rect">
            <a:avLst/>
          </a:prstGeom>
          <a:solidFill>
            <a:srgbClr val="132B4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258050" y="2960043"/>
            <a:ext cx="322326" cy="461119"/>
          </a:xfrm>
          <a:prstGeom prst="rect">
            <a:avLst/>
          </a:prstGeom>
          <a:solidFill>
            <a:srgbClr val="2D4460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7589520" y="2960043"/>
            <a:ext cx="322326" cy="461119"/>
          </a:xfrm>
          <a:prstGeom prst="rect">
            <a:avLst/>
          </a:prstGeom>
          <a:solidFill>
            <a:srgbClr val="546982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7920990" y="2960043"/>
            <a:ext cx="322326" cy="461119"/>
          </a:xfrm>
          <a:prstGeom prst="rect">
            <a:avLst/>
          </a:prstGeom>
          <a:solidFill>
            <a:srgbClr val="778AA1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252460" y="2960043"/>
            <a:ext cx="322326" cy="461119"/>
          </a:xfrm>
          <a:prstGeom prst="rect">
            <a:avLst/>
          </a:prstGeom>
          <a:solidFill>
            <a:srgbClr val="91A2B7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8583930" y="2960043"/>
            <a:ext cx="322326" cy="461119"/>
          </a:xfrm>
          <a:prstGeom prst="rect">
            <a:avLst/>
          </a:prstGeom>
          <a:solidFill>
            <a:srgbClr val="A8B9CC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60120" y="3430306"/>
            <a:ext cx="322326" cy="461119"/>
          </a:xfrm>
          <a:prstGeom prst="rect">
            <a:avLst/>
          </a:prstGeom>
          <a:solidFill>
            <a:srgbClr val="ADBDD0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1291590" y="3430306"/>
            <a:ext cx="322326" cy="461119"/>
          </a:xfrm>
          <a:prstGeom prst="rect">
            <a:avLst/>
          </a:prstGeom>
          <a:solidFill>
            <a:srgbClr val="B8C7D9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1623060" y="3430306"/>
            <a:ext cx="322326" cy="461119"/>
          </a:xfrm>
          <a:prstGeom prst="rect">
            <a:avLst/>
          </a:prstGeom>
          <a:solidFill>
            <a:srgbClr val="C0CFE1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954530" y="3430306"/>
            <a:ext cx="322326" cy="461119"/>
          </a:xfrm>
          <a:prstGeom prst="rect">
            <a:avLst/>
          </a:prstGeom>
          <a:solidFill>
            <a:srgbClr val="C7D5E6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286000" y="3430306"/>
            <a:ext cx="322326" cy="461119"/>
          </a:xfrm>
          <a:prstGeom prst="rect">
            <a:avLst/>
          </a:prstGeom>
          <a:solidFill>
            <a:srgbClr val="C9D7E8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617470" y="3430306"/>
            <a:ext cx="322326" cy="461119"/>
          </a:xfrm>
          <a:prstGeom prst="rect">
            <a:avLst/>
          </a:prstGeom>
          <a:solidFill>
            <a:srgbClr val="C5D3E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948940" y="3430306"/>
            <a:ext cx="322326" cy="461119"/>
          </a:xfrm>
          <a:prstGeom prst="rect">
            <a:avLst/>
          </a:prstGeom>
          <a:solidFill>
            <a:srgbClr val="B8C7D9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3280410" y="3430306"/>
            <a:ext cx="322326" cy="461119"/>
          </a:xfrm>
          <a:prstGeom prst="rect">
            <a:avLst/>
          </a:prstGeom>
          <a:solidFill>
            <a:srgbClr val="A2B3C6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3611880" y="3430306"/>
            <a:ext cx="322326" cy="461119"/>
          </a:xfrm>
          <a:prstGeom prst="rect">
            <a:avLst/>
          </a:prstGeom>
          <a:solidFill>
            <a:srgbClr val="8194A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3943350" y="3430306"/>
            <a:ext cx="322326" cy="461119"/>
          </a:xfrm>
          <a:prstGeom prst="rect">
            <a:avLst/>
          </a:prstGeom>
          <a:solidFill>
            <a:srgbClr val="657991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274820" y="3430306"/>
            <a:ext cx="322326" cy="461119"/>
          </a:xfrm>
          <a:prstGeom prst="rect">
            <a:avLst/>
          </a:prstGeom>
          <a:solidFill>
            <a:srgbClr val="4F657E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606290" y="3430306"/>
            <a:ext cx="322326" cy="461119"/>
          </a:xfrm>
          <a:prstGeom prst="rect">
            <a:avLst/>
          </a:prstGeom>
          <a:solidFill>
            <a:srgbClr val="475C77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4937760" y="3430306"/>
            <a:ext cx="322326" cy="461119"/>
          </a:xfrm>
          <a:prstGeom prst="rect">
            <a:avLst/>
          </a:prstGeom>
          <a:solidFill>
            <a:srgbClr val="425873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5269230" y="3430306"/>
            <a:ext cx="322326" cy="461119"/>
          </a:xfrm>
          <a:prstGeom prst="rect">
            <a:avLst/>
          </a:prstGeom>
          <a:solidFill>
            <a:srgbClr val="455A7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5600700" y="3430306"/>
            <a:ext cx="322326" cy="461119"/>
          </a:xfrm>
          <a:prstGeom prst="rect">
            <a:avLst/>
          </a:prstGeom>
          <a:solidFill>
            <a:srgbClr val="475C77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932170" y="3430306"/>
            <a:ext cx="322326" cy="461119"/>
          </a:xfrm>
          <a:prstGeom prst="rect">
            <a:avLst/>
          </a:prstGeom>
          <a:solidFill>
            <a:srgbClr val="4B617B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6263640" y="3430306"/>
            <a:ext cx="322326" cy="461119"/>
          </a:xfrm>
          <a:prstGeom prst="rect">
            <a:avLst/>
          </a:prstGeom>
          <a:solidFill>
            <a:srgbClr val="546982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6595110" y="3430306"/>
            <a:ext cx="322326" cy="461119"/>
          </a:xfrm>
          <a:prstGeom prst="rect">
            <a:avLst/>
          </a:prstGeom>
          <a:solidFill>
            <a:srgbClr val="5C718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6926580" y="3430306"/>
            <a:ext cx="322326" cy="461119"/>
          </a:xfrm>
          <a:prstGeom prst="rect">
            <a:avLst/>
          </a:prstGeom>
          <a:solidFill>
            <a:srgbClr val="657991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7258050" y="3430306"/>
            <a:ext cx="322326" cy="461119"/>
          </a:xfrm>
          <a:prstGeom prst="rect">
            <a:avLst/>
          </a:prstGeom>
          <a:solidFill>
            <a:srgbClr val="72859D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7589520" y="3430306"/>
            <a:ext cx="322326" cy="461119"/>
          </a:xfrm>
          <a:prstGeom prst="rect">
            <a:avLst/>
          </a:prstGeom>
          <a:solidFill>
            <a:srgbClr val="8496AC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920990" y="3430306"/>
            <a:ext cx="322326" cy="461119"/>
          </a:xfrm>
          <a:prstGeom prst="rect">
            <a:avLst/>
          </a:prstGeom>
          <a:solidFill>
            <a:srgbClr val="95A6BB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252460" y="3430306"/>
            <a:ext cx="322326" cy="461119"/>
          </a:xfrm>
          <a:prstGeom prst="rect">
            <a:avLst/>
          </a:prstGeom>
          <a:solidFill>
            <a:srgbClr val="A2B3C6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583930" y="3430306"/>
            <a:ext cx="322326" cy="461119"/>
          </a:xfrm>
          <a:prstGeom prst="rect">
            <a:avLst/>
          </a:prstGeom>
          <a:solidFill>
            <a:srgbClr val="ABBBCE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60120" y="3900569"/>
            <a:ext cx="322326" cy="461119"/>
          </a:xfrm>
          <a:prstGeom prst="rect">
            <a:avLst/>
          </a:prstGeom>
          <a:solidFill>
            <a:srgbClr val="AFBFD2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1291590" y="3900569"/>
            <a:ext cx="322326" cy="461119"/>
          </a:xfrm>
          <a:prstGeom prst="rect">
            <a:avLst/>
          </a:prstGeom>
          <a:solidFill>
            <a:srgbClr val="BAC9DB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623060" y="3900569"/>
            <a:ext cx="322326" cy="461119"/>
          </a:xfrm>
          <a:prstGeom prst="rect">
            <a:avLst/>
          </a:prstGeom>
          <a:solidFill>
            <a:srgbClr val="C2D1E3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1954530" y="3900569"/>
            <a:ext cx="322326" cy="461119"/>
          </a:xfrm>
          <a:prstGeom prst="rect">
            <a:avLst/>
          </a:prstGeom>
          <a:solidFill>
            <a:srgbClr val="C9D7E8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286000" y="3900569"/>
            <a:ext cx="322326" cy="461119"/>
          </a:xfrm>
          <a:prstGeom prst="rect">
            <a:avLst/>
          </a:prstGeom>
          <a:solidFill>
            <a:srgbClr val="CBD9E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617470" y="3900569"/>
            <a:ext cx="322326" cy="461119"/>
          </a:xfrm>
          <a:prstGeom prst="rect">
            <a:avLst/>
          </a:prstGeom>
          <a:solidFill>
            <a:srgbClr val="C7D5E6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948940" y="3900569"/>
            <a:ext cx="322326" cy="461119"/>
          </a:xfrm>
          <a:prstGeom prst="rect">
            <a:avLst/>
          </a:prstGeom>
          <a:solidFill>
            <a:srgbClr val="BCCBDD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3280410" y="3900569"/>
            <a:ext cx="322326" cy="461119"/>
          </a:xfrm>
          <a:prstGeom prst="rect">
            <a:avLst/>
          </a:prstGeom>
          <a:solidFill>
            <a:srgbClr val="ABBBCE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3611880" y="3900569"/>
            <a:ext cx="322326" cy="461119"/>
          </a:xfrm>
          <a:prstGeom prst="rect">
            <a:avLst/>
          </a:prstGeom>
          <a:solidFill>
            <a:srgbClr val="8C9EB3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3943350" y="3900569"/>
            <a:ext cx="322326" cy="461119"/>
          </a:xfrm>
          <a:prstGeom prst="rect">
            <a:avLst/>
          </a:prstGeom>
          <a:solidFill>
            <a:srgbClr val="72859D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274820" y="3900569"/>
            <a:ext cx="322326" cy="461119"/>
          </a:xfrm>
          <a:prstGeom prst="rect">
            <a:avLst/>
          </a:prstGeom>
          <a:solidFill>
            <a:srgbClr val="5C718A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4606290" y="3900569"/>
            <a:ext cx="322326" cy="461119"/>
          </a:xfrm>
          <a:prstGeom prst="rect">
            <a:avLst/>
          </a:prstGeom>
          <a:solidFill>
            <a:srgbClr val="546982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4937760" y="3900569"/>
            <a:ext cx="322326" cy="461119"/>
          </a:xfrm>
          <a:prstGeom prst="rect">
            <a:avLst/>
          </a:prstGeom>
          <a:solidFill>
            <a:srgbClr val="4F657E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269230" y="3900569"/>
            <a:ext cx="322326" cy="461119"/>
          </a:xfrm>
          <a:prstGeom prst="rect">
            <a:avLst/>
          </a:prstGeom>
          <a:solidFill>
            <a:srgbClr val="526780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600700" y="3900569"/>
            <a:ext cx="322326" cy="461119"/>
          </a:xfrm>
          <a:prstGeom prst="rect">
            <a:avLst/>
          </a:prstGeom>
          <a:solidFill>
            <a:srgbClr val="546982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932170" y="3900569"/>
            <a:ext cx="322326" cy="461119"/>
          </a:xfrm>
          <a:prstGeom prst="rect">
            <a:avLst/>
          </a:prstGeom>
          <a:solidFill>
            <a:srgbClr val="586D86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6263640" y="3900569"/>
            <a:ext cx="322326" cy="461119"/>
          </a:xfrm>
          <a:prstGeom prst="rect">
            <a:avLst/>
          </a:prstGeom>
          <a:solidFill>
            <a:srgbClr val="61758E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6595110" y="3900569"/>
            <a:ext cx="322326" cy="461119"/>
          </a:xfrm>
          <a:prstGeom prst="rect">
            <a:avLst/>
          </a:prstGeom>
          <a:solidFill>
            <a:srgbClr val="697D95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926580" y="3900569"/>
            <a:ext cx="322326" cy="461119"/>
          </a:xfrm>
          <a:prstGeom prst="rect">
            <a:avLst/>
          </a:prstGeom>
          <a:solidFill>
            <a:srgbClr val="72859D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7258050" y="3900569"/>
            <a:ext cx="322326" cy="461119"/>
          </a:xfrm>
          <a:prstGeom prst="rect">
            <a:avLst/>
          </a:prstGeom>
          <a:solidFill>
            <a:srgbClr val="7F92A8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589520" y="3900569"/>
            <a:ext cx="322326" cy="461119"/>
          </a:xfrm>
          <a:prstGeom prst="rect">
            <a:avLst/>
          </a:prstGeom>
          <a:solidFill>
            <a:srgbClr val="91A2B7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920990" y="3900569"/>
            <a:ext cx="322326" cy="461119"/>
          </a:xfrm>
          <a:prstGeom prst="rect">
            <a:avLst/>
          </a:prstGeom>
          <a:solidFill>
            <a:srgbClr val="9EAEC3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252460" y="3900569"/>
            <a:ext cx="322326" cy="461119"/>
          </a:xfrm>
          <a:prstGeom prst="rect">
            <a:avLst/>
          </a:prstGeom>
          <a:solidFill>
            <a:srgbClr val="A8B9CC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583930" y="3900569"/>
            <a:ext cx="322326" cy="461119"/>
          </a:xfrm>
          <a:prstGeom prst="rect">
            <a:avLst/>
          </a:prstGeom>
          <a:solidFill>
            <a:srgbClr val="ADBDD0"/>
          </a:solidFill>
          <a:ln w="3810">
            <a:solidFill>
              <a:srgbClr val="F7FAFF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960120" y="4407408"/>
            <a:ext cx="9944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850" dirty="0"/>
          </a:p>
        </p:txBody>
      </p:sp>
      <p:sp>
        <p:nvSpPr>
          <p:cNvPr id="186" name="Text 184"/>
          <p:cNvSpPr/>
          <p:nvPr/>
        </p:nvSpPr>
        <p:spPr>
          <a:xfrm>
            <a:off x="1954530" y="4407408"/>
            <a:ext cx="9944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</a:t>
            </a:r>
            <a:endParaRPr lang="en-US" sz="850" dirty="0"/>
          </a:p>
        </p:txBody>
      </p:sp>
      <p:sp>
        <p:nvSpPr>
          <p:cNvPr id="187" name="Text 185"/>
          <p:cNvSpPr/>
          <p:nvPr/>
        </p:nvSpPr>
        <p:spPr>
          <a:xfrm>
            <a:off x="2948940" y="4407408"/>
            <a:ext cx="9944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6:00</a:t>
            </a:r>
            <a:endParaRPr lang="en-US" sz="850" dirty="0"/>
          </a:p>
        </p:txBody>
      </p:sp>
      <p:sp>
        <p:nvSpPr>
          <p:cNvPr id="188" name="Text 186"/>
          <p:cNvSpPr/>
          <p:nvPr/>
        </p:nvSpPr>
        <p:spPr>
          <a:xfrm>
            <a:off x="3943350" y="4407408"/>
            <a:ext cx="9944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</a:t>
            </a:r>
            <a:endParaRPr lang="en-US" sz="850" dirty="0"/>
          </a:p>
        </p:txBody>
      </p:sp>
      <p:sp>
        <p:nvSpPr>
          <p:cNvPr id="189" name="Text 187"/>
          <p:cNvSpPr/>
          <p:nvPr/>
        </p:nvSpPr>
        <p:spPr>
          <a:xfrm>
            <a:off x="4937760" y="4407408"/>
            <a:ext cx="9944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</a:t>
            </a:r>
            <a:endParaRPr lang="en-US" sz="850" dirty="0"/>
          </a:p>
        </p:txBody>
      </p:sp>
      <p:sp>
        <p:nvSpPr>
          <p:cNvPr id="190" name="Text 188"/>
          <p:cNvSpPr/>
          <p:nvPr/>
        </p:nvSpPr>
        <p:spPr>
          <a:xfrm>
            <a:off x="5932170" y="4407408"/>
            <a:ext cx="9944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850" dirty="0"/>
          </a:p>
        </p:txBody>
      </p:sp>
      <p:sp>
        <p:nvSpPr>
          <p:cNvPr id="191" name="Text 189"/>
          <p:cNvSpPr/>
          <p:nvPr/>
        </p:nvSpPr>
        <p:spPr>
          <a:xfrm>
            <a:off x="6926580" y="4407408"/>
            <a:ext cx="9944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850" dirty="0"/>
          </a:p>
        </p:txBody>
      </p:sp>
      <p:sp>
        <p:nvSpPr>
          <p:cNvPr id="192" name="Text 190"/>
          <p:cNvSpPr/>
          <p:nvPr/>
        </p:nvSpPr>
        <p:spPr>
          <a:xfrm>
            <a:off x="7920990" y="4407408"/>
            <a:ext cx="9944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21:00</a:t>
            </a:r>
            <a:endParaRPr lang="en-US" sz="850" dirty="0"/>
          </a:p>
        </p:txBody>
      </p:sp>
      <p:sp>
        <p:nvSpPr>
          <p:cNvPr id="193" name="Shape 191"/>
          <p:cNvSpPr/>
          <p:nvPr/>
        </p:nvSpPr>
        <p:spPr>
          <a:xfrm>
            <a:off x="960120" y="4663440"/>
            <a:ext cx="88697" cy="164592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194" name="Shape 192"/>
          <p:cNvSpPr/>
          <p:nvPr/>
        </p:nvSpPr>
        <p:spPr>
          <a:xfrm>
            <a:off x="1039673" y="4663440"/>
            <a:ext cx="88697" cy="164592"/>
          </a:xfrm>
          <a:prstGeom prst="rect">
            <a:avLst/>
          </a:prstGeom>
          <a:solidFill>
            <a:srgbClr val="E1EEFD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119226" y="4663440"/>
            <a:ext cx="88697" cy="164592"/>
          </a:xfrm>
          <a:prstGeom prst="rect">
            <a:avLst/>
          </a:prstGeom>
          <a:solidFill>
            <a:srgbClr val="DFECFB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198778" y="4663440"/>
            <a:ext cx="88697" cy="164592"/>
          </a:xfrm>
          <a:prstGeom prst="rect">
            <a:avLst/>
          </a:prstGeom>
          <a:solidFill>
            <a:srgbClr val="DCEAF9"/>
          </a:solidFill>
          <a:ln/>
        </p:spPr>
      </p:sp>
      <p:sp>
        <p:nvSpPr>
          <p:cNvPr id="197" name="Shape 195"/>
          <p:cNvSpPr/>
          <p:nvPr/>
        </p:nvSpPr>
        <p:spPr>
          <a:xfrm>
            <a:off x="1278331" y="4663440"/>
            <a:ext cx="88697" cy="164592"/>
          </a:xfrm>
          <a:prstGeom prst="rect">
            <a:avLst/>
          </a:prstGeom>
          <a:solidFill>
            <a:srgbClr val="DAE8F7"/>
          </a:solidFill>
          <a:ln/>
        </p:spPr>
      </p:sp>
      <p:sp>
        <p:nvSpPr>
          <p:cNvPr id="198" name="Shape 196"/>
          <p:cNvSpPr/>
          <p:nvPr/>
        </p:nvSpPr>
        <p:spPr>
          <a:xfrm>
            <a:off x="1357884" y="4663440"/>
            <a:ext cx="88697" cy="164592"/>
          </a:xfrm>
          <a:prstGeom prst="rect">
            <a:avLst/>
          </a:prstGeom>
          <a:solidFill>
            <a:srgbClr val="D8E6F5"/>
          </a:solidFill>
          <a:ln/>
        </p:spPr>
      </p:sp>
      <p:sp>
        <p:nvSpPr>
          <p:cNvPr id="199" name="Shape 197"/>
          <p:cNvSpPr/>
          <p:nvPr/>
        </p:nvSpPr>
        <p:spPr>
          <a:xfrm>
            <a:off x="1437437" y="4663440"/>
            <a:ext cx="88697" cy="164592"/>
          </a:xfrm>
          <a:prstGeom prst="rect">
            <a:avLst/>
          </a:prstGeom>
          <a:solidFill>
            <a:srgbClr val="D6E4F4"/>
          </a:solidFill>
          <a:ln/>
        </p:spPr>
      </p:sp>
      <p:sp>
        <p:nvSpPr>
          <p:cNvPr id="200" name="Shape 198"/>
          <p:cNvSpPr/>
          <p:nvPr/>
        </p:nvSpPr>
        <p:spPr>
          <a:xfrm>
            <a:off x="1516990" y="4663440"/>
            <a:ext cx="88697" cy="164592"/>
          </a:xfrm>
          <a:prstGeom prst="rect">
            <a:avLst/>
          </a:prstGeom>
          <a:solidFill>
            <a:srgbClr val="D4E2F2"/>
          </a:solidFill>
          <a:ln/>
        </p:spPr>
      </p:sp>
      <p:sp>
        <p:nvSpPr>
          <p:cNvPr id="201" name="Shape 199"/>
          <p:cNvSpPr/>
          <p:nvPr/>
        </p:nvSpPr>
        <p:spPr>
          <a:xfrm>
            <a:off x="1596542" y="4663440"/>
            <a:ext cx="88697" cy="164592"/>
          </a:xfrm>
          <a:prstGeom prst="rect">
            <a:avLst/>
          </a:prstGeom>
          <a:solidFill>
            <a:srgbClr val="D1DFF0"/>
          </a:solidFill>
          <a:ln/>
        </p:spPr>
      </p:sp>
      <p:sp>
        <p:nvSpPr>
          <p:cNvPr id="202" name="Shape 200"/>
          <p:cNvSpPr/>
          <p:nvPr/>
        </p:nvSpPr>
        <p:spPr>
          <a:xfrm>
            <a:off x="1676095" y="4663440"/>
            <a:ext cx="88697" cy="164592"/>
          </a:xfrm>
          <a:prstGeom prst="rect">
            <a:avLst/>
          </a:prstGeom>
          <a:solidFill>
            <a:srgbClr val="CFDD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1755648" y="4663440"/>
            <a:ext cx="88697" cy="164592"/>
          </a:xfrm>
          <a:prstGeom prst="rect">
            <a:avLst/>
          </a:prstGeom>
          <a:solidFill>
            <a:srgbClr val="CDDBEC"/>
          </a:solidFill>
          <a:ln/>
        </p:spPr>
      </p:sp>
      <p:sp>
        <p:nvSpPr>
          <p:cNvPr id="204" name="Shape 202"/>
          <p:cNvSpPr/>
          <p:nvPr/>
        </p:nvSpPr>
        <p:spPr>
          <a:xfrm>
            <a:off x="1835201" y="4663440"/>
            <a:ext cx="88697" cy="164592"/>
          </a:xfrm>
          <a:prstGeom prst="rect">
            <a:avLst/>
          </a:prstGeom>
          <a:solidFill>
            <a:srgbClr val="CBD9E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1914754" y="4663440"/>
            <a:ext cx="88697" cy="164592"/>
          </a:xfrm>
          <a:prstGeom prst="rect">
            <a:avLst/>
          </a:prstGeom>
          <a:solidFill>
            <a:srgbClr val="C9D7E8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994306" y="4663440"/>
            <a:ext cx="88697" cy="164592"/>
          </a:xfrm>
          <a:prstGeom prst="rect">
            <a:avLst/>
          </a:prstGeom>
          <a:solidFill>
            <a:srgbClr val="C7D5E6"/>
          </a:solidFill>
          <a:ln/>
        </p:spPr>
      </p:sp>
      <p:sp>
        <p:nvSpPr>
          <p:cNvPr id="207" name="Shape 205"/>
          <p:cNvSpPr/>
          <p:nvPr/>
        </p:nvSpPr>
        <p:spPr>
          <a:xfrm>
            <a:off x="2073859" y="4663440"/>
            <a:ext cx="88697" cy="164592"/>
          </a:xfrm>
          <a:prstGeom prst="rect">
            <a:avLst/>
          </a:prstGeom>
          <a:solidFill>
            <a:srgbClr val="C4D3E4"/>
          </a:solidFill>
          <a:ln/>
        </p:spPr>
      </p:sp>
      <p:sp>
        <p:nvSpPr>
          <p:cNvPr id="208" name="Shape 206"/>
          <p:cNvSpPr/>
          <p:nvPr/>
        </p:nvSpPr>
        <p:spPr>
          <a:xfrm>
            <a:off x="2153412" y="4663440"/>
            <a:ext cx="88697" cy="164592"/>
          </a:xfrm>
          <a:prstGeom prst="rect">
            <a:avLst/>
          </a:prstGeom>
          <a:solidFill>
            <a:srgbClr val="C2D1E2"/>
          </a:solidFill>
          <a:ln/>
        </p:spPr>
      </p:sp>
      <p:sp>
        <p:nvSpPr>
          <p:cNvPr id="209" name="Shape 207"/>
          <p:cNvSpPr/>
          <p:nvPr/>
        </p:nvSpPr>
        <p:spPr>
          <a:xfrm>
            <a:off x="2232965" y="4663440"/>
            <a:ext cx="88697" cy="164592"/>
          </a:xfrm>
          <a:prstGeom prst="rect">
            <a:avLst/>
          </a:prstGeom>
          <a:solidFill>
            <a:srgbClr val="C0CFE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2312518" y="4663440"/>
            <a:ext cx="88697" cy="164592"/>
          </a:xfrm>
          <a:prstGeom prst="rect">
            <a:avLst/>
          </a:prstGeom>
          <a:solidFill>
            <a:srgbClr val="BECDDF"/>
          </a:solidFill>
          <a:ln/>
        </p:spPr>
      </p:sp>
      <p:sp>
        <p:nvSpPr>
          <p:cNvPr id="211" name="Shape 209"/>
          <p:cNvSpPr/>
          <p:nvPr/>
        </p:nvSpPr>
        <p:spPr>
          <a:xfrm>
            <a:off x="2392070" y="4663440"/>
            <a:ext cx="88697" cy="164592"/>
          </a:xfrm>
          <a:prstGeom prst="rect">
            <a:avLst/>
          </a:prstGeom>
          <a:solidFill>
            <a:srgbClr val="BCCBDD"/>
          </a:solidFill>
          <a:ln/>
        </p:spPr>
      </p:sp>
      <p:sp>
        <p:nvSpPr>
          <p:cNvPr id="212" name="Shape 210"/>
          <p:cNvSpPr/>
          <p:nvPr/>
        </p:nvSpPr>
        <p:spPr>
          <a:xfrm>
            <a:off x="2471623" y="4663440"/>
            <a:ext cx="88697" cy="164592"/>
          </a:xfrm>
          <a:prstGeom prst="rect">
            <a:avLst/>
          </a:prstGeom>
          <a:solidFill>
            <a:srgbClr val="B9C9DB"/>
          </a:solidFill>
          <a:ln/>
        </p:spPr>
      </p:sp>
      <p:sp>
        <p:nvSpPr>
          <p:cNvPr id="213" name="Shape 211"/>
          <p:cNvSpPr/>
          <p:nvPr/>
        </p:nvSpPr>
        <p:spPr>
          <a:xfrm>
            <a:off x="2551176" y="4663440"/>
            <a:ext cx="88697" cy="164592"/>
          </a:xfrm>
          <a:prstGeom prst="rect">
            <a:avLst/>
          </a:prstGeom>
          <a:solidFill>
            <a:srgbClr val="B7C7D9"/>
          </a:solidFill>
          <a:ln/>
        </p:spPr>
      </p:sp>
      <p:sp>
        <p:nvSpPr>
          <p:cNvPr id="214" name="Shape 212"/>
          <p:cNvSpPr/>
          <p:nvPr/>
        </p:nvSpPr>
        <p:spPr>
          <a:xfrm>
            <a:off x="2630729" y="4663440"/>
            <a:ext cx="88697" cy="164592"/>
          </a:xfrm>
          <a:prstGeom prst="rect">
            <a:avLst/>
          </a:prstGeom>
          <a:solidFill>
            <a:srgbClr val="B5C5D7"/>
          </a:solidFill>
          <a:ln/>
        </p:spPr>
      </p:sp>
      <p:sp>
        <p:nvSpPr>
          <p:cNvPr id="215" name="Shape 213"/>
          <p:cNvSpPr/>
          <p:nvPr/>
        </p:nvSpPr>
        <p:spPr>
          <a:xfrm>
            <a:off x="2710282" y="4663440"/>
            <a:ext cx="88697" cy="164592"/>
          </a:xfrm>
          <a:prstGeom prst="rect">
            <a:avLst/>
          </a:prstGeom>
          <a:solidFill>
            <a:srgbClr val="B3C2D5"/>
          </a:solidFill>
          <a:ln/>
        </p:spPr>
      </p:sp>
      <p:sp>
        <p:nvSpPr>
          <p:cNvPr id="216" name="Shape 214"/>
          <p:cNvSpPr/>
          <p:nvPr/>
        </p:nvSpPr>
        <p:spPr>
          <a:xfrm>
            <a:off x="2789834" y="4663440"/>
            <a:ext cx="88697" cy="164592"/>
          </a:xfrm>
          <a:prstGeom prst="rect">
            <a:avLst/>
          </a:prstGeom>
          <a:solidFill>
            <a:srgbClr val="B1C0D3"/>
          </a:solidFill>
          <a:ln/>
        </p:spPr>
      </p:sp>
      <p:sp>
        <p:nvSpPr>
          <p:cNvPr id="217" name="Shape 215"/>
          <p:cNvSpPr/>
          <p:nvPr/>
        </p:nvSpPr>
        <p:spPr>
          <a:xfrm>
            <a:off x="2869387" y="4663440"/>
            <a:ext cx="88697" cy="164592"/>
          </a:xfrm>
          <a:prstGeom prst="rect">
            <a:avLst/>
          </a:prstGeom>
          <a:solidFill>
            <a:srgbClr val="AEBED1"/>
          </a:solidFill>
          <a:ln/>
        </p:spPr>
      </p:sp>
      <p:sp>
        <p:nvSpPr>
          <p:cNvPr id="218" name="Shape 216"/>
          <p:cNvSpPr/>
          <p:nvPr/>
        </p:nvSpPr>
        <p:spPr>
          <a:xfrm>
            <a:off x="2948940" y="4663440"/>
            <a:ext cx="88697" cy="164592"/>
          </a:xfrm>
          <a:prstGeom prst="rect">
            <a:avLst/>
          </a:prstGeom>
          <a:solidFill>
            <a:srgbClr val="ACBCCF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028493" y="4663440"/>
            <a:ext cx="88697" cy="164592"/>
          </a:xfrm>
          <a:prstGeom prst="rect">
            <a:avLst/>
          </a:prstGeom>
          <a:solidFill>
            <a:srgbClr val="AABACD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108046" y="4663440"/>
            <a:ext cx="88697" cy="164592"/>
          </a:xfrm>
          <a:prstGeom prst="rect">
            <a:avLst/>
          </a:prstGeom>
          <a:solidFill>
            <a:srgbClr val="A8B8CB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187598" y="4663440"/>
            <a:ext cx="88697" cy="164592"/>
          </a:xfrm>
          <a:prstGeom prst="rect">
            <a:avLst/>
          </a:prstGeom>
          <a:solidFill>
            <a:srgbClr val="A6B6C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267151" y="4663440"/>
            <a:ext cx="88697" cy="164592"/>
          </a:xfrm>
          <a:prstGeom prst="rect">
            <a:avLst/>
          </a:prstGeom>
          <a:solidFill>
            <a:srgbClr val="A3B4C8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346704" y="4663440"/>
            <a:ext cx="88697" cy="164592"/>
          </a:xfrm>
          <a:prstGeom prst="rect">
            <a:avLst/>
          </a:prstGeom>
          <a:solidFill>
            <a:srgbClr val="A1B2C6"/>
          </a:solidFill>
          <a:ln/>
        </p:spPr>
      </p:sp>
      <p:sp>
        <p:nvSpPr>
          <p:cNvPr id="224" name="Shape 222"/>
          <p:cNvSpPr/>
          <p:nvPr/>
        </p:nvSpPr>
        <p:spPr>
          <a:xfrm>
            <a:off x="3426257" y="4663440"/>
            <a:ext cx="88697" cy="164592"/>
          </a:xfrm>
          <a:prstGeom prst="rect">
            <a:avLst/>
          </a:prstGeom>
          <a:solidFill>
            <a:srgbClr val="9FB0C4"/>
          </a:solidFill>
          <a:ln/>
        </p:spPr>
      </p:sp>
      <p:sp>
        <p:nvSpPr>
          <p:cNvPr id="225" name="Shape 223"/>
          <p:cNvSpPr/>
          <p:nvPr/>
        </p:nvSpPr>
        <p:spPr>
          <a:xfrm>
            <a:off x="3505810" y="4663440"/>
            <a:ext cx="88697" cy="164592"/>
          </a:xfrm>
          <a:prstGeom prst="rect">
            <a:avLst/>
          </a:prstGeom>
          <a:solidFill>
            <a:srgbClr val="9DAEC2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585362" y="4663440"/>
            <a:ext cx="88697" cy="164592"/>
          </a:xfrm>
          <a:prstGeom prst="rect">
            <a:avLst/>
          </a:prstGeom>
          <a:solidFill>
            <a:srgbClr val="9BACC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3664915" y="4663440"/>
            <a:ext cx="88697" cy="164592"/>
          </a:xfrm>
          <a:prstGeom prst="rect">
            <a:avLst/>
          </a:prstGeom>
          <a:solidFill>
            <a:srgbClr val="98AAB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3744468" y="4663440"/>
            <a:ext cx="88697" cy="164592"/>
          </a:xfrm>
          <a:prstGeom prst="rect">
            <a:avLst/>
          </a:prstGeom>
          <a:solidFill>
            <a:srgbClr val="96A8BC"/>
          </a:solidFill>
          <a:ln/>
        </p:spPr>
      </p:sp>
      <p:sp>
        <p:nvSpPr>
          <p:cNvPr id="229" name="Shape 227"/>
          <p:cNvSpPr/>
          <p:nvPr/>
        </p:nvSpPr>
        <p:spPr>
          <a:xfrm>
            <a:off x="3824021" y="4663440"/>
            <a:ext cx="88697" cy="164592"/>
          </a:xfrm>
          <a:prstGeom prst="rect">
            <a:avLst/>
          </a:prstGeom>
          <a:solidFill>
            <a:srgbClr val="94A5B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3903574" y="4663440"/>
            <a:ext cx="88697" cy="164592"/>
          </a:xfrm>
          <a:prstGeom prst="rect">
            <a:avLst/>
          </a:prstGeom>
          <a:solidFill>
            <a:srgbClr val="92A3B8"/>
          </a:solidFill>
          <a:ln/>
        </p:spPr>
      </p:sp>
      <p:sp>
        <p:nvSpPr>
          <p:cNvPr id="231" name="Shape 229"/>
          <p:cNvSpPr/>
          <p:nvPr/>
        </p:nvSpPr>
        <p:spPr>
          <a:xfrm>
            <a:off x="3983126" y="4663440"/>
            <a:ext cx="88697" cy="164592"/>
          </a:xfrm>
          <a:prstGeom prst="rect">
            <a:avLst/>
          </a:prstGeom>
          <a:solidFill>
            <a:srgbClr val="90A1B6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062679" y="4663440"/>
            <a:ext cx="88697" cy="164592"/>
          </a:xfrm>
          <a:prstGeom prst="rect">
            <a:avLst/>
          </a:prstGeom>
          <a:solidFill>
            <a:srgbClr val="8E9FB5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142232" y="4663440"/>
            <a:ext cx="88697" cy="164592"/>
          </a:xfrm>
          <a:prstGeom prst="rect">
            <a:avLst/>
          </a:prstGeom>
          <a:solidFill>
            <a:srgbClr val="8B9DB3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221785" y="4663440"/>
            <a:ext cx="88697" cy="164592"/>
          </a:xfrm>
          <a:prstGeom prst="rect">
            <a:avLst/>
          </a:prstGeom>
          <a:solidFill>
            <a:srgbClr val="899BB1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301338" y="4663440"/>
            <a:ext cx="88697" cy="164592"/>
          </a:xfrm>
          <a:prstGeom prst="rect">
            <a:avLst/>
          </a:prstGeom>
          <a:solidFill>
            <a:srgbClr val="8799AF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380890" y="4663440"/>
            <a:ext cx="88697" cy="164592"/>
          </a:xfrm>
          <a:prstGeom prst="rect">
            <a:avLst/>
          </a:prstGeom>
          <a:solidFill>
            <a:srgbClr val="8597AD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460443" y="4663440"/>
            <a:ext cx="88697" cy="164592"/>
          </a:xfrm>
          <a:prstGeom prst="rect">
            <a:avLst/>
          </a:prstGeom>
          <a:solidFill>
            <a:srgbClr val="8395AB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539996" y="4663440"/>
            <a:ext cx="88697" cy="164592"/>
          </a:xfrm>
          <a:prstGeom prst="rect">
            <a:avLst/>
          </a:prstGeom>
          <a:solidFill>
            <a:srgbClr val="8093A9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619549" y="4663440"/>
            <a:ext cx="88697" cy="164592"/>
          </a:xfrm>
          <a:prstGeom prst="rect">
            <a:avLst/>
          </a:prstGeom>
          <a:solidFill>
            <a:srgbClr val="7E91A7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699102" y="4663440"/>
            <a:ext cx="88697" cy="164592"/>
          </a:xfrm>
          <a:prstGeom prst="rect">
            <a:avLst/>
          </a:prstGeom>
          <a:solidFill>
            <a:srgbClr val="7C8FA5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778654" y="4663440"/>
            <a:ext cx="88697" cy="164592"/>
          </a:xfrm>
          <a:prstGeom prst="rect">
            <a:avLst/>
          </a:prstGeom>
          <a:solidFill>
            <a:srgbClr val="7A8DA3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858207" y="4663440"/>
            <a:ext cx="88697" cy="164592"/>
          </a:xfrm>
          <a:prstGeom prst="rect">
            <a:avLst/>
          </a:prstGeom>
          <a:solidFill>
            <a:srgbClr val="788BA1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37760" y="4663440"/>
            <a:ext cx="88697" cy="164592"/>
          </a:xfrm>
          <a:prstGeom prst="rect">
            <a:avLst/>
          </a:prstGeom>
          <a:solidFill>
            <a:srgbClr val="7588A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17313" y="4663440"/>
            <a:ext cx="88697" cy="164592"/>
          </a:xfrm>
          <a:prstGeom prst="rect">
            <a:avLst/>
          </a:prstGeom>
          <a:solidFill>
            <a:srgbClr val="73869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96866" y="4663440"/>
            <a:ext cx="88697" cy="164592"/>
          </a:xfrm>
          <a:prstGeom prst="rect">
            <a:avLst/>
          </a:prstGeom>
          <a:solidFill>
            <a:srgbClr val="71849C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76418" y="4663440"/>
            <a:ext cx="88697" cy="164592"/>
          </a:xfrm>
          <a:prstGeom prst="rect">
            <a:avLst/>
          </a:prstGeom>
          <a:solidFill>
            <a:srgbClr val="6F829A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255971" y="4663440"/>
            <a:ext cx="88697" cy="164592"/>
          </a:xfrm>
          <a:prstGeom prst="rect">
            <a:avLst/>
          </a:prstGeom>
          <a:solidFill>
            <a:srgbClr val="6D8098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335524" y="4663440"/>
            <a:ext cx="88697" cy="164592"/>
          </a:xfrm>
          <a:prstGeom prst="rect">
            <a:avLst/>
          </a:prstGeom>
          <a:solidFill>
            <a:srgbClr val="6A7E96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415077" y="4663440"/>
            <a:ext cx="88697" cy="164592"/>
          </a:xfrm>
          <a:prstGeom prst="rect">
            <a:avLst/>
          </a:prstGeom>
          <a:solidFill>
            <a:srgbClr val="687C94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494630" y="4663440"/>
            <a:ext cx="88697" cy="164592"/>
          </a:xfrm>
          <a:prstGeom prst="rect">
            <a:avLst/>
          </a:prstGeom>
          <a:solidFill>
            <a:srgbClr val="667A92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574182" y="4663440"/>
            <a:ext cx="88697" cy="164592"/>
          </a:xfrm>
          <a:prstGeom prst="rect">
            <a:avLst/>
          </a:prstGeom>
          <a:solidFill>
            <a:srgbClr val="64789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653735" y="4663440"/>
            <a:ext cx="88697" cy="164592"/>
          </a:xfrm>
          <a:prstGeom prst="rect">
            <a:avLst/>
          </a:prstGeom>
          <a:solidFill>
            <a:srgbClr val="62768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733288" y="4663440"/>
            <a:ext cx="88697" cy="164592"/>
          </a:xfrm>
          <a:prstGeom prst="rect">
            <a:avLst/>
          </a:prstGeom>
          <a:solidFill>
            <a:srgbClr val="5F748C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812841" y="4663440"/>
            <a:ext cx="88697" cy="164592"/>
          </a:xfrm>
          <a:prstGeom prst="rect">
            <a:avLst/>
          </a:prstGeom>
          <a:solidFill>
            <a:srgbClr val="5D728B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892394" y="4663440"/>
            <a:ext cx="88697" cy="164592"/>
          </a:xfrm>
          <a:prstGeom prst="rect">
            <a:avLst/>
          </a:prstGeom>
          <a:solidFill>
            <a:srgbClr val="5B7089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971946" y="4663440"/>
            <a:ext cx="88697" cy="164592"/>
          </a:xfrm>
          <a:prstGeom prst="rect">
            <a:avLst/>
          </a:prstGeom>
          <a:solidFill>
            <a:srgbClr val="596E87"/>
          </a:solidFill>
          <a:ln/>
        </p:spPr>
      </p:sp>
      <p:sp>
        <p:nvSpPr>
          <p:cNvPr id="257" name="Shape 255"/>
          <p:cNvSpPr/>
          <p:nvPr/>
        </p:nvSpPr>
        <p:spPr>
          <a:xfrm>
            <a:off x="6051499" y="4663440"/>
            <a:ext cx="88697" cy="164592"/>
          </a:xfrm>
          <a:prstGeom prst="rect">
            <a:avLst/>
          </a:prstGeom>
          <a:solidFill>
            <a:srgbClr val="576B85"/>
          </a:solidFill>
          <a:ln/>
        </p:spPr>
      </p:sp>
      <p:sp>
        <p:nvSpPr>
          <p:cNvPr id="258" name="Shape 256"/>
          <p:cNvSpPr/>
          <p:nvPr/>
        </p:nvSpPr>
        <p:spPr>
          <a:xfrm>
            <a:off x="6131052" y="4663440"/>
            <a:ext cx="88697" cy="164592"/>
          </a:xfrm>
          <a:prstGeom prst="rect">
            <a:avLst/>
          </a:prstGeom>
          <a:solidFill>
            <a:srgbClr val="556983"/>
          </a:solidFill>
          <a:ln/>
        </p:spPr>
      </p:sp>
      <p:sp>
        <p:nvSpPr>
          <p:cNvPr id="259" name="Shape 257"/>
          <p:cNvSpPr/>
          <p:nvPr/>
        </p:nvSpPr>
        <p:spPr>
          <a:xfrm>
            <a:off x="6210605" y="4663440"/>
            <a:ext cx="88697" cy="164592"/>
          </a:xfrm>
          <a:prstGeom prst="rect">
            <a:avLst/>
          </a:prstGeom>
          <a:solidFill>
            <a:srgbClr val="526781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290158" y="4663440"/>
            <a:ext cx="88697" cy="164592"/>
          </a:xfrm>
          <a:prstGeom prst="rect">
            <a:avLst/>
          </a:prstGeom>
          <a:solidFill>
            <a:srgbClr val="50657F"/>
          </a:solidFill>
          <a:ln/>
        </p:spPr>
      </p:sp>
      <p:sp>
        <p:nvSpPr>
          <p:cNvPr id="261" name="Shape 259"/>
          <p:cNvSpPr/>
          <p:nvPr/>
        </p:nvSpPr>
        <p:spPr>
          <a:xfrm>
            <a:off x="6369710" y="4663440"/>
            <a:ext cx="88697" cy="164592"/>
          </a:xfrm>
          <a:prstGeom prst="rect">
            <a:avLst/>
          </a:prstGeom>
          <a:solidFill>
            <a:srgbClr val="4E637D"/>
          </a:solidFill>
          <a:ln/>
        </p:spPr>
      </p:sp>
      <p:sp>
        <p:nvSpPr>
          <p:cNvPr id="262" name="Shape 260"/>
          <p:cNvSpPr/>
          <p:nvPr/>
        </p:nvSpPr>
        <p:spPr>
          <a:xfrm>
            <a:off x="6449263" y="4663440"/>
            <a:ext cx="88697" cy="164592"/>
          </a:xfrm>
          <a:prstGeom prst="rect">
            <a:avLst/>
          </a:prstGeom>
          <a:solidFill>
            <a:srgbClr val="4C617B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528816" y="4663440"/>
            <a:ext cx="88697" cy="164592"/>
          </a:xfrm>
          <a:prstGeom prst="rect">
            <a:avLst/>
          </a:prstGeom>
          <a:solidFill>
            <a:srgbClr val="4A5F79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608369" y="4663440"/>
            <a:ext cx="88697" cy="164592"/>
          </a:xfrm>
          <a:prstGeom prst="rect">
            <a:avLst/>
          </a:prstGeom>
          <a:solidFill>
            <a:srgbClr val="475D77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687922" y="4663440"/>
            <a:ext cx="88697" cy="164592"/>
          </a:xfrm>
          <a:prstGeom prst="rect">
            <a:avLst/>
          </a:prstGeom>
          <a:solidFill>
            <a:srgbClr val="455B76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767474" y="4663440"/>
            <a:ext cx="88697" cy="164592"/>
          </a:xfrm>
          <a:prstGeom prst="rect">
            <a:avLst/>
          </a:prstGeom>
          <a:solidFill>
            <a:srgbClr val="435974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847027" y="4663440"/>
            <a:ext cx="88697" cy="164592"/>
          </a:xfrm>
          <a:prstGeom prst="rect">
            <a:avLst/>
          </a:prstGeom>
          <a:solidFill>
            <a:srgbClr val="415772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926580" y="4663440"/>
            <a:ext cx="88697" cy="164592"/>
          </a:xfrm>
          <a:prstGeom prst="rect">
            <a:avLst/>
          </a:prstGeom>
          <a:solidFill>
            <a:srgbClr val="3F557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7006133" y="4663440"/>
            <a:ext cx="88697" cy="164592"/>
          </a:xfrm>
          <a:prstGeom prst="rect">
            <a:avLst/>
          </a:prstGeom>
          <a:solidFill>
            <a:srgbClr val="3C536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085686" y="4663440"/>
            <a:ext cx="88697" cy="164592"/>
          </a:xfrm>
          <a:prstGeom prst="rect">
            <a:avLst/>
          </a:prstGeom>
          <a:solidFill>
            <a:srgbClr val="3A516C"/>
          </a:solidFill>
          <a:ln/>
        </p:spPr>
      </p:sp>
      <p:sp>
        <p:nvSpPr>
          <p:cNvPr id="271" name="Shape 269"/>
          <p:cNvSpPr/>
          <p:nvPr/>
        </p:nvSpPr>
        <p:spPr>
          <a:xfrm>
            <a:off x="7165238" y="4663440"/>
            <a:ext cx="88697" cy="164592"/>
          </a:xfrm>
          <a:prstGeom prst="rect">
            <a:avLst/>
          </a:prstGeom>
          <a:solidFill>
            <a:srgbClr val="384E6A"/>
          </a:solidFill>
          <a:ln/>
        </p:spPr>
      </p:sp>
      <p:sp>
        <p:nvSpPr>
          <p:cNvPr id="272" name="Shape 270"/>
          <p:cNvSpPr/>
          <p:nvPr/>
        </p:nvSpPr>
        <p:spPr>
          <a:xfrm>
            <a:off x="7244791" y="4663440"/>
            <a:ext cx="88697" cy="164592"/>
          </a:xfrm>
          <a:prstGeom prst="rect">
            <a:avLst/>
          </a:prstGeom>
          <a:solidFill>
            <a:srgbClr val="364C68"/>
          </a:solidFill>
          <a:ln/>
        </p:spPr>
      </p:sp>
      <p:sp>
        <p:nvSpPr>
          <p:cNvPr id="273" name="Shape 271"/>
          <p:cNvSpPr/>
          <p:nvPr/>
        </p:nvSpPr>
        <p:spPr>
          <a:xfrm>
            <a:off x="7324344" y="4663440"/>
            <a:ext cx="88697" cy="164592"/>
          </a:xfrm>
          <a:prstGeom prst="rect">
            <a:avLst/>
          </a:prstGeom>
          <a:solidFill>
            <a:srgbClr val="344A66"/>
          </a:solidFill>
          <a:ln/>
        </p:spPr>
      </p:sp>
      <p:sp>
        <p:nvSpPr>
          <p:cNvPr id="274" name="Shape 272"/>
          <p:cNvSpPr/>
          <p:nvPr/>
        </p:nvSpPr>
        <p:spPr>
          <a:xfrm>
            <a:off x="7403897" y="4663440"/>
            <a:ext cx="88697" cy="164592"/>
          </a:xfrm>
          <a:prstGeom prst="rect">
            <a:avLst/>
          </a:prstGeom>
          <a:solidFill>
            <a:srgbClr val="314864"/>
          </a:solidFill>
          <a:ln/>
        </p:spPr>
      </p:sp>
      <p:sp>
        <p:nvSpPr>
          <p:cNvPr id="275" name="Shape 273"/>
          <p:cNvSpPr/>
          <p:nvPr/>
        </p:nvSpPr>
        <p:spPr>
          <a:xfrm>
            <a:off x="7483450" y="4663440"/>
            <a:ext cx="88697" cy="164592"/>
          </a:xfrm>
          <a:prstGeom prst="rect">
            <a:avLst/>
          </a:prstGeom>
          <a:solidFill>
            <a:srgbClr val="2F4662"/>
          </a:solidFill>
          <a:ln/>
        </p:spPr>
      </p:sp>
      <p:sp>
        <p:nvSpPr>
          <p:cNvPr id="276" name="Shape 274"/>
          <p:cNvSpPr/>
          <p:nvPr/>
        </p:nvSpPr>
        <p:spPr>
          <a:xfrm>
            <a:off x="7563002" y="4663440"/>
            <a:ext cx="88697" cy="164592"/>
          </a:xfrm>
          <a:prstGeom prst="rect">
            <a:avLst/>
          </a:prstGeom>
          <a:solidFill>
            <a:srgbClr val="2D4461"/>
          </a:solidFill>
          <a:ln/>
        </p:spPr>
      </p:sp>
      <p:sp>
        <p:nvSpPr>
          <p:cNvPr id="277" name="Shape 275"/>
          <p:cNvSpPr/>
          <p:nvPr/>
        </p:nvSpPr>
        <p:spPr>
          <a:xfrm>
            <a:off x="7642555" y="4663440"/>
            <a:ext cx="88697" cy="164592"/>
          </a:xfrm>
          <a:prstGeom prst="rect">
            <a:avLst/>
          </a:prstGeom>
          <a:solidFill>
            <a:srgbClr val="2B425F"/>
          </a:solidFill>
          <a:ln/>
        </p:spPr>
      </p:sp>
      <p:sp>
        <p:nvSpPr>
          <p:cNvPr id="278" name="Shape 276"/>
          <p:cNvSpPr/>
          <p:nvPr/>
        </p:nvSpPr>
        <p:spPr>
          <a:xfrm>
            <a:off x="7722108" y="4663440"/>
            <a:ext cx="88697" cy="164592"/>
          </a:xfrm>
          <a:prstGeom prst="rect">
            <a:avLst/>
          </a:prstGeom>
          <a:solidFill>
            <a:srgbClr val="29405D"/>
          </a:solidFill>
          <a:ln/>
        </p:spPr>
      </p:sp>
      <p:sp>
        <p:nvSpPr>
          <p:cNvPr id="279" name="Shape 277"/>
          <p:cNvSpPr/>
          <p:nvPr/>
        </p:nvSpPr>
        <p:spPr>
          <a:xfrm>
            <a:off x="7801661" y="4663440"/>
            <a:ext cx="88697" cy="164592"/>
          </a:xfrm>
          <a:prstGeom prst="rect">
            <a:avLst/>
          </a:prstGeom>
          <a:solidFill>
            <a:srgbClr val="263E5B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881214" y="4663440"/>
            <a:ext cx="88697" cy="164592"/>
          </a:xfrm>
          <a:prstGeom prst="rect">
            <a:avLst/>
          </a:prstGeom>
          <a:solidFill>
            <a:srgbClr val="243C59"/>
          </a:solidFill>
          <a:ln/>
        </p:spPr>
      </p:sp>
      <p:sp>
        <p:nvSpPr>
          <p:cNvPr id="281" name="Shape 279"/>
          <p:cNvSpPr/>
          <p:nvPr/>
        </p:nvSpPr>
        <p:spPr>
          <a:xfrm>
            <a:off x="7960766" y="4663440"/>
            <a:ext cx="88697" cy="164592"/>
          </a:xfrm>
          <a:prstGeom prst="rect">
            <a:avLst/>
          </a:prstGeom>
          <a:solidFill>
            <a:srgbClr val="223A57"/>
          </a:solidFill>
          <a:ln/>
        </p:spPr>
      </p:sp>
      <p:sp>
        <p:nvSpPr>
          <p:cNvPr id="282" name="Shape 280"/>
          <p:cNvSpPr/>
          <p:nvPr/>
        </p:nvSpPr>
        <p:spPr>
          <a:xfrm>
            <a:off x="8040319" y="4663440"/>
            <a:ext cx="88697" cy="164592"/>
          </a:xfrm>
          <a:prstGeom prst="rect">
            <a:avLst/>
          </a:prstGeom>
          <a:solidFill>
            <a:srgbClr val="203855"/>
          </a:solidFill>
          <a:ln/>
        </p:spPr>
      </p:sp>
      <p:sp>
        <p:nvSpPr>
          <p:cNvPr id="283" name="Shape 281"/>
          <p:cNvSpPr/>
          <p:nvPr/>
        </p:nvSpPr>
        <p:spPr>
          <a:xfrm>
            <a:off x="8119872" y="4663440"/>
            <a:ext cx="88697" cy="164592"/>
          </a:xfrm>
          <a:prstGeom prst="rect">
            <a:avLst/>
          </a:prstGeom>
          <a:solidFill>
            <a:srgbClr val="1E3653"/>
          </a:solidFill>
          <a:ln/>
        </p:spPr>
      </p:sp>
      <p:sp>
        <p:nvSpPr>
          <p:cNvPr id="284" name="Shape 282"/>
          <p:cNvSpPr/>
          <p:nvPr/>
        </p:nvSpPr>
        <p:spPr>
          <a:xfrm>
            <a:off x="8199425" y="4663440"/>
            <a:ext cx="88697" cy="164592"/>
          </a:xfrm>
          <a:prstGeom prst="rect">
            <a:avLst/>
          </a:prstGeom>
          <a:solidFill>
            <a:srgbClr val="1C3451"/>
          </a:solidFill>
          <a:ln/>
        </p:spPr>
      </p:sp>
      <p:sp>
        <p:nvSpPr>
          <p:cNvPr id="285" name="Shape 283"/>
          <p:cNvSpPr/>
          <p:nvPr/>
        </p:nvSpPr>
        <p:spPr>
          <a:xfrm>
            <a:off x="8278978" y="4663440"/>
            <a:ext cx="88697" cy="164592"/>
          </a:xfrm>
          <a:prstGeom prst="rect">
            <a:avLst/>
          </a:prstGeom>
          <a:solidFill>
            <a:srgbClr val="19314F"/>
          </a:solidFill>
          <a:ln/>
        </p:spPr>
      </p:sp>
      <p:sp>
        <p:nvSpPr>
          <p:cNvPr id="286" name="Shape 284"/>
          <p:cNvSpPr/>
          <p:nvPr/>
        </p:nvSpPr>
        <p:spPr>
          <a:xfrm>
            <a:off x="8358530" y="4663440"/>
            <a:ext cx="88697" cy="164592"/>
          </a:xfrm>
          <a:prstGeom prst="rect">
            <a:avLst/>
          </a:prstGeom>
          <a:solidFill>
            <a:srgbClr val="172F4D"/>
          </a:solidFill>
          <a:ln/>
        </p:spPr>
      </p:sp>
      <p:sp>
        <p:nvSpPr>
          <p:cNvPr id="287" name="Shape 285"/>
          <p:cNvSpPr/>
          <p:nvPr/>
        </p:nvSpPr>
        <p:spPr>
          <a:xfrm>
            <a:off x="8438083" y="4663440"/>
            <a:ext cx="88697" cy="164592"/>
          </a:xfrm>
          <a:prstGeom prst="rect">
            <a:avLst/>
          </a:prstGeom>
          <a:solidFill>
            <a:srgbClr val="152D4C"/>
          </a:solidFill>
          <a:ln/>
        </p:spPr>
      </p:sp>
      <p:sp>
        <p:nvSpPr>
          <p:cNvPr id="288" name="Shape 286"/>
          <p:cNvSpPr/>
          <p:nvPr/>
        </p:nvSpPr>
        <p:spPr>
          <a:xfrm>
            <a:off x="8517636" y="4663440"/>
            <a:ext cx="88697" cy="164592"/>
          </a:xfrm>
          <a:prstGeom prst="rect">
            <a:avLst/>
          </a:prstGeom>
          <a:solidFill>
            <a:srgbClr val="132B4A"/>
          </a:solidFill>
          <a:ln/>
        </p:spPr>
      </p:sp>
      <p:sp>
        <p:nvSpPr>
          <p:cNvPr id="289" name="Shape 287"/>
          <p:cNvSpPr/>
          <p:nvPr/>
        </p:nvSpPr>
        <p:spPr>
          <a:xfrm>
            <a:off x="8597189" y="4663440"/>
            <a:ext cx="88697" cy="164592"/>
          </a:xfrm>
          <a:prstGeom prst="rect">
            <a:avLst/>
          </a:prstGeom>
          <a:solidFill>
            <a:srgbClr val="112948"/>
          </a:solidFill>
          <a:ln/>
        </p:spPr>
      </p:sp>
      <p:sp>
        <p:nvSpPr>
          <p:cNvPr id="290" name="Shape 288"/>
          <p:cNvSpPr/>
          <p:nvPr/>
        </p:nvSpPr>
        <p:spPr>
          <a:xfrm>
            <a:off x="8676742" y="4663440"/>
            <a:ext cx="88697" cy="164592"/>
          </a:xfrm>
          <a:prstGeom prst="rect">
            <a:avLst/>
          </a:prstGeom>
          <a:solidFill>
            <a:srgbClr val="0E2746"/>
          </a:solidFill>
          <a:ln/>
        </p:spPr>
      </p:sp>
      <p:sp>
        <p:nvSpPr>
          <p:cNvPr id="291" name="Shape 289"/>
          <p:cNvSpPr/>
          <p:nvPr/>
        </p:nvSpPr>
        <p:spPr>
          <a:xfrm>
            <a:off x="8756294" y="4663440"/>
            <a:ext cx="88697" cy="164592"/>
          </a:xfrm>
          <a:prstGeom prst="rect">
            <a:avLst/>
          </a:prstGeom>
          <a:solidFill>
            <a:srgbClr val="0C2544"/>
          </a:solidFill>
          <a:ln/>
        </p:spPr>
      </p:sp>
      <p:sp>
        <p:nvSpPr>
          <p:cNvPr id="292" name="Shape 290"/>
          <p:cNvSpPr/>
          <p:nvPr/>
        </p:nvSpPr>
        <p:spPr>
          <a:xfrm>
            <a:off x="8835847" y="4663440"/>
            <a:ext cx="88697" cy="164592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293" name="Text 291"/>
          <p:cNvSpPr/>
          <p:nvPr/>
        </p:nvSpPr>
        <p:spPr>
          <a:xfrm>
            <a:off x="960120" y="48371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flow</a:t>
            </a:r>
            <a:endParaRPr lang="en-US" sz="850" dirty="0"/>
          </a:p>
        </p:txBody>
      </p:sp>
      <p:sp>
        <p:nvSpPr>
          <p:cNvPr id="294" name="Text 292"/>
          <p:cNvSpPr/>
          <p:nvPr/>
        </p:nvSpPr>
        <p:spPr>
          <a:xfrm>
            <a:off x="7818120" y="48371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flow</a:t>
            </a:r>
            <a:endParaRPr lang="en-US" sz="850" dirty="0"/>
          </a:p>
        </p:txBody>
      </p:sp>
      <p:sp>
        <p:nvSpPr>
          <p:cNvPr id="295" name="Text 293"/>
          <p:cNvSpPr/>
          <p:nvPr/>
        </p:nvSpPr>
        <p:spPr>
          <a:xfrm>
            <a:off x="4301338" y="44074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 of day  →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114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 — Traffic Flow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7607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temporal patterns observed across California freeways in 2021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41080" y="201168"/>
            <a:ext cx="347472" cy="347472"/>
          </a:xfrm>
          <a:prstGeom prst="ellipse">
            <a:avLst/>
          </a:prstGeom>
          <a:solidFill>
            <a:srgbClr val="1976D2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48691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FlowShift  |  Urban Traffic &amp; Transit Demand — Los Angeles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503920" y="48691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1115568"/>
            <a:ext cx="4096512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1115568"/>
            <a:ext cx="4096512" cy="640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1280160"/>
            <a:ext cx="411480" cy="4114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33272" y="12801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Weekday Twin Peaks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1773936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commute (08:00) and PM commute (17–18:00) both breach the congestion threshold on weekdays. Weekend shows a single, gentler midday rise that stays below threshold.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852928"/>
            <a:ext cx="4096512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852928"/>
            <a:ext cx="4096512" cy="64008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3017520"/>
            <a:ext cx="411480" cy="41148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33272" y="30175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PM — Most Congested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3511296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day × hour heatmap identifies Friday 17:00–19:00 as the peak congestion period of the week. Weekend flow is uniformly 9.6% lower than weekday average.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36592" y="1115568"/>
            <a:ext cx="4096512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36592" y="1115568"/>
            <a:ext cx="4096512" cy="6400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4" name="Shape 22"/>
          <p:cNvSpPr/>
          <p:nvPr/>
        </p:nvSpPr>
        <p:spPr>
          <a:xfrm>
            <a:off x="4919472" y="1280160"/>
            <a:ext cx="411480" cy="41148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5" name="Text 23"/>
          <p:cNvSpPr/>
          <p:nvPr/>
        </p:nvSpPr>
        <p:spPr>
          <a:xfrm>
            <a:off x="4919472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49824" y="12801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Pandemic Recovery Ramp-Up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19472" y="1773936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rate climbed from 10.5% in January to 29.6% in June, tracking the return to pre-pandemic commuting patterns throughout 2021.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36592" y="2852928"/>
            <a:ext cx="4096512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36592" y="2852928"/>
            <a:ext cx="4096512" cy="640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Shape 28"/>
          <p:cNvSpPr/>
          <p:nvPr/>
        </p:nvSpPr>
        <p:spPr>
          <a:xfrm>
            <a:off x="4919472" y="3017520"/>
            <a:ext cx="411480" cy="4114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1" name="Text 29"/>
          <p:cNvSpPr/>
          <p:nvPr/>
        </p:nvSpPr>
        <p:spPr>
          <a:xfrm>
            <a:off x="4919472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49824" y="30175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Daily Autocorrelation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19472" y="3511296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Lag-1 correlation r = 0.999; lag-288 (1 day) r = 0.946. The ADF test confirms stationarity (p ≈ 0), enabling direct ARIMA modelling without differencing.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114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Ridership Trends &amp; Congestion Correlation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7607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transit ridership vs. traffic flow — monthly analysis, 2021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41080" y="201168"/>
            <a:ext cx="347472" cy="347472"/>
          </a:xfrm>
          <a:prstGeom prst="ellipse">
            <a:avLst/>
          </a:prstGeom>
          <a:solidFill>
            <a:srgbClr val="1976D2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48691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FlowShift  |  Urban Traffic &amp; Transit Demand — Los Angeles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503920" y="48691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84048" y="10789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LA Ridership (UPT, millions)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84048" y="4251960"/>
            <a:ext cx="5669280" cy="22860"/>
          </a:xfrm>
          <a:prstGeom prst="rect">
            <a:avLst/>
          </a:prstGeom>
          <a:solidFill>
            <a:srgbClr val="CFD8DC"/>
          </a:solidFill>
          <a:ln/>
        </p:spPr>
      </p:sp>
      <p:sp>
        <p:nvSpPr>
          <p:cNvPr id="12" name="Shape 10"/>
          <p:cNvSpPr/>
          <p:nvPr/>
        </p:nvSpPr>
        <p:spPr>
          <a:xfrm>
            <a:off x="384048" y="3183255"/>
            <a:ext cx="438912" cy="1068705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3" name="Text 11"/>
          <p:cNvSpPr/>
          <p:nvPr/>
        </p:nvSpPr>
        <p:spPr>
          <a:xfrm>
            <a:off x="384048" y="4288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38328" y="2982087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18.7M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859536" y="3154680"/>
            <a:ext cx="438912" cy="109728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" y="4288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335024" y="2966085"/>
            <a:ext cx="438912" cy="1285875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8" name="Text 16"/>
          <p:cNvSpPr/>
          <p:nvPr/>
        </p:nvSpPr>
        <p:spPr>
          <a:xfrm>
            <a:off x="1335024" y="4288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810512" y="2914650"/>
            <a:ext cx="438912" cy="133731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0" name="Text 18"/>
          <p:cNvSpPr/>
          <p:nvPr/>
        </p:nvSpPr>
        <p:spPr>
          <a:xfrm>
            <a:off x="1810512" y="4288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286000" y="2863215"/>
            <a:ext cx="438912" cy="1388745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2" name="Text 20"/>
          <p:cNvSpPr/>
          <p:nvPr/>
        </p:nvSpPr>
        <p:spPr>
          <a:xfrm>
            <a:off x="2286000" y="4288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61488" y="2794635"/>
            <a:ext cx="438912" cy="1457325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4288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36976" y="2686050"/>
            <a:ext cx="438912" cy="156591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6" name="Text 24"/>
          <p:cNvSpPr/>
          <p:nvPr/>
        </p:nvSpPr>
        <p:spPr>
          <a:xfrm>
            <a:off x="3236976" y="4288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712464" y="2588895"/>
            <a:ext cx="438912" cy="1663065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8" name="Text 26"/>
          <p:cNvSpPr/>
          <p:nvPr/>
        </p:nvSpPr>
        <p:spPr>
          <a:xfrm>
            <a:off x="3712464" y="4288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87952" y="2537460"/>
            <a:ext cx="438912" cy="171450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30" name="Text 28"/>
          <p:cNvSpPr/>
          <p:nvPr/>
        </p:nvSpPr>
        <p:spPr>
          <a:xfrm>
            <a:off x="4187952" y="4288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2451735"/>
            <a:ext cx="438912" cy="1800225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2" name="Text 30"/>
          <p:cNvSpPr/>
          <p:nvPr/>
        </p:nvSpPr>
        <p:spPr>
          <a:xfrm>
            <a:off x="4663440" y="4288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617720" y="2250567"/>
            <a:ext cx="530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31.5M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138928" y="2503170"/>
            <a:ext cx="438912" cy="174879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35" name="Text 33"/>
          <p:cNvSpPr/>
          <p:nvPr/>
        </p:nvSpPr>
        <p:spPr>
          <a:xfrm>
            <a:off x="5138928" y="4288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14416" y="2611755"/>
            <a:ext cx="438912" cy="1640205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37" name="Text 35"/>
          <p:cNvSpPr/>
          <p:nvPr/>
        </p:nvSpPr>
        <p:spPr>
          <a:xfrm>
            <a:off x="5614416" y="4288536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84048" y="4526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+68%  Jan → Oct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63640" y="1097280"/>
            <a:ext cx="27432" cy="3429000"/>
          </a:xfrm>
          <a:prstGeom prst="rect">
            <a:avLst/>
          </a:prstGeom>
          <a:solidFill>
            <a:srgbClr val="CFD8DC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0" y="10789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Correlation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0" y="1463040"/>
            <a:ext cx="2468880" cy="804672"/>
          </a:xfrm>
          <a:prstGeom prst="rect">
            <a:avLst/>
          </a:prstGeom>
          <a:solidFill>
            <a:srgbClr val="E3F0FF"/>
          </a:solidFill>
          <a:ln w="7620">
            <a:solidFill>
              <a:srgbClr val="CFD8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0" y="151790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r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772400" y="15179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0.732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492240" y="179222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Flow vs Ridership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772400" y="182880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0.007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400800" y="2395728"/>
            <a:ext cx="2468880" cy="804672"/>
          </a:xfrm>
          <a:prstGeom prst="rect">
            <a:avLst/>
          </a:prstGeom>
          <a:solidFill>
            <a:srgbClr val="FFFFFF"/>
          </a:solidFill>
          <a:ln w="7620">
            <a:solidFill>
              <a:srgbClr val="CFD8D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92240" y="245059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r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772400" y="245059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0.708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6492240" y="2724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Congestion% vs Ridership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772400" y="27614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0.010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400800" y="3328416"/>
            <a:ext cx="2468880" cy="804672"/>
          </a:xfrm>
          <a:prstGeom prst="rect">
            <a:avLst/>
          </a:prstGeom>
          <a:solidFill>
            <a:srgbClr val="E3F0FF"/>
          </a:solidFill>
          <a:ln w="7620">
            <a:solidFill>
              <a:srgbClr val="CFD8D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92240" y="33832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R²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7772400" y="3383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0.579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6492240" y="3657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Ridership ~ Flow + Cong%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772400" y="369417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320040" y="4617720"/>
            <a:ext cx="8503920" cy="347472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57" name="Text 55"/>
          <p:cNvSpPr/>
          <p:nvPr/>
        </p:nvSpPr>
        <p:spPr>
          <a:xfrm>
            <a:off x="457200" y="4626864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metrics rise together through 2021 (pandemic recovery). Higher congestion months correlate with higher ridership  (r = 0.73, p &lt; 0.01).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114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Hypothesis Testing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7607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t-tests and correlation analysis on the full 2021 dataset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41080" y="201168"/>
            <a:ext cx="347472" cy="347472"/>
          </a:xfrm>
          <a:prstGeom prst="ellipse">
            <a:avLst/>
          </a:prstGeom>
          <a:solidFill>
            <a:srgbClr val="1976D2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48691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FlowShift  |  Urban Traffic &amp; Transit Demand — Los Angeles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503920" y="48691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1115568"/>
            <a:ext cx="85039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1115568"/>
            <a:ext cx="91440" cy="107899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2070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Weekday vs. Weekend Flow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159105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1,988,090  ·  1,814,300   +9.6%   Significant at α = 0.05  ✓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60720" y="1243584"/>
            <a:ext cx="2880360" cy="80467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243584"/>
            <a:ext cx="2880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27.50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2.1 × 10⁻¹⁶⁵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2340864"/>
            <a:ext cx="85039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340864"/>
            <a:ext cx="91440" cy="1078992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323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vs. Off-Peak Flow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281635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2,489,320  ·  1,754,808   +41.9%   Overwhelming significance  ✓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60720" y="2468880"/>
            <a:ext cx="2880360" cy="804672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21" name="Text 19"/>
          <p:cNvSpPr/>
          <p:nvPr/>
        </p:nvSpPr>
        <p:spPr>
          <a:xfrm>
            <a:off x="5760720" y="2468880"/>
            <a:ext cx="2880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166.97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≈ 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" y="3566160"/>
            <a:ext cx="85039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" y="3566160"/>
            <a:ext cx="91440" cy="1078992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6576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Autocorrelation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40416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stat: −41.70   p ≈ 0   Series is stationary  ✓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60720" y="3694176"/>
            <a:ext cx="2880360" cy="804672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7" name="Text 25"/>
          <p:cNvSpPr/>
          <p:nvPr/>
        </p:nvSpPr>
        <p:spPr>
          <a:xfrm>
            <a:off x="5760720" y="3694176"/>
            <a:ext cx="2880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0.999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lag-288: r = 0.946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114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Modelling — Regression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7607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models across two feature groups: with and without lag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41080" y="201168"/>
            <a:ext cx="347472" cy="347472"/>
          </a:xfrm>
          <a:prstGeom prst="ellipse">
            <a:avLst/>
          </a:prstGeom>
          <a:solidFill>
            <a:srgbClr val="1976D2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48691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FlowShift  |  Urban Traffic &amp; Transit Demand — Los Angeles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503920" y="48691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1115568"/>
            <a:ext cx="3246120" cy="384048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16128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566160" y="1115568"/>
            <a:ext cx="1600200" cy="384048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13" name="Text 11"/>
          <p:cNvSpPr/>
          <p:nvPr/>
        </p:nvSpPr>
        <p:spPr>
          <a:xfrm>
            <a:off x="3611880" y="116128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66360" y="1115568"/>
            <a:ext cx="1600200" cy="384048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0" y="116128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115568"/>
            <a:ext cx="1280160" cy="384048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17" name="Text 15"/>
          <p:cNvSpPr/>
          <p:nvPr/>
        </p:nvSpPr>
        <p:spPr>
          <a:xfrm>
            <a:off x="6812280" y="116128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46720" y="1115568"/>
            <a:ext cx="822960" cy="384048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19" name="Text 17"/>
          <p:cNvSpPr/>
          <p:nvPr/>
        </p:nvSpPr>
        <p:spPr>
          <a:xfrm>
            <a:off x="8092440" y="11612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1499616"/>
            <a:ext cx="32461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1517904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(no lag)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566160" y="1499616"/>
            <a:ext cx="1600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11880" y="151790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716,450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166360" y="1499616"/>
            <a:ext cx="1600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12080" y="151790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803,409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66560" y="1499616"/>
            <a:ext cx="12801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12280" y="151790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0.231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1499616"/>
            <a:ext cx="822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92440" y="151790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1975104"/>
            <a:ext cx="3246120" cy="457200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1993392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(no lag)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66160" y="1975104"/>
            <a:ext cx="1600200" cy="457200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1880" y="199339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123,187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166360" y="1975104"/>
            <a:ext cx="1600200" cy="457200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12080" y="199339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195,205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766560" y="1975104"/>
            <a:ext cx="1280160" cy="457200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12280" y="19933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0.955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046720" y="1975104"/>
            <a:ext cx="822960" cy="457200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92440" y="199339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0040" y="2450592"/>
            <a:ext cx="32461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246888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(with lag)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566160" y="2450592"/>
            <a:ext cx="1600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11880" y="2468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21,881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166360" y="2450592"/>
            <a:ext cx="1600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12080" y="2468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31,021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766560" y="2450592"/>
            <a:ext cx="12801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12280" y="24688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46720" y="2450592"/>
            <a:ext cx="822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092440" y="24688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20040" y="2926080"/>
            <a:ext cx="3246120" cy="457200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294436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(with lag)  ★ Best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3566160" y="2926080"/>
            <a:ext cx="1600200" cy="457200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11880" y="294436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15,923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166360" y="2926080"/>
            <a:ext cx="1600200" cy="457200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2080" y="294436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25,265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766560" y="2926080"/>
            <a:ext cx="1280160" cy="457200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12280" y="29443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8046720" y="2926080"/>
            <a:ext cx="822960" cy="457200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092440" y="294436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320040" y="3401568"/>
            <a:ext cx="32461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65760" y="3419856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(2,1,2) rolling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3566160" y="3401568"/>
            <a:ext cx="1600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11880" y="34198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19,851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5166360" y="3401568"/>
            <a:ext cx="1600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212080" y="34198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40,844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766560" y="3401568"/>
            <a:ext cx="12801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12280" y="34198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8046720" y="3401568"/>
            <a:ext cx="8229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092440" y="341985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320040" y="3877056"/>
            <a:ext cx="3246120" cy="457200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5760" y="3895344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(with lag, 30 epochs)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3566160" y="3877056"/>
            <a:ext cx="1600200" cy="457200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611880" y="389534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48,443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166360" y="3877056"/>
            <a:ext cx="1600200" cy="457200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212080" y="389534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62,466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6766560" y="3877056"/>
            <a:ext cx="1280160" cy="457200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812280" y="389534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0.995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8046720" y="3877056"/>
            <a:ext cx="822960" cy="457200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092440" y="389534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320040" y="473659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 = with lag features  ·  Group B = calendar features only  ·  TS = time series  ·  ★ best overall model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114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— Visual Breakdown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7607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comparison across all regression models · feature importance (Random Forest, no-lag group)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41080" y="201168"/>
            <a:ext cx="347472" cy="347472"/>
          </a:xfrm>
          <a:prstGeom prst="ellipse">
            <a:avLst/>
          </a:prstGeom>
          <a:solidFill>
            <a:srgbClr val="1976D2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48691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FlowShift  |  Urban Traffic &amp; Transit Demand — Los Angeles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503920" y="48691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004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Score Comparison</a:t>
            </a:r>
            <a:endParaRPr lang="en-US" sz="11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20040" y="1353312"/>
          <a:ext cx="4114800" cy="34564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4663440" y="1051560"/>
            <a:ext cx="27432" cy="3794760"/>
          </a:xfrm>
          <a:prstGeom prst="rect">
            <a:avLst/>
          </a:prstGeom>
          <a:solidFill>
            <a:srgbClr val="CFD8DC"/>
          </a:solidFill>
          <a:ln/>
        </p:spPr>
      </p:sp>
      <p:sp>
        <p:nvSpPr>
          <p:cNvPr id="13" name="Text 10"/>
          <p:cNvSpPr/>
          <p:nvPr/>
        </p:nvSpPr>
        <p:spPr>
          <a:xfrm>
            <a:off x="480060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 (RF no-lag)</a:t>
            </a:r>
            <a:endParaRPr lang="en-US" sz="115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4800600" y="1353312"/>
          <a:ext cx="4114800" cy="34564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114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— Congestion Detection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7607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congested vs. free-flow using calendar features only (no lag)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41080" y="201168"/>
            <a:ext cx="347472" cy="347472"/>
          </a:xfrm>
          <a:prstGeom prst="ellipse">
            <a:avLst/>
          </a:prstGeom>
          <a:solidFill>
            <a:srgbClr val="1976D2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48691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FlowShift  |  Urban Traffic &amp; Transit Demand — Los Angeles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503920" y="48691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834640" y="1115568"/>
            <a:ext cx="5989320" cy="36576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11" name="Text 9"/>
          <p:cNvSpPr/>
          <p:nvPr/>
        </p:nvSpPr>
        <p:spPr>
          <a:xfrm>
            <a:off x="2834640" y="1115568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032504" y="1115568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230368" y="1115568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28232" y="1115568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626096" y="1115568"/>
            <a:ext cx="119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1572768"/>
            <a:ext cx="2468880" cy="80467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7" name="Text 15"/>
          <p:cNvSpPr/>
          <p:nvPr/>
        </p:nvSpPr>
        <p:spPr>
          <a:xfrm>
            <a:off x="384048" y="166420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84048" y="202996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depth = 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834640" y="1572768"/>
            <a:ext cx="1197864" cy="804672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34640" y="157276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90.8%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032504" y="1572768"/>
            <a:ext cx="1197864" cy="804672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32504" y="157276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76.3%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230368" y="1572768"/>
            <a:ext cx="1197864" cy="804672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30368" y="157276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91.5%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428232" y="1572768"/>
            <a:ext cx="1197864" cy="804672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28232" y="157276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83.2%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626096" y="1572768"/>
            <a:ext cx="1197864" cy="804672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157276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0.959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0040" y="2532888"/>
            <a:ext cx="2468880" cy="804672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0" name="Text 28"/>
          <p:cNvSpPr/>
          <p:nvPr/>
        </p:nvSpPr>
        <p:spPr>
          <a:xfrm>
            <a:off x="384048" y="262432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84048" y="299008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834640" y="2532888"/>
            <a:ext cx="1197864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34640" y="253288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032504" y="2532888"/>
            <a:ext cx="1197864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032504" y="253288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73.0%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230368" y="2532888"/>
            <a:ext cx="1197864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30368" y="253288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86.0%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28232" y="2532888"/>
            <a:ext cx="1197864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253288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79.0%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7626096" y="2532888"/>
            <a:ext cx="1197864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26096" y="253288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20040" y="3493008"/>
            <a:ext cx="2468880" cy="804672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3" name="Text 41"/>
          <p:cNvSpPr/>
          <p:nvPr/>
        </p:nvSpPr>
        <p:spPr>
          <a:xfrm>
            <a:off x="384048" y="358444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84048" y="395020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estimators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834640" y="3493008"/>
            <a:ext cx="1197864" cy="804672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4640" y="349300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032504" y="3493008"/>
            <a:ext cx="1197864" cy="804672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32504" y="349300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230368" y="3493008"/>
            <a:ext cx="1197864" cy="804672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30368" y="349300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6428232" y="3493008"/>
            <a:ext cx="1197864" cy="804672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428232" y="349300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626096" y="3493008"/>
            <a:ext cx="1197864" cy="804672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26096" y="3493008"/>
            <a:ext cx="119786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0.956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320040" y="4553712"/>
            <a:ext cx="8503920" cy="347472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" y="4562856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classifiers achieve AUC &gt; 0.92 using only hour-of-day and day-of-week — congestion is highly predictable from the calendar alone.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114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Curves — Congestion Classification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7607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 Rate vs. False Positive Rate · all models trained on no-lag calendar features only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41080" y="201168"/>
            <a:ext cx="347472" cy="347472"/>
          </a:xfrm>
          <a:prstGeom prst="ellipse">
            <a:avLst/>
          </a:prstGeom>
          <a:solidFill>
            <a:srgbClr val="1976D2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48691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FlowShift  |  Urban Traffic &amp; Transit Demand — Los Angeles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503920" y="48691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1051560"/>
            <a:ext cx="8503920" cy="3401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60120" y="4160520"/>
            <a:ext cx="6675120" cy="914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472" y="405079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960120" y="1170432"/>
            <a:ext cx="914" cy="2990088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2153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60120" y="3562502"/>
            <a:ext cx="6675120" cy="914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345277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295144" y="1170432"/>
            <a:ext cx="914" cy="2990088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12264" y="42153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960120" y="2964485"/>
            <a:ext cx="6675120" cy="914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" y="2854757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30168" y="1170432"/>
            <a:ext cx="914" cy="2990088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7288" y="42153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60120" y="2366467"/>
            <a:ext cx="6675120" cy="914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" y="2256739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965192" y="1170432"/>
            <a:ext cx="914" cy="2990088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82312" y="42153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60120" y="1768450"/>
            <a:ext cx="6675120" cy="914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7472" y="1658722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300216" y="1170432"/>
            <a:ext cx="914" cy="2990088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17336" y="42153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60120" y="1170432"/>
            <a:ext cx="6675120" cy="914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7472" y="1060704"/>
            <a:ext cx="566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635240" y="1170432"/>
            <a:ext cx="914" cy="2990088"/>
          </a:xfrm>
          <a:prstGeom prst="line">
            <a:avLst/>
          </a:prstGeom>
          <a:noFill/>
          <a:ln w="6350">
            <a:solidFill>
              <a:srgbClr val="CFD8D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52360" y="421538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960120" y="4160520"/>
            <a:ext cx="6675120" cy="914"/>
          </a:xfrm>
          <a:prstGeom prst="line">
            <a:avLst/>
          </a:prstGeom>
          <a:noFill/>
          <a:ln w="12700">
            <a:solidFill>
              <a:srgbClr val="37474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0120" y="1170432"/>
            <a:ext cx="914" cy="2990088"/>
          </a:xfrm>
          <a:prstGeom prst="line">
            <a:avLst/>
          </a:prstGeom>
          <a:noFill/>
          <a:ln w="12700">
            <a:solidFill>
              <a:srgbClr val="3747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0" y="44348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Rate (FPR)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5720" y="239115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 flipV="1">
            <a:off x="960120" y="1170432"/>
            <a:ext cx="6675120" cy="2990088"/>
          </a:xfrm>
          <a:prstGeom prst="line">
            <a:avLst/>
          </a:prstGeom>
          <a:noFill/>
          <a:ln w="15240">
            <a:solidFill>
              <a:srgbClr val="B0BEC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960120" y="2814980"/>
            <a:ext cx="66751" cy="1345540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026871" y="2276765"/>
            <a:ext cx="66751" cy="538216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1093622" y="1888053"/>
            <a:ext cx="133502" cy="388711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227125" y="1678747"/>
            <a:ext cx="133502" cy="209306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360627" y="1559143"/>
            <a:ext cx="133502" cy="119604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494130" y="1469441"/>
            <a:ext cx="133502" cy="89703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627632" y="1379738"/>
            <a:ext cx="333756" cy="89703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961388" y="1349837"/>
            <a:ext cx="333756" cy="29901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2295144" y="1319936"/>
            <a:ext cx="333756" cy="29901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2628900" y="1290036"/>
            <a:ext cx="333756" cy="29901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2962656" y="1260135"/>
            <a:ext cx="667512" cy="29901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3630168" y="1230234"/>
            <a:ext cx="667512" cy="29901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4297680" y="1200333"/>
            <a:ext cx="667512" cy="29901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65192" y="1200333"/>
            <a:ext cx="667512" cy="914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632704" y="1170432"/>
            <a:ext cx="667512" cy="29901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00216" y="1170432"/>
            <a:ext cx="667512" cy="914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967728" y="1170432"/>
            <a:ext cx="667512" cy="914"/>
          </a:xfrm>
          <a:prstGeom prst="line">
            <a:avLst/>
          </a:prstGeom>
          <a:noFill/>
          <a:ln w="27940">
            <a:solidFill>
              <a:srgbClr val="0A234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960120" y="3143890"/>
            <a:ext cx="66751" cy="1016630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1026871" y="2665476"/>
            <a:ext cx="66751" cy="478414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1093622" y="2276765"/>
            <a:ext cx="133502" cy="388711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1227125" y="2067458"/>
            <a:ext cx="133502" cy="209306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1360627" y="1917954"/>
            <a:ext cx="133502" cy="149504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1494130" y="1798350"/>
            <a:ext cx="133502" cy="119604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1627632" y="1648846"/>
            <a:ext cx="333756" cy="149504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961388" y="1559143"/>
            <a:ext cx="333756" cy="89703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2295144" y="1499342"/>
            <a:ext cx="333756" cy="59802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2628900" y="1439540"/>
            <a:ext cx="333756" cy="59802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2962656" y="1379738"/>
            <a:ext cx="667512" cy="59802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3630168" y="1319936"/>
            <a:ext cx="667512" cy="59802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4297680" y="1290036"/>
            <a:ext cx="667512" cy="29901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 flipV="1">
            <a:off x="4965192" y="1260135"/>
            <a:ext cx="667512" cy="29901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V="1">
            <a:off x="5632704" y="1230234"/>
            <a:ext cx="667512" cy="29901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6300216" y="1200333"/>
            <a:ext cx="667512" cy="29901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6967728" y="1170432"/>
            <a:ext cx="667512" cy="29901"/>
          </a:xfrm>
          <a:prstGeom prst="line">
            <a:avLst/>
          </a:prstGeom>
          <a:noFill/>
          <a:ln w="27940">
            <a:solidFill>
              <a:srgbClr val="1976D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960120" y="2874782"/>
            <a:ext cx="66751" cy="1285738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1026871" y="2336566"/>
            <a:ext cx="66751" cy="538216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1093622" y="1947855"/>
            <a:ext cx="133502" cy="388711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227125" y="1738549"/>
            <a:ext cx="133502" cy="209306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360627" y="1618945"/>
            <a:ext cx="133502" cy="119604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494130" y="1529243"/>
            <a:ext cx="133502" cy="89703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627632" y="1439540"/>
            <a:ext cx="333756" cy="89703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961388" y="1379738"/>
            <a:ext cx="333756" cy="59802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2295144" y="1349837"/>
            <a:ext cx="333756" cy="29901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2628900" y="1290036"/>
            <a:ext cx="333756" cy="59802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2962656" y="1260135"/>
            <a:ext cx="667512" cy="29901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3630168" y="1230234"/>
            <a:ext cx="667512" cy="29901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297680" y="1230234"/>
            <a:ext cx="667512" cy="914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4965192" y="1200333"/>
            <a:ext cx="667512" cy="29901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5632704" y="1170432"/>
            <a:ext cx="667512" cy="29901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300216" y="1170432"/>
            <a:ext cx="667512" cy="914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967728" y="1170432"/>
            <a:ext cx="667512" cy="914"/>
          </a:xfrm>
          <a:prstGeom prst="line">
            <a:avLst/>
          </a:prstGeom>
          <a:noFill/>
          <a:ln w="27940">
            <a:solidFill>
              <a:srgbClr val="1565C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726680" y="1234440"/>
            <a:ext cx="1325880" cy="2423160"/>
          </a:xfrm>
          <a:prstGeom prst="rect">
            <a:avLst/>
          </a:prstGeom>
          <a:solidFill>
            <a:srgbClr val="E3F0FF"/>
          </a:solidFill>
          <a:ln w="7620">
            <a:solidFill>
              <a:srgbClr val="CFD8DC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799832" y="13258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799832" y="1783080"/>
            <a:ext cx="274320" cy="914"/>
          </a:xfrm>
          <a:prstGeom prst="line">
            <a:avLst/>
          </a:prstGeom>
          <a:noFill/>
          <a:ln w="25400">
            <a:solidFill>
              <a:srgbClr val="0A234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8160" y="16916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8138160" y="18928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0.959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7799832" y="2258568"/>
            <a:ext cx="274320" cy="914"/>
          </a:xfrm>
          <a:prstGeom prst="line">
            <a:avLst/>
          </a:prstGeom>
          <a:noFill/>
          <a:ln w="25400">
            <a:solidFill>
              <a:srgbClr val="1976D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138160" y="21671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  (k=5)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8138160" y="236829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0.922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7799832" y="2734056"/>
            <a:ext cx="274320" cy="914"/>
          </a:xfrm>
          <a:prstGeom prst="line">
            <a:avLst/>
          </a:prstGeom>
          <a:noFill/>
          <a:ln w="25400">
            <a:solidFill>
              <a:srgbClr val="1565C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8160" y="2642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8138160" y="284378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0.956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7799832" y="3209544"/>
            <a:ext cx="274320" cy="914"/>
          </a:xfrm>
          <a:prstGeom prst="line">
            <a:avLst/>
          </a:prstGeom>
          <a:noFill/>
          <a:ln w="25400">
            <a:solidFill>
              <a:srgbClr val="B0BEC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8138160" y="31181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Guess</a:t>
            </a:r>
            <a:endParaRPr lang="en-US" sz="900" dirty="0"/>
          </a:p>
        </p:txBody>
      </p:sp>
      <p:sp>
        <p:nvSpPr>
          <p:cNvPr id="104" name="Text 102"/>
          <p:cNvSpPr/>
          <p:nvPr/>
        </p:nvSpPr>
        <p:spPr>
          <a:xfrm>
            <a:off x="8138160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0.500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1148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&amp; Time Series Forecasting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57607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sensor profiling · ARIMA(2,1,2) · LSTM neural network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41080" y="201168"/>
            <a:ext cx="347472" cy="347472"/>
          </a:xfrm>
          <a:prstGeom prst="ellipse">
            <a:avLst/>
          </a:prstGeom>
          <a:solidFill>
            <a:srgbClr val="1976D2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E3F0FF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48691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FlowShift  |  Urban Traffic &amp; Transit Demand — Los Angeles 2021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503920" y="48691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1115568"/>
            <a:ext cx="402336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1115568"/>
            <a:ext cx="4023360" cy="640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Sensor Clustering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1664208"/>
            <a:ext cx="1051560" cy="32918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66420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k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572768" y="1682496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2  (elbow + silhouette)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157984"/>
            <a:ext cx="1051560" cy="329184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157984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0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572768" y="217627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Peripheral &amp; lower-volume routes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651760"/>
            <a:ext cx="1051560" cy="329184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517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1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572768" y="2670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corridors — LA Basin, Bay Area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145536"/>
            <a:ext cx="1051560" cy="32918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1455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572768" y="316382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1 dense in Districts 7 and 4/12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39312"/>
            <a:ext cx="1051560" cy="329184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36393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8,509 sensors classified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00600" y="1115568"/>
            <a:ext cx="402336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9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800600" y="1115568"/>
            <a:ext cx="4023360" cy="64008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0" name="Text 28"/>
          <p:cNvSpPr/>
          <p:nvPr/>
        </p:nvSpPr>
        <p:spPr>
          <a:xfrm>
            <a:off x="493776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Series Forecasting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937760" y="1645920"/>
            <a:ext cx="1508760" cy="292608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2" name="Text 30"/>
          <p:cNvSpPr/>
          <p:nvPr/>
        </p:nvSpPr>
        <p:spPr>
          <a:xfrm>
            <a:off x="4937760" y="16459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46520" y="1645920"/>
            <a:ext cx="777240" cy="292608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4" name="Text 32"/>
          <p:cNvSpPr/>
          <p:nvPr/>
        </p:nvSpPr>
        <p:spPr>
          <a:xfrm>
            <a:off x="6446520" y="16459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223760" y="1645920"/>
            <a:ext cx="777240" cy="292608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6" name="Text 34"/>
          <p:cNvSpPr/>
          <p:nvPr/>
        </p:nvSpPr>
        <p:spPr>
          <a:xfrm>
            <a:off x="7223760" y="16459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001000" y="1645920"/>
            <a:ext cx="548640" cy="292608"/>
          </a:xfrm>
          <a:prstGeom prst="rect">
            <a:avLst/>
          </a:prstGeom>
          <a:solidFill>
            <a:srgbClr val="0A2342"/>
          </a:solidFill>
          <a:ln/>
        </p:spPr>
      </p:sp>
      <p:sp>
        <p:nvSpPr>
          <p:cNvPr id="38" name="Text 36"/>
          <p:cNvSpPr/>
          <p:nvPr/>
        </p:nvSpPr>
        <p:spPr>
          <a:xfrm>
            <a:off x="8001000" y="16459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937760" y="1956816"/>
            <a:ext cx="1508760" cy="365760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74336" y="1956816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ARIMA(2,1,2)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46520" y="1956816"/>
            <a:ext cx="777240" cy="365760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83096" y="1956816"/>
            <a:ext cx="704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19,851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223760" y="1956816"/>
            <a:ext cx="777240" cy="365760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260336" y="1956816"/>
            <a:ext cx="704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40,844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001000" y="1956816"/>
            <a:ext cx="548640" cy="365760"/>
          </a:xfrm>
          <a:prstGeom prst="rect">
            <a:avLst/>
          </a:prstGeom>
          <a:solidFill>
            <a:srgbClr val="E3F0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37576" y="195681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937760" y="2359152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74336" y="2359152"/>
            <a:ext cx="1435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(30 ep)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446520" y="2359152"/>
            <a:ext cx="777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83096" y="2359152"/>
            <a:ext cx="704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48,443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7223760" y="2359152"/>
            <a:ext cx="7772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260336" y="2359152"/>
            <a:ext cx="704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62,466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001000" y="2359152"/>
            <a:ext cx="5486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037576" y="235915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0.995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937760" y="2834640"/>
            <a:ext cx="804672" cy="3200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6" name="Text 54"/>
          <p:cNvSpPr/>
          <p:nvPr/>
        </p:nvSpPr>
        <p:spPr>
          <a:xfrm>
            <a:off x="4937760" y="2834640"/>
            <a:ext cx="804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5797296" y="2852928"/>
            <a:ext cx="2834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 13,531.7 · BIC 13,553.4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4937760" y="3264408"/>
            <a:ext cx="804672" cy="32004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59" name="Text 57"/>
          <p:cNvSpPr/>
          <p:nvPr/>
        </p:nvSpPr>
        <p:spPr>
          <a:xfrm>
            <a:off x="4937760" y="3264408"/>
            <a:ext cx="804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797296" y="3282696"/>
            <a:ext cx="2834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2-layer · hidden 64 · dropout 0.2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937760" y="3694176"/>
            <a:ext cx="804672" cy="3200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2" name="Text 60"/>
          <p:cNvSpPr/>
          <p:nvPr/>
        </p:nvSpPr>
        <p:spPr>
          <a:xfrm>
            <a:off x="4937760" y="3694176"/>
            <a:ext cx="804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797296" y="3712464"/>
            <a:ext cx="2834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RTX 4070 Laptop (CUDA)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937760" y="4123944"/>
            <a:ext cx="804672" cy="320040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65" name="Text 63"/>
          <p:cNvSpPr/>
          <p:nvPr/>
        </p:nvSpPr>
        <p:spPr>
          <a:xfrm>
            <a:off x="4937760" y="4123944"/>
            <a:ext cx="804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5797296" y="4142232"/>
            <a:ext cx="2834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0.00105 → 0.00048 (epoch 1→30)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82880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749808"/>
            <a:ext cx="2926080" cy="3657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932688"/>
            <a:ext cx="502920" cy="71323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932688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24128" y="10058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and ridership are positively correlated (r = 0.73, p &lt; 0.01). Both metrics rose through 2021 driven by pandemic recovery — not a simple modal shift.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1901952"/>
            <a:ext cx="502920" cy="713232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1901952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24128" y="1975104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(with lag) is the best regression model: R² = 0.9992, MAE = 15,923. Without lag, RF achieves R² = 0.955 — the realistic prediction benchmark.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1480" y="2871216"/>
            <a:ext cx="502920" cy="71323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871216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24128" y="2944368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is highly predictable from calendar features alone (AUC &gt; 0.95), confirming strong time-of-day and day-of-week structure in the flow data.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840480"/>
            <a:ext cx="502920" cy="713232"/>
          </a:xfrm>
          <a:prstGeom prst="rect">
            <a:avLst/>
          </a:prstGeom>
          <a:solidFill>
            <a:srgbClr val="1976D2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384048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24128" y="3913632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BD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reveals two sensor archetypes: high-flow urban corridors vs. peripheral routes. Future work: spatial join to transit stops and causal inference methods.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FlowShift — Urban Traffic &amp; Transit Demand LA</dc:title>
  <dc:subject>PptxGenJS Presentation</dc:subject>
  <dc:creator>Data Science and Algorithms — BIT CS</dc:creator>
  <cp:lastModifiedBy>Data Science and Algorithms — BIT CS</cp:lastModifiedBy>
  <cp:revision>1</cp:revision>
  <dcterms:created xsi:type="dcterms:W3CDTF">2026-04-19T13:26:29Z</dcterms:created>
  <dcterms:modified xsi:type="dcterms:W3CDTF">2026-04-19T13:26:29Z</dcterms:modified>
</cp:coreProperties>
</file>