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2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taphon Kitsanakarakat" userId="34fbd52d53948f28" providerId="LiveId" clId="{2ACBE802-F97E-4423-8328-9FB178187958}"/>
    <pc:docChg chg="modSld">
      <pc:chgData name="Kantaphon Kitsanakarakat" userId="34fbd52d53948f28" providerId="LiveId" clId="{2ACBE802-F97E-4423-8328-9FB178187958}" dt="2026-04-21T01:04:36.603" v="60" actId="20577"/>
      <pc:docMkLst>
        <pc:docMk/>
      </pc:docMkLst>
      <pc:sldChg chg="modSp mod">
        <pc:chgData name="Kantaphon Kitsanakarakat" userId="34fbd52d53948f28" providerId="LiveId" clId="{2ACBE802-F97E-4423-8328-9FB178187958}" dt="2026-04-21T01:04:36.603" v="60" actId="20577"/>
        <pc:sldMkLst>
          <pc:docMk/>
          <pc:sldMk cId="0" sldId="256"/>
        </pc:sldMkLst>
        <pc:spChg chg="mod">
          <ac:chgData name="Kantaphon Kitsanakarakat" userId="34fbd52d53948f28" providerId="LiveId" clId="{2ACBE802-F97E-4423-8328-9FB178187958}" dt="2026-04-21T01:04:03.888" v="14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Kantaphon Kitsanakarakat" userId="34fbd52d53948f28" providerId="LiveId" clId="{2ACBE802-F97E-4423-8328-9FB178187958}" dt="2026-04-21T01:04:36.603" v="60" actId="20577"/>
          <ac:spMkLst>
            <pc:docMk/>
            <pc:sldMk cId="0" sldId="256"/>
            <ac:spMk id="10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1976D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4BA-48C9-B43D-FCC728F76AA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4BA-48C9-B43D-FCC728F76AAF}"/>
              </c:ext>
            </c:extLst>
          </c:dPt>
          <c:dPt>
            <c:idx val="2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4BA-48C9-B43D-FCC728F76AAF}"/>
              </c:ext>
            </c:extLst>
          </c:dPt>
          <c:dPt>
            <c:idx val="3"/>
            <c:invertIfNegative val="0"/>
            <c:bubble3D val="0"/>
            <c:spPr>
              <a:solidFill>
                <a:srgbClr val="0A23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4BA-48C9-B43D-FCC728F76AAF}"/>
              </c:ext>
            </c:extLst>
          </c:dPt>
          <c:dPt>
            <c:idx val="4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4BA-48C9-B43D-FCC728F76AAF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7474F"/>
                    </a:solidFill>
                    <a:latin typeface="Arial"/>
                  </a:defRPr>
                </a:pPr>
                <a:endParaRPr lang="th-T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LR no-lag</c:v>
                </c:pt>
                <c:pt idx="1">
                  <c:v>RF no-lag</c:v>
                </c:pt>
                <c:pt idx="2">
                  <c:v>LR w/lag</c:v>
                </c:pt>
                <c:pt idx="3">
                  <c:v>RF w/lag</c:v>
                </c:pt>
                <c:pt idx="4">
                  <c:v>LSTM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0.23100000000000001</c:v>
                </c:pt>
                <c:pt idx="1">
                  <c:v>0.95499999999999996</c:v>
                </c:pt>
                <c:pt idx="2">
                  <c:v>0.999</c:v>
                </c:pt>
                <c:pt idx="3">
                  <c:v>0.999</c:v>
                </c:pt>
                <c:pt idx="4">
                  <c:v>0.995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4BA-48C9-B43D-FCC728F76A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6350" cap="flat">
              <a:solidFill>
                <a:srgbClr val="CFD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A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E3F0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80A-4740-A629-C95B1D24B61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80A-4740-A629-C95B1D24B613}"/>
              </c:ext>
            </c:extLst>
          </c:dPt>
          <c:dPt>
            <c:idx val="2"/>
            <c:invertIfNegative val="0"/>
            <c:bubble3D val="0"/>
            <c:spPr>
              <a:solidFill>
                <a:srgbClr val="1976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80A-4740-A629-C95B1D24B613}"/>
              </c:ext>
            </c:extLst>
          </c:dPt>
          <c:dPt>
            <c:idx val="3"/>
            <c:invertIfNegative val="0"/>
            <c:bubble3D val="0"/>
            <c:spPr>
              <a:solidFill>
                <a:srgbClr val="1976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80A-4740-A629-C95B1D24B613}"/>
              </c:ext>
            </c:extLst>
          </c:dPt>
          <c:dPt>
            <c:idx val="4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80A-4740-A629-C95B1D24B613}"/>
              </c:ext>
            </c:extLst>
          </c:dPt>
          <c:dPt>
            <c:idx val="5"/>
            <c:invertIfNegative val="0"/>
            <c:bubble3D val="0"/>
            <c:spPr>
              <a:solidFill>
                <a:srgbClr val="0A23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80A-4740-A629-C95B1D24B613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37474F"/>
                    </a:solidFill>
                    <a:latin typeface="Arial"/>
                  </a:defRPr>
                </a:pPr>
                <a:endParaRPr lang="th-T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Season</c:v>
                </c:pt>
                <c:pt idx="1">
                  <c:v>Is_Weekend</c:v>
                </c:pt>
                <c:pt idx="2">
                  <c:v>Is_Peak</c:v>
                </c:pt>
                <c:pt idx="3">
                  <c:v>Month</c:v>
                </c:pt>
                <c:pt idx="4">
                  <c:v>Day of Week</c:v>
                </c:pt>
                <c:pt idx="5">
                  <c:v>Hour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0.02</c:v>
                </c:pt>
                <c:pt idx="1">
                  <c:v>0.04</c:v>
                </c:pt>
                <c:pt idx="2">
                  <c:v>0.06</c:v>
                </c:pt>
                <c:pt idx="3">
                  <c:v>0.08</c:v>
                </c:pt>
                <c:pt idx="4">
                  <c:v>0.28000000000000003</c:v>
                </c:pt>
                <c:pt idx="5">
                  <c:v>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80A-4740-A629-C95B1D24B6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b"/>
        <c:majorGridlines>
          <c:spPr>
            <a:ln w="6350" cap="flat">
              <a:solidFill>
                <a:srgbClr val="CFD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A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2001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Shape 1"/>
          <p:cNvSpPr/>
          <p:nvPr/>
        </p:nvSpPr>
        <p:spPr>
          <a:xfrm>
            <a:off x="3840480" y="0"/>
            <a:ext cx="64008" cy="51435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FlowShift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11480" y="1719072"/>
            <a:ext cx="2377440" cy="41148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Urban Traffic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and how it Influences Public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Demand in Los Angeles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338328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Large-ST (ca_his_raw_2021.h5)  +  NTD Ridership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Data Science and Algorithms  —  BIT CS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06240" y="914400"/>
            <a:ext cx="4663440" cy="137160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" name="Text 7"/>
          <p:cNvSpPr/>
          <p:nvPr/>
        </p:nvSpPr>
        <p:spPr>
          <a:xfrm>
            <a:off x="4343400" y="9875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43400" y="13258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Traffic congestion happen ?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people switch to public transport when roads get congested — and by how much?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06240" y="2606040"/>
            <a:ext cx="107899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2" name="Shape 10"/>
          <p:cNvSpPr/>
          <p:nvPr/>
        </p:nvSpPr>
        <p:spPr>
          <a:xfrm>
            <a:off x="4206240" y="2606040"/>
            <a:ext cx="1078992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3" name="Text 11"/>
          <p:cNvSpPr/>
          <p:nvPr/>
        </p:nvSpPr>
        <p:spPr>
          <a:xfrm>
            <a:off x="4279392" y="2715768"/>
            <a:ext cx="932688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279392" y="3242462"/>
            <a:ext cx="932688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Freeway Sensors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0" y="2606040"/>
            <a:ext cx="107899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6" name="Shape 14"/>
          <p:cNvSpPr/>
          <p:nvPr/>
        </p:nvSpPr>
        <p:spPr>
          <a:xfrm>
            <a:off x="5394960" y="2606040"/>
            <a:ext cx="1078992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7" name="Text 15"/>
          <p:cNvSpPr/>
          <p:nvPr/>
        </p:nvSpPr>
        <p:spPr>
          <a:xfrm>
            <a:off x="5468112" y="2715768"/>
            <a:ext cx="932688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105,120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68112" y="3242462"/>
            <a:ext cx="932688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2606040"/>
            <a:ext cx="107899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20" name="Shape 18"/>
          <p:cNvSpPr/>
          <p:nvPr/>
        </p:nvSpPr>
        <p:spPr>
          <a:xfrm>
            <a:off x="6583680" y="2606040"/>
            <a:ext cx="1078992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" name="Text 19"/>
          <p:cNvSpPr/>
          <p:nvPr/>
        </p:nvSpPr>
        <p:spPr>
          <a:xfrm>
            <a:off x="6656832" y="2715768"/>
            <a:ext cx="932688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310.8M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56832" y="3242462"/>
            <a:ext cx="932688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UPT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0" y="2606040"/>
            <a:ext cx="107899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24" name="Shape 22"/>
          <p:cNvSpPr/>
          <p:nvPr/>
        </p:nvSpPr>
        <p:spPr>
          <a:xfrm>
            <a:off x="7772400" y="2606040"/>
            <a:ext cx="1078992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5" name="Text 23"/>
          <p:cNvSpPr/>
          <p:nvPr/>
        </p:nvSpPr>
        <p:spPr>
          <a:xfrm>
            <a:off x="7845552" y="2715768"/>
            <a:ext cx="932688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845552" y="3242462"/>
            <a:ext cx="932688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Agencies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06240" y="3931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 2021  •  California Freeway Network  •  Los Angeles Metro Area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methodology: from raw sensor data to actionable insights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41080" y="201168"/>
            <a:ext cx="347472" cy="347472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E3F0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320040" y="48691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FlowShift  |  Urban Traffic &amp; Transit Demand — Los Angeles 2021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8691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92608" y="1371600"/>
            <a:ext cx="1088136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1" name="Shape 9"/>
          <p:cNvSpPr/>
          <p:nvPr/>
        </p:nvSpPr>
        <p:spPr>
          <a:xfrm>
            <a:off x="292608" y="1371600"/>
            <a:ext cx="1088136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2" name="Shape 10"/>
          <p:cNvSpPr/>
          <p:nvPr/>
        </p:nvSpPr>
        <p:spPr>
          <a:xfrm>
            <a:off x="608076" y="1508760"/>
            <a:ext cx="457200" cy="457200"/>
          </a:xfrm>
          <a:prstGeom prst="ellipse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3" name="Text 11"/>
          <p:cNvSpPr/>
          <p:nvPr/>
        </p:nvSpPr>
        <p:spPr>
          <a:xfrm>
            <a:off x="60807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" y="2057400"/>
            <a:ext cx="996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27889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Large-ST HDF5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" y="32461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NTD Ridership CSV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37033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ca_meta.csv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389888" y="2254910"/>
            <a:ext cx="45720" cy="9144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9" name="Text 17"/>
          <p:cNvSpPr/>
          <p:nvPr/>
        </p:nvSpPr>
        <p:spPr>
          <a:xfrm>
            <a:off x="1380744" y="2172614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453896" y="1371600"/>
            <a:ext cx="1088136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21" name="Shape 19"/>
          <p:cNvSpPr/>
          <p:nvPr/>
        </p:nvSpPr>
        <p:spPr>
          <a:xfrm>
            <a:off x="1453896" y="1371600"/>
            <a:ext cx="1088136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2" name="Shape 20"/>
          <p:cNvSpPr/>
          <p:nvPr/>
        </p:nvSpPr>
        <p:spPr>
          <a:xfrm>
            <a:off x="1769364" y="1508760"/>
            <a:ext cx="457200" cy="457200"/>
          </a:xfrm>
          <a:prstGeom prst="ellipse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3" name="Text 21"/>
          <p:cNvSpPr/>
          <p:nvPr/>
        </p:nvSpPr>
        <p:spPr>
          <a:xfrm>
            <a:off x="176936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99616" y="2057400"/>
            <a:ext cx="996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08760" y="27889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imputation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508760" y="32461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removal (3σ)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508760" y="37033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51176" y="2254910"/>
            <a:ext cx="45720" cy="9144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9" name="Text 27"/>
          <p:cNvSpPr/>
          <p:nvPr/>
        </p:nvSpPr>
        <p:spPr>
          <a:xfrm>
            <a:off x="2542032" y="2172614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615184" y="1371600"/>
            <a:ext cx="1088136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31" name="Shape 29"/>
          <p:cNvSpPr/>
          <p:nvPr/>
        </p:nvSpPr>
        <p:spPr>
          <a:xfrm>
            <a:off x="2615184" y="1371600"/>
            <a:ext cx="1088136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2" name="Shape 30"/>
          <p:cNvSpPr/>
          <p:nvPr/>
        </p:nvSpPr>
        <p:spPr>
          <a:xfrm>
            <a:off x="2930652" y="1508760"/>
            <a:ext cx="457200" cy="457200"/>
          </a:xfrm>
          <a:prstGeom prst="ellipse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3" name="Text 31"/>
          <p:cNvSpPr/>
          <p:nvPr/>
        </p:nvSpPr>
        <p:spPr>
          <a:xfrm>
            <a:off x="293065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60904" y="2057400"/>
            <a:ext cx="996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670048" y="27889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distributions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670048" y="32461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heatmaps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670048" y="37033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Ridership trends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712464" y="2254910"/>
            <a:ext cx="45720" cy="9144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9" name="Text 37"/>
          <p:cNvSpPr/>
          <p:nvPr/>
        </p:nvSpPr>
        <p:spPr>
          <a:xfrm>
            <a:off x="3703320" y="2172614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776472" y="1371600"/>
            <a:ext cx="1088136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41" name="Shape 39"/>
          <p:cNvSpPr/>
          <p:nvPr/>
        </p:nvSpPr>
        <p:spPr>
          <a:xfrm>
            <a:off x="3776472" y="1371600"/>
            <a:ext cx="1088136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2" name="Shape 40"/>
          <p:cNvSpPr/>
          <p:nvPr/>
        </p:nvSpPr>
        <p:spPr>
          <a:xfrm>
            <a:off x="4091940" y="1508760"/>
            <a:ext cx="457200" cy="457200"/>
          </a:xfrm>
          <a:prstGeom prst="ellipse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3" name="Text 41"/>
          <p:cNvSpPr/>
          <p:nvPr/>
        </p:nvSpPr>
        <p:spPr>
          <a:xfrm>
            <a:off x="40919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822192" y="2057400"/>
            <a:ext cx="996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831336" y="27889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&amp; Spearman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831336" y="32461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t-tests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831336" y="37033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stationarity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73752" y="2254910"/>
            <a:ext cx="45720" cy="9144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9" name="Text 47"/>
          <p:cNvSpPr/>
          <p:nvPr/>
        </p:nvSpPr>
        <p:spPr>
          <a:xfrm>
            <a:off x="4864608" y="2172614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937760" y="1371600"/>
            <a:ext cx="1088136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51" name="Shape 49"/>
          <p:cNvSpPr/>
          <p:nvPr/>
        </p:nvSpPr>
        <p:spPr>
          <a:xfrm>
            <a:off x="4937760" y="1371600"/>
            <a:ext cx="1088136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2" name="Shape 50"/>
          <p:cNvSpPr/>
          <p:nvPr/>
        </p:nvSpPr>
        <p:spPr>
          <a:xfrm>
            <a:off x="5253228" y="1508760"/>
            <a:ext cx="457200" cy="457200"/>
          </a:xfrm>
          <a:prstGeom prst="ellipse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3" name="Text 51"/>
          <p:cNvSpPr/>
          <p:nvPr/>
        </p:nvSpPr>
        <p:spPr>
          <a:xfrm>
            <a:off x="525322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983480" y="2057400"/>
            <a:ext cx="996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992624" y="27889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(LR, RF)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992624" y="32461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(DT,KNN,RF)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992624" y="37033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035040" y="2254910"/>
            <a:ext cx="45720" cy="9144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9" name="Text 57"/>
          <p:cNvSpPr/>
          <p:nvPr/>
        </p:nvSpPr>
        <p:spPr>
          <a:xfrm>
            <a:off x="6025896" y="2172614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099048" y="1371600"/>
            <a:ext cx="1088136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61" name="Shape 59"/>
          <p:cNvSpPr/>
          <p:nvPr/>
        </p:nvSpPr>
        <p:spPr>
          <a:xfrm>
            <a:off x="6099048" y="1371600"/>
            <a:ext cx="1088136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62" name="Shape 60"/>
          <p:cNvSpPr/>
          <p:nvPr/>
        </p:nvSpPr>
        <p:spPr>
          <a:xfrm>
            <a:off x="6414516" y="1508760"/>
            <a:ext cx="457200" cy="457200"/>
          </a:xfrm>
          <a:prstGeom prst="ellipse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63" name="Text 61"/>
          <p:cNvSpPr/>
          <p:nvPr/>
        </p:nvSpPr>
        <p:spPr>
          <a:xfrm>
            <a:off x="641451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144768" y="2057400"/>
            <a:ext cx="996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153912" y="27889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ARIMA(2,1,2)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153912" y="32461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(PyTorch)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153912" y="37033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forecast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7196328" y="2254910"/>
            <a:ext cx="45720" cy="9144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69" name="Text 67"/>
          <p:cNvSpPr/>
          <p:nvPr/>
        </p:nvSpPr>
        <p:spPr>
          <a:xfrm>
            <a:off x="7187184" y="2172614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7260336" y="1371600"/>
            <a:ext cx="1088136" cy="2926080"/>
          </a:xfrm>
          <a:prstGeom prst="rect">
            <a:avLst/>
          </a:prstGeom>
          <a:solidFill>
            <a:srgbClr val="0A2342"/>
          </a:solidFill>
          <a:ln w="9525">
            <a:solidFill>
              <a:srgbClr val="0A234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71" name="Shape 69"/>
          <p:cNvSpPr/>
          <p:nvPr/>
        </p:nvSpPr>
        <p:spPr>
          <a:xfrm>
            <a:off x="7260336" y="1371600"/>
            <a:ext cx="1088136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2" name="Shape 70"/>
          <p:cNvSpPr/>
          <p:nvPr/>
        </p:nvSpPr>
        <p:spPr>
          <a:xfrm>
            <a:off x="7575804" y="150876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3" name="Text 71"/>
          <p:cNvSpPr/>
          <p:nvPr/>
        </p:nvSpPr>
        <p:spPr>
          <a:xfrm>
            <a:off x="757580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7306056" y="2057400"/>
            <a:ext cx="996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7315200" y="27889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0.73 correlation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7315200" y="32461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0.999 best model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7315200" y="37033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&gt; 0.95 classifiers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data sources merged across the full 2021 calendar year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41080" y="201168"/>
            <a:ext cx="347472" cy="347472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E3F0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320040" y="48691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FlowShift  |  Urban Traffic &amp; Transit Demand — Los Angeles 2021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8691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143000"/>
            <a:ext cx="397764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1" name="Shape 9"/>
          <p:cNvSpPr/>
          <p:nvPr/>
        </p:nvSpPr>
        <p:spPr>
          <a:xfrm>
            <a:off x="320040" y="1143000"/>
            <a:ext cx="3977640" cy="6400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457200" y="12070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  —  Large-ST / PeMS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1097280" cy="320040"/>
          </a:xfrm>
          <a:prstGeom prst="rect">
            <a:avLst/>
          </a:prstGeom>
          <a:solidFill>
            <a:srgbClr val="E3F0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4" name="Text 12"/>
          <p:cNvSpPr/>
          <p:nvPr/>
        </p:nvSpPr>
        <p:spPr>
          <a:xfrm>
            <a:off x="457200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27632" y="1709928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8,600 freeway sensors across California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1097280" cy="320040"/>
          </a:xfrm>
          <a:prstGeom prst="rect">
            <a:avLst/>
          </a:prstGeom>
          <a:solidFill>
            <a:srgbClr val="E3F0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7" name="Text 15"/>
          <p:cNvSpPr/>
          <p:nvPr/>
        </p:nvSpPr>
        <p:spPr>
          <a:xfrm>
            <a:off x="45720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27632" y="2167128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105,120 rows at 5-minute intervals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1097280" cy="320040"/>
          </a:xfrm>
          <a:prstGeom prst="rect">
            <a:avLst/>
          </a:prstGeom>
          <a:solidFill>
            <a:srgbClr val="E3F0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0" name="Text 18"/>
          <p:cNvSpPr/>
          <p:nvPr/>
        </p:nvSpPr>
        <p:spPr>
          <a:xfrm>
            <a:off x="457200" y="2606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27632" y="2624328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 – Dec 31, 2021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1097280" cy="320040"/>
          </a:xfrm>
          <a:prstGeom prst="rect">
            <a:avLst/>
          </a:prstGeom>
          <a:solidFill>
            <a:srgbClr val="E3F0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3" name="Text 21"/>
          <p:cNvSpPr/>
          <p:nvPr/>
        </p:nvSpPr>
        <p:spPr>
          <a:xfrm>
            <a:off x="457200" y="3063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cells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27632" y="3081528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904,032,000 total observations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1097280" cy="320040"/>
          </a:xfrm>
          <a:prstGeom prst="rect">
            <a:avLst/>
          </a:prstGeom>
          <a:solidFill>
            <a:srgbClr val="E3F0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6" name="Text 24"/>
          <p:cNvSpPr/>
          <p:nvPr/>
        </p:nvSpPr>
        <p:spPr>
          <a:xfrm>
            <a:off x="457200" y="3520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27632" y="3538728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PeMS districts covered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977640"/>
            <a:ext cx="1097280" cy="320040"/>
          </a:xfrm>
          <a:prstGeom prst="rect">
            <a:avLst/>
          </a:prstGeom>
          <a:solidFill>
            <a:srgbClr val="E3F0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9" name="Text 27"/>
          <p:cNvSpPr/>
          <p:nvPr/>
        </p:nvSpPr>
        <p:spPr>
          <a:xfrm>
            <a:off x="457200" y="3977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27632" y="3995928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per 5-minute window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1143000"/>
            <a:ext cx="397764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32" name="Shape 30"/>
          <p:cNvSpPr/>
          <p:nvPr/>
        </p:nvSpPr>
        <p:spPr>
          <a:xfrm>
            <a:off x="4846320" y="1143000"/>
            <a:ext cx="3977640" cy="6400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3" name="Text 31"/>
          <p:cNvSpPr/>
          <p:nvPr/>
        </p:nvSpPr>
        <p:spPr>
          <a:xfrm>
            <a:off x="4983480" y="12070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Ridership  —  NTD Monthly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83480" y="1691640"/>
            <a:ext cx="1097280" cy="3200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5" name="Text 33"/>
          <p:cNvSpPr/>
          <p:nvPr/>
        </p:nvSpPr>
        <p:spPr>
          <a:xfrm>
            <a:off x="4983480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53912" y="1709928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LA transit agencies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83480" y="2148840"/>
            <a:ext cx="1097280" cy="3200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8" name="Text 36"/>
          <p:cNvSpPr/>
          <p:nvPr/>
        </p:nvSpPr>
        <p:spPr>
          <a:xfrm>
            <a:off x="498348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53912" y="2167128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modes: HR, LR, MB, CR, DR, CB, RB, VP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83480" y="2606040"/>
            <a:ext cx="1097280" cy="3200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1" name="Text 39"/>
          <p:cNvSpPr/>
          <p:nvPr/>
        </p:nvSpPr>
        <p:spPr>
          <a:xfrm>
            <a:off x="4983480" y="2606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53912" y="2624328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 — Unlinked Passenger Trips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983480" y="3063240"/>
            <a:ext cx="1097280" cy="3200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4" name="Text 42"/>
          <p:cNvSpPr/>
          <p:nvPr/>
        </p:nvSpPr>
        <p:spPr>
          <a:xfrm>
            <a:off x="4983480" y="3063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53912" y="3081528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310,753,364 total UPT (2021)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983480" y="3520440"/>
            <a:ext cx="1097280" cy="3200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7" name="Text 45"/>
          <p:cNvSpPr/>
          <p:nvPr/>
        </p:nvSpPr>
        <p:spPr>
          <a:xfrm>
            <a:off x="4983480" y="3520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153912" y="3538728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 Urbanized Zone (UZA)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983480" y="3977640"/>
            <a:ext cx="1097280" cy="3200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0" name="Text 48"/>
          <p:cNvSpPr/>
          <p:nvPr/>
        </p:nvSpPr>
        <p:spPr>
          <a:xfrm>
            <a:off x="4983480" y="3977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153912" y="3995928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aggregates (12 records/agency)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Feature Engineering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imputation, outlier removal and derived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41080" y="201168"/>
            <a:ext cx="347472" cy="347472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E3F0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320040" y="48691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FlowShift  |  Urban Traffic &amp; Transit Demand — Los Angeles 2021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8691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115568"/>
            <a:ext cx="19202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1" name="Shape 9"/>
          <p:cNvSpPr/>
          <p:nvPr/>
        </p:nvSpPr>
        <p:spPr>
          <a:xfrm>
            <a:off x="320040" y="1115568"/>
            <a:ext cx="1920240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393192" y="1225296"/>
            <a:ext cx="1773936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3192" y="1762597"/>
            <a:ext cx="1773936" cy="423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1115568"/>
            <a:ext cx="19202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5" name="Shape 13"/>
          <p:cNvSpPr/>
          <p:nvPr/>
        </p:nvSpPr>
        <p:spPr>
          <a:xfrm>
            <a:off x="2468880" y="1115568"/>
            <a:ext cx="1920240" cy="54864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2542032" y="1225296"/>
            <a:ext cx="1773936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42032" y="1762597"/>
            <a:ext cx="1773936" cy="423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(&gt;20%)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1115568"/>
            <a:ext cx="19202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9" name="Shape 17"/>
          <p:cNvSpPr/>
          <p:nvPr/>
        </p:nvSpPr>
        <p:spPr>
          <a:xfrm>
            <a:off x="4617720" y="1115568"/>
            <a:ext cx="1920240" cy="54864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0" name="Text 18"/>
          <p:cNvSpPr/>
          <p:nvPr/>
        </p:nvSpPr>
        <p:spPr>
          <a:xfrm>
            <a:off x="4690872" y="1225296"/>
            <a:ext cx="1773936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8,509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90872" y="1762597"/>
            <a:ext cx="1773936" cy="423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1115568"/>
            <a:ext cx="19202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23" name="Shape 21"/>
          <p:cNvSpPr/>
          <p:nvPr/>
        </p:nvSpPr>
        <p:spPr>
          <a:xfrm>
            <a:off x="6766560" y="1115568"/>
            <a:ext cx="1920240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4" name="Text 22"/>
          <p:cNvSpPr/>
          <p:nvPr/>
        </p:nvSpPr>
        <p:spPr>
          <a:xfrm>
            <a:off x="6839712" y="1225296"/>
            <a:ext cx="1773936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920,684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39712" y="1762597"/>
            <a:ext cx="1773936" cy="423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(3σ)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377440"/>
            <a:ext cx="8503920" cy="36576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7" name="Text 25"/>
          <p:cNvSpPr/>
          <p:nvPr/>
        </p:nvSpPr>
        <p:spPr>
          <a:xfrm>
            <a:off x="320040" y="245059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Pipeline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2834640"/>
            <a:ext cx="1325880" cy="34747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9" name="Text 27"/>
          <p:cNvSpPr/>
          <p:nvPr/>
        </p:nvSpPr>
        <p:spPr>
          <a:xfrm>
            <a:off x="320040" y="2834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664208" y="2834640"/>
            <a:ext cx="7159752" cy="347472"/>
          </a:xfrm>
          <a:prstGeom prst="rect">
            <a:avLst/>
          </a:prstGeom>
          <a:solidFill>
            <a:srgbClr val="E3F0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1" name="Text 29"/>
          <p:cNvSpPr/>
          <p:nvPr/>
        </p:nvSpPr>
        <p:spPr>
          <a:xfrm>
            <a:off x="1755648" y="2834640"/>
            <a:ext cx="6976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· day_of_week · month · season (winter / spring / summer / fall) · is_weekend · is_peak (07–09 h, 17–19 h)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3328416"/>
            <a:ext cx="132588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3" name="Text 31"/>
          <p:cNvSpPr/>
          <p:nvPr/>
        </p:nvSpPr>
        <p:spPr>
          <a:xfrm>
            <a:off x="320040" y="332841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664208" y="3328416"/>
            <a:ext cx="7159752" cy="347472"/>
          </a:xfrm>
          <a:prstGeom prst="rect">
            <a:avLst/>
          </a:prstGeom>
          <a:solidFill>
            <a:srgbClr val="ECEFF1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5" name="Text 33"/>
          <p:cNvSpPr/>
          <p:nvPr/>
        </p:nvSpPr>
        <p:spPr>
          <a:xfrm>
            <a:off x="1755648" y="3328416"/>
            <a:ext cx="6976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is_congested = 1 when total flow ≥ 75th percentile (2,765,279 veh / 5 min)  →  25% congestion rate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3822192"/>
            <a:ext cx="1325880" cy="34747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7" name="Text 35"/>
          <p:cNvSpPr/>
          <p:nvPr/>
        </p:nvSpPr>
        <p:spPr>
          <a:xfrm>
            <a:off x="320040" y="38221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664208" y="3822192"/>
            <a:ext cx="7159752" cy="347472"/>
          </a:xfrm>
          <a:prstGeom prst="rect">
            <a:avLst/>
          </a:prstGeom>
          <a:solidFill>
            <a:srgbClr val="E3F0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9" name="Text 37"/>
          <p:cNvSpPr/>
          <p:nvPr/>
        </p:nvSpPr>
        <p:spPr>
          <a:xfrm>
            <a:off x="1755648" y="3822192"/>
            <a:ext cx="6976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flow_lag1 (5 min)  ·  flow_lag12 (1 hour)  ·  flow_lag288 (1 day)  — captures autocorrelation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" y="4315968"/>
            <a:ext cx="132588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1" name="Text 39"/>
          <p:cNvSpPr/>
          <p:nvPr/>
        </p:nvSpPr>
        <p:spPr>
          <a:xfrm>
            <a:off x="320040" y="431596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664208" y="4315968"/>
            <a:ext cx="7159752" cy="347472"/>
          </a:xfrm>
          <a:prstGeom prst="rect">
            <a:avLst/>
          </a:prstGeom>
          <a:solidFill>
            <a:srgbClr val="ECEFF1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3" name="Text 41"/>
          <p:cNvSpPr/>
          <p:nvPr/>
        </p:nvSpPr>
        <p:spPr>
          <a:xfrm>
            <a:off x="1755648" y="4315968"/>
            <a:ext cx="6976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total_flow for regression  ·  is_congested for classification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Hourly Traffic Flow Pattern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total flow per hour: weekday vs. weekend · red dashed line = congestion threshold (2.77M veh / 5 min)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41080" y="201168"/>
            <a:ext cx="347472" cy="347472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E3F0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320040" y="48691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FlowShift  |  Urban Traffic &amp; Transit Demand — Los Angeles 2021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8691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051560"/>
            <a:ext cx="8503920" cy="3447288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1" name="Shape 9"/>
          <p:cNvSpPr/>
          <p:nvPr/>
        </p:nvSpPr>
        <p:spPr>
          <a:xfrm>
            <a:off x="1078992" y="4224528"/>
            <a:ext cx="7562088" cy="914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347472" y="40965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78992" y="3747326"/>
            <a:ext cx="7562088" cy="914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" name="Text 12"/>
          <p:cNvSpPr/>
          <p:nvPr/>
        </p:nvSpPr>
        <p:spPr>
          <a:xfrm>
            <a:off x="347472" y="361931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78992" y="3270123"/>
            <a:ext cx="7562088" cy="914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347472" y="3142107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078992" y="2792921"/>
            <a:ext cx="7562088" cy="914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8" name="Text 16"/>
          <p:cNvSpPr/>
          <p:nvPr/>
        </p:nvSpPr>
        <p:spPr>
          <a:xfrm>
            <a:off x="347472" y="2664905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78992" y="2315718"/>
            <a:ext cx="7562088" cy="914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0" name="Text 18"/>
          <p:cNvSpPr/>
          <p:nvPr/>
        </p:nvSpPr>
        <p:spPr>
          <a:xfrm>
            <a:off x="347472" y="218770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078992" y="1838516"/>
            <a:ext cx="7562088" cy="914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2" name="Text 20"/>
          <p:cNvSpPr/>
          <p:nvPr/>
        </p:nvSpPr>
        <p:spPr>
          <a:xfrm>
            <a:off x="347472" y="17105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078992" y="1361313"/>
            <a:ext cx="7562088" cy="914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4" name="Text 22"/>
          <p:cNvSpPr/>
          <p:nvPr/>
        </p:nvSpPr>
        <p:spPr>
          <a:xfrm>
            <a:off x="347472" y="1233297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78992" y="4224528"/>
            <a:ext cx="7562088" cy="914"/>
          </a:xfrm>
          <a:prstGeom prst="line">
            <a:avLst/>
          </a:prstGeom>
          <a:noFill/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6" name="Shape 24"/>
          <p:cNvSpPr/>
          <p:nvPr/>
        </p:nvSpPr>
        <p:spPr>
          <a:xfrm>
            <a:off x="1078992" y="1170432"/>
            <a:ext cx="914" cy="3054096"/>
          </a:xfrm>
          <a:prstGeom prst="line">
            <a:avLst/>
          </a:prstGeom>
          <a:noFill/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7" name="Text 25"/>
          <p:cNvSpPr/>
          <p:nvPr/>
        </p:nvSpPr>
        <p:spPr>
          <a:xfrm>
            <a:off x="896112" y="42793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882471" y="42793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868831" y="42793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55190" y="42793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41549" y="42793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27909" y="42793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14268" y="42793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800627" y="42793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21:00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078992" y="1580826"/>
            <a:ext cx="230151" cy="914"/>
          </a:xfrm>
          <a:prstGeom prst="line">
            <a:avLst/>
          </a:prstGeom>
          <a:noFill/>
          <a:ln w="1905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6" name="Shape 34"/>
          <p:cNvSpPr/>
          <p:nvPr/>
        </p:nvSpPr>
        <p:spPr>
          <a:xfrm>
            <a:off x="1736565" y="1580826"/>
            <a:ext cx="230151" cy="914"/>
          </a:xfrm>
          <a:prstGeom prst="line">
            <a:avLst/>
          </a:prstGeom>
          <a:noFill/>
          <a:ln w="1905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7" name="Shape 35"/>
          <p:cNvSpPr/>
          <p:nvPr/>
        </p:nvSpPr>
        <p:spPr>
          <a:xfrm>
            <a:off x="2394138" y="1580826"/>
            <a:ext cx="230151" cy="914"/>
          </a:xfrm>
          <a:prstGeom prst="line">
            <a:avLst/>
          </a:prstGeom>
          <a:noFill/>
          <a:ln w="1905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8" name="Shape 36"/>
          <p:cNvSpPr/>
          <p:nvPr/>
        </p:nvSpPr>
        <p:spPr>
          <a:xfrm>
            <a:off x="3051711" y="1580826"/>
            <a:ext cx="230151" cy="914"/>
          </a:xfrm>
          <a:prstGeom prst="line">
            <a:avLst/>
          </a:prstGeom>
          <a:noFill/>
          <a:ln w="1905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9" name="Shape 37"/>
          <p:cNvSpPr/>
          <p:nvPr/>
        </p:nvSpPr>
        <p:spPr>
          <a:xfrm>
            <a:off x="3709283" y="1580826"/>
            <a:ext cx="230151" cy="914"/>
          </a:xfrm>
          <a:prstGeom prst="line">
            <a:avLst/>
          </a:prstGeom>
          <a:noFill/>
          <a:ln w="1905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0" name="Shape 38"/>
          <p:cNvSpPr/>
          <p:nvPr/>
        </p:nvSpPr>
        <p:spPr>
          <a:xfrm>
            <a:off x="4366856" y="1580826"/>
            <a:ext cx="230151" cy="914"/>
          </a:xfrm>
          <a:prstGeom prst="line">
            <a:avLst/>
          </a:prstGeom>
          <a:noFill/>
          <a:ln w="1905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1" name="Shape 39"/>
          <p:cNvSpPr/>
          <p:nvPr/>
        </p:nvSpPr>
        <p:spPr>
          <a:xfrm>
            <a:off x="5024429" y="1580826"/>
            <a:ext cx="230151" cy="914"/>
          </a:xfrm>
          <a:prstGeom prst="line">
            <a:avLst/>
          </a:prstGeom>
          <a:noFill/>
          <a:ln w="1905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2" name="Shape 40"/>
          <p:cNvSpPr/>
          <p:nvPr/>
        </p:nvSpPr>
        <p:spPr>
          <a:xfrm>
            <a:off x="5682002" y="1580826"/>
            <a:ext cx="230151" cy="914"/>
          </a:xfrm>
          <a:prstGeom prst="line">
            <a:avLst/>
          </a:prstGeom>
          <a:noFill/>
          <a:ln w="1905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3" name="Shape 41"/>
          <p:cNvSpPr/>
          <p:nvPr/>
        </p:nvSpPr>
        <p:spPr>
          <a:xfrm>
            <a:off x="6339575" y="1580826"/>
            <a:ext cx="230151" cy="914"/>
          </a:xfrm>
          <a:prstGeom prst="line">
            <a:avLst/>
          </a:prstGeom>
          <a:noFill/>
          <a:ln w="1905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4" name="Shape 42"/>
          <p:cNvSpPr/>
          <p:nvPr/>
        </p:nvSpPr>
        <p:spPr>
          <a:xfrm>
            <a:off x="6997148" y="1580826"/>
            <a:ext cx="230151" cy="914"/>
          </a:xfrm>
          <a:prstGeom prst="line">
            <a:avLst/>
          </a:prstGeom>
          <a:noFill/>
          <a:ln w="1905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5" name="Shape 43"/>
          <p:cNvSpPr/>
          <p:nvPr/>
        </p:nvSpPr>
        <p:spPr>
          <a:xfrm>
            <a:off x="7654721" y="1580826"/>
            <a:ext cx="230151" cy="914"/>
          </a:xfrm>
          <a:prstGeom prst="line">
            <a:avLst/>
          </a:prstGeom>
          <a:noFill/>
          <a:ln w="1905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6" name="Shape 44"/>
          <p:cNvSpPr/>
          <p:nvPr/>
        </p:nvSpPr>
        <p:spPr>
          <a:xfrm>
            <a:off x="8312294" y="1580826"/>
            <a:ext cx="230151" cy="914"/>
          </a:xfrm>
          <a:prstGeom prst="line">
            <a:avLst/>
          </a:prstGeom>
          <a:noFill/>
          <a:ln w="1905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7" name="Shape 45"/>
          <p:cNvSpPr/>
          <p:nvPr/>
        </p:nvSpPr>
        <p:spPr>
          <a:xfrm>
            <a:off x="1078992" y="3451460"/>
            <a:ext cx="328786" cy="181337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8" name="Shape 46"/>
          <p:cNvSpPr/>
          <p:nvPr/>
        </p:nvSpPr>
        <p:spPr>
          <a:xfrm>
            <a:off x="1407778" y="3632797"/>
            <a:ext cx="328786" cy="104985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9" name="Shape 47"/>
          <p:cNvSpPr/>
          <p:nvPr/>
        </p:nvSpPr>
        <p:spPr>
          <a:xfrm>
            <a:off x="1736565" y="3737781"/>
            <a:ext cx="328786" cy="28632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0" name="Shape 48"/>
          <p:cNvSpPr/>
          <p:nvPr/>
        </p:nvSpPr>
        <p:spPr>
          <a:xfrm flipV="1">
            <a:off x="2065351" y="3642341"/>
            <a:ext cx="328786" cy="124073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1" name="Shape 49"/>
          <p:cNvSpPr/>
          <p:nvPr/>
        </p:nvSpPr>
        <p:spPr>
          <a:xfrm flipV="1">
            <a:off x="2394138" y="3336931"/>
            <a:ext cx="328786" cy="305410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2" name="Shape 50"/>
          <p:cNvSpPr/>
          <p:nvPr/>
        </p:nvSpPr>
        <p:spPr>
          <a:xfrm flipV="1">
            <a:off x="2722924" y="2888361"/>
            <a:ext cx="328786" cy="448570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3" name="Shape 51"/>
          <p:cNvSpPr/>
          <p:nvPr/>
        </p:nvSpPr>
        <p:spPr>
          <a:xfrm flipV="1">
            <a:off x="3051711" y="2201189"/>
            <a:ext cx="328786" cy="687172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4" name="Shape 52"/>
          <p:cNvSpPr/>
          <p:nvPr/>
        </p:nvSpPr>
        <p:spPr>
          <a:xfrm flipV="1">
            <a:off x="3380497" y="1704899"/>
            <a:ext cx="328786" cy="496291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5" name="Shape 53"/>
          <p:cNvSpPr/>
          <p:nvPr/>
        </p:nvSpPr>
        <p:spPr>
          <a:xfrm>
            <a:off x="3709283" y="1704899"/>
            <a:ext cx="328786" cy="190881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6" name="Shape 54"/>
          <p:cNvSpPr/>
          <p:nvPr/>
        </p:nvSpPr>
        <p:spPr>
          <a:xfrm>
            <a:off x="4038070" y="1895780"/>
            <a:ext cx="328786" cy="229057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7" name="Shape 55"/>
          <p:cNvSpPr/>
          <p:nvPr/>
        </p:nvSpPr>
        <p:spPr>
          <a:xfrm flipV="1">
            <a:off x="4366856" y="2105749"/>
            <a:ext cx="328786" cy="19088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8" name="Shape 56"/>
          <p:cNvSpPr/>
          <p:nvPr/>
        </p:nvSpPr>
        <p:spPr>
          <a:xfrm flipV="1">
            <a:off x="4695643" y="2029397"/>
            <a:ext cx="328786" cy="76352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9" name="Shape 57"/>
          <p:cNvSpPr/>
          <p:nvPr/>
        </p:nvSpPr>
        <p:spPr>
          <a:xfrm flipV="1">
            <a:off x="5024429" y="2010308"/>
            <a:ext cx="328786" cy="19088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0" name="Shape 58"/>
          <p:cNvSpPr/>
          <p:nvPr/>
        </p:nvSpPr>
        <p:spPr>
          <a:xfrm flipV="1">
            <a:off x="5353216" y="1895780"/>
            <a:ext cx="328786" cy="114529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1" name="Shape 59"/>
          <p:cNvSpPr/>
          <p:nvPr/>
        </p:nvSpPr>
        <p:spPr>
          <a:xfrm flipV="1">
            <a:off x="5682002" y="1819427"/>
            <a:ext cx="328786" cy="76352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2" name="Shape 60"/>
          <p:cNvSpPr/>
          <p:nvPr/>
        </p:nvSpPr>
        <p:spPr>
          <a:xfrm flipV="1">
            <a:off x="6010789" y="1647635"/>
            <a:ext cx="328786" cy="171793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3" name="Shape 61"/>
          <p:cNvSpPr/>
          <p:nvPr/>
        </p:nvSpPr>
        <p:spPr>
          <a:xfrm flipV="1">
            <a:off x="6339575" y="1456754"/>
            <a:ext cx="328786" cy="190881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4" name="Shape 62"/>
          <p:cNvSpPr/>
          <p:nvPr/>
        </p:nvSpPr>
        <p:spPr>
          <a:xfrm>
            <a:off x="6668361" y="1456754"/>
            <a:ext cx="328786" cy="76352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5" name="Shape 63"/>
          <p:cNvSpPr/>
          <p:nvPr/>
        </p:nvSpPr>
        <p:spPr>
          <a:xfrm>
            <a:off x="6997148" y="1533106"/>
            <a:ext cx="328786" cy="276777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6" name="Shape 64"/>
          <p:cNvSpPr/>
          <p:nvPr/>
        </p:nvSpPr>
        <p:spPr>
          <a:xfrm>
            <a:off x="7325934" y="1809883"/>
            <a:ext cx="328786" cy="410394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7" name="Shape 65"/>
          <p:cNvSpPr/>
          <p:nvPr/>
        </p:nvSpPr>
        <p:spPr>
          <a:xfrm>
            <a:off x="7654721" y="2220278"/>
            <a:ext cx="328786" cy="267233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8" name="Shape 66"/>
          <p:cNvSpPr/>
          <p:nvPr/>
        </p:nvSpPr>
        <p:spPr>
          <a:xfrm>
            <a:off x="7983507" y="2487511"/>
            <a:ext cx="328786" cy="391306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9" name="Shape 67"/>
          <p:cNvSpPr/>
          <p:nvPr/>
        </p:nvSpPr>
        <p:spPr>
          <a:xfrm>
            <a:off x="8312294" y="2878817"/>
            <a:ext cx="328786" cy="372218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0" name="Shape 68"/>
          <p:cNvSpPr/>
          <p:nvPr/>
        </p:nvSpPr>
        <p:spPr>
          <a:xfrm>
            <a:off x="1078992" y="3356019"/>
            <a:ext cx="328786" cy="190881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1" name="Shape 69"/>
          <p:cNvSpPr/>
          <p:nvPr/>
        </p:nvSpPr>
        <p:spPr>
          <a:xfrm>
            <a:off x="1407778" y="3546900"/>
            <a:ext cx="328786" cy="114529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2" name="Shape 70"/>
          <p:cNvSpPr/>
          <p:nvPr/>
        </p:nvSpPr>
        <p:spPr>
          <a:xfrm>
            <a:off x="1736565" y="3661429"/>
            <a:ext cx="328786" cy="66808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3" name="Shape 71"/>
          <p:cNvSpPr/>
          <p:nvPr/>
        </p:nvSpPr>
        <p:spPr>
          <a:xfrm>
            <a:off x="2065351" y="3728237"/>
            <a:ext cx="328786" cy="914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4" name="Shape 72"/>
          <p:cNvSpPr/>
          <p:nvPr/>
        </p:nvSpPr>
        <p:spPr>
          <a:xfrm flipV="1">
            <a:off x="2394138" y="3642341"/>
            <a:ext cx="328786" cy="85896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5" name="Shape 73"/>
          <p:cNvSpPr/>
          <p:nvPr/>
        </p:nvSpPr>
        <p:spPr>
          <a:xfrm flipV="1">
            <a:off x="2722924" y="3441916"/>
            <a:ext cx="328786" cy="200425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6" name="Shape 74"/>
          <p:cNvSpPr/>
          <p:nvPr/>
        </p:nvSpPr>
        <p:spPr>
          <a:xfrm flipV="1">
            <a:off x="3051711" y="3241491"/>
            <a:ext cx="328786" cy="200425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7" name="Shape 75"/>
          <p:cNvSpPr/>
          <p:nvPr/>
        </p:nvSpPr>
        <p:spPr>
          <a:xfrm flipV="1">
            <a:off x="3380497" y="2974257"/>
            <a:ext cx="328786" cy="267233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8" name="Shape 76"/>
          <p:cNvSpPr/>
          <p:nvPr/>
        </p:nvSpPr>
        <p:spPr>
          <a:xfrm flipV="1">
            <a:off x="3709283" y="2678392"/>
            <a:ext cx="328786" cy="295866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9" name="Shape 77"/>
          <p:cNvSpPr/>
          <p:nvPr/>
        </p:nvSpPr>
        <p:spPr>
          <a:xfrm flipV="1">
            <a:off x="4038070" y="2411159"/>
            <a:ext cx="328786" cy="267233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0" name="Shape 78"/>
          <p:cNvSpPr/>
          <p:nvPr/>
        </p:nvSpPr>
        <p:spPr>
          <a:xfrm flipV="1">
            <a:off x="4366856" y="2201189"/>
            <a:ext cx="328786" cy="209969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1" name="Shape 79"/>
          <p:cNvSpPr/>
          <p:nvPr/>
        </p:nvSpPr>
        <p:spPr>
          <a:xfrm flipV="1">
            <a:off x="4695643" y="2115293"/>
            <a:ext cx="328786" cy="85896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2" name="Shape 80"/>
          <p:cNvSpPr/>
          <p:nvPr/>
        </p:nvSpPr>
        <p:spPr>
          <a:xfrm flipV="1">
            <a:off x="5024429" y="2105749"/>
            <a:ext cx="328786" cy="9544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3" name="Shape 81"/>
          <p:cNvSpPr/>
          <p:nvPr/>
        </p:nvSpPr>
        <p:spPr>
          <a:xfrm>
            <a:off x="5353216" y="2105749"/>
            <a:ext cx="328786" cy="9544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4" name="Shape 82"/>
          <p:cNvSpPr/>
          <p:nvPr/>
        </p:nvSpPr>
        <p:spPr>
          <a:xfrm>
            <a:off x="5682002" y="2115293"/>
            <a:ext cx="328786" cy="104985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5" name="Shape 83"/>
          <p:cNvSpPr/>
          <p:nvPr/>
        </p:nvSpPr>
        <p:spPr>
          <a:xfrm>
            <a:off x="6010789" y="2220278"/>
            <a:ext cx="328786" cy="95441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6" name="Shape 84"/>
          <p:cNvSpPr/>
          <p:nvPr/>
        </p:nvSpPr>
        <p:spPr>
          <a:xfrm>
            <a:off x="6339575" y="2315718"/>
            <a:ext cx="328786" cy="95441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7" name="Shape 85"/>
          <p:cNvSpPr/>
          <p:nvPr/>
        </p:nvSpPr>
        <p:spPr>
          <a:xfrm>
            <a:off x="6668361" y="2411159"/>
            <a:ext cx="328786" cy="76352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8" name="Shape 86"/>
          <p:cNvSpPr/>
          <p:nvPr/>
        </p:nvSpPr>
        <p:spPr>
          <a:xfrm>
            <a:off x="6997148" y="2487511"/>
            <a:ext cx="328786" cy="114529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9" name="Shape 87"/>
          <p:cNvSpPr/>
          <p:nvPr/>
        </p:nvSpPr>
        <p:spPr>
          <a:xfrm>
            <a:off x="7325934" y="2602040"/>
            <a:ext cx="328786" cy="171793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0" name="Shape 88"/>
          <p:cNvSpPr/>
          <p:nvPr/>
        </p:nvSpPr>
        <p:spPr>
          <a:xfrm>
            <a:off x="7654721" y="2773832"/>
            <a:ext cx="328786" cy="209969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1" name="Shape 89"/>
          <p:cNvSpPr/>
          <p:nvPr/>
        </p:nvSpPr>
        <p:spPr>
          <a:xfrm>
            <a:off x="7983507" y="2983802"/>
            <a:ext cx="328786" cy="181337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2" name="Shape 90"/>
          <p:cNvSpPr/>
          <p:nvPr/>
        </p:nvSpPr>
        <p:spPr>
          <a:xfrm>
            <a:off x="8312294" y="3165138"/>
            <a:ext cx="328786" cy="124073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3" name="Text 91"/>
          <p:cNvSpPr/>
          <p:nvPr/>
        </p:nvSpPr>
        <p:spPr>
          <a:xfrm>
            <a:off x="3389243" y="1467155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Peak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6348321" y="121901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Peak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1097280" y="4608576"/>
            <a:ext cx="347472" cy="914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6" name="Text 94"/>
          <p:cNvSpPr/>
          <p:nvPr/>
        </p:nvSpPr>
        <p:spPr>
          <a:xfrm>
            <a:off x="1508760" y="45171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3703320" y="4608576"/>
            <a:ext cx="347472" cy="914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8" name="Text 96"/>
          <p:cNvSpPr/>
          <p:nvPr/>
        </p:nvSpPr>
        <p:spPr>
          <a:xfrm>
            <a:off x="4114800" y="45171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6309360" y="4608576"/>
            <a:ext cx="347472" cy="914"/>
          </a:xfrm>
          <a:prstGeom prst="line">
            <a:avLst/>
          </a:prstGeom>
          <a:noFill/>
          <a:ln w="1905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0" name="Text 98"/>
          <p:cNvSpPr/>
          <p:nvPr/>
        </p:nvSpPr>
        <p:spPr>
          <a:xfrm>
            <a:off x="6720840" y="45171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threshold (2.77M)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Traffic Flow Heatmap  (Day × Hour)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Darker blue = higher average flow · Friday PM shows the highest congestion of the week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41080" y="201168"/>
            <a:ext cx="347472" cy="347472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E3F0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320040" y="48691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FlowShift  |  Urban Traffic &amp; Transit Demand — Los Angeles 2021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8691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" y="1173045"/>
            <a:ext cx="841248" cy="282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" y="1643307"/>
            <a:ext cx="841248" cy="282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" y="2113570"/>
            <a:ext cx="841248" cy="282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" y="2583833"/>
            <a:ext cx="841248" cy="282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" y="3054096"/>
            <a:ext cx="841248" cy="282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" y="3524359"/>
            <a:ext cx="841248" cy="282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" y="3994622"/>
            <a:ext cx="841248" cy="282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60120" y="1078992"/>
            <a:ext cx="322326" cy="461119"/>
          </a:xfrm>
          <a:prstGeom prst="rect">
            <a:avLst/>
          </a:prstGeom>
          <a:solidFill>
            <a:srgbClr val="B8C7D9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 16"/>
          <p:cNvSpPr/>
          <p:nvPr/>
        </p:nvSpPr>
        <p:spPr>
          <a:xfrm>
            <a:off x="1291590" y="1078992"/>
            <a:ext cx="322326" cy="461119"/>
          </a:xfrm>
          <a:prstGeom prst="rect">
            <a:avLst/>
          </a:prstGeom>
          <a:solidFill>
            <a:srgbClr val="C2D1E3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 17"/>
          <p:cNvSpPr/>
          <p:nvPr/>
        </p:nvSpPr>
        <p:spPr>
          <a:xfrm>
            <a:off x="1623060" y="1078992"/>
            <a:ext cx="322326" cy="461119"/>
          </a:xfrm>
          <a:prstGeom prst="rect">
            <a:avLst/>
          </a:prstGeom>
          <a:solidFill>
            <a:srgbClr val="C9D7E8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0" name="Shape 18"/>
          <p:cNvSpPr/>
          <p:nvPr/>
        </p:nvSpPr>
        <p:spPr>
          <a:xfrm>
            <a:off x="1954530" y="1078992"/>
            <a:ext cx="322326" cy="461119"/>
          </a:xfrm>
          <a:prstGeom prst="rect">
            <a:avLst/>
          </a:prstGeom>
          <a:solidFill>
            <a:srgbClr val="CBD9EA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 19"/>
          <p:cNvSpPr/>
          <p:nvPr/>
        </p:nvSpPr>
        <p:spPr>
          <a:xfrm>
            <a:off x="2286000" y="1078992"/>
            <a:ext cx="322326" cy="461119"/>
          </a:xfrm>
          <a:prstGeom prst="rect">
            <a:avLst/>
          </a:prstGeom>
          <a:solidFill>
            <a:srgbClr val="C5D3E5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2" name="Shape 20"/>
          <p:cNvSpPr/>
          <p:nvPr/>
        </p:nvSpPr>
        <p:spPr>
          <a:xfrm>
            <a:off x="2617470" y="1078992"/>
            <a:ext cx="322326" cy="461119"/>
          </a:xfrm>
          <a:prstGeom prst="rect">
            <a:avLst/>
          </a:prstGeom>
          <a:solidFill>
            <a:srgbClr val="B3C3D5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3" name="Shape 21"/>
          <p:cNvSpPr/>
          <p:nvPr/>
        </p:nvSpPr>
        <p:spPr>
          <a:xfrm>
            <a:off x="2948940" y="1078992"/>
            <a:ext cx="322326" cy="461119"/>
          </a:xfrm>
          <a:prstGeom prst="rect">
            <a:avLst/>
          </a:prstGeom>
          <a:solidFill>
            <a:srgbClr val="91A2B7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4" name="Shape 22"/>
          <p:cNvSpPr/>
          <p:nvPr/>
        </p:nvSpPr>
        <p:spPr>
          <a:xfrm>
            <a:off x="3280410" y="1078992"/>
            <a:ext cx="322326" cy="461119"/>
          </a:xfrm>
          <a:prstGeom prst="rect">
            <a:avLst/>
          </a:prstGeom>
          <a:solidFill>
            <a:srgbClr val="475C77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5" name="Shape 23"/>
          <p:cNvSpPr/>
          <p:nvPr/>
        </p:nvSpPr>
        <p:spPr>
          <a:xfrm>
            <a:off x="3611880" y="1078992"/>
            <a:ext cx="322326" cy="461119"/>
          </a:xfrm>
          <a:prstGeom prst="rect">
            <a:avLst/>
          </a:prstGeom>
          <a:solidFill>
            <a:srgbClr val="243C59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6" name="Shape 24"/>
          <p:cNvSpPr/>
          <p:nvPr/>
        </p:nvSpPr>
        <p:spPr>
          <a:xfrm>
            <a:off x="3943350" y="1078992"/>
            <a:ext cx="322326" cy="461119"/>
          </a:xfrm>
          <a:prstGeom prst="rect">
            <a:avLst/>
          </a:prstGeom>
          <a:solidFill>
            <a:srgbClr val="354C68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7" name="Shape 25"/>
          <p:cNvSpPr/>
          <p:nvPr/>
        </p:nvSpPr>
        <p:spPr>
          <a:xfrm>
            <a:off x="4274820" y="1078992"/>
            <a:ext cx="322326" cy="461119"/>
          </a:xfrm>
          <a:prstGeom prst="rect">
            <a:avLst/>
          </a:prstGeom>
          <a:solidFill>
            <a:srgbClr val="4F657E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8" name="Shape 26"/>
          <p:cNvSpPr/>
          <p:nvPr/>
        </p:nvSpPr>
        <p:spPr>
          <a:xfrm>
            <a:off x="4606290" y="1078992"/>
            <a:ext cx="322326" cy="461119"/>
          </a:xfrm>
          <a:prstGeom prst="rect">
            <a:avLst/>
          </a:prstGeom>
          <a:solidFill>
            <a:srgbClr val="566B84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9" name="Shape 27"/>
          <p:cNvSpPr/>
          <p:nvPr/>
        </p:nvSpPr>
        <p:spPr>
          <a:xfrm>
            <a:off x="4937760" y="1078992"/>
            <a:ext cx="322326" cy="461119"/>
          </a:xfrm>
          <a:prstGeom prst="rect">
            <a:avLst/>
          </a:prstGeom>
          <a:solidFill>
            <a:srgbClr val="4F657E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 28"/>
          <p:cNvSpPr/>
          <p:nvPr/>
        </p:nvSpPr>
        <p:spPr>
          <a:xfrm>
            <a:off x="5269230" y="1078992"/>
            <a:ext cx="322326" cy="461119"/>
          </a:xfrm>
          <a:prstGeom prst="rect">
            <a:avLst/>
          </a:prstGeom>
          <a:solidFill>
            <a:srgbClr val="4F657E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1" name="Shape 29"/>
          <p:cNvSpPr/>
          <p:nvPr/>
        </p:nvSpPr>
        <p:spPr>
          <a:xfrm>
            <a:off x="5600700" y="1078992"/>
            <a:ext cx="322326" cy="461119"/>
          </a:xfrm>
          <a:prstGeom prst="rect">
            <a:avLst/>
          </a:prstGeom>
          <a:solidFill>
            <a:srgbClr val="4B617B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2" name="Shape 30"/>
          <p:cNvSpPr/>
          <p:nvPr/>
        </p:nvSpPr>
        <p:spPr>
          <a:xfrm>
            <a:off x="5932170" y="1078992"/>
            <a:ext cx="322326" cy="461119"/>
          </a:xfrm>
          <a:prstGeom prst="rect">
            <a:avLst/>
          </a:prstGeom>
          <a:solidFill>
            <a:srgbClr val="425873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 31"/>
          <p:cNvSpPr/>
          <p:nvPr/>
        </p:nvSpPr>
        <p:spPr>
          <a:xfrm>
            <a:off x="6263640" y="1078992"/>
            <a:ext cx="322326" cy="461119"/>
          </a:xfrm>
          <a:prstGeom prst="rect">
            <a:avLst/>
          </a:prstGeom>
          <a:solidFill>
            <a:srgbClr val="314864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4" name="Shape 32"/>
          <p:cNvSpPr/>
          <p:nvPr/>
        </p:nvSpPr>
        <p:spPr>
          <a:xfrm>
            <a:off x="6595110" y="1078992"/>
            <a:ext cx="322326" cy="461119"/>
          </a:xfrm>
          <a:prstGeom prst="rect">
            <a:avLst/>
          </a:prstGeom>
          <a:solidFill>
            <a:srgbClr val="152D4B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5" name="Shape 33"/>
          <p:cNvSpPr/>
          <p:nvPr/>
        </p:nvSpPr>
        <p:spPr>
          <a:xfrm>
            <a:off x="6926580" y="1078992"/>
            <a:ext cx="322326" cy="461119"/>
          </a:xfrm>
          <a:prstGeom prst="rect">
            <a:avLst/>
          </a:prstGeom>
          <a:solidFill>
            <a:srgbClr val="203855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6" name="Shape 34"/>
          <p:cNvSpPr/>
          <p:nvPr/>
        </p:nvSpPr>
        <p:spPr>
          <a:xfrm>
            <a:off x="7258050" y="1078992"/>
            <a:ext cx="322326" cy="461119"/>
          </a:xfrm>
          <a:prstGeom prst="rect">
            <a:avLst/>
          </a:prstGeom>
          <a:solidFill>
            <a:srgbClr val="3A506C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7" name="Shape 35"/>
          <p:cNvSpPr/>
          <p:nvPr/>
        </p:nvSpPr>
        <p:spPr>
          <a:xfrm>
            <a:off x="7589520" y="1078992"/>
            <a:ext cx="322326" cy="461119"/>
          </a:xfrm>
          <a:prstGeom prst="rect">
            <a:avLst/>
          </a:prstGeom>
          <a:solidFill>
            <a:srgbClr val="61758E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8" name="Shape 36"/>
          <p:cNvSpPr/>
          <p:nvPr/>
        </p:nvSpPr>
        <p:spPr>
          <a:xfrm>
            <a:off x="7920990" y="1078992"/>
            <a:ext cx="322326" cy="461119"/>
          </a:xfrm>
          <a:prstGeom prst="rect">
            <a:avLst/>
          </a:prstGeom>
          <a:solidFill>
            <a:srgbClr val="8194AA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9" name="Shape 37"/>
          <p:cNvSpPr/>
          <p:nvPr/>
        </p:nvSpPr>
        <p:spPr>
          <a:xfrm>
            <a:off x="8252460" y="1078992"/>
            <a:ext cx="322326" cy="461119"/>
          </a:xfrm>
          <a:prstGeom prst="rect">
            <a:avLst/>
          </a:prstGeom>
          <a:solidFill>
            <a:srgbClr val="9BACC1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0" name="Shape 38"/>
          <p:cNvSpPr/>
          <p:nvPr/>
        </p:nvSpPr>
        <p:spPr>
          <a:xfrm>
            <a:off x="8583930" y="1078992"/>
            <a:ext cx="322326" cy="461119"/>
          </a:xfrm>
          <a:prstGeom prst="rect">
            <a:avLst/>
          </a:prstGeom>
          <a:solidFill>
            <a:srgbClr val="AFBFD2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1" name="Shape 39"/>
          <p:cNvSpPr/>
          <p:nvPr/>
        </p:nvSpPr>
        <p:spPr>
          <a:xfrm>
            <a:off x="960120" y="1549255"/>
            <a:ext cx="322326" cy="461119"/>
          </a:xfrm>
          <a:prstGeom prst="rect">
            <a:avLst/>
          </a:prstGeom>
          <a:solidFill>
            <a:srgbClr val="BCCBDD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2" name="Shape 40"/>
          <p:cNvSpPr/>
          <p:nvPr/>
        </p:nvSpPr>
        <p:spPr>
          <a:xfrm>
            <a:off x="1291590" y="1549255"/>
            <a:ext cx="322326" cy="461119"/>
          </a:xfrm>
          <a:prstGeom prst="rect">
            <a:avLst/>
          </a:prstGeom>
          <a:solidFill>
            <a:srgbClr val="C5D3E5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3" name="Shape 41"/>
          <p:cNvSpPr/>
          <p:nvPr/>
        </p:nvSpPr>
        <p:spPr>
          <a:xfrm>
            <a:off x="1623060" y="1549255"/>
            <a:ext cx="322326" cy="461119"/>
          </a:xfrm>
          <a:prstGeom prst="rect">
            <a:avLst/>
          </a:prstGeom>
          <a:solidFill>
            <a:srgbClr val="CBD9EA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4" name="Shape 42"/>
          <p:cNvSpPr/>
          <p:nvPr/>
        </p:nvSpPr>
        <p:spPr>
          <a:xfrm>
            <a:off x="1954530" y="1549255"/>
            <a:ext cx="322326" cy="461119"/>
          </a:xfrm>
          <a:prstGeom prst="rect">
            <a:avLst/>
          </a:prstGeom>
          <a:solidFill>
            <a:srgbClr val="CDDCEC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5" name="Shape 43"/>
          <p:cNvSpPr/>
          <p:nvPr/>
        </p:nvSpPr>
        <p:spPr>
          <a:xfrm>
            <a:off x="2286000" y="1549255"/>
            <a:ext cx="322326" cy="461119"/>
          </a:xfrm>
          <a:prstGeom prst="rect">
            <a:avLst/>
          </a:prstGeom>
          <a:solidFill>
            <a:srgbClr val="C7D5E6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6" name="Shape 44"/>
          <p:cNvSpPr/>
          <p:nvPr/>
        </p:nvSpPr>
        <p:spPr>
          <a:xfrm>
            <a:off x="2617470" y="1549255"/>
            <a:ext cx="322326" cy="461119"/>
          </a:xfrm>
          <a:prstGeom prst="rect">
            <a:avLst/>
          </a:prstGeom>
          <a:solidFill>
            <a:srgbClr val="B5C5D7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7" name="Shape 45"/>
          <p:cNvSpPr/>
          <p:nvPr/>
        </p:nvSpPr>
        <p:spPr>
          <a:xfrm>
            <a:off x="2948940" y="1549255"/>
            <a:ext cx="322326" cy="461119"/>
          </a:xfrm>
          <a:prstGeom prst="rect">
            <a:avLst/>
          </a:prstGeom>
          <a:solidFill>
            <a:srgbClr val="8C9EB3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8" name="Shape 46"/>
          <p:cNvSpPr/>
          <p:nvPr/>
        </p:nvSpPr>
        <p:spPr>
          <a:xfrm>
            <a:off x="3280410" y="1549255"/>
            <a:ext cx="322326" cy="461119"/>
          </a:xfrm>
          <a:prstGeom prst="rect">
            <a:avLst/>
          </a:prstGeom>
          <a:solidFill>
            <a:srgbClr val="425873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9" name="Shape 47"/>
          <p:cNvSpPr/>
          <p:nvPr/>
        </p:nvSpPr>
        <p:spPr>
          <a:xfrm>
            <a:off x="3611880" y="1549255"/>
            <a:ext cx="322326" cy="461119"/>
          </a:xfrm>
          <a:prstGeom prst="rect">
            <a:avLst/>
          </a:prstGeom>
          <a:solidFill>
            <a:srgbClr val="203855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0" name="Shape 48"/>
          <p:cNvSpPr/>
          <p:nvPr/>
        </p:nvSpPr>
        <p:spPr>
          <a:xfrm>
            <a:off x="3943350" y="1549255"/>
            <a:ext cx="322326" cy="461119"/>
          </a:xfrm>
          <a:prstGeom prst="rect">
            <a:avLst/>
          </a:prstGeom>
          <a:solidFill>
            <a:srgbClr val="314864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1" name="Shape 49"/>
          <p:cNvSpPr/>
          <p:nvPr/>
        </p:nvSpPr>
        <p:spPr>
          <a:xfrm>
            <a:off x="4274820" y="1549255"/>
            <a:ext cx="322326" cy="461119"/>
          </a:xfrm>
          <a:prstGeom prst="rect">
            <a:avLst/>
          </a:prstGeom>
          <a:solidFill>
            <a:srgbClr val="4B617B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2" name="Shape 50"/>
          <p:cNvSpPr/>
          <p:nvPr/>
        </p:nvSpPr>
        <p:spPr>
          <a:xfrm>
            <a:off x="4606290" y="1549255"/>
            <a:ext cx="322326" cy="461119"/>
          </a:xfrm>
          <a:prstGeom prst="rect">
            <a:avLst/>
          </a:prstGeom>
          <a:solidFill>
            <a:srgbClr val="526780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3" name="Shape 51"/>
          <p:cNvSpPr/>
          <p:nvPr/>
        </p:nvSpPr>
        <p:spPr>
          <a:xfrm>
            <a:off x="4937760" y="1549255"/>
            <a:ext cx="322326" cy="461119"/>
          </a:xfrm>
          <a:prstGeom prst="rect">
            <a:avLst/>
          </a:prstGeom>
          <a:solidFill>
            <a:srgbClr val="4B617B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4" name="Shape 52"/>
          <p:cNvSpPr/>
          <p:nvPr/>
        </p:nvSpPr>
        <p:spPr>
          <a:xfrm>
            <a:off x="5269230" y="1549255"/>
            <a:ext cx="322326" cy="461119"/>
          </a:xfrm>
          <a:prstGeom prst="rect">
            <a:avLst/>
          </a:prstGeom>
          <a:solidFill>
            <a:srgbClr val="4B617B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5" name="Shape 53"/>
          <p:cNvSpPr/>
          <p:nvPr/>
        </p:nvSpPr>
        <p:spPr>
          <a:xfrm>
            <a:off x="5600700" y="1549255"/>
            <a:ext cx="322326" cy="461119"/>
          </a:xfrm>
          <a:prstGeom prst="rect">
            <a:avLst/>
          </a:prstGeom>
          <a:solidFill>
            <a:srgbClr val="475C77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6" name="Shape 54"/>
          <p:cNvSpPr/>
          <p:nvPr/>
        </p:nvSpPr>
        <p:spPr>
          <a:xfrm>
            <a:off x="5932170" y="1549255"/>
            <a:ext cx="322326" cy="461119"/>
          </a:xfrm>
          <a:prstGeom prst="rect">
            <a:avLst/>
          </a:prstGeom>
          <a:solidFill>
            <a:srgbClr val="3E546F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7" name="Shape 55"/>
          <p:cNvSpPr/>
          <p:nvPr/>
        </p:nvSpPr>
        <p:spPr>
          <a:xfrm>
            <a:off x="6263640" y="1549255"/>
            <a:ext cx="322326" cy="461119"/>
          </a:xfrm>
          <a:prstGeom prst="rect">
            <a:avLst/>
          </a:prstGeom>
          <a:solidFill>
            <a:srgbClr val="2D4460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8" name="Shape 56"/>
          <p:cNvSpPr/>
          <p:nvPr/>
        </p:nvSpPr>
        <p:spPr>
          <a:xfrm>
            <a:off x="6595110" y="1549255"/>
            <a:ext cx="322326" cy="461119"/>
          </a:xfrm>
          <a:prstGeom prst="rect">
            <a:avLst/>
          </a:prstGeom>
          <a:solidFill>
            <a:srgbClr val="132B4A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9" name="Shape 57"/>
          <p:cNvSpPr/>
          <p:nvPr/>
        </p:nvSpPr>
        <p:spPr>
          <a:xfrm>
            <a:off x="6926580" y="1549255"/>
            <a:ext cx="322326" cy="461119"/>
          </a:xfrm>
          <a:prstGeom prst="rect">
            <a:avLst/>
          </a:prstGeom>
          <a:solidFill>
            <a:srgbClr val="1E3553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0" name="Shape 58"/>
          <p:cNvSpPr/>
          <p:nvPr/>
        </p:nvSpPr>
        <p:spPr>
          <a:xfrm>
            <a:off x="7258050" y="1549255"/>
            <a:ext cx="322326" cy="461119"/>
          </a:xfrm>
          <a:prstGeom prst="rect">
            <a:avLst/>
          </a:prstGeom>
          <a:solidFill>
            <a:srgbClr val="384E6A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1" name="Shape 59"/>
          <p:cNvSpPr/>
          <p:nvPr/>
        </p:nvSpPr>
        <p:spPr>
          <a:xfrm>
            <a:off x="7589520" y="1549255"/>
            <a:ext cx="322326" cy="461119"/>
          </a:xfrm>
          <a:prstGeom prst="rect">
            <a:avLst/>
          </a:prstGeom>
          <a:solidFill>
            <a:srgbClr val="5F738C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2" name="Shape 60"/>
          <p:cNvSpPr/>
          <p:nvPr/>
        </p:nvSpPr>
        <p:spPr>
          <a:xfrm>
            <a:off x="7920990" y="1549255"/>
            <a:ext cx="322326" cy="461119"/>
          </a:xfrm>
          <a:prstGeom prst="rect">
            <a:avLst/>
          </a:prstGeom>
          <a:solidFill>
            <a:srgbClr val="7F92A8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3" name="Shape 61"/>
          <p:cNvSpPr/>
          <p:nvPr/>
        </p:nvSpPr>
        <p:spPr>
          <a:xfrm>
            <a:off x="8252460" y="1549255"/>
            <a:ext cx="322326" cy="461119"/>
          </a:xfrm>
          <a:prstGeom prst="rect">
            <a:avLst/>
          </a:prstGeom>
          <a:solidFill>
            <a:srgbClr val="99AABF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4" name="Shape 62"/>
          <p:cNvSpPr/>
          <p:nvPr/>
        </p:nvSpPr>
        <p:spPr>
          <a:xfrm>
            <a:off x="8583930" y="1549255"/>
            <a:ext cx="322326" cy="461119"/>
          </a:xfrm>
          <a:prstGeom prst="rect">
            <a:avLst/>
          </a:prstGeom>
          <a:solidFill>
            <a:srgbClr val="B1C1D4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5" name="Shape 63"/>
          <p:cNvSpPr/>
          <p:nvPr/>
        </p:nvSpPr>
        <p:spPr>
          <a:xfrm>
            <a:off x="960120" y="2019518"/>
            <a:ext cx="322326" cy="461119"/>
          </a:xfrm>
          <a:prstGeom prst="rect">
            <a:avLst/>
          </a:prstGeom>
          <a:solidFill>
            <a:srgbClr val="BAC9DB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6" name="Shape 64"/>
          <p:cNvSpPr/>
          <p:nvPr/>
        </p:nvSpPr>
        <p:spPr>
          <a:xfrm>
            <a:off x="1291590" y="2019518"/>
            <a:ext cx="322326" cy="461119"/>
          </a:xfrm>
          <a:prstGeom prst="rect">
            <a:avLst/>
          </a:prstGeom>
          <a:solidFill>
            <a:srgbClr val="C5D3E5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7" name="Shape 65"/>
          <p:cNvSpPr/>
          <p:nvPr/>
        </p:nvSpPr>
        <p:spPr>
          <a:xfrm>
            <a:off x="1623060" y="2019518"/>
            <a:ext cx="322326" cy="461119"/>
          </a:xfrm>
          <a:prstGeom prst="rect">
            <a:avLst/>
          </a:prstGeom>
          <a:solidFill>
            <a:srgbClr val="CBD9EA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8" name="Shape 66"/>
          <p:cNvSpPr/>
          <p:nvPr/>
        </p:nvSpPr>
        <p:spPr>
          <a:xfrm>
            <a:off x="1954530" y="2019518"/>
            <a:ext cx="322326" cy="461119"/>
          </a:xfrm>
          <a:prstGeom prst="rect">
            <a:avLst/>
          </a:prstGeom>
          <a:solidFill>
            <a:srgbClr val="CDDCEC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9" name="Shape 67"/>
          <p:cNvSpPr/>
          <p:nvPr/>
        </p:nvSpPr>
        <p:spPr>
          <a:xfrm>
            <a:off x="2286000" y="2019518"/>
            <a:ext cx="322326" cy="461119"/>
          </a:xfrm>
          <a:prstGeom prst="rect">
            <a:avLst/>
          </a:prstGeom>
          <a:solidFill>
            <a:srgbClr val="C7D5E6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0" name="Shape 68"/>
          <p:cNvSpPr/>
          <p:nvPr/>
        </p:nvSpPr>
        <p:spPr>
          <a:xfrm>
            <a:off x="2617470" y="2019518"/>
            <a:ext cx="322326" cy="461119"/>
          </a:xfrm>
          <a:prstGeom prst="rect">
            <a:avLst/>
          </a:prstGeom>
          <a:solidFill>
            <a:srgbClr val="B3C3D5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1" name="Shape 69"/>
          <p:cNvSpPr/>
          <p:nvPr/>
        </p:nvSpPr>
        <p:spPr>
          <a:xfrm>
            <a:off x="2948940" y="2019518"/>
            <a:ext cx="322326" cy="461119"/>
          </a:xfrm>
          <a:prstGeom prst="rect">
            <a:avLst/>
          </a:prstGeom>
          <a:solidFill>
            <a:srgbClr val="8A9CB2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2" name="Shape 70"/>
          <p:cNvSpPr/>
          <p:nvPr/>
        </p:nvSpPr>
        <p:spPr>
          <a:xfrm>
            <a:off x="3280410" y="2019518"/>
            <a:ext cx="322326" cy="461119"/>
          </a:xfrm>
          <a:prstGeom prst="rect">
            <a:avLst/>
          </a:prstGeom>
          <a:solidFill>
            <a:srgbClr val="405671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3" name="Shape 71"/>
          <p:cNvSpPr/>
          <p:nvPr/>
        </p:nvSpPr>
        <p:spPr>
          <a:xfrm>
            <a:off x="3611880" y="2019518"/>
            <a:ext cx="322326" cy="461119"/>
          </a:xfrm>
          <a:prstGeom prst="rect">
            <a:avLst/>
          </a:prstGeom>
          <a:solidFill>
            <a:srgbClr val="1E3553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4" name="Shape 72"/>
          <p:cNvSpPr/>
          <p:nvPr/>
        </p:nvSpPr>
        <p:spPr>
          <a:xfrm>
            <a:off x="3943350" y="2019518"/>
            <a:ext cx="322326" cy="461119"/>
          </a:xfrm>
          <a:prstGeom prst="rect">
            <a:avLst/>
          </a:prstGeom>
          <a:solidFill>
            <a:srgbClr val="2F4662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5" name="Shape 73"/>
          <p:cNvSpPr/>
          <p:nvPr/>
        </p:nvSpPr>
        <p:spPr>
          <a:xfrm>
            <a:off x="4274820" y="2019518"/>
            <a:ext cx="322326" cy="461119"/>
          </a:xfrm>
          <a:prstGeom prst="rect">
            <a:avLst/>
          </a:prstGeom>
          <a:solidFill>
            <a:srgbClr val="495E79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6" name="Shape 74"/>
          <p:cNvSpPr/>
          <p:nvPr/>
        </p:nvSpPr>
        <p:spPr>
          <a:xfrm>
            <a:off x="4606290" y="2019518"/>
            <a:ext cx="322326" cy="461119"/>
          </a:xfrm>
          <a:prstGeom prst="rect">
            <a:avLst/>
          </a:prstGeom>
          <a:solidFill>
            <a:srgbClr val="4F657E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7" name="Shape 75"/>
          <p:cNvSpPr/>
          <p:nvPr/>
        </p:nvSpPr>
        <p:spPr>
          <a:xfrm>
            <a:off x="4937760" y="2019518"/>
            <a:ext cx="322326" cy="461119"/>
          </a:xfrm>
          <a:prstGeom prst="rect">
            <a:avLst/>
          </a:prstGeom>
          <a:solidFill>
            <a:srgbClr val="495E79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8" name="Shape 76"/>
          <p:cNvSpPr/>
          <p:nvPr/>
        </p:nvSpPr>
        <p:spPr>
          <a:xfrm>
            <a:off x="5269230" y="2019518"/>
            <a:ext cx="322326" cy="461119"/>
          </a:xfrm>
          <a:prstGeom prst="rect">
            <a:avLst/>
          </a:prstGeom>
          <a:solidFill>
            <a:srgbClr val="495E79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9" name="Shape 77"/>
          <p:cNvSpPr/>
          <p:nvPr/>
        </p:nvSpPr>
        <p:spPr>
          <a:xfrm>
            <a:off x="5600700" y="2019518"/>
            <a:ext cx="322326" cy="461119"/>
          </a:xfrm>
          <a:prstGeom prst="rect">
            <a:avLst/>
          </a:prstGeom>
          <a:solidFill>
            <a:srgbClr val="455A75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0" name="Shape 78"/>
          <p:cNvSpPr/>
          <p:nvPr/>
        </p:nvSpPr>
        <p:spPr>
          <a:xfrm>
            <a:off x="5932170" y="2019518"/>
            <a:ext cx="322326" cy="461119"/>
          </a:xfrm>
          <a:prstGeom prst="rect">
            <a:avLst/>
          </a:prstGeom>
          <a:solidFill>
            <a:srgbClr val="3C526D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1" name="Shape 79"/>
          <p:cNvSpPr/>
          <p:nvPr/>
        </p:nvSpPr>
        <p:spPr>
          <a:xfrm>
            <a:off x="6263640" y="2019518"/>
            <a:ext cx="322326" cy="461119"/>
          </a:xfrm>
          <a:prstGeom prst="rect">
            <a:avLst/>
          </a:prstGeom>
          <a:solidFill>
            <a:srgbClr val="2B425E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2" name="Shape 80"/>
          <p:cNvSpPr/>
          <p:nvPr/>
        </p:nvSpPr>
        <p:spPr>
          <a:xfrm>
            <a:off x="6595110" y="2019518"/>
            <a:ext cx="322326" cy="461119"/>
          </a:xfrm>
          <a:prstGeom prst="rect">
            <a:avLst/>
          </a:prstGeom>
          <a:solidFill>
            <a:srgbClr val="112948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3" name="Shape 81"/>
          <p:cNvSpPr/>
          <p:nvPr/>
        </p:nvSpPr>
        <p:spPr>
          <a:xfrm>
            <a:off x="6926580" y="2019518"/>
            <a:ext cx="322326" cy="461119"/>
          </a:xfrm>
          <a:prstGeom prst="rect">
            <a:avLst/>
          </a:prstGeom>
          <a:solidFill>
            <a:srgbClr val="1B3351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4" name="Shape 82"/>
          <p:cNvSpPr/>
          <p:nvPr/>
        </p:nvSpPr>
        <p:spPr>
          <a:xfrm>
            <a:off x="7258050" y="2019518"/>
            <a:ext cx="322326" cy="461119"/>
          </a:xfrm>
          <a:prstGeom prst="rect">
            <a:avLst/>
          </a:prstGeom>
          <a:solidFill>
            <a:srgbClr val="354C68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5" name="Shape 83"/>
          <p:cNvSpPr/>
          <p:nvPr/>
        </p:nvSpPr>
        <p:spPr>
          <a:xfrm>
            <a:off x="7589520" y="2019518"/>
            <a:ext cx="322326" cy="461119"/>
          </a:xfrm>
          <a:prstGeom prst="rect">
            <a:avLst/>
          </a:prstGeom>
          <a:solidFill>
            <a:srgbClr val="5C718A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6" name="Shape 84"/>
          <p:cNvSpPr/>
          <p:nvPr/>
        </p:nvSpPr>
        <p:spPr>
          <a:xfrm>
            <a:off x="7920990" y="2019518"/>
            <a:ext cx="322326" cy="461119"/>
          </a:xfrm>
          <a:prstGeom prst="rect">
            <a:avLst/>
          </a:prstGeom>
          <a:solidFill>
            <a:srgbClr val="7D90A6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7" name="Shape 85"/>
          <p:cNvSpPr/>
          <p:nvPr/>
        </p:nvSpPr>
        <p:spPr>
          <a:xfrm>
            <a:off x="8252460" y="2019518"/>
            <a:ext cx="322326" cy="461119"/>
          </a:xfrm>
          <a:prstGeom prst="rect">
            <a:avLst/>
          </a:prstGeom>
          <a:solidFill>
            <a:srgbClr val="97A8BD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8" name="Shape 86"/>
          <p:cNvSpPr/>
          <p:nvPr/>
        </p:nvSpPr>
        <p:spPr>
          <a:xfrm>
            <a:off x="8583930" y="2019518"/>
            <a:ext cx="322326" cy="461119"/>
          </a:xfrm>
          <a:prstGeom prst="rect">
            <a:avLst/>
          </a:prstGeom>
          <a:solidFill>
            <a:srgbClr val="AFBFD2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9" name="Shape 87"/>
          <p:cNvSpPr/>
          <p:nvPr/>
        </p:nvSpPr>
        <p:spPr>
          <a:xfrm>
            <a:off x="960120" y="2489781"/>
            <a:ext cx="322326" cy="461119"/>
          </a:xfrm>
          <a:prstGeom prst="rect">
            <a:avLst/>
          </a:prstGeom>
          <a:solidFill>
            <a:srgbClr val="B8C7D9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0" name="Shape 88"/>
          <p:cNvSpPr/>
          <p:nvPr/>
        </p:nvSpPr>
        <p:spPr>
          <a:xfrm>
            <a:off x="1291590" y="2489781"/>
            <a:ext cx="322326" cy="461119"/>
          </a:xfrm>
          <a:prstGeom prst="rect">
            <a:avLst/>
          </a:prstGeom>
          <a:solidFill>
            <a:srgbClr val="C2D1E3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1" name="Shape 89"/>
          <p:cNvSpPr/>
          <p:nvPr/>
        </p:nvSpPr>
        <p:spPr>
          <a:xfrm>
            <a:off x="1623060" y="2489781"/>
            <a:ext cx="322326" cy="461119"/>
          </a:xfrm>
          <a:prstGeom prst="rect">
            <a:avLst/>
          </a:prstGeom>
          <a:solidFill>
            <a:srgbClr val="C9D7E8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2" name="Shape 90"/>
          <p:cNvSpPr/>
          <p:nvPr/>
        </p:nvSpPr>
        <p:spPr>
          <a:xfrm>
            <a:off x="1954530" y="2489781"/>
            <a:ext cx="322326" cy="461119"/>
          </a:xfrm>
          <a:prstGeom prst="rect">
            <a:avLst/>
          </a:prstGeom>
          <a:solidFill>
            <a:srgbClr val="CBD9EA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3" name="Shape 91"/>
          <p:cNvSpPr/>
          <p:nvPr/>
        </p:nvSpPr>
        <p:spPr>
          <a:xfrm>
            <a:off x="2286000" y="2489781"/>
            <a:ext cx="322326" cy="461119"/>
          </a:xfrm>
          <a:prstGeom prst="rect">
            <a:avLst/>
          </a:prstGeom>
          <a:solidFill>
            <a:srgbClr val="C5D3E5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4" name="Shape 92"/>
          <p:cNvSpPr/>
          <p:nvPr/>
        </p:nvSpPr>
        <p:spPr>
          <a:xfrm>
            <a:off x="2617470" y="2489781"/>
            <a:ext cx="322326" cy="461119"/>
          </a:xfrm>
          <a:prstGeom prst="rect">
            <a:avLst/>
          </a:prstGeom>
          <a:solidFill>
            <a:srgbClr val="B1C1D4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5" name="Shape 93"/>
          <p:cNvSpPr/>
          <p:nvPr/>
        </p:nvSpPr>
        <p:spPr>
          <a:xfrm>
            <a:off x="2948940" y="2489781"/>
            <a:ext cx="322326" cy="461119"/>
          </a:xfrm>
          <a:prstGeom prst="rect">
            <a:avLst/>
          </a:prstGeom>
          <a:solidFill>
            <a:srgbClr val="889AB0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6" name="Shape 94"/>
          <p:cNvSpPr/>
          <p:nvPr/>
        </p:nvSpPr>
        <p:spPr>
          <a:xfrm>
            <a:off x="3280410" y="2489781"/>
            <a:ext cx="322326" cy="461119"/>
          </a:xfrm>
          <a:prstGeom prst="rect">
            <a:avLst/>
          </a:prstGeom>
          <a:solidFill>
            <a:srgbClr val="3E546F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7" name="Shape 95"/>
          <p:cNvSpPr/>
          <p:nvPr/>
        </p:nvSpPr>
        <p:spPr>
          <a:xfrm>
            <a:off x="3611880" y="2489781"/>
            <a:ext cx="322326" cy="461119"/>
          </a:xfrm>
          <a:prstGeom prst="rect">
            <a:avLst/>
          </a:prstGeom>
          <a:solidFill>
            <a:srgbClr val="223A57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8" name="Shape 96"/>
          <p:cNvSpPr/>
          <p:nvPr/>
        </p:nvSpPr>
        <p:spPr>
          <a:xfrm>
            <a:off x="3943350" y="2489781"/>
            <a:ext cx="322326" cy="461119"/>
          </a:xfrm>
          <a:prstGeom prst="rect">
            <a:avLst/>
          </a:prstGeom>
          <a:solidFill>
            <a:srgbClr val="334A66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9" name="Shape 97"/>
          <p:cNvSpPr/>
          <p:nvPr/>
        </p:nvSpPr>
        <p:spPr>
          <a:xfrm>
            <a:off x="4274820" y="2489781"/>
            <a:ext cx="322326" cy="461119"/>
          </a:xfrm>
          <a:prstGeom prst="rect">
            <a:avLst/>
          </a:prstGeom>
          <a:solidFill>
            <a:srgbClr val="4B617B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0" name="Shape 98"/>
          <p:cNvSpPr/>
          <p:nvPr/>
        </p:nvSpPr>
        <p:spPr>
          <a:xfrm>
            <a:off x="4606290" y="2489781"/>
            <a:ext cx="322326" cy="461119"/>
          </a:xfrm>
          <a:prstGeom prst="rect">
            <a:avLst/>
          </a:prstGeom>
          <a:solidFill>
            <a:srgbClr val="526780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1" name="Shape 99"/>
          <p:cNvSpPr/>
          <p:nvPr/>
        </p:nvSpPr>
        <p:spPr>
          <a:xfrm>
            <a:off x="4937760" y="2489781"/>
            <a:ext cx="322326" cy="461119"/>
          </a:xfrm>
          <a:prstGeom prst="rect">
            <a:avLst/>
          </a:prstGeom>
          <a:solidFill>
            <a:srgbClr val="4B617B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2" name="Shape 100"/>
          <p:cNvSpPr/>
          <p:nvPr/>
        </p:nvSpPr>
        <p:spPr>
          <a:xfrm>
            <a:off x="5269230" y="2489781"/>
            <a:ext cx="322326" cy="461119"/>
          </a:xfrm>
          <a:prstGeom prst="rect">
            <a:avLst/>
          </a:prstGeom>
          <a:solidFill>
            <a:srgbClr val="4B617B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3" name="Shape 101"/>
          <p:cNvSpPr/>
          <p:nvPr/>
        </p:nvSpPr>
        <p:spPr>
          <a:xfrm>
            <a:off x="5600700" y="2489781"/>
            <a:ext cx="322326" cy="461119"/>
          </a:xfrm>
          <a:prstGeom prst="rect">
            <a:avLst/>
          </a:prstGeom>
          <a:solidFill>
            <a:srgbClr val="475C77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4" name="Shape 102"/>
          <p:cNvSpPr/>
          <p:nvPr/>
        </p:nvSpPr>
        <p:spPr>
          <a:xfrm>
            <a:off x="5932170" y="2489781"/>
            <a:ext cx="322326" cy="461119"/>
          </a:xfrm>
          <a:prstGeom prst="rect">
            <a:avLst/>
          </a:prstGeom>
          <a:solidFill>
            <a:srgbClr val="3E546F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5" name="Shape 103"/>
          <p:cNvSpPr/>
          <p:nvPr/>
        </p:nvSpPr>
        <p:spPr>
          <a:xfrm>
            <a:off x="6263640" y="2489781"/>
            <a:ext cx="322326" cy="461119"/>
          </a:xfrm>
          <a:prstGeom prst="rect">
            <a:avLst/>
          </a:prstGeom>
          <a:solidFill>
            <a:srgbClr val="2D4460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6" name="Shape 104"/>
          <p:cNvSpPr/>
          <p:nvPr/>
        </p:nvSpPr>
        <p:spPr>
          <a:xfrm>
            <a:off x="6595110" y="2489781"/>
            <a:ext cx="322326" cy="461119"/>
          </a:xfrm>
          <a:prstGeom prst="rect">
            <a:avLst/>
          </a:prstGeom>
          <a:solidFill>
            <a:srgbClr val="132B4A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7" name="Shape 105"/>
          <p:cNvSpPr/>
          <p:nvPr/>
        </p:nvSpPr>
        <p:spPr>
          <a:xfrm>
            <a:off x="6926580" y="2489781"/>
            <a:ext cx="322326" cy="461119"/>
          </a:xfrm>
          <a:prstGeom prst="rect">
            <a:avLst/>
          </a:prstGeom>
          <a:solidFill>
            <a:srgbClr val="19314F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8" name="Shape 106"/>
          <p:cNvSpPr/>
          <p:nvPr/>
        </p:nvSpPr>
        <p:spPr>
          <a:xfrm>
            <a:off x="7258050" y="2489781"/>
            <a:ext cx="322326" cy="461119"/>
          </a:xfrm>
          <a:prstGeom prst="rect">
            <a:avLst/>
          </a:prstGeom>
          <a:solidFill>
            <a:srgbClr val="334A66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9" name="Shape 107"/>
          <p:cNvSpPr/>
          <p:nvPr/>
        </p:nvSpPr>
        <p:spPr>
          <a:xfrm>
            <a:off x="7589520" y="2489781"/>
            <a:ext cx="322326" cy="461119"/>
          </a:xfrm>
          <a:prstGeom prst="rect">
            <a:avLst/>
          </a:prstGeom>
          <a:solidFill>
            <a:srgbClr val="5A6F88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10" name="Shape 108"/>
          <p:cNvSpPr/>
          <p:nvPr/>
        </p:nvSpPr>
        <p:spPr>
          <a:xfrm>
            <a:off x="7920990" y="2489781"/>
            <a:ext cx="322326" cy="461119"/>
          </a:xfrm>
          <a:prstGeom prst="rect">
            <a:avLst/>
          </a:prstGeom>
          <a:solidFill>
            <a:srgbClr val="7B8EA4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11" name="Shape 109"/>
          <p:cNvSpPr/>
          <p:nvPr/>
        </p:nvSpPr>
        <p:spPr>
          <a:xfrm>
            <a:off x="8252460" y="2489781"/>
            <a:ext cx="322326" cy="461119"/>
          </a:xfrm>
          <a:prstGeom prst="rect">
            <a:avLst/>
          </a:prstGeom>
          <a:solidFill>
            <a:srgbClr val="95A6BB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12" name="Shape 110"/>
          <p:cNvSpPr/>
          <p:nvPr/>
        </p:nvSpPr>
        <p:spPr>
          <a:xfrm>
            <a:off x="8583930" y="2489781"/>
            <a:ext cx="322326" cy="461119"/>
          </a:xfrm>
          <a:prstGeom prst="rect">
            <a:avLst/>
          </a:prstGeom>
          <a:solidFill>
            <a:srgbClr val="ADBDD0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13" name="Shape 111"/>
          <p:cNvSpPr/>
          <p:nvPr/>
        </p:nvSpPr>
        <p:spPr>
          <a:xfrm>
            <a:off x="960120" y="2960043"/>
            <a:ext cx="322326" cy="461119"/>
          </a:xfrm>
          <a:prstGeom prst="rect">
            <a:avLst/>
          </a:prstGeom>
          <a:solidFill>
            <a:srgbClr val="B5C5D7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14" name="Shape 112"/>
          <p:cNvSpPr/>
          <p:nvPr/>
        </p:nvSpPr>
        <p:spPr>
          <a:xfrm>
            <a:off x="1291590" y="2960043"/>
            <a:ext cx="322326" cy="461119"/>
          </a:xfrm>
          <a:prstGeom prst="rect">
            <a:avLst/>
          </a:prstGeom>
          <a:solidFill>
            <a:srgbClr val="C0CFE1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15" name="Shape 113"/>
          <p:cNvSpPr/>
          <p:nvPr/>
        </p:nvSpPr>
        <p:spPr>
          <a:xfrm>
            <a:off x="1623060" y="2960043"/>
            <a:ext cx="322326" cy="461119"/>
          </a:xfrm>
          <a:prstGeom prst="rect">
            <a:avLst/>
          </a:prstGeom>
          <a:solidFill>
            <a:srgbClr val="C9D7E8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16" name="Shape 114"/>
          <p:cNvSpPr/>
          <p:nvPr/>
        </p:nvSpPr>
        <p:spPr>
          <a:xfrm>
            <a:off x="1954530" y="2960043"/>
            <a:ext cx="322326" cy="461119"/>
          </a:xfrm>
          <a:prstGeom prst="rect">
            <a:avLst/>
          </a:prstGeom>
          <a:solidFill>
            <a:srgbClr val="CBD9EA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17" name="Shape 115"/>
          <p:cNvSpPr/>
          <p:nvPr/>
        </p:nvSpPr>
        <p:spPr>
          <a:xfrm>
            <a:off x="2286000" y="2960043"/>
            <a:ext cx="322326" cy="461119"/>
          </a:xfrm>
          <a:prstGeom prst="rect">
            <a:avLst/>
          </a:prstGeom>
          <a:solidFill>
            <a:srgbClr val="C5D3E5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18" name="Shape 116"/>
          <p:cNvSpPr/>
          <p:nvPr/>
        </p:nvSpPr>
        <p:spPr>
          <a:xfrm>
            <a:off x="2617470" y="2960043"/>
            <a:ext cx="322326" cy="461119"/>
          </a:xfrm>
          <a:prstGeom prst="rect">
            <a:avLst/>
          </a:prstGeom>
          <a:solidFill>
            <a:srgbClr val="B1C1D4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19" name="Shape 117"/>
          <p:cNvSpPr/>
          <p:nvPr/>
        </p:nvSpPr>
        <p:spPr>
          <a:xfrm>
            <a:off x="2948940" y="2960043"/>
            <a:ext cx="322326" cy="461119"/>
          </a:xfrm>
          <a:prstGeom prst="rect">
            <a:avLst/>
          </a:prstGeom>
          <a:solidFill>
            <a:srgbClr val="8698AE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0" name="Shape 118"/>
          <p:cNvSpPr/>
          <p:nvPr/>
        </p:nvSpPr>
        <p:spPr>
          <a:xfrm>
            <a:off x="3280410" y="2960043"/>
            <a:ext cx="322326" cy="461119"/>
          </a:xfrm>
          <a:prstGeom prst="rect">
            <a:avLst/>
          </a:prstGeom>
          <a:solidFill>
            <a:srgbClr val="3C526D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1" name="Shape 119"/>
          <p:cNvSpPr/>
          <p:nvPr/>
        </p:nvSpPr>
        <p:spPr>
          <a:xfrm>
            <a:off x="3611880" y="2960043"/>
            <a:ext cx="322326" cy="461119"/>
          </a:xfrm>
          <a:prstGeom prst="rect">
            <a:avLst/>
          </a:prstGeom>
          <a:solidFill>
            <a:srgbClr val="203855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2" name="Shape 120"/>
          <p:cNvSpPr/>
          <p:nvPr/>
        </p:nvSpPr>
        <p:spPr>
          <a:xfrm>
            <a:off x="3943350" y="2960043"/>
            <a:ext cx="322326" cy="461119"/>
          </a:xfrm>
          <a:prstGeom prst="rect">
            <a:avLst/>
          </a:prstGeom>
          <a:solidFill>
            <a:srgbClr val="2F4662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3" name="Shape 121"/>
          <p:cNvSpPr/>
          <p:nvPr/>
        </p:nvSpPr>
        <p:spPr>
          <a:xfrm>
            <a:off x="4274820" y="2960043"/>
            <a:ext cx="322326" cy="461119"/>
          </a:xfrm>
          <a:prstGeom prst="rect">
            <a:avLst/>
          </a:prstGeom>
          <a:solidFill>
            <a:srgbClr val="455A75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4" name="Shape 122"/>
          <p:cNvSpPr/>
          <p:nvPr/>
        </p:nvSpPr>
        <p:spPr>
          <a:xfrm>
            <a:off x="4606290" y="2960043"/>
            <a:ext cx="322326" cy="461119"/>
          </a:xfrm>
          <a:prstGeom prst="rect">
            <a:avLst/>
          </a:prstGeom>
          <a:solidFill>
            <a:srgbClr val="4B617B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5" name="Shape 123"/>
          <p:cNvSpPr/>
          <p:nvPr/>
        </p:nvSpPr>
        <p:spPr>
          <a:xfrm>
            <a:off x="4937760" y="2960043"/>
            <a:ext cx="322326" cy="461119"/>
          </a:xfrm>
          <a:prstGeom prst="rect">
            <a:avLst/>
          </a:prstGeom>
          <a:solidFill>
            <a:srgbClr val="455A75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6" name="Shape 124"/>
          <p:cNvSpPr/>
          <p:nvPr/>
        </p:nvSpPr>
        <p:spPr>
          <a:xfrm>
            <a:off x="5269230" y="2960043"/>
            <a:ext cx="322326" cy="461119"/>
          </a:xfrm>
          <a:prstGeom prst="rect">
            <a:avLst/>
          </a:prstGeom>
          <a:solidFill>
            <a:srgbClr val="425873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7" name="Shape 125"/>
          <p:cNvSpPr/>
          <p:nvPr/>
        </p:nvSpPr>
        <p:spPr>
          <a:xfrm>
            <a:off x="5600700" y="2960043"/>
            <a:ext cx="322326" cy="461119"/>
          </a:xfrm>
          <a:prstGeom prst="rect">
            <a:avLst/>
          </a:prstGeom>
          <a:solidFill>
            <a:srgbClr val="3E546F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8" name="Shape 126"/>
          <p:cNvSpPr/>
          <p:nvPr/>
        </p:nvSpPr>
        <p:spPr>
          <a:xfrm>
            <a:off x="5932170" y="2960043"/>
            <a:ext cx="322326" cy="461119"/>
          </a:xfrm>
          <a:prstGeom prst="rect">
            <a:avLst/>
          </a:prstGeom>
          <a:solidFill>
            <a:srgbClr val="354C68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9" name="Shape 127"/>
          <p:cNvSpPr/>
          <p:nvPr/>
        </p:nvSpPr>
        <p:spPr>
          <a:xfrm>
            <a:off x="6263640" y="2960043"/>
            <a:ext cx="322326" cy="461119"/>
          </a:xfrm>
          <a:prstGeom prst="rect">
            <a:avLst/>
          </a:prstGeom>
          <a:solidFill>
            <a:srgbClr val="243C59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30" name="Shape 128"/>
          <p:cNvSpPr/>
          <p:nvPr/>
        </p:nvSpPr>
        <p:spPr>
          <a:xfrm>
            <a:off x="6595110" y="2960043"/>
            <a:ext cx="322326" cy="461119"/>
          </a:xfrm>
          <a:prstGeom prst="rect">
            <a:avLst/>
          </a:prstGeom>
          <a:solidFill>
            <a:srgbClr val="0A2342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31" name="Shape 129"/>
          <p:cNvSpPr/>
          <p:nvPr/>
        </p:nvSpPr>
        <p:spPr>
          <a:xfrm>
            <a:off x="6926580" y="2960043"/>
            <a:ext cx="322326" cy="461119"/>
          </a:xfrm>
          <a:prstGeom prst="rect">
            <a:avLst/>
          </a:prstGeom>
          <a:solidFill>
            <a:srgbClr val="132B4A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32" name="Shape 130"/>
          <p:cNvSpPr/>
          <p:nvPr/>
        </p:nvSpPr>
        <p:spPr>
          <a:xfrm>
            <a:off x="7258050" y="2960043"/>
            <a:ext cx="322326" cy="461119"/>
          </a:xfrm>
          <a:prstGeom prst="rect">
            <a:avLst/>
          </a:prstGeom>
          <a:solidFill>
            <a:srgbClr val="2D4460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33" name="Shape 131"/>
          <p:cNvSpPr/>
          <p:nvPr/>
        </p:nvSpPr>
        <p:spPr>
          <a:xfrm>
            <a:off x="7589520" y="2960043"/>
            <a:ext cx="322326" cy="461119"/>
          </a:xfrm>
          <a:prstGeom prst="rect">
            <a:avLst/>
          </a:prstGeom>
          <a:solidFill>
            <a:srgbClr val="546982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34" name="Shape 132"/>
          <p:cNvSpPr/>
          <p:nvPr/>
        </p:nvSpPr>
        <p:spPr>
          <a:xfrm>
            <a:off x="7920990" y="2960043"/>
            <a:ext cx="322326" cy="461119"/>
          </a:xfrm>
          <a:prstGeom prst="rect">
            <a:avLst/>
          </a:prstGeom>
          <a:solidFill>
            <a:srgbClr val="778AA1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35" name="Shape 133"/>
          <p:cNvSpPr/>
          <p:nvPr/>
        </p:nvSpPr>
        <p:spPr>
          <a:xfrm>
            <a:off x="8252460" y="2960043"/>
            <a:ext cx="322326" cy="461119"/>
          </a:xfrm>
          <a:prstGeom prst="rect">
            <a:avLst/>
          </a:prstGeom>
          <a:solidFill>
            <a:srgbClr val="91A2B7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36" name="Shape 134"/>
          <p:cNvSpPr/>
          <p:nvPr/>
        </p:nvSpPr>
        <p:spPr>
          <a:xfrm>
            <a:off x="8583930" y="2960043"/>
            <a:ext cx="322326" cy="461119"/>
          </a:xfrm>
          <a:prstGeom prst="rect">
            <a:avLst/>
          </a:prstGeom>
          <a:solidFill>
            <a:srgbClr val="A8B9CC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37" name="Shape 135"/>
          <p:cNvSpPr/>
          <p:nvPr/>
        </p:nvSpPr>
        <p:spPr>
          <a:xfrm>
            <a:off x="960120" y="3430306"/>
            <a:ext cx="322326" cy="461119"/>
          </a:xfrm>
          <a:prstGeom prst="rect">
            <a:avLst/>
          </a:prstGeom>
          <a:solidFill>
            <a:srgbClr val="ADBDD0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38" name="Shape 136"/>
          <p:cNvSpPr/>
          <p:nvPr/>
        </p:nvSpPr>
        <p:spPr>
          <a:xfrm>
            <a:off x="1291590" y="3430306"/>
            <a:ext cx="322326" cy="461119"/>
          </a:xfrm>
          <a:prstGeom prst="rect">
            <a:avLst/>
          </a:prstGeom>
          <a:solidFill>
            <a:srgbClr val="B8C7D9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39" name="Shape 137"/>
          <p:cNvSpPr/>
          <p:nvPr/>
        </p:nvSpPr>
        <p:spPr>
          <a:xfrm>
            <a:off x="1623060" y="3430306"/>
            <a:ext cx="322326" cy="461119"/>
          </a:xfrm>
          <a:prstGeom prst="rect">
            <a:avLst/>
          </a:prstGeom>
          <a:solidFill>
            <a:srgbClr val="C0CFE1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0" name="Shape 138"/>
          <p:cNvSpPr/>
          <p:nvPr/>
        </p:nvSpPr>
        <p:spPr>
          <a:xfrm>
            <a:off x="1954530" y="3430306"/>
            <a:ext cx="322326" cy="461119"/>
          </a:xfrm>
          <a:prstGeom prst="rect">
            <a:avLst/>
          </a:prstGeom>
          <a:solidFill>
            <a:srgbClr val="C7D5E6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1" name="Shape 139"/>
          <p:cNvSpPr/>
          <p:nvPr/>
        </p:nvSpPr>
        <p:spPr>
          <a:xfrm>
            <a:off x="2286000" y="3430306"/>
            <a:ext cx="322326" cy="461119"/>
          </a:xfrm>
          <a:prstGeom prst="rect">
            <a:avLst/>
          </a:prstGeom>
          <a:solidFill>
            <a:srgbClr val="C9D7E8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2" name="Shape 140"/>
          <p:cNvSpPr/>
          <p:nvPr/>
        </p:nvSpPr>
        <p:spPr>
          <a:xfrm>
            <a:off x="2617470" y="3430306"/>
            <a:ext cx="322326" cy="461119"/>
          </a:xfrm>
          <a:prstGeom prst="rect">
            <a:avLst/>
          </a:prstGeom>
          <a:solidFill>
            <a:srgbClr val="C5D3E5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3" name="Shape 141"/>
          <p:cNvSpPr/>
          <p:nvPr/>
        </p:nvSpPr>
        <p:spPr>
          <a:xfrm>
            <a:off x="2948940" y="3430306"/>
            <a:ext cx="322326" cy="461119"/>
          </a:xfrm>
          <a:prstGeom prst="rect">
            <a:avLst/>
          </a:prstGeom>
          <a:solidFill>
            <a:srgbClr val="B8C7D9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4" name="Shape 142"/>
          <p:cNvSpPr/>
          <p:nvPr/>
        </p:nvSpPr>
        <p:spPr>
          <a:xfrm>
            <a:off x="3280410" y="3430306"/>
            <a:ext cx="322326" cy="461119"/>
          </a:xfrm>
          <a:prstGeom prst="rect">
            <a:avLst/>
          </a:prstGeom>
          <a:solidFill>
            <a:srgbClr val="A2B3C6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5" name="Shape 143"/>
          <p:cNvSpPr/>
          <p:nvPr/>
        </p:nvSpPr>
        <p:spPr>
          <a:xfrm>
            <a:off x="3611880" y="3430306"/>
            <a:ext cx="322326" cy="461119"/>
          </a:xfrm>
          <a:prstGeom prst="rect">
            <a:avLst/>
          </a:prstGeom>
          <a:solidFill>
            <a:srgbClr val="8194AA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6" name="Shape 144"/>
          <p:cNvSpPr/>
          <p:nvPr/>
        </p:nvSpPr>
        <p:spPr>
          <a:xfrm>
            <a:off x="3943350" y="3430306"/>
            <a:ext cx="322326" cy="461119"/>
          </a:xfrm>
          <a:prstGeom prst="rect">
            <a:avLst/>
          </a:prstGeom>
          <a:solidFill>
            <a:srgbClr val="657991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7" name="Shape 145"/>
          <p:cNvSpPr/>
          <p:nvPr/>
        </p:nvSpPr>
        <p:spPr>
          <a:xfrm>
            <a:off x="4274820" y="3430306"/>
            <a:ext cx="322326" cy="461119"/>
          </a:xfrm>
          <a:prstGeom prst="rect">
            <a:avLst/>
          </a:prstGeom>
          <a:solidFill>
            <a:srgbClr val="4F657E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8" name="Shape 146"/>
          <p:cNvSpPr/>
          <p:nvPr/>
        </p:nvSpPr>
        <p:spPr>
          <a:xfrm>
            <a:off x="4606290" y="3430306"/>
            <a:ext cx="322326" cy="461119"/>
          </a:xfrm>
          <a:prstGeom prst="rect">
            <a:avLst/>
          </a:prstGeom>
          <a:solidFill>
            <a:srgbClr val="475C77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9" name="Shape 147"/>
          <p:cNvSpPr/>
          <p:nvPr/>
        </p:nvSpPr>
        <p:spPr>
          <a:xfrm>
            <a:off x="4937760" y="3430306"/>
            <a:ext cx="322326" cy="461119"/>
          </a:xfrm>
          <a:prstGeom prst="rect">
            <a:avLst/>
          </a:prstGeom>
          <a:solidFill>
            <a:srgbClr val="425873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0" name="Shape 148"/>
          <p:cNvSpPr/>
          <p:nvPr/>
        </p:nvSpPr>
        <p:spPr>
          <a:xfrm>
            <a:off x="5269230" y="3430306"/>
            <a:ext cx="322326" cy="461119"/>
          </a:xfrm>
          <a:prstGeom prst="rect">
            <a:avLst/>
          </a:prstGeom>
          <a:solidFill>
            <a:srgbClr val="455A75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1" name="Shape 149"/>
          <p:cNvSpPr/>
          <p:nvPr/>
        </p:nvSpPr>
        <p:spPr>
          <a:xfrm>
            <a:off x="5600700" y="3430306"/>
            <a:ext cx="322326" cy="461119"/>
          </a:xfrm>
          <a:prstGeom prst="rect">
            <a:avLst/>
          </a:prstGeom>
          <a:solidFill>
            <a:srgbClr val="475C77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2" name="Shape 150"/>
          <p:cNvSpPr/>
          <p:nvPr/>
        </p:nvSpPr>
        <p:spPr>
          <a:xfrm>
            <a:off x="5932170" y="3430306"/>
            <a:ext cx="322326" cy="461119"/>
          </a:xfrm>
          <a:prstGeom prst="rect">
            <a:avLst/>
          </a:prstGeom>
          <a:solidFill>
            <a:srgbClr val="4B617B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3" name="Shape 151"/>
          <p:cNvSpPr/>
          <p:nvPr/>
        </p:nvSpPr>
        <p:spPr>
          <a:xfrm>
            <a:off x="6263640" y="3430306"/>
            <a:ext cx="322326" cy="461119"/>
          </a:xfrm>
          <a:prstGeom prst="rect">
            <a:avLst/>
          </a:prstGeom>
          <a:solidFill>
            <a:srgbClr val="546982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4" name="Shape 152"/>
          <p:cNvSpPr/>
          <p:nvPr/>
        </p:nvSpPr>
        <p:spPr>
          <a:xfrm>
            <a:off x="6595110" y="3430306"/>
            <a:ext cx="322326" cy="461119"/>
          </a:xfrm>
          <a:prstGeom prst="rect">
            <a:avLst/>
          </a:prstGeom>
          <a:solidFill>
            <a:srgbClr val="5C718A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5" name="Shape 153"/>
          <p:cNvSpPr/>
          <p:nvPr/>
        </p:nvSpPr>
        <p:spPr>
          <a:xfrm>
            <a:off x="6926580" y="3430306"/>
            <a:ext cx="322326" cy="461119"/>
          </a:xfrm>
          <a:prstGeom prst="rect">
            <a:avLst/>
          </a:prstGeom>
          <a:solidFill>
            <a:srgbClr val="657991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6" name="Shape 154"/>
          <p:cNvSpPr/>
          <p:nvPr/>
        </p:nvSpPr>
        <p:spPr>
          <a:xfrm>
            <a:off x="7258050" y="3430306"/>
            <a:ext cx="322326" cy="461119"/>
          </a:xfrm>
          <a:prstGeom prst="rect">
            <a:avLst/>
          </a:prstGeom>
          <a:solidFill>
            <a:srgbClr val="72859D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7" name="Shape 155"/>
          <p:cNvSpPr/>
          <p:nvPr/>
        </p:nvSpPr>
        <p:spPr>
          <a:xfrm>
            <a:off x="7589520" y="3430306"/>
            <a:ext cx="322326" cy="461119"/>
          </a:xfrm>
          <a:prstGeom prst="rect">
            <a:avLst/>
          </a:prstGeom>
          <a:solidFill>
            <a:srgbClr val="8496AC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8" name="Shape 156"/>
          <p:cNvSpPr/>
          <p:nvPr/>
        </p:nvSpPr>
        <p:spPr>
          <a:xfrm>
            <a:off x="7920990" y="3430306"/>
            <a:ext cx="322326" cy="461119"/>
          </a:xfrm>
          <a:prstGeom prst="rect">
            <a:avLst/>
          </a:prstGeom>
          <a:solidFill>
            <a:srgbClr val="95A6BB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9" name="Shape 157"/>
          <p:cNvSpPr/>
          <p:nvPr/>
        </p:nvSpPr>
        <p:spPr>
          <a:xfrm>
            <a:off x="8252460" y="3430306"/>
            <a:ext cx="322326" cy="461119"/>
          </a:xfrm>
          <a:prstGeom prst="rect">
            <a:avLst/>
          </a:prstGeom>
          <a:solidFill>
            <a:srgbClr val="A2B3C6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0" name="Shape 158"/>
          <p:cNvSpPr/>
          <p:nvPr/>
        </p:nvSpPr>
        <p:spPr>
          <a:xfrm>
            <a:off x="8583930" y="3430306"/>
            <a:ext cx="322326" cy="461119"/>
          </a:xfrm>
          <a:prstGeom prst="rect">
            <a:avLst/>
          </a:prstGeom>
          <a:solidFill>
            <a:srgbClr val="ABBBCE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1" name="Shape 159"/>
          <p:cNvSpPr/>
          <p:nvPr/>
        </p:nvSpPr>
        <p:spPr>
          <a:xfrm>
            <a:off x="960120" y="3900569"/>
            <a:ext cx="322326" cy="461119"/>
          </a:xfrm>
          <a:prstGeom prst="rect">
            <a:avLst/>
          </a:prstGeom>
          <a:solidFill>
            <a:srgbClr val="AFBFD2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2" name="Shape 160"/>
          <p:cNvSpPr/>
          <p:nvPr/>
        </p:nvSpPr>
        <p:spPr>
          <a:xfrm>
            <a:off x="1291590" y="3900569"/>
            <a:ext cx="322326" cy="461119"/>
          </a:xfrm>
          <a:prstGeom prst="rect">
            <a:avLst/>
          </a:prstGeom>
          <a:solidFill>
            <a:srgbClr val="BAC9DB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3" name="Shape 161"/>
          <p:cNvSpPr/>
          <p:nvPr/>
        </p:nvSpPr>
        <p:spPr>
          <a:xfrm>
            <a:off x="1623060" y="3900569"/>
            <a:ext cx="322326" cy="461119"/>
          </a:xfrm>
          <a:prstGeom prst="rect">
            <a:avLst/>
          </a:prstGeom>
          <a:solidFill>
            <a:srgbClr val="C2D1E3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4" name="Shape 162"/>
          <p:cNvSpPr/>
          <p:nvPr/>
        </p:nvSpPr>
        <p:spPr>
          <a:xfrm>
            <a:off x="1954530" y="3900569"/>
            <a:ext cx="322326" cy="461119"/>
          </a:xfrm>
          <a:prstGeom prst="rect">
            <a:avLst/>
          </a:prstGeom>
          <a:solidFill>
            <a:srgbClr val="C9D7E8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5" name="Shape 163"/>
          <p:cNvSpPr/>
          <p:nvPr/>
        </p:nvSpPr>
        <p:spPr>
          <a:xfrm>
            <a:off x="2286000" y="3900569"/>
            <a:ext cx="322326" cy="461119"/>
          </a:xfrm>
          <a:prstGeom prst="rect">
            <a:avLst/>
          </a:prstGeom>
          <a:solidFill>
            <a:srgbClr val="CBD9EA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6" name="Shape 164"/>
          <p:cNvSpPr/>
          <p:nvPr/>
        </p:nvSpPr>
        <p:spPr>
          <a:xfrm>
            <a:off x="2617470" y="3900569"/>
            <a:ext cx="322326" cy="461119"/>
          </a:xfrm>
          <a:prstGeom prst="rect">
            <a:avLst/>
          </a:prstGeom>
          <a:solidFill>
            <a:srgbClr val="C7D5E6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7" name="Shape 165"/>
          <p:cNvSpPr/>
          <p:nvPr/>
        </p:nvSpPr>
        <p:spPr>
          <a:xfrm>
            <a:off x="2948940" y="3900569"/>
            <a:ext cx="322326" cy="461119"/>
          </a:xfrm>
          <a:prstGeom prst="rect">
            <a:avLst/>
          </a:prstGeom>
          <a:solidFill>
            <a:srgbClr val="BCCBDD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8" name="Shape 166"/>
          <p:cNvSpPr/>
          <p:nvPr/>
        </p:nvSpPr>
        <p:spPr>
          <a:xfrm>
            <a:off x="3280410" y="3900569"/>
            <a:ext cx="322326" cy="461119"/>
          </a:xfrm>
          <a:prstGeom prst="rect">
            <a:avLst/>
          </a:prstGeom>
          <a:solidFill>
            <a:srgbClr val="ABBBCE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9" name="Shape 167"/>
          <p:cNvSpPr/>
          <p:nvPr/>
        </p:nvSpPr>
        <p:spPr>
          <a:xfrm>
            <a:off x="3611880" y="3900569"/>
            <a:ext cx="322326" cy="461119"/>
          </a:xfrm>
          <a:prstGeom prst="rect">
            <a:avLst/>
          </a:prstGeom>
          <a:solidFill>
            <a:srgbClr val="8C9EB3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0" name="Shape 168"/>
          <p:cNvSpPr/>
          <p:nvPr/>
        </p:nvSpPr>
        <p:spPr>
          <a:xfrm>
            <a:off x="3943350" y="3900569"/>
            <a:ext cx="322326" cy="461119"/>
          </a:xfrm>
          <a:prstGeom prst="rect">
            <a:avLst/>
          </a:prstGeom>
          <a:solidFill>
            <a:srgbClr val="72859D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1" name="Shape 169"/>
          <p:cNvSpPr/>
          <p:nvPr/>
        </p:nvSpPr>
        <p:spPr>
          <a:xfrm>
            <a:off x="4274820" y="3900569"/>
            <a:ext cx="322326" cy="461119"/>
          </a:xfrm>
          <a:prstGeom prst="rect">
            <a:avLst/>
          </a:prstGeom>
          <a:solidFill>
            <a:srgbClr val="5C718A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2" name="Shape 170"/>
          <p:cNvSpPr/>
          <p:nvPr/>
        </p:nvSpPr>
        <p:spPr>
          <a:xfrm>
            <a:off x="4606290" y="3900569"/>
            <a:ext cx="322326" cy="461119"/>
          </a:xfrm>
          <a:prstGeom prst="rect">
            <a:avLst/>
          </a:prstGeom>
          <a:solidFill>
            <a:srgbClr val="546982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3" name="Shape 171"/>
          <p:cNvSpPr/>
          <p:nvPr/>
        </p:nvSpPr>
        <p:spPr>
          <a:xfrm>
            <a:off x="4937760" y="3900569"/>
            <a:ext cx="322326" cy="461119"/>
          </a:xfrm>
          <a:prstGeom prst="rect">
            <a:avLst/>
          </a:prstGeom>
          <a:solidFill>
            <a:srgbClr val="4F657E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4" name="Shape 172"/>
          <p:cNvSpPr/>
          <p:nvPr/>
        </p:nvSpPr>
        <p:spPr>
          <a:xfrm>
            <a:off x="5269230" y="3900569"/>
            <a:ext cx="322326" cy="461119"/>
          </a:xfrm>
          <a:prstGeom prst="rect">
            <a:avLst/>
          </a:prstGeom>
          <a:solidFill>
            <a:srgbClr val="526780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5" name="Shape 173"/>
          <p:cNvSpPr/>
          <p:nvPr/>
        </p:nvSpPr>
        <p:spPr>
          <a:xfrm>
            <a:off x="5600700" y="3900569"/>
            <a:ext cx="322326" cy="461119"/>
          </a:xfrm>
          <a:prstGeom prst="rect">
            <a:avLst/>
          </a:prstGeom>
          <a:solidFill>
            <a:srgbClr val="546982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6" name="Shape 174"/>
          <p:cNvSpPr/>
          <p:nvPr/>
        </p:nvSpPr>
        <p:spPr>
          <a:xfrm>
            <a:off x="5932170" y="3900569"/>
            <a:ext cx="322326" cy="461119"/>
          </a:xfrm>
          <a:prstGeom prst="rect">
            <a:avLst/>
          </a:prstGeom>
          <a:solidFill>
            <a:srgbClr val="586D86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7" name="Shape 175"/>
          <p:cNvSpPr/>
          <p:nvPr/>
        </p:nvSpPr>
        <p:spPr>
          <a:xfrm>
            <a:off x="6263640" y="3900569"/>
            <a:ext cx="322326" cy="461119"/>
          </a:xfrm>
          <a:prstGeom prst="rect">
            <a:avLst/>
          </a:prstGeom>
          <a:solidFill>
            <a:srgbClr val="61758E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8" name="Shape 176"/>
          <p:cNvSpPr/>
          <p:nvPr/>
        </p:nvSpPr>
        <p:spPr>
          <a:xfrm>
            <a:off x="6595110" y="3900569"/>
            <a:ext cx="322326" cy="461119"/>
          </a:xfrm>
          <a:prstGeom prst="rect">
            <a:avLst/>
          </a:prstGeom>
          <a:solidFill>
            <a:srgbClr val="697D95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9" name="Shape 177"/>
          <p:cNvSpPr/>
          <p:nvPr/>
        </p:nvSpPr>
        <p:spPr>
          <a:xfrm>
            <a:off x="6926580" y="3900569"/>
            <a:ext cx="322326" cy="461119"/>
          </a:xfrm>
          <a:prstGeom prst="rect">
            <a:avLst/>
          </a:prstGeom>
          <a:solidFill>
            <a:srgbClr val="72859D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80" name="Shape 178"/>
          <p:cNvSpPr/>
          <p:nvPr/>
        </p:nvSpPr>
        <p:spPr>
          <a:xfrm>
            <a:off x="7258050" y="3900569"/>
            <a:ext cx="322326" cy="461119"/>
          </a:xfrm>
          <a:prstGeom prst="rect">
            <a:avLst/>
          </a:prstGeom>
          <a:solidFill>
            <a:srgbClr val="7F92A8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81" name="Shape 179"/>
          <p:cNvSpPr/>
          <p:nvPr/>
        </p:nvSpPr>
        <p:spPr>
          <a:xfrm>
            <a:off x="7589520" y="3900569"/>
            <a:ext cx="322326" cy="461119"/>
          </a:xfrm>
          <a:prstGeom prst="rect">
            <a:avLst/>
          </a:prstGeom>
          <a:solidFill>
            <a:srgbClr val="91A2B7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82" name="Shape 180"/>
          <p:cNvSpPr/>
          <p:nvPr/>
        </p:nvSpPr>
        <p:spPr>
          <a:xfrm>
            <a:off x="7920990" y="3900569"/>
            <a:ext cx="322326" cy="461119"/>
          </a:xfrm>
          <a:prstGeom prst="rect">
            <a:avLst/>
          </a:prstGeom>
          <a:solidFill>
            <a:srgbClr val="9EAEC3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83" name="Shape 181"/>
          <p:cNvSpPr/>
          <p:nvPr/>
        </p:nvSpPr>
        <p:spPr>
          <a:xfrm>
            <a:off x="8252460" y="3900569"/>
            <a:ext cx="322326" cy="461119"/>
          </a:xfrm>
          <a:prstGeom prst="rect">
            <a:avLst/>
          </a:prstGeom>
          <a:solidFill>
            <a:srgbClr val="A8B9CC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84" name="Shape 182"/>
          <p:cNvSpPr/>
          <p:nvPr/>
        </p:nvSpPr>
        <p:spPr>
          <a:xfrm>
            <a:off x="8583930" y="3900569"/>
            <a:ext cx="322326" cy="461119"/>
          </a:xfrm>
          <a:prstGeom prst="rect">
            <a:avLst/>
          </a:prstGeom>
          <a:solidFill>
            <a:srgbClr val="ADBDD0"/>
          </a:solidFill>
          <a:ln w="381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85" name="Text 183"/>
          <p:cNvSpPr/>
          <p:nvPr/>
        </p:nvSpPr>
        <p:spPr>
          <a:xfrm>
            <a:off x="960120" y="4407408"/>
            <a:ext cx="9944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850" dirty="0"/>
          </a:p>
        </p:txBody>
      </p:sp>
      <p:sp>
        <p:nvSpPr>
          <p:cNvPr id="186" name="Text 184"/>
          <p:cNvSpPr/>
          <p:nvPr/>
        </p:nvSpPr>
        <p:spPr>
          <a:xfrm>
            <a:off x="1954530" y="4407408"/>
            <a:ext cx="9944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</a:t>
            </a:r>
            <a:endParaRPr lang="en-US" sz="850" dirty="0"/>
          </a:p>
        </p:txBody>
      </p:sp>
      <p:sp>
        <p:nvSpPr>
          <p:cNvPr id="187" name="Text 185"/>
          <p:cNvSpPr/>
          <p:nvPr/>
        </p:nvSpPr>
        <p:spPr>
          <a:xfrm>
            <a:off x="2948940" y="4407408"/>
            <a:ext cx="9944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</a:t>
            </a:r>
            <a:endParaRPr lang="en-US" sz="850" dirty="0"/>
          </a:p>
        </p:txBody>
      </p:sp>
      <p:sp>
        <p:nvSpPr>
          <p:cNvPr id="188" name="Text 186"/>
          <p:cNvSpPr/>
          <p:nvPr/>
        </p:nvSpPr>
        <p:spPr>
          <a:xfrm>
            <a:off x="3943350" y="4407408"/>
            <a:ext cx="9944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</a:t>
            </a:r>
            <a:endParaRPr lang="en-US" sz="850" dirty="0"/>
          </a:p>
        </p:txBody>
      </p:sp>
      <p:sp>
        <p:nvSpPr>
          <p:cNvPr id="189" name="Text 187"/>
          <p:cNvSpPr/>
          <p:nvPr/>
        </p:nvSpPr>
        <p:spPr>
          <a:xfrm>
            <a:off x="4937760" y="4407408"/>
            <a:ext cx="9944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850" dirty="0"/>
          </a:p>
        </p:txBody>
      </p:sp>
      <p:sp>
        <p:nvSpPr>
          <p:cNvPr id="190" name="Text 188"/>
          <p:cNvSpPr/>
          <p:nvPr/>
        </p:nvSpPr>
        <p:spPr>
          <a:xfrm>
            <a:off x="5932170" y="4407408"/>
            <a:ext cx="9944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850" dirty="0"/>
          </a:p>
        </p:txBody>
      </p:sp>
      <p:sp>
        <p:nvSpPr>
          <p:cNvPr id="191" name="Text 189"/>
          <p:cNvSpPr/>
          <p:nvPr/>
        </p:nvSpPr>
        <p:spPr>
          <a:xfrm>
            <a:off x="6926580" y="4407408"/>
            <a:ext cx="9944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850" dirty="0"/>
          </a:p>
        </p:txBody>
      </p:sp>
      <p:sp>
        <p:nvSpPr>
          <p:cNvPr id="192" name="Text 190"/>
          <p:cNvSpPr/>
          <p:nvPr/>
        </p:nvSpPr>
        <p:spPr>
          <a:xfrm>
            <a:off x="7920990" y="4407408"/>
            <a:ext cx="9944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21:00</a:t>
            </a:r>
            <a:endParaRPr lang="en-US" sz="850" dirty="0"/>
          </a:p>
        </p:txBody>
      </p:sp>
      <p:sp>
        <p:nvSpPr>
          <p:cNvPr id="193" name="Shape 191"/>
          <p:cNvSpPr/>
          <p:nvPr/>
        </p:nvSpPr>
        <p:spPr>
          <a:xfrm>
            <a:off x="960120" y="4663440"/>
            <a:ext cx="88697" cy="164592"/>
          </a:xfrm>
          <a:prstGeom prst="rect">
            <a:avLst/>
          </a:prstGeom>
          <a:solidFill>
            <a:srgbClr val="E3F0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94" name="Shape 192"/>
          <p:cNvSpPr/>
          <p:nvPr/>
        </p:nvSpPr>
        <p:spPr>
          <a:xfrm>
            <a:off x="1039673" y="4663440"/>
            <a:ext cx="88697" cy="164592"/>
          </a:xfrm>
          <a:prstGeom prst="rect">
            <a:avLst/>
          </a:prstGeom>
          <a:solidFill>
            <a:srgbClr val="E1EEFD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95" name="Shape 193"/>
          <p:cNvSpPr/>
          <p:nvPr/>
        </p:nvSpPr>
        <p:spPr>
          <a:xfrm>
            <a:off x="1119226" y="4663440"/>
            <a:ext cx="88697" cy="164592"/>
          </a:xfrm>
          <a:prstGeom prst="rect">
            <a:avLst/>
          </a:prstGeom>
          <a:solidFill>
            <a:srgbClr val="DFECFB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96" name="Shape 194"/>
          <p:cNvSpPr/>
          <p:nvPr/>
        </p:nvSpPr>
        <p:spPr>
          <a:xfrm>
            <a:off x="1198778" y="4663440"/>
            <a:ext cx="88697" cy="164592"/>
          </a:xfrm>
          <a:prstGeom prst="rect">
            <a:avLst/>
          </a:prstGeom>
          <a:solidFill>
            <a:srgbClr val="DCEAF9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97" name="Shape 195"/>
          <p:cNvSpPr/>
          <p:nvPr/>
        </p:nvSpPr>
        <p:spPr>
          <a:xfrm>
            <a:off x="1278331" y="4663440"/>
            <a:ext cx="88697" cy="164592"/>
          </a:xfrm>
          <a:prstGeom prst="rect">
            <a:avLst/>
          </a:prstGeom>
          <a:solidFill>
            <a:srgbClr val="DAE8F7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98" name="Shape 196"/>
          <p:cNvSpPr/>
          <p:nvPr/>
        </p:nvSpPr>
        <p:spPr>
          <a:xfrm>
            <a:off x="1357884" y="4663440"/>
            <a:ext cx="88697" cy="164592"/>
          </a:xfrm>
          <a:prstGeom prst="rect">
            <a:avLst/>
          </a:prstGeom>
          <a:solidFill>
            <a:srgbClr val="D8E6F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99" name="Shape 197"/>
          <p:cNvSpPr/>
          <p:nvPr/>
        </p:nvSpPr>
        <p:spPr>
          <a:xfrm>
            <a:off x="1437437" y="4663440"/>
            <a:ext cx="88697" cy="164592"/>
          </a:xfrm>
          <a:prstGeom prst="rect">
            <a:avLst/>
          </a:prstGeom>
          <a:solidFill>
            <a:srgbClr val="D6E4F4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00" name="Shape 198"/>
          <p:cNvSpPr/>
          <p:nvPr/>
        </p:nvSpPr>
        <p:spPr>
          <a:xfrm>
            <a:off x="1516990" y="4663440"/>
            <a:ext cx="88697" cy="164592"/>
          </a:xfrm>
          <a:prstGeom prst="rect">
            <a:avLst/>
          </a:prstGeom>
          <a:solidFill>
            <a:srgbClr val="D4E2F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01" name="Shape 199"/>
          <p:cNvSpPr/>
          <p:nvPr/>
        </p:nvSpPr>
        <p:spPr>
          <a:xfrm>
            <a:off x="1596542" y="4663440"/>
            <a:ext cx="88697" cy="164592"/>
          </a:xfrm>
          <a:prstGeom prst="rect">
            <a:avLst/>
          </a:prstGeom>
          <a:solidFill>
            <a:srgbClr val="D1DFF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02" name="Shape 200"/>
          <p:cNvSpPr/>
          <p:nvPr/>
        </p:nvSpPr>
        <p:spPr>
          <a:xfrm>
            <a:off x="1676095" y="4663440"/>
            <a:ext cx="88697" cy="164592"/>
          </a:xfrm>
          <a:prstGeom prst="rect">
            <a:avLst/>
          </a:prstGeom>
          <a:solidFill>
            <a:srgbClr val="CFDDE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03" name="Shape 201"/>
          <p:cNvSpPr/>
          <p:nvPr/>
        </p:nvSpPr>
        <p:spPr>
          <a:xfrm>
            <a:off x="1755648" y="4663440"/>
            <a:ext cx="88697" cy="164592"/>
          </a:xfrm>
          <a:prstGeom prst="rect">
            <a:avLst/>
          </a:prstGeom>
          <a:solidFill>
            <a:srgbClr val="CDDBE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04" name="Shape 202"/>
          <p:cNvSpPr/>
          <p:nvPr/>
        </p:nvSpPr>
        <p:spPr>
          <a:xfrm>
            <a:off x="1835201" y="4663440"/>
            <a:ext cx="88697" cy="164592"/>
          </a:xfrm>
          <a:prstGeom prst="rect">
            <a:avLst/>
          </a:prstGeom>
          <a:solidFill>
            <a:srgbClr val="CBD9E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05" name="Shape 203"/>
          <p:cNvSpPr/>
          <p:nvPr/>
        </p:nvSpPr>
        <p:spPr>
          <a:xfrm>
            <a:off x="1914754" y="4663440"/>
            <a:ext cx="88697" cy="164592"/>
          </a:xfrm>
          <a:prstGeom prst="rect">
            <a:avLst/>
          </a:prstGeom>
          <a:solidFill>
            <a:srgbClr val="C9D7E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06" name="Shape 204"/>
          <p:cNvSpPr/>
          <p:nvPr/>
        </p:nvSpPr>
        <p:spPr>
          <a:xfrm>
            <a:off x="1994306" y="4663440"/>
            <a:ext cx="88697" cy="164592"/>
          </a:xfrm>
          <a:prstGeom prst="rect">
            <a:avLst/>
          </a:prstGeom>
          <a:solidFill>
            <a:srgbClr val="C7D5E6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07" name="Shape 205"/>
          <p:cNvSpPr/>
          <p:nvPr/>
        </p:nvSpPr>
        <p:spPr>
          <a:xfrm>
            <a:off x="2073859" y="4663440"/>
            <a:ext cx="88697" cy="164592"/>
          </a:xfrm>
          <a:prstGeom prst="rect">
            <a:avLst/>
          </a:prstGeom>
          <a:solidFill>
            <a:srgbClr val="C4D3E4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08" name="Shape 206"/>
          <p:cNvSpPr/>
          <p:nvPr/>
        </p:nvSpPr>
        <p:spPr>
          <a:xfrm>
            <a:off x="2153412" y="4663440"/>
            <a:ext cx="88697" cy="164592"/>
          </a:xfrm>
          <a:prstGeom prst="rect">
            <a:avLst/>
          </a:prstGeom>
          <a:solidFill>
            <a:srgbClr val="C2D1E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09" name="Shape 207"/>
          <p:cNvSpPr/>
          <p:nvPr/>
        </p:nvSpPr>
        <p:spPr>
          <a:xfrm>
            <a:off x="2232965" y="4663440"/>
            <a:ext cx="88697" cy="164592"/>
          </a:xfrm>
          <a:prstGeom prst="rect">
            <a:avLst/>
          </a:prstGeom>
          <a:solidFill>
            <a:srgbClr val="C0CFE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0" name="Shape 208"/>
          <p:cNvSpPr/>
          <p:nvPr/>
        </p:nvSpPr>
        <p:spPr>
          <a:xfrm>
            <a:off x="2312518" y="4663440"/>
            <a:ext cx="88697" cy="164592"/>
          </a:xfrm>
          <a:prstGeom prst="rect">
            <a:avLst/>
          </a:prstGeom>
          <a:solidFill>
            <a:srgbClr val="BECDD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1" name="Shape 209"/>
          <p:cNvSpPr/>
          <p:nvPr/>
        </p:nvSpPr>
        <p:spPr>
          <a:xfrm>
            <a:off x="2392070" y="4663440"/>
            <a:ext cx="88697" cy="164592"/>
          </a:xfrm>
          <a:prstGeom prst="rect">
            <a:avLst/>
          </a:prstGeom>
          <a:solidFill>
            <a:srgbClr val="BCCBDD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2" name="Shape 210"/>
          <p:cNvSpPr/>
          <p:nvPr/>
        </p:nvSpPr>
        <p:spPr>
          <a:xfrm>
            <a:off x="2471623" y="4663440"/>
            <a:ext cx="88697" cy="164592"/>
          </a:xfrm>
          <a:prstGeom prst="rect">
            <a:avLst/>
          </a:prstGeom>
          <a:solidFill>
            <a:srgbClr val="B9C9DB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3" name="Shape 211"/>
          <p:cNvSpPr/>
          <p:nvPr/>
        </p:nvSpPr>
        <p:spPr>
          <a:xfrm>
            <a:off x="2551176" y="4663440"/>
            <a:ext cx="88697" cy="164592"/>
          </a:xfrm>
          <a:prstGeom prst="rect">
            <a:avLst/>
          </a:prstGeom>
          <a:solidFill>
            <a:srgbClr val="B7C7D9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4" name="Shape 212"/>
          <p:cNvSpPr/>
          <p:nvPr/>
        </p:nvSpPr>
        <p:spPr>
          <a:xfrm>
            <a:off x="2630729" y="4663440"/>
            <a:ext cx="88697" cy="164592"/>
          </a:xfrm>
          <a:prstGeom prst="rect">
            <a:avLst/>
          </a:prstGeom>
          <a:solidFill>
            <a:srgbClr val="B5C5D7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5" name="Shape 213"/>
          <p:cNvSpPr/>
          <p:nvPr/>
        </p:nvSpPr>
        <p:spPr>
          <a:xfrm>
            <a:off x="2710282" y="4663440"/>
            <a:ext cx="88697" cy="164592"/>
          </a:xfrm>
          <a:prstGeom prst="rect">
            <a:avLst/>
          </a:prstGeom>
          <a:solidFill>
            <a:srgbClr val="B3C2D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6" name="Shape 214"/>
          <p:cNvSpPr/>
          <p:nvPr/>
        </p:nvSpPr>
        <p:spPr>
          <a:xfrm>
            <a:off x="2789834" y="4663440"/>
            <a:ext cx="88697" cy="164592"/>
          </a:xfrm>
          <a:prstGeom prst="rect">
            <a:avLst/>
          </a:prstGeom>
          <a:solidFill>
            <a:srgbClr val="B1C0D3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7" name="Shape 215"/>
          <p:cNvSpPr/>
          <p:nvPr/>
        </p:nvSpPr>
        <p:spPr>
          <a:xfrm>
            <a:off x="2869387" y="4663440"/>
            <a:ext cx="88697" cy="164592"/>
          </a:xfrm>
          <a:prstGeom prst="rect">
            <a:avLst/>
          </a:prstGeom>
          <a:solidFill>
            <a:srgbClr val="AEBED1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8" name="Shape 216"/>
          <p:cNvSpPr/>
          <p:nvPr/>
        </p:nvSpPr>
        <p:spPr>
          <a:xfrm>
            <a:off x="2948940" y="4663440"/>
            <a:ext cx="88697" cy="164592"/>
          </a:xfrm>
          <a:prstGeom prst="rect">
            <a:avLst/>
          </a:prstGeom>
          <a:solidFill>
            <a:srgbClr val="ACBCC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9" name="Shape 217"/>
          <p:cNvSpPr/>
          <p:nvPr/>
        </p:nvSpPr>
        <p:spPr>
          <a:xfrm>
            <a:off x="3028493" y="4663440"/>
            <a:ext cx="88697" cy="164592"/>
          </a:xfrm>
          <a:prstGeom prst="rect">
            <a:avLst/>
          </a:prstGeom>
          <a:solidFill>
            <a:srgbClr val="AABACD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20" name="Shape 218"/>
          <p:cNvSpPr/>
          <p:nvPr/>
        </p:nvSpPr>
        <p:spPr>
          <a:xfrm>
            <a:off x="3108046" y="4663440"/>
            <a:ext cx="88697" cy="164592"/>
          </a:xfrm>
          <a:prstGeom prst="rect">
            <a:avLst/>
          </a:prstGeom>
          <a:solidFill>
            <a:srgbClr val="A8B8CB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21" name="Shape 219"/>
          <p:cNvSpPr/>
          <p:nvPr/>
        </p:nvSpPr>
        <p:spPr>
          <a:xfrm>
            <a:off x="3187598" y="4663440"/>
            <a:ext cx="88697" cy="164592"/>
          </a:xfrm>
          <a:prstGeom prst="rect">
            <a:avLst/>
          </a:prstGeom>
          <a:solidFill>
            <a:srgbClr val="A6B6C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22" name="Shape 220"/>
          <p:cNvSpPr/>
          <p:nvPr/>
        </p:nvSpPr>
        <p:spPr>
          <a:xfrm>
            <a:off x="3267151" y="4663440"/>
            <a:ext cx="88697" cy="164592"/>
          </a:xfrm>
          <a:prstGeom prst="rect">
            <a:avLst/>
          </a:prstGeom>
          <a:solidFill>
            <a:srgbClr val="A3B4C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23" name="Shape 221"/>
          <p:cNvSpPr/>
          <p:nvPr/>
        </p:nvSpPr>
        <p:spPr>
          <a:xfrm>
            <a:off x="3346704" y="4663440"/>
            <a:ext cx="88697" cy="164592"/>
          </a:xfrm>
          <a:prstGeom prst="rect">
            <a:avLst/>
          </a:prstGeom>
          <a:solidFill>
            <a:srgbClr val="A1B2C6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24" name="Shape 222"/>
          <p:cNvSpPr/>
          <p:nvPr/>
        </p:nvSpPr>
        <p:spPr>
          <a:xfrm>
            <a:off x="3426257" y="4663440"/>
            <a:ext cx="88697" cy="164592"/>
          </a:xfrm>
          <a:prstGeom prst="rect">
            <a:avLst/>
          </a:prstGeom>
          <a:solidFill>
            <a:srgbClr val="9FB0C4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25" name="Shape 223"/>
          <p:cNvSpPr/>
          <p:nvPr/>
        </p:nvSpPr>
        <p:spPr>
          <a:xfrm>
            <a:off x="3505810" y="4663440"/>
            <a:ext cx="88697" cy="164592"/>
          </a:xfrm>
          <a:prstGeom prst="rect">
            <a:avLst/>
          </a:prstGeom>
          <a:solidFill>
            <a:srgbClr val="9DAEC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26" name="Shape 224"/>
          <p:cNvSpPr/>
          <p:nvPr/>
        </p:nvSpPr>
        <p:spPr>
          <a:xfrm>
            <a:off x="3585362" y="4663440"/>
            <a:ext cx="88697" cy="164592"/>
          </a:xfrm>
          <a:prstGeom prst="rect">
            <a:avLst/>
          </a:prstGeom>
          <a:solidFill>
            <a:srgbClr val="9BAC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27" name="Shape 225"/>
          <p:cNvSpPr/>
          <p:nvPr/>
        </p:nvSpPr>
        <p:spPr>
          <a:xfrm>
            <a:off x="3664915" y="4663440"/>
            <a:ext cx="88697" cy="164592"/>
          </a:xfrm>
          <a:prstGeom prst="rect">
            <a:avLst/>
          </a:prstGeom>
          <a:solidFill>
            <a:srgbClr val="98AAB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28" name="Shape 226"/>
          <p:cNvSpPr/>
          <p:nvPr/>
        </p:nvSpPr>
        <p:spPr>
          <a:xfrm>
            <a:off x="3744468" y="4663440"/>
            <a:ext cx="88697" cy="164592"/>
          </a:xfrm>
          <a:prstGeom prst="rect">
            <a:avLst/>
          </a:prstGeom>
          <a:solidFill>
            <a:srgbClr val="96A8B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29" name="Shape 227"/>
          <p:cNvSpPr/>
          <p:nvPr/>
        </p:nvSpPr>
        <p:spPr>
          <a:xfrm>
            <a:off x="3824021" y="4663440"/>
            <a:ext cx="88697" cy="164592"/>
          </a:xfrm>
          <a:prstGeom prst="rect">
            <a:avLst/>
          </a:prstGeom>
          <a:solidFill>
            <a:srgbClr val="94A5B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30" name="Shape 228"/>
          <p:cNvSpPr/>
          <p:nvPr/>
        </p:nvSpPr>
        <p:spPr>
          <a:xfrm>
            <a:off x="3903574" y="4663440"/>
            <a:ext cx="88697" cy="164592"/>
          </a:xfrm>
          <a:prstGeom prst="rect">
            <a:avLst/>
          </a:prstGeom>
          <a:solidFill>
            <a:srgbClr val="92A3B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31" name="Shape 229"/>
          <p:cNvSpPr/>
          <p:nvPr/>
        </p:nvSpPr>
        <p:spPr>
          <a:xfrm>
            <a:off x="3983126" y="4663440"/>
            <a:ext cx="88697" cy="164592"/>
          </a:xfrm>
          <a:prstGeom prst="rect">
            <a:avLst/>
          </a:prstGeom>
          <a:solidFill>
            <a:srgbClr val="90A1B6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32" name="Shape 230"/>
          <p:cNvSpPr/>
          <p:nvPr/>
        </p:nvSpPr>
        <p:spPr>
          <a:xfrm>
            <a:off x="4062679" y="4663440"/>
            <a:ext cx="88697" cy="164592"/>
          </a:xfrm>
          <a:prstGeom prst="rect">
            <a:avLst/>
          </a:prstGeom>
          <a:solidFill>
            <a:srgbClr val="8E9FB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33" name="Shape 231"/>
          <p:cNvSpPr/>
          <p:nvPr/>
        </p:nvSpPr>
        <p:spPr>
          <a:xfrm>
            <a:off x="4142232" y="4663440"/>
            <a:ext cx="88697" cy="164592"/>
          </a:xfrm>
          <a:prstGeom prst="rect">
            <a:avLst/>
          </a:prstGeom>
          <a:solidFill>
            <a:srgbClr val="8B9DB3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34" name="Shape 232"/>
          <p:cNvSpPr/>
          <p:nvPr/>
        </p:nvSpPr>
        <p:spPr>
          <a:xfrm>
            <a:off x="4221785" y="4663440"/>
            <a:ext cx="88697" cy="164592"/>
          </a:xfrm>
          <a:prstGeom prst="rect">
            <a:avLst/>
          </a:prstGeom>
          <a:solidFill>
            <a:srgbClr val="899BB1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35" name="Shape 233"/>
          <p:cNvSpPr/>
          <p:nvPr/>
        </p:nvSpPr>
        <p:spPr>
          <a:xfrm>
            <a:off x="4301338" y="4663440"/>
            <a:ext cx="88697" cy="164592"/>
          </a:xfrm>
          <a:prstGeom prst="rect">
            <a:avLst/>
          </a:prstGeom>
          <a:solidFill>
            <a:srgbClr val="8799A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36" name="Shape 234"/>
          <p:cNvSpPr/>
          <p:nvPr/>
        </p:nvSpPr>
        <p:spPr>
          <a:xfrm>
            <a:off x="4380890" y="4663440"/>
            <a:ext cx="88697" cy="164592"/>
          </a:xfrm>
          <a:prstGeom prst="rect">
            <a:avLst/>
          </a:prstGeom>
          <a:solidFill>
            <a:srgbClr val="8597AD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37" name="Shape 235"/>
          <p:cNvSpPr/>
          <p:nvPr/>
        </p:nvSpPr>
        <p:spPr>
          <a:xfrm>
            <a:off x="4460443" y="4663440"/>
            <a:ext cx="88697" cy="164592"/>
          </a:xfrm>
          <a:prstGeom prst="rect">
            <a:avLst/>
          </a:prstGeom>
          <a:solidFill>
            <a:srgbClr val="8395AB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38" name="Shape 236"/>
          <p:cNvSpPr/>
          <p:nvPr/>
        </p:nvSpPr>
        <p:spPr>
          <a:xfrm>
            <a:off x="4539996" y="4663440"/>
            <a:ext cx="88697" cy="164592"/>
          </a:xfrm>
          <a:prstGeom prst="rect">
            <a:avLst/>
          </a:prstGeom>
          <a:solidFill>
            <a:srgbClr val="8093A9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39" name="Shape 237"/>
          <p:cNvSpPr/>
          <p:nvPr/>
        </p:nvSpPr>
        <p:spPr>
          <a:xfrm>
            <a:off x="4619549" y="4663440"/>
            <a:ext cx="88697" cy="164592"/>
          </a:xfrm>
          <a:prstGeom prst="rect">
            <a:avLst/>
          </a:prstGeom>
          <a:solidFill>
            <a:srgbClr val="7E91A7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40" name="Shape 238"/>
          <p:cNvSpPr/>
          <p:nvPr/>
        </p:nvSpPr>
        <p:spPr>
          <a:xfrm>
            <a:off x="4699102" y="4663440"/>
            <a:ext cx="88697" cy="164592"/>
          </a:xfrm>
          <a:prstGeom prst="rect">
            <a:avLst/>
          </a:prstGeom>
          <a:solidFill>
            <a:srgbClr val="7C8FA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41" name="Shape 239"/>
          <p:cNvSpPr/>
          <p:nvPr/>
        </p:nvSpPr>
        <p:spPr>
          <a:xfrm>
            <a:off x="4778654" y="4663440"/>
            <a:ext cx="88697" cy="164592"/>
          </a:xfrm>
          <a:prstGeom prst="rect">
            <a:avLst/>
          </a:prstGeom>
          <a:solidFill>
            <a:srgbClr val="7A8DA3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42" name="Shape 240"/>
          <p:cNvSpPr/>
          <p:nvPr/>
        </p:nvSpPr>
        <p:spPr>
          <a:xfrm>
            <a:off x="4858207" y="4663440"/>
            <a:ext cx="88697" cy="164592"/>
          </a:xfrm>
          <a:prstGeom prst="rect">
            <a:avLst/>
          </a:prstGeom>
          <a:solidFill>
            <a:srgbClr val="788BA1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43" name="Shape 241"/>
          <p:cNvSpPr/>
          <p:nvPr/>
        </p:nvSpPr>
        <p:spPr>
          <a:xfrm>
            <a:off x="4937760" y="4663440"/>
            <a:ext cx="88697" cy="164592"/>
          </a:xfrm>
          <a:prstGeom prst="rect">
            <a:avLst/>
          </a:prstGeom>
          <a:solidFill>
            <a:srgbClr val="7588A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44" name="Shape 242"/>
          <p:cNvSpPr/>
          <p:nvPr/>
        </p:nvSpPr>
        <p:spPr>
          <a:xfrm>
            <a:off x="5017313" y="4663440"/>
            <a:ext cx="88697" cy="164592"/>
          </a:xfrm>
          <a:prstGeom prst="rect">
            <a:avLst/>
          </a:prstGeom>
          <a:solidFill>
            <a:srgbClr val="73869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45" name="Shape 243"/>
          <p:cNvSpPr/>
          <p:nvPr/>
        </p:nvSpPr>
        <p:spPr>
          <a:xfrm>
            <a:off x="5096866" y="4663440"/>
            <a:ext cx="88697" cy="164592"/>
          </a:xfrm>
          <a:prstGeom prst="rect">
            <a:avLst/>
          </a:prstGeom>
          <a:solidFill>
            <a:srgbClr val="71849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46" name="Shape 244"/>
          <p:cNvSpPr/>
          <p:nvPr/>
        </p:nvSpPr>
        <p:spPr>
          <a:xfrm>
            <a:off x="5176418" y="4663440"/>
            <a:ext cx="88697" cy="164592"/>
          </a:xfrm>
          <a:prstGeom prst="rect">
            <a:avLst/>
          </a:prstGeom>
          <a:solidFill>
            <a:srgbClr val="6F829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47" name="Shape 245"/>
          <p:cNvSpPr/>
          <p:nvPr/>
        </p:nvSpPr>
        <p:spPr>
          <a:xfrm>
            <a:off x="5255971" y="4663440"/>
            <a:ext cx="88697" cy="164592"/>
          </a:xfrm>
          <a:prstGeom prst="rect">
            <a:avLst/>
          </a:prstGeom>
          <a:solidFill>
            <a:srgbClr val="6D809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48" name="Shape 246"/>
          <p:cNvSpPr/>
          <p:nvPr/>
        </p:nvSpPr>
        <p:spPr>
          <a:xfrm>
            <a:off x="5335524" y="4663440"/>
            <a:ext cx="88697" cy="164592"/>
          </a:xfrm>
          <a:prstGeom prst="rect">
            <a:avLst/>
          </a:prstGeom>
          <a:solidFill>
            <a:srgbClr val="6A7E96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49" name="Shape 247"/>
          <p:cNvSpPr/>
          <p:nvPr/>
        </p:nvSpPr>
        <p:spPr>
          <a:xfrm>
            <a:off x="5415077" y="4663440"/>
            <a:ext cx="88697" cy="164592"/>
          </a:xfrm>
          <a:prstGeom prst="rect">
            <a:avLst/>
          </a:prstGeom>
          <a:solidFill>
            <a:srgbClr val="687C94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50" name="Shape 248"/>
          <p:cNvSpPr/>
          <p:nvPr/>
        </p:nvSpPr>
        <p:spPr>
          <a:xfrm>
            <a:off x="5494630" y="4663440"/>
            <a:ext cx="88697" cy="164592"/>
          </a:xfrm>
          <a:prstGeom prst="rect">
            <a:avLst/>
          </a:prstGeom>
          <a:solidFill>
            <a:srgbClr val="667A9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51" name="Shape 249"/>
          <p:cNvSpPr/>
          <p:nvPr/>
        </p:nvSpPr>
        <p:spPr>
          <a:xfrm>
            <a:off x="5574182" y="4663440"/>
            <a:ext cx="88697" cy="164592"/>
          </a:xfrm>
          <a:prstGeom prst="rect">
            <a:avLst/>
          </a:prstGeom>
          <a:solidFill>
            <a:srgbClr val="64789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52" name="Shape 250"/>
          <p:cNvSpPr/>
          <p:nvPr/>
        </p:nvSpPr>
        <p:spPr>
          <a:xfrm>
            <a:off x="5653735" y="4663440"/>
            <a:ext cx="88697" cy="164592"/>
          </a:xfrm>
          <a:prstGeom prst="rect">
            <a:avLst/>
          </a:prstGeom>
          <a:solidFill>
            <a:srgbClr val="62768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53" name="Shape 251"/>
          <p:cNvSpPr/>
          <p:nvPr/>
        </p:nvSpPr>
        <p:spPr>
          <a:xfrm>
            <a:off x="5733288" y="4663440"/>
            <a:ext cx="88697" cy="164592"/>
          </a:xfrm>
          <a:prstGeom prst="rect">
            <a:avLst/>
          </a:prstGeom>
          <a:solidFill>
            <a:srgbClr val="5F748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54" name="Shape 252"/>
          <p:cNvSpPr/>
          <p:nvPr/>
        </p:nvSpPr>
        <p:spPr>
          <a:xfrm>
            <a:off x="5812841" y="4663440"/>
            <a:ext cx="88697" cy="164592"/>
          </a:xfrm>
          <a:prstGeom prst="rect">
            <a:avLst/>
          </a:prstGeom>
          <a:solidFill>
            <a:srgbClr val="5D728B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55" name="Shape 253"/>
          <p:cNvSpPr/>
          <p:nvPr/>
        </p:nvSpPr>
        <p:spPr>
          <a:xfrm>
            <a:off x="5892394" y="4663440"/>
            <a:ext cx="88697" cy="164592"/>
          </a:xfrm>
          <a:prstGeom prst="rect">
            <a:avLst/>
          </a:prstGeom>
          <a:solidFill>
            <a:srgbClr val="5B7089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56" name="Shape 254"/>
          <p:cNvSpPr/>
          <p:nvPr/>
        </p:nvSpPr>
        <p:spPr>
          <a:xfrm>
            <a:off x="5971946" y="4663440"/>
            <a:ext cx="88697" cy="164592"/>
          </a:xfrm>
          <a:prstGeom prst="rect">
            <a:avLst/>
          </a:prstGeom>
          <a:solidFill>
            <a:srgbClr val="596E87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57" name="Shape 255"/>
          <p:cNvSpPr/>
          <p:nvPr/>
        </p:nvSpPr>
        <p:spPr>
          <a:xfrm>
            <a:off x="6051499" y="4663440"/>
            <a:ext cx="88697" cy="164592"/>
          </a:xfrm>
          <a:prstGeom prst="rect">
            <a:avLst/>
          </a:prstGeom>
          <a:solidFill>
            <a:srgbClr val="576B8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58" name="Shape 256"/>
          <p:cNvSpPr/>
          <p:nvPr/>
        </p:nvSpPr>
        <p:spPr>
          <a:xfrm>
            <a:off x="6131052" y="4663440"/>
            <a:ext cx="88697" cy="164592"/>
          </a:xfrm>
          <a:prstGeom prst="rect">
            <a:avLst/>
          </a:prstGeom>
          <a:solidFill>
            <a:srgbClr val="556983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59" name="Shape 257"/>
          <p:cNvSpPr/>
          <p:nvPr/>
        </p:nvSpPr>
        <p:spPr>
          <a:xfrm>
            <a:off x="6210605" y="4663440"/>
            <a:ext cx="88697" cy="164592"/>
          </a:xfrm>
          <a:prstGeom prst="rect">
            <a:avLst/>
          </a:prstGeom>
          <a:solidFill>
            <a:srgbClr val="526781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60" name="Shape 258"/>
          <p:cNvSpPr/>
          <p:nvPr/>
        </p:nvSpPr>
        <p:spPr>
          <a:xfrm>
            <a:off x="6290158" y="4663440"/>
            <a:ext cx="88697" cy="164592"/>
          </a:xfrm>
          <a:prstGeom prst="rect">
            <a:avLst/>
          </a:prstGeom>
          <a:solidFill>
            <a:srgbClr val="50657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61" name="Shape 259"/>
          <p:cNvSpPr/>
          <p:nvPr/>
        </p:nvSpPr>
        <p:spPr>
          <a:xfrm>
            <a:off x="6369710" y="4663440"/>
            <a:ext cx="88697" cy="164592"/>
          </a:xfrm>
          <a:prstGeom prst="rect">
            <a:avLst/>
          </a:prstGeom>
          <a:solidFill>
            <a:srgbClr val="4E637D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62" name="Shape 260"/>
          <p:cNvSpPr/>
          <p:nvPr/>
        </p:nvSpPr>
        <p:spPr>
          <a:xfrm>
            <a:off x="6449263" y="4663440"/>
            <a:ext cx="88697" cy="164592"/>
          </a:xfrm>
          <a:prstGeom prst="rect">
            <a:avLst/>
          </a:prstGeom>
          <a:solidFill>
            <a:srgbClr val="4C617B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63" name="Shape 261"/>
          <p:cNvSpPr/>
          <p:nvPr/>
        </p:nvSpPr>
        <p:spPr>
          <a:xfrm>
            <a:off x="6528816" y="4663440"/>
            <a:ext cx="88697" cy="164592"/>
          </a:xfrm>
          <a:prstGeom prst="rect">
            <a:avLst/>
          </a:prstGeom>
          <a:solidFill>
            <a:srgbClr val="4A5F79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64" name="Shape 262"/>
          <p:cNvSpPr/>
          <p:nvPr/>
        </p:nvSpPr>
        <p:spPr>
          <a:xfrm>
            <a:off x="6608369" y="4663440"/>
            <a:ext cx="88697" cy="164592"/>
          </a:xfrm>
          <a:prstGeom prst="rect">
            <a:avLst/>
          </a:prstGeom>
          <a:solidFill>
            <a:srgbClr val="475D77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65" name="Shape 263"/>
          <p:cNvSpPr/>
          <p:nvPr/>
        </p:nvSpPr>
        <p:spPr>
          <a:xfrm>
            <a:off x="6687922" y="4663440"/>
            <a:ext cx="88697" cy="164592"/>
          </a:xfrm>
          <a:prstGeom prst="rect">
            <a:avLst/>
          </a:prstGeom>
          <a:solidFill>
            <a:srgbClr val="455B76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66" name="Shape 264"/>
          <p:cNvSpPr/>
          <p:nvPr/>
        </p:nvSpPr>
        <p:spPr>
          <a:xfrm>
            <a:off x="6767474" y="4663440"/>
            <a:ext cx="88697" cy="164592"/>
          </a:xfrm>
          <a:prstGeom prst="rect">
            <a:avLst/>
          </a:prstGeom>
          <a:solidFill>
            <a:srgbClr val="435974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67" name="Shape 265"/>
          <p:cNvSpPr/>
          <p:nvPr/>
        </p:nvSpPr>
        <p:spPr>
          <a:xfrm>
            <a:off x="6847027" y="4663440"/>
            <a:ext cx="88697" cy="164592"/>
          </a:xfrm>
          <a:prstGeom prst="rect">
            <a:avLst/>
          </a:prstGeom>
          <a:solidFill>
            <a:srgbClr val="41577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68" name="Shape 266"/>
          <p:cNvSpPr/>
          <p:nvPr/>
        </p:nvSpPr>
        <p:spPr>
          <a:xfrm>
            <a:off x="6926580" y="4663440"/>
            <a:ext cx="88697" cy="164592"/>
          </a:xfrm>
          <a:prstGeom prst="rect">
            <a:avLst/>
          </a:prstGeom>
          <a:solidFill>
            <a:srgbClr val="3F557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69" name="Shape 267"/>
          <p:cNvSpPr/>
          <p:nvPr/>
        </p:nvSpPr>
        <p:spPr>
          <a:xfrm>
            <a:off x="7006133" y="4663440"/>
            <a:ext cx="88697" cy="164592"/>
          </a:xfrm>
          <a:prstGeom prst="rect">
            <a:avLst/>
          </a:prstGeom>
          <a:solidFill>
            <a:srgbClr val="3C536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70" name="Shape 268"/>
          <p:cNvSpPr/>
          <p:nvPr/>
        </p:nvSpPr>
        <p:spPr>
          <a:xfrm>
            <a:off x="7085686" y="4663440"/>
            <a:ext cx="88697" cy="164592"/>
          </a:xfrm>
          <a:prstGeom prst="rect">
            <a:avLst/>
          </a:prstGeom>
          <a:solidFill>
            <a:srgbClr val="3A516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71" name="Shape 269"/>
          <p:cNvSpPr/>
          <p:nvPr/>
        </p:nvSpPr>
        <p:spPr>
          <a:xfrm>
            <a:off x="7165238" y="4663440"/>
            <a:ext cx="88697" cy="164592"/>
          </a:xfrm>
          <a:prstGeom prst="rect">
            <a:avLst/>
          </a:prstGeom>
          <a:solidFill>
            <a:srgbClr val="384E6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72" name="Shape 270"/>
          <p:cNvSpPr/>
          <p:nvPr/>
        </p:nvSpPr>
        <p:spPr>
          <a:xfrm>
            <a:off x="7244791" y="4663440"/>
            <a:ext cx="88697" cy="164592"/>
          </a:xfrm>
          <a:prstGeom prst="rect">
            <a:avLst/>
          </a:prstGeom>
          <a:solidFill>
            <a:srgbClr val="364C6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73" name="Shape 271"/>
          <p:cNvSpPr/>
          <p:nvPr/>
        </p:nvSpPr>
        <p:spPr>
          <a:xfrm>
            <a:off x="7324344" y="4663440"/>
            <a:ext cx="88697" cy="164592"/>
          </a:xfrm>
          <a:prstGeom prst="rect">
            <a:avLst/>
          </a:prstGeom>
          <a:solidFill>
            <a:srgbClr val="344A66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74" name="Shape 272"/>
          <p:cNvSpPr/>
          <p:nvPr/>
        </p:nvSpPr>
        <p:spPr>
          <a:xfrm>
            <a:off x="7403897" y="4663440"/>
            <a:ext cx="88697" cy="164592"/>
          </a:xfrm>
          <a:prstGeom prst="rect">
            <a:avLst/>
          </a:prstGeom>
          <a:solidFill>
            <a:srgbClr val="314864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75" name="Shape 273"/>
          <p:cNvSpPr/>
          <p:nvPr/>
        </p:nvSpPr>
        <p:spPr>
          <a:xfrm>
            <a:off x="7483450" y="4663440"/>
            <a:ext cx="88697" cy="164592"/>
          </a:xfrm>
          <a:prstGeom prst="rect">
            <a:avLst/>
          </a:prstGeom>
          <a:solidFill>
            <a:srgbClr val="2F466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76" name="Shape 274"/>
          <p:cNvSpPr/>
          <p:nvPr/>
        </p:nvSpPr>
        <p:spPr>
          <a:xfrm>
            <a:off x="7563002" y="4663440"/>
            <a:ext cx="88697" cy="164592"/>
          </a:xfrm>
          <a:prstGeom prst="rect">
            <a:avLst/>
          </a:prstGeom>
          <a:solidFill>
            <a:srgbClr val="2D4461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77" name="Shape 275"/>
          <p:cNvSpPr/>
          <p:nvPr/>
        </p:nvSpPr>
        <p:spPr>
          <a:xfrm>
            <a:off x="7642555" y="4663440"/>
            <a:ext cx="88697" cy="164592"/>
          </a:xfrm>
          <a:prstGeom prst="rect">
            <a:avLst/>
          </a:prstGeom>
          <a:solidFill>
            <a:srgbClr val="2B425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78" name="Shape 276"/>
          <p:cNvSpPr/>
          <p:nvPr/>
        </p:nvSpPr>
        <p:spPr>
          <a:xfrm>
            <a:off x="7722108" y="4663440"/>
            <a:ext cx="88697" cy="164592"/>
          </a:xfrm>
          <a:prstGeom prst="rect">
            <a:avLst/>
          </a:prstGeom>
          <a:solidFill>
            <a:srgbClr val="29405D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79" name="Shape 277"/>
          <p:cNvSpPr/>
          <p:nvPr/>
        </p:nvSpPr>
        <p:spPr>
          <a:xfrm>
            <a:off x="7801661" y="4663440"/>
            <a:ext cx="88697" cy="164592"/>
          </a:xfrm>
          <a:prstGeom prst="rect">
            <a:avLst/>
          </a:prstGeom>
          <a:solidFill>
            <a:srgbClr val="263E5B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80" name="Shape 278"/>
          <p:cNvSpPr/>
          <p:nvPr/>
        </p:nvSpPr>
        <p:spPr>
          <a:xfrm>
            <a:off x="7881214" y="4663440"/>
            <a:ext cx="88697" cy="164592"/>
          </a:xfrm>
          <a:prstGeom prst="rect">
            <a:avLst/>
          </a:prstGeom>
          <a:solidFill>
            <a:srgbClr val="243C59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81" name="Shape 279"/>
          <p:cNvSpPr/>
          <p:nvPr/>
        </p:nvSpPr>
        <p:spPr>
          <a:xfrm>
            <a:off x="7960766" y="4663440"/>
            <a:ext cx="88697" cy="164592"/>
          </a:xfrm>
          <a:prstGeom prst="rect">
            <a:avLst/>
          </a:prstGeom>
          <a:solidFill>
            <a:srgbClr val="223A57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82" name="Shape 280"/>
          <p:cNvSpPr/>
          <p:nvPr/>
        </p:nvSpPr>
        <p:spPr>
          <a:xfrm>
            <a:off x="8040319" y="4663440"/>
            <a:ext cx="88697" cy="164592"/>
          </a:xfrm>
          <a:prstGeom prst="rect">
            <a:avLst/>
          </a:prstGeom>
          <a:solidFill>
            <a:srgbClr val="203855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83" name="Shape 281"/>
          <p:cNvSpPr/>
          <p:nvPr/>
        </p:nvSpPr>
        <p:spPr>
          <a:xfrm>
            <a:off x="8119872" y="4663440"/>
            <a:ext cx="88697" cy="164592"/>
          </a:xfrm>
          <a:prstGeom prst="rect">
            <a:avLst/>
          </a:prstGeom>
          <a:solidFill>
            <a:srgbClr val="1E3653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84" name="Shape 282"/>
          <p:cNvSpPr/>
          <p:nvPr/>
        </p:nvSpPr>
        <p:spPr>
          <a:xfrm>
            <a:off x="8199425" y="4663440"/>
            <a:ext cx="88697" cy="164592"/>
          </a:xfrm>
          <a:prstGeom prst="rect">
            <a:avLst/>
          </a:prstGeom>
          <a:solidFill>
            <a:srgbClr val="1C3451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85" name="Shape 283"/>
          <p:cNvSpPr/>
          <p:nvPr/>
        </p:nvSpPr>
        <p:spPr>
          <a:xfrm>
            <a:off x="8278978" y="4663440"/>
            <a:ext cx="88697" cy="164592"/>
          </a:xfrm>
          <a:prstGeom prst="rect">
            <a:avLst/>
          </a:prstGeom>
          <a:solidFill>
            <a:srgbClr val="19314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86" name="Shape 284"/>
          <p:cNvSpPr/>
          <p:nvPr/>
        </p:nvSpPr>
        <p:spPr>
          <a:xfrm>
            <a:off x="8358530" y="4663440"/>
            <a:ext cx="88697" cy="164592"/>
          </a:xfrm>
          <a:prstGeom prst="rect">
            <a:avLst/>
          </a:prstGeom>
          <a:solidFill>
            <a:srgbClr val="172F4D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87" name="Shape 285"/>
          <p:cNvSpPr/>
          <p:nvPr/>
        </p:nvSpPr>
        <p:spPr>
          <a:xfrm>
            <a:off x="8438083" y="4663440"/>
            <a:ext cx="88697" cy="164592"/>
          </a:xfrm>
          <a:prstGeom prst="rect">
            <a:avLst/>
          </a:prstGeom>
          <a:solidFill>
            <a:srgbClr val="152D4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88" name="Shape 286"/>
          <p:cNvSpPr/>
          <p:nvPr/>
        </p:nvSpPr>
        <p:spPr>
          <a:xfrm>
            <a:off x="8517636" y="4663440"/>
            <a:ext cx="88697" cy="164592"/>
          </a:xfrm>
          <a:prstGeom prst="rect">
            <a:avLst/>
          </a:prstGeom>
          <a:solidFill>
            <a:srgbClr val="132B4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89" name="Shape 287"/>
          <p:cNvSpPr/>
          <p:nvPr/>
        </p:nvSpPr>
        <p:spPr>
          <a:xfrm>
            <a:off x="8597189" y="4663440"/>
            <a:ext cx="88697" cy="164592"/>
          </a:xfrm>
          <a:prstGeom prst="rect">
            <a:avLst/>
          </a:prstGeom>
          <a:solidFill>
            <a:srgbClr val="11294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90" name="Shape 288"/>
          <p:cNvSpPr/>
          <p:nvPr/>
        </p:nvSpPr>
        <p:spPr>
          <a:xfrm>
            <a:off x="8676742" y="4663440"/>
            <a:ext cx="88697" cy="164592"/>
          </a:xfrm>
          <a:prstGeom prst="rect">
            <a:avLst/>
          </a:prstGeom>
          <a:solidFill>
            <a:srgbClr val="0E2746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91" name="Shape 289"/>
          <p:cNvSpPr/>
          <p:nvPr/>
        </p:nvSpPr>
        <p:spPr>
          <a:xfrm>
            <a:off x="8756294" y="4663440"/>
            <a:ext cx="88697" cy="164592"/>
          </a:xfrm>
          <a:prstGeom prst="rect">
            <a:avLst/>
          </a:prstGeom>
          <a:solidFill>
            <a:srgbClr val="0C2544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92" name="Shape 290"/>
          <p:cNvSpPr/>
          <p:nvPr/>
        </p:nvSpPr>
        <p:spPr>
          <a:xfrm>
            <a:off x="8835847" y="4663440"/>
            <a:ext cx="88697" cy="16459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93" name="Text 291"/>
          <p:cNvSpPr/>
          <p:nvPr/>
        </p:nvSpPr>
        <p:spPr>
          <a:xfrm>
            <a:off x="960120" y="48371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flow</a:t>
            </a:r>
            <a:endParaRPr lang="en-US" sz="850" dirty="0"/>
          </a:p>
        </p:txBody>
      </p:sp>
      <p:sp>
        <p:nvSpPr>
          <p:cNvPr id="294" name="Text 292"/>
          <p:cNvSpPr/>
          <p:nvPr/>
        </p:nvSpPr>
        <p:spPr>
          <a:xfrm>
            <a:off x="7818120" y="48371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flow</a:t>
            </a:r>
            <a:endParaRPr lang="en-US" sz="850" dirty="0"/>
          </a:p>
        </p:txBody>
      </p:sp>
      <p:sp>
        <p:nvSpPr>
          <p:cNvPr id="295" name="Text 293"/>
          <p:cNvSpPr/>
          <p:nvPr/>
        </p:nvSpPr>
        <p:spPr>
          <a:xfrm>
            <a:off x="4301338" y="4407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day  →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Traffic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temporal patterns observed across California freeways in 2021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41080" y="201168"/>
            <a:ext cx="347472" cy="347472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E3F0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320040" y="48691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FlowShift  |  Urban Traffic &amp; Transit Demand — Los Angeles 2021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8691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115568"/>
            <a:ext cx="409651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1" name="Shape 9"/>
          <p:cNvSpPr/>
          <p:nvPr/>
        </p:nvSpPr>
        <p:spPr>
          <a:xfrm>
            <a:off x="320040" y="1115568"/>
            <a:ext cx="4096512" cy="6400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2" name="Shape 10"/>
          <p:cNvSpPr/>
          <p:nvPr/>
        </p:nvSpPr>
        <p:spPr>
          <a:xfrm>
            <a:off x="502920" y="1280160"/>
            <a:ext cx="411480" cy="4114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3" name="Text 11"/>
          <p:cNvSpPr/>
          <p:nvPr/>
        </p:nvSpPr>
        <p:spPr>
          <a:xfrm>
            <a:off x="50292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33272" y="1280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Twin Peaks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1773936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commute (08:00) and PM commute (17–18:00) both breach the congestion threshold on weekdays. Weekend shows a single, gentler midday rise that stays below threshold.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852928"/>
            <a:ext cx="409651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7" name="Shape 15"/>
          <p:cNvSpPr/>
          <p:nvPr/>
        </p:nvSpPr>
        <p:spPr>
          <a:xfrm>
            <a:off x="320040" y="2852928"/>
            <a:ext cx="4096512" cy="6400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8" name="Shape 16"/>
          <p:cNvSpPr/>
          <p:nvPr/>
        </p:nvSpPr>
        <p:spPr>
          <a:xfrm>
            <a:off x="502920" y="3017520"/>
            <a:ext cx="411480" cy="4114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9" name="Text 17"/>
          <p:cNvSpPr/>
          <p:nvPr/>
        </p:nvSpPr>
        <p:spPr>
          <a:xfrm>
            <a:off x="50292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33272" y="30175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PM — Most Congested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511296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× hour heatmap identifies Friday 17:00–19:00 as the peak congestion period of the week. Weekend flow is uniformly 9.6% lower than weekday average.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36592" y="1115568"/>
            <a:ext cx="409651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23" name="Shape 21"/>
          <p:cNvSpPr/>
          <p:nvPr/>
        </p:nvSpPr>
        <p:spPr>
          <a:xfrm>
            <a:off x="4736592" y="1115568"/>
            <a:ext cx="4096512" cy="64008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4" name="Shape 22"/>
          <p:cNvSpPr/>
          <p:nvPr/>
        </p:nvSpPr>
        <p:spPr>
          <a:xfrm>
            <a:off x="4919472" y="1280160"/>
            <a:ext cx="411480" cy="41148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5" name="Text 23"/>
          <p:cNvSpPr/>
          <p:nvPr/>
        </p:nvSpPr>
        <p:spPr>
          <a:xfrm>
            <a:off x="4919472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9824" y="1280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Pandemic Recovery Ramp-Up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9472" y="1773936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rate climbed from 10.5% in January to 29.6% in June, tracking the return to pre-pandemic commuting patterns throughout 2021.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36592" y="2852928"/>
            <a:ext cx="409651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29" name="Shape 27"/>
          <p:cNvSpPr/>
          <p:nvPr/>
        </p:nvSpPr>
        <p:spPr>
          <a:xfrm>
            <a:off x="4736592" y="2852928"/>
            <a:ext cx="4096512" cy="6400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0" name="Shape 28"/>
          <p:cNvSpPr/>
          <p:nvPr/>
        </p:nvSpPr>
        <p:spPr>
          <a:xfrm>
            <a:off x="4919472" y="3017520"/>
            <a:ext cx="411480" cy="4114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1" name="Text 29"/>
          <p:cNvSpPr/>
          <p:nvPr/>
        </p:nvSpPr>
        <p:spPr>
          <a:xfrm>
            <a:off x="4919472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49824" y="30175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Daily Autocorrelation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9472" y="3511296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Lag-1 correlation r = 0.999; lag-288 (1 day) r = 0.946. The ADF test confirms stationarity (p ≈ 0), enabling direct ARIMA modelling without differencing.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Ridership Trends &amp; Congestion Correlation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transit ridership vs. traffic flow — monthly analysis, 2021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41080" y="201168"/>
            <a:ext cx="347472" cy="347472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E3F0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320040" y="48691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FlowShift  |  Urban Traffic &amp; Transit Demand — Los Angeles 2021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8691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078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LA Ridership (UPT, millions)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4048" y="4251960"/>
            <a:ext cx="5669280" cy="2286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2" name="Shape 10"/>
          <p:cNvSpPr/>
          <p:nvPr/>
        </p:nvSpPr>
        <p:spPr>
          <a:xfrm>
            <a:off x="384048" y="3183255"/>
            <a:ext cx="438912" cy="1068705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3" name="Text 11"/>
          <p:cNvSpPr/>
          <p:nvPr/>
        </p:nvSpPr>
        <p:spPr>
          <a:xfrm>
            <a:off x="384048" y="42885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" y="2982087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59536" y="3154680"/>
            <a:ext cx="438912" cy="109728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859536" y="42885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335024" y="2966085"/>
            <a:ext cx="438912" cy="1285875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8" name="Text 16"/>
          <p:cNvSpPr/>
          <p:nvPr/>
        </p:nvSpPr>
        <p:spPr>
          <a:xfrm>
            <a:off x="1335024" y="42885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10512" y="2914650"/>
            <a:ext cx="438912" cy="133731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0" name="Text 18"/>
          <p:cNvSpPr/>
          <p:nvPr/>
        </p:nvSpPr>
        <p:spPr>
          <a:xfrm>
            <a:off x="1810512" y="42885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0" y="2863215"/>
            <a:ext cx="438912" cy="1388745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2" name="Text 20"/>
          <p:cNvSpPr/>
          <p:nvPr/>
        </p:nvSpPr>
        <p:spPr>
          <a:xfrm>
            <a:off x="2286000" y="42885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61488" y="2794635"/>
            <a:ext cx="438912" cy="1457325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4" name="Text 22"/>
          <p:cNvSpPr/>
          <p:nvPr/>
        </p:nvSpPr>
        <p:spPr>
          <a:xfrm>
            <a:off x="2761488" y="42885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36976" y="2686050"/>
            <a:ext cx="438912" cy="156591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6" name="Text 24"/>
          <p:cNvSpPr/>
          <p:nvPr/>
        </p:nvSpPr>
        <p:spPr>
          <a:xfrm>
            <a:off x="3236976" y="42885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12464" y="2588895"/>
            <a:ext cx="438912" cy="1663065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8" name="Text 26"/>
          <p:cNvSpPr/>
          <p:nvPr/>
        </p:nvSpPr>
        <p:spPr>
          <a:xfrm>
            <a:off x="3712464" y="42885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87952" y="2537460"/>
            <a:ext cx="438912" cy="171450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0" name="Text 28"/>
          <p:cNvSpPr/>
          <p:nvPr/>
        </p:nvSpPr>
        <p:spPr>
          <a:xfrm>
            <a:off x="4187952" y="42885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2451735"/>
            <a:ext cx="438912" cy="1800225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2" name="Text 30"/>
          <p:cNvSpPr/>
          <p:nvPr/>
        </p:nvSpPr>
        <p:spPr>
          <a:xfrm>
            <a:off x="4663440" y="42885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17720" y="2250567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31.5M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138928" y="2503170"/>
            <a:ext cx="438912" cy="174879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5" name="Text 33"/>
          <p:cNvSpPr/>
          <p:nvPr/>
        </p:nvSpPr>
        <p:spPr>
          <a:xfrm>
            <a:off x="5138928" y="42885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14416" y="2611755"/>
            <a:ext cx="438912" cy="1640205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7" name="Text 35"/>
          <p:cNvSpPr/>
          <p:nvPr/>
        </p:nvSpPr>
        <p:spPr>
          <a:xfrm>
            <a:off x="5614416" y="42885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4048" y="4526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+68%  Jan → Oct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1097280"/>
            <a:ext cx="27432" cy="34290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0" name="Text 38"/>
          <p:cNvSpPr/>
          <p:nvPr/>
        </p:nvSpPr>
        <p:spPr>
          <a:xfrm>
            <a:off x="6400800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Correlation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0" y="1463040"/>
            <a:ext cx="2468880" cy="804672"/>
          </a:xfrm>
          <a:prstGeom prst="rect">
            <a:avLst/>
          </a:prstGeom>
          <a:solidFill>
            <a:srgbClr val="E3F0FF"/>
          </a:solidFill>
          <a:ln w="762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2" name="Text 40"/>
          <p:cNvSpPr/>
          <p:nvPr/>
        </p:nvSpPr>
        <p:spPr>
          <a:xfrm>
            <a:off x="6492240" y="15179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72400" y="15179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92240" y="17922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Flow vs Ridership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772400" y="18288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0.007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00800" y="2395728"/>
            <a:ext cx="24688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7" name="Text 45"/>
          <p:cNvSpPr/>
          <p:nvPr/>
        </p:nvSpPr>
        <p:spPr>
          <a:xfrm>
            <a:off x="6492240" y="2450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772400" y="24505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0.708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92240" y="27249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Congestion% vs Ridership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772400" y="27614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0.010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400800" y="3328416"/>
            <a:ext cx="2468880" cy="804672"/>
          </a:xfrm>
          <a:prstGeom prst="rect">
            <a:avLst/>
          </a:prstGeom>
          <a:solidFill>
            <a:srgbClr val="E3F0FF"/>
          </a:solidFill>
          <a:ln w="762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2" name="Text 50"/>
          <p:cNvSpPr/>
          <p:nvPr/>
        </p:nvSpPr>
        <p:spPr>
          <a:xfrm>
            <a:off x="6492240" y="33832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R²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772400" y="3383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0.579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492240" y="36576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Ridership ~ Flow + Cong%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772400" y="36941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7" name="Text 55"/>
          <p:cNvSpPr/>
          <p:nvPr/>
        </p:nvSpPr>
        <p:spPr>
          <a:xfrm>
            <a:off x="457200" y="462686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metrics rise together through 2021 (pandemic recovery). Higher congestion months correlate with higher ridership  (r = 0.73, p &lt; 0.01).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Hypothesis Testing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t-tests and correlation analysis on the full 2021 dataset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41080" y="201168"/>
            <a:ext cx="347472" cy="347472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E3F0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320040" y="48691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FlowShift  |  Urban Traffic &amp; Transit Demand — Los Angeles 2021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8691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115568"/>
            <a:ext cx="85039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1" name="Shape 9"/>
          <p:cNvSpPr/>
          <p:nvPr/>
        </p:nvSpPr>
        <p:spPr>
          <a:xfrm>
            <a:off x="320040" y="1115568"/>
            <a:ext cx="91440" cy="107899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548640" y="12070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vs. Weekend Flow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15910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1,988,090  ·  1,814,300   +9.6%   Significant at α = 0.05  ✓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60720" y="1243584"/>
            <a:ext cx="2880360" cy="80467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5" name="Text 13"/>
          <p:cNvSpPr/>
          <p:nvPr/>
        </p:nvSpPr>
        <p:spPr>
          <a:xfrm>
            <a:off x="5760720" y="1243584"/>
            <a:ext cx="2880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27.50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2.1 × 10⁻¹⁶⁵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340864"/>
            <a:ext cx="85039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7" name="Shape 15"/>
          <p:cNvSpPr/>
          <p:nvPr/>
        </p:nvSpPr>
        <p:spPr>
          <a:xfrm>
            <a:off x="320040" y="2340864"/>
            <a:ext cx="91440" cy="107899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8" name="Text 16"/>
          <p:cNvSpPr/>
          <p:nvPr/>
        </p:nvSpPr>
        <p:spPr>
          <a:xfrm>
            <a:off x="548640" y="24323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vs. Off-Peak Flow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28163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2,489,320  ·  1,754,808   +41.9%   Overwhelming significance  ✓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60720" y="2468880"/>
            <a:ext cx="2880360" cy="8046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" name="Text 19"/>
          <p:cNvSpPr/>
          <p:nvPr/>
        </p:nvSpPr>
        <p:spPr>
          <a:xfrm>
            <a:off x="5760720" y="2468880"/>
            <a:ext cx="2880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166.97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≈ 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566160"/>
            <a:ext cx="85039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23" name="Shape 21"/>
          <p:cNvSpPr/>
          <p:nvPr/>
        </p:nvSpPr>
        <p:spPr>
          <a:xfrm>
            <a:off x="320040" y="3566160"/>
            <a:ext cx="91440" cy="1078992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4" name="Text 22"/>
          <p:cNvSpPr/>
          <p:nvPr/>
        </p:nvSpPr>
        <p:spPr>
          <a:xfrm>
            <a:off x="548640" y="36576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Autocorrelation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40416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stat: −41.70   p ≈ 0   Series is stationary  ✓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60720" y="3694176"/>
            <a:ext cx="2880360" cy="804672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7" name="Text 25"/>
          <p:cNvSpPr/>
          <p:nvPr/>
        </p:nvSpPr>
        <p:spPr>
          <a:xfrm>
            <a:off x="5760720" y="3694176"/>
            <a:ext cx="2880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0.999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lag-288: r = 0.946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Modelling — Regression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models across two feature groups: with and without lag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41080" y="201168"/>
            <a:ext cx="347472" cy="347472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E3F0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320040" y="48691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FlowShift  |  Urban Traffic &amp; Transit Demand — Los Angeles 2021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8691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115568"/>
            <a:ext cx="3246120" cy="38404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1" name="Text 9"/>
          <p:cNvSpPr/>
          <p:nvPr/>
        </p:nvSpPr>
        <p:spPr>
          <a:xfrm>
            <a:off x="365760" y="116128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1115568"/>
            <a:ext cx="1600200" cy="38404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3" name="Text 11"/>
          <p:cNvSpPr/>
          <p:nvPr/>
        </p:nvSpPr>
        <p:spPr>
          <a:xfrm>
            <a:off x="3611880" y="116128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66360" y="1115568"/>
            <a:ext cx="1600200" cy="38404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5" name="Text 13"/>
          <p:cNvSpPr/>
          <p:nvPr/>
        </p:nvSpPr>
        <p:spPr>
          <a:xfrm>
            <a:off x="5212080" y="116128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115568"/>
            <a:ext cx="1280160" cy="38404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7" name="Text 15"/>
          <p:cNvSpPr/>
          <p:nvPr/>
        </p:nvSpPr>
        <p:spPr>
          <a:xfrm>
            <a:off x="6812280" y="11612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1115568"/>
            <a:ext cx="822960" cy="38404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9" name="Text 17"/>
          <p:cNvSpPr/>
          <p:nvPr/>
        </p:nvSpPr>
        <p:spPr>
          <a:xfrm>
            <a:off x="8092440" y="11612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1499616"/>
            <a:ext cx="3246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1" name="Text 19"/>
          <p:cNvSpPr/>
          <p:nvPr/>
        </p:nvSpPr>
        <p:spPr>
          <a:xfrm>
            <a:off x="365760" y="151790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(no lag)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66160" y="1499616"/>
            <a:ext cx="1600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3" name="Text 21"/>
          <p:cNvSpPr/>
          <p:nvPr/>
        </p:nvSpPr>
        <p:spPr>
          <a:xfrm>
            <a:off x="3611880" y="151790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716,450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66360" y="1499616"/>
            <a:ext cx="1600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5" name="Text 23"/>
          <p:cNvSpPr/>
          <p:nvPr/>
        </p:nvSpPr>
        <p:spPr>
          <a:xfrm>
            <a:off x="5212080" y="151790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803,409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1499616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7" name="Text 25"/>
          <p:cNvSpPr/>
          <p:nvPr/>
        </p:nvSpPr>
        <p:spPr>
          <a:xfrm>
            <a:off x="6812280" y="15179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1499616"/>
            <a:ext cx="822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9" name="Text 27"/>
          <p:cNvSpPr/>
          <p:nvPr/>
        </p:nvSpPr>
        <p:spPr>
          <a:xfrm>
            <a:off x="8092440" y="151790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1975104"/>
            <a:ext cx="3246120" cy="457200"/>
          </a:xfrm>
          <a:prstGeom prst="rect">
            <a:avLst/>
          </a:prstGeom>
          <a:solidFill>
            <a:srgbClr val="ECEFF1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1" name="Text 29"/>
          <p:cNvSpPr/>
          <p:nvPr/>
        </p:nvSpPr>
        <p:spPr>
          <a:xfrm>
            <a:off x="365760" y="199339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(no lag)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66160" y="1975104"/>
            <a:ext cx="1600200" cy="457200"/>
          </a:xfrm>
          <a:prstGeom prst="rect">
            <a:avLst/>
          </a:prstGeom>
          <a:solidFill>
            <a:srgbClr val="ECEFF1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3" name="Text 31"/>
          <p:cNvSpPr/>
          <p:nvPr/>
        </p:nvSpPr>
        <p:spPr>
          <a:xfrm>
            <a:off x="3611880" y="19933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123,187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66360" y="1975104"/>
            <a:ext cx="1600200" cy="457200"/>
          </a:xfrm>
          <a:prstGeom prst="rect">
            <a:avLst/>
          </a:prstGeom>
          <a:solidFill>
            <a:srgbClr val="ECEFF1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5" name="Text 33"/>
          <p:cNvSpPr/>
          <p:nvPr/>
        </p:nvSpPr>
        <p:spPr>
          <a:xfrm>
            <a:off x="5212080" y="19933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195,205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766560" y="1975104"/>
            <a:ext cx="1280160" cy="457200"/>
          </a:xfrm>
          <a:prstGeom prst="rect">
            <a:avLst/>
          </a:prstGeom>
          <a:solidFill>
            <a:srgbClr val="ECEFF1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7" name="Text 35"/>
          <p:cNvSpPr/>
          <p:nvPr/>
        </p:nvSpPr>
        <p:spPr>
          <a:xfrm>
            <a:off x="6812280" y="19933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046720" y="1975104"/>
            <a:ext cx="822960" cy="457200"/>
          </a:xfrm>
          <a:prstGeom prst="rect">
            <a:avLst/>
          </a:prstGeom>
          <a:solidFill>
            <a:srgbClr val="ECEFF1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9" name="Text 37"/>
          <p:cNvSpPr/>
          <p:nvPr/>
        </p:nvSpPr>
        <p:spPr>
          <a:xfrm>
            <a:off x="8092440" y="19933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2450592"/>
            <a:ext cx="3246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1" name="Text 39"/>
          <p:cNvSpPr/>
          <p:nvPr/>
        </p:nvSpPr>
        <p:spPr>
          <a:xfrm>
            <a:off x="365760" y="24688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(with lag)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566160" y="2450592"/>
            <a:ext cx="1600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3" name="Text 41"/>
          <p:cNvSpPr/>
          <p:nvPr/>
        </p:nvSpPr>
        <p:spPr>
          <a:xfrm>
            <a:off x="3611880" y="2468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21,881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166360" y="2450592"/>
            <a:ext cx="1600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5" name="Text 43"/>
          <p:cNvSpPr/>
          <p:nvPr/>
        </p:nvSpPr>
        <p:spPr>
          <a:xfrm>
            <a:off x="5212080" y="2468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31,021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766560" y="2450592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7" name="Text 45"/>
          <p:cNvSpPr/>
          <p:nvPr/>
        </p:nvSpPr>
        <p:spPr>
          <a:xfrm>
            <a:off x="6812280" y="2468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046720" y="2450592"/>
            <a:ext cx="822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9" name="Text 47"/>
          <p:cNvSpPr/>
          <p:nvPr/>
        </p:nvSpPr>
        <p:spPr>
          <a:xfrm>
            <a:off x="8092440" y="24688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20040" y="2926080"/>
            <a:ext cx="3246120" cy="457200"/>
          </a:xfrm>
          <a:prstGeom prst="rect">
            <a:avLst/>
          </a:prstGeom>
          <a:solidFill>
            <a:srgbClr val="E3F0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1" name="Text 49"/>
          <p:cNvSpPr/>
          <p:nvPr/>
        </p:nvSpPr>
        <p:spPr>
          <a:xfrm>
            <a:off x="365760" y="294436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(with lag)  ★ Best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3566160" y="2926080"/>
            <a:ext cx="1600200" cy="457200"/>
          </a:xfrm>
          <a:prstGeom prst="rect">
            <a:avLst/>
          </a:prstGeom>
          <a:solidFill>
            <a:srgbClr val="E3F0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3" name="Text 51"/>
          <p:cNvSpPr/>
          <p:nvPr/>
        </p:nvSpPr>
        <p:spPr>
          <a:xfrm>
            <a:off x="3611880" y="29443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15,923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166360" y="2926080"/>
            <a:ext cx="1600200" cy="457200"/>
          </a:xfrm>
          <a:prstGeom prst="rect">
            <a:avLst/>
          </a:prstGeom>
          <a:solidFill>
            <a:srgbClr val="E3F0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5" name="Text 53"/>
          <p:cNvSpPr/>
          <p:nvPr/>
        </p:nvSpPr>
        <p:spPr>
          <a:xfrm>
            <a:off x="5212080" y="29443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25,265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766560" y="2926080"/>
            <a:ext cx="1280160" cy="457200"/>
          </a:xfrm>
          <a:prstGeom prst="rect">
            <a:avLst/>
          </a:prstGeom>
          <a:solidFill>
            <a:srgbClr val="E3F0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7" name="Text 55"/>
          <p:cNvSpPr/>
          <p:nvPr/>
        </p:nvSpPr>
        <p:spPr>
          <a:xfrm>
            <a:off x="6812280" y="29443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8046720" y="2926080"/>
            <a:ext cx="822960" cy="457200"/>
          </a:xfrm>
          <a:prstGeom prst="rect">
            <a:avLst/>
          </a:prstGeom>
          <a:solidFill>
            <a:srgbClr val="E3F0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9" name="Text 57"/>
          <p:cNvSpPr/>
          <p:nvPr/>
        </p:nvSpPr>
        <p:spPr>
          <a:xfrm>
            <a:off x="8092440" y="294436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320040" y="3401568"/>
            <a:ext cx="3246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1" name="Text 59"/>
          <p:cNvSpPr/>
          <p:nvPr/>
        </p:nvSpPr>
        <p:spPr>
          <a:xfrm>
            <a:off x="365760" y="341985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(2,1,2) rolling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566160" y="3401568"/>
            <a:ext cx="1600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3" name="Text 61"/>
          <p:cNvSpPr/>
          <p:nvPr/>
        </p:nvSpPr>
        <p:spPr>
          <a:xfrm>
            <a:off x="3611880" y="34198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19,851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166360" y="3401568"/>
            <a:ext cx="1600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5" name="Text 63"/>
          <p:cNvSpPr/>
          <p:nvPr/>
        </p:nvSpPr>
        <p:spPr>
          <a:xfrm>
            <a:off x="5212080" y="34198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40,844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766560" y="3401568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7" name="Text 65"/>
          <p:cNvSpPr/>
          <p:nvPr/>
        </p:nvSpPr>
        <p:spPr>
          <a:xfrm>
            <a:off x="6812280" y="34198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8046720" y="3401568"/>
            <a:ext cx="822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9" name="Text 67"/>
          <p:cNvSpPr/>
          <p:nvPr/>
        </p:nvSpPr>
        <p:spPr>
          <a:xfrm>
            <a:off x="8092440" y="341985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20040" y="3877056"/>
            <a:ext cx="3246120" cy="457200"/>
          </a:xfrm>
          <a:prstGeom prst="rect">
            <a:avLst/>
          </a:prstGeom>
          <a:solidFill>
            <a:srgbClr val="ECEFF1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1" name="Text 69"/>
          <p:cNvSpPr/>
          <p:nvPr/>
        </p:nvSpPr>
        <p:spPr>
          <a:xfrm>
            <a:off x="365760" y="389534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(with lag, 30 epochs)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3566160" y="3877056"/>
            <a:ext cx="1600200" cy="457200"/>
          </a:xfrm>
          <a:prstGeom prst="rect">
            <a:avLst/>
          </a:prstGeom>
          <a:solidFill>
            <a:srgbClr val="ECEFF1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3" name="Text 71"/>
          <p:cNvSpPr/>
          <p:nvPr/>
        </p:nvSpPr>
        <p:spPr>
          <a:xfrm>
            <a:off x="3611880" y="389534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48,443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166360" y="3877056"/>
            <a:ext cx="1600200" cy="457200"/>
          </a:xfrm>
          <a:prstGeom prst="rect">
            <a:avLst/>
          </a:prstGeom>
          <a:solidFill>
            <a:srgbClr val="ECEFF1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5" name="Text 73"/>
          <p:cNvSpPr/>
          <p:nvPr/>
        </p:nvSpPr>
        <p:spPr>
          <a:xfrm>
            <a:off x="5212080" y="389534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62,466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766560" y="3877056"/>
            <a:ext cx="1280160" cy="457200"/>
          </a:xfrm>
          <a:prstGeom prst="rect">
            <a:avLst/>
          </a:prstGeom>
          <a:solidFill>
            <a:srgbClr val="ECEFF1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7" name="Text 75"/>
          <p:cNvSpPr/>
          <p:nvPr/>
        </p:nvSpPr>
        <p:spPr>
          <a:xfrm>
            <a:off x="6812280" y="38953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0.995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8046720" y="3877056"/>
            <a:ext cx="822960" cy="457200"/>
          </a:xfrm>
          <a:prstGeom prst="rect">
            <a:avLst/>
          </a:prstGeom>
          <a:solidFill>
            <a:srgbClr val="ECEFF1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9" name="Text 77"/>
          <p:cNvSpPr/>
          <p:nvPr/>
        </p:nvSpPr>
        <p:spPr>
          <a:xfrm>
            <a:off x="8092440" y="389534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320040" y="473659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= with lag features  ·  Group B = calendar features only  ·  TS = time series  ·  ★ best overall model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— Visual Breakdown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comparison across all regression models · feature importance (Random Forest, no-lag group)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41080" y="201168"/>
            <a:ext cx="347472" cy="347472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E3F0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320040" y="48691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FlowShift  |  Urban Traffic &amp; Transit Demand — Los Angeles 2021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8691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Comparison</a:t>
            </a:r>
            <a:endParaRPr lang="en-US" sz="11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320040" y="1353312"/>
          <a:ext cx="4114800" cy="3456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4663440" y="1051560"/>
            <a:ext cx="27432" cy="379476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3" name="Text 10"/>
          <p:cNvSpPr/>
          <p:nvPr/>
        </p:nvSpPr>
        <p:spPr>
          <a:xfrm>
            <a:off x="480060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 (RF no-lag)</a:t>
            </a:r>
            <a:endParaRPr lang="en-US" sz="115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4800600" y="1353312"/>
          <a:ext cx="4114800" cy="3456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Congestion Detection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congested vs. free-flow using calendar features only (no lag)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41080" y="201168"/>
            <a:ext cx="347472" cy="347472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E3F0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320040" y="48691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FlowShift  |  Urban Traffic &amp; Transit Demand — Los Angeles 2021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8691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1115568"/>
            <a:ext cx="5989320" cy="36576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1" name="Text 9"/>
          <p:cNvSpPr/>
          <p:nvPr/>
        </p:nvSpPr>
        <p:spPr>
          <a:xfrm>
            <a:off x="2834640" y="1115568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32504" y="1115568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30368" y="1115568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28232" y="1115568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26096" y="1115568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572768"/>
            <a:ext cx="2468880" cy="80467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7" name="Text 15"/>
          <p:cNvSpPr/>
          <p:nvPr/>
        </p:nvSpPr>
        <p:spPr>
          <a:xfrm>
            <a:off x="384048" y="166420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" y="202996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 = 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34640" y="1572768"/>
            <a:ext cx="1197864" cy="804672"/>
          </a:xfrm>
          <a:prstGeom prst="rect">
            <a:avLst/>
          </a:prstGeom>
          <a:solidFill>
            <a:srgbClr val="E3F0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0" name="Text 18"/>
          <p:cNvSpPr/>
          <p:nvPr/>
        </p:nvSpPr>
        <p:spPr>
          <a:xfrm>
            <a:off x="2834640" y="1572768"/>
            <a:ext cx="11978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90.8%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032504" y="1572768"/>
            <a:ext cx="1197864" cy="804672"/>
          </a:xfrm>
          <a:prstGeom prst="rect">
            <a:avLst/>
          </a:prstGeom>
          <a:solidFill>
            <a:srgbClr val="E3F0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2" name="Text 20"/>
          <p:cNvSpPr/>
          <p:nvPr/>
        </p:nvSpPr>
        <p:spPr>
          <a:xfrm>
            <a:off x="4032504" y="1572768"/>
            <a:ext cx="11978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76.3%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230368" y="1572768"/>
            <a:ext cx="1197864" cy="804672"/>
          </a:xfrm>
          <a:prstGeom prst="rect">
            <a:avLst/>
          </a:prstGeom>
          <a:solidFill>
            <a:srgbClr val="E3F0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4" name="Text 22"/>
          <p:cNvSpPr/>
          <p:nvPr/>
        </p:nvSpPr>
        <p:spPr>
          <a:xfrm>
            <a:off x="5230368" y="1572768"/>
            <a:ext cx="11978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91.5%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28232" y="1572768"/>
            <a:ext cx="1197864" cy="804672"/>
          </a:xfrm>
          <a:prstGeom prst="rect">
            <a:avLst/>
          </a:prstGeom>
          <a:solidFill>
            <a:srgbClr val="E3F0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6" name="Text 24"/>
          <p:cNvSpPr/>
          <p:nvPr/>
        </p:nvSpPr>
        <p:spPr>
          <a:xfrm>
            <a:off x="6428232" y="1572768"/>
            <a:ext cx="11978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83.2%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626096" y="1572768"/>
            <a:ext cx="1197864" cy="804672"/>
          </a:xfrm>
          <a:prstGeom prst="rect">
            <a:avLst/>
          </a:prstGeom>
          <a:solidFill>
            <a:srgbClr val="E3F0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8" name="Text 26"/>
          <p:cNvSpPr/>
          <p:nvPr/>
        </p:nvSpPr>
        <p:spPr>
          <a:xfrm>
            <a:off x="7626096" y="1572768"/>
            <a:ext cx="11978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0.959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0040" y="2532888"/>
            <a:ext cx="2468880" cy="8046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0" name="Text 28"/>
          <p:cNvSpPr/>
          <p:nvPr/>
        </p:nvSpPr>
        <p:spPr>
          <a:xfrm>
            <a:off x="384048" y="262432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4048" y="299008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34640" y="2532888"/>
            <a:ext cx="1197864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3" name="Text 31"/>
          <p:cNvSpPr/>
          <p:nvPr/>
        </p:nvSpPr>
        <p:spPr>
          <a:xfrm>
            <a:off x="2834640" y="2532888"/>
            <a:ext cx="11978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032504" y="2532888"/>
            <a:ext cx="1197864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5" name="Text 33"/>
          <p:cNvSpPr/>
          <p:nvPr/>
        </p:nvSpPr>
        <p:spPr>
          <a:xfrm>
            <a:off x="4032504" y="2532888"/>
            <a:ext cx="11978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73.0%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230368" y="2532888"/>
            <a:ext cx="1197864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7" name="Text 35"/>
          <p:cNvSpPr/>
          <p:nvPr/>
        </p:nvSpPr>
        <p:spPr>
          <a:xfrm>
            <a:off x="5230368" y="2532888"/>
            <a:ext cx="11978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86.0%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28232" y="2532888"/>
            <a:ext cx="1197864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9" name="Text 37"/>
          <p:cNvSpPr/>
          <p:nvPr/>
        </p:nvSpPr>
        <p:spPr>
          <a:xfrm>
            <a:off x="6428232" y="2532888"/>
            <a:ext cx="11978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79.0%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626096" y="2532888"/>
            <a:ext cx="1197864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1" name="Text 39"/>
          <p:cNvSpPr/>
          <p:nvPr/>
        </p:nvSpPr>
        <p:spPr>
          <a:xfrm>
            <a:off x="7626096" y="2532888"/>
            <a:ext cx="11978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0.922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20040" y="3493008"/>
            <a:ext cx="2468880" cy="804672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3" name="Text 41"/>
          <p:cNvSpPr/>
          <p:nvPr/>
        </p:nvSpPr>
        <p:spPr>
          <a:xfrm>
            <a:off x="384048" y="358444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84048" y="395020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estimators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834640" y="3493008"/>
            <a:ext cx="1197864" cy="804672"/>
          </a:xfrm>
          <a:prstGeom prst="rect">
            <a:avLst/>
          </a:prstGeom>
          <a:solidFill>
            <a:srgbClr val="E3F0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6" name="Text 44"/>
          <p:cNvSpPr/>
          <p:nvPr/>
        </p:nvSpPr>
        <p:spPr>
          <a:xfrm>
            <a:off x="2834640" y="3493008"/>
            <a:ext cx="11978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032504" y="3493008"/>
            <a:ext cx="1197864" cy="804672"/>
          </a:xfrm>
          <a:prstGeom prst="rect">
            <a:avLst/>
          </a:prstGeom>
          <a:solidFill>
            <a:srgbClr val="E3F0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8" name="Text 46"/>
          <p:cNvSpPr/>
          <p:nvPr/>
        </p:nvSpPr>
        <p:spPr>
          <a:xfrm>
            <a:off x="4032504" y="3493008"/>
            <a:ext cx="11978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230368" y="3493008"/>
            <a:ext cx="1197864" cy="804672"/>
          </a:xfrm>
          <a:prstGeom prst="rect">
            <a:avLst/>
          </a:prstGeom>
          <a:solidFill>
            <a:srgbClr val="E3F0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0" name="Text 48"/>
          <p:cNvSpPr/>
          <p:nvPr/>
        </p:nvSpPr>
        <p:spPr>
          <a:xfrm>
            <a:off x="5230368" y="3493008"/>
            <a:ext cx="11978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428232" y="3493008"/>
            <a:ext cx="1197864" cy="804672"/>
          </a:xfrm>
          <a:prstGeom prst="rect">
            <a:avLst/>
          </a:prstGeom>
          <a:solidFill>
            <a:srgbClr val="E3F0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2" name="Text 50"/>
          <p:cNvSpPr/>
          <p:nvPr/>
        </p:nvSpPr>
        <p:spPr>
          <a:xfrm>
            <a:off x="6428232" y="3493008"/>
            <a:ext cx="11978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626096" y="3493008"/>
            <a:ext cx="1197864" cy="804672"/>
          </a:xfrm>
          <a:prstGeom prst="rect">
            <a:avLst/>
          </a:prstGeom>
          <a:solidFill>
            <a:srgbClr val="E3F0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4" name="Text 52"/>
          <p:cNvSpPr/>
          <p:nvPr/>
        </p:nvSpPr>
        <p:spPr>
          <a:xfrm>
            <a:off x="7626096" y="3493008"/>
            <a:ext cx="11978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0.956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20040" y="4553712"/>
            <a:ext cx="850392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6" name="Text 54"/>
          <p:cNvSpPr/>
          <p:nvPr/>
        </p:nvSpPr>
        <p:spPr>
          <a:xfrm>
            <a:off x="457200" y="4562856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classifiers achieve AUC &gt; 0.92 using only hour-of-day and day-of-week — congestion is highly predictable from the calendar alone.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 — Congestion Classification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 Rate vs. False Positive Rate · all models trained on no-lag calendar features only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41080" y="201168"/>
            <a:ext cx="347472" cy="347472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E3F0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320040" y="48691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FlowShift  |  Urban Traffic &amp; Transit Demand — Los Angeles 2021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8691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051560"/>
            <a:ext cx="8503920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1" name="Shape 9"/>
          <p:cNvSpPr/>
          <p:nvPr/>
        </p:nvSpPr>
        <p:spPr>
          <a:xfrm>
            <a:off x="960120" y="4160520"/>
            <a:ext cx="6675120" cy="914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347472" y="405079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60120" y="1170432"/>
            <a:ext cx="914" cy="2990088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" name="Text 12"/>
          <p:cNvSpPr/>
          <p:nvPr/>
        </p:nvSpPr>
        <p:spPr>
          <a:xfrm>
            <a:off x="777240" y="42153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60120" y="3562502"/>
            <a:ext cx="6675120" cy="914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347472" y="345277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95144" y="1170432"/>
            <a:ext cx="914" cy="2990088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8" name="Text 16"/>
          <p:cNvSpPr/>
          <p:nvPr/>
        </p:nvSpPr>
        <p:spPr>
          <a:xfrm>
            <a:off x="2112264" y="42153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60120" y="2964485"/>
            <a:ext cx="6675120" cy="914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0" name="Text 18"/>
          <p:cNvSpPr/>
          <p:nvPr/>
        </p:nvSpPr>
        <p:spPr>
          <a:xfrm>
            <a:off x="347472" y="2854757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30168" y="1170432"/>
            <a:ext cx="914" cy="2990088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2" name="Text 20"/>
          <p:cNvSpPr/>
          <p:nvPr/>
        </p:nvSpPr>
        <p:spPr>
          <a:xfrm>
            <a:off x="3447288" y="42153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0120" y="2366467"/>
            <a:ext cx="6675120" cy="914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4" name="Text 22"/>
          <p:cNvSpPr/>
          <p:nvPr/>
        </p:nvSpPr>
        <p:spPr>
          <a:xfrm>
            <a:off x="347472" y="2256739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65192" y="1170432"/>
            <a:ext cx="914" cy="2990088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6" name="Text 24"/>
          <p:cNvSpPr/>
          <p:nvPr/>
        </p:nvSpPr>
        <p:spPr>
          <a:xfrm>
            <a:off x="4782312" y="42153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60120" y="1768450"/>
            <a:ext cx="6675120" cy="914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8" name="Text 26"/>
          <p:cNvSpPr/>
          <p:nvPr/>
        </p:nvSpPr>
        <p:spPr>
          <a:xfrm>
            <a:off x="347472" y="165872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300216" y="1170432"/>
            <a:ext cx="914" cy="2990088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0" name="Text 28"/>
          <p:cNvSpPr/>
          <p:nvPr/>
        </p:nvSpPr>
        <p:spPr>
          <a:xfrm>
            <a:off x="6117336" y="42153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60120" y="1170432"/>
            <a:ext cx="6675120" cy="914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2" name="Text 30"/>
          <p:cNvSpPr/>
          <p:nvPr/>
        </p:nvSpPr>
        <p:spPr>
          <a:xfrm>
            <a:off x="347472" y="106070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635240" y="1170432"/>
            <a:ext cx="914" cy="2990088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4" name="Text 32"/>
          <p:cNvSpPr/>
          <p:nvPr/>
        </p:nvSpPr>
        <p:spPr>
          <a:xfrm>
            <a:off x="7452360" y="42153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60120" y="4160520"/>
            <a:ext cx="6675120" cy="914"/>
          </a:xfrm>
          <a:prstGeom prst="line">
            <a:avLst/>
          </a:prstGeom>
          <a:noFill/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6" name="Shape 34"/>
          <p:cNvSpPr/>
          <p:nvPr/>
        </p:nvSpPr>
        <p:spPr>
          <a:xfrm>
            <a:off x="960120" y="1170432"/>
            <a:ext cx="914" cy="2990088"/>
          </a:xfrm>
          <a:prstGeom prst="line">
            <a:avLst/>
          </a:prstGeom>
          <a:noFill/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7" name="Text 35"/>
          <p:cNvSpPr/>
          <p:nvPr/>
        </p:nvSpPr>
        <p:spPr>
          <a:xfrm>
            <a:off x="3200400" y="44348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 (FPR)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" y="23911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 flipV="1">
            <a:off x="960120" y="1170432"/>
            <a:ext cx="6675120" cy="2990088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0" name="Shape 38"/>
          <p:cNvSpPr/>
          <p:nvPr/>
        </p:nvSpPr>
        <p:spPr>
          <a:xfrm flipV="1">
            <a:off x="960120" y="2814980"/>
            <a:ext cx="66751" cy="1345540"/>
          </a:xfrm>
          <a:prstGeom prst="line">
            <a:avLst/>
          </a:prstGeom>
          <a:noFill/>
          <a:ln w="279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1" name="Shape 39"/>
          <p:cNvSpPr/>
          <p:nvPr/>
        </p:nvSpPr>
        <p:spPr>
          <a:xfrm flipV="1">
            <a:off x="1026871" y="2276765"/>
            <a:ext cx="66751" cy="538216"/>
          </a:xfrm>
          <a:prstGeom prst="line">
            <a:avLst/>
          </a:prstGeom>
          <a:noFill/>
          <a:ln w="279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2" name="Shape 40"/>
          <p:cNvSpPr/>
          <p:nvPr/>
        </p:nvSpPr>
        <p:spPr>
          <a:xfrm flipV="1">
            <a:off x="1093622" y="1888053"/>
            <a:ext cx="133502" cy="388711"/>
          </a:xfrm>
          <a:prstGeom prst="line">
            <a:avLst/>
          </a:prstGeom>
          <a:noFill/>
          <a:ln w="279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3" name="Shape 41"/>
          <p:cNvSpPr/>
          <p:nvPr/>
        </p:nvSpPr>
        <p:spPr>
          <a:xfrm flipV="1">
            <a:off x="1227125" y="1678747"/>
            <a:ext cx="133502" cy="209306"/>
          </a:xfrm>
          <a:prstGeom prst="line">
            <a:avLst/>
          </a:prstGeom>
          <a:noFill/>
          <a:ln w="279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4" name="Shape 42"/>
          <p:cNvSpPr/>
          <p:nvPr/>
        </p:nvSpPr>
        <p:spPr>
          <a:xfrm flipV="1">
            <a:off x="1360627" y="1559143"/>
            <a:ext cx="133502" cy="119604"/>
          </a:xfrm>
          <a:prstGeom prst="line">
            <a:avLst/>
          </a:prstGeom>
          <a:noFill/>
          <a:ln w="279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5" name="Shape 43"/>
          <p:cNvSpPr/>
          <p:nvPr/>
        </p:nvSpPr>
        <p:spPr>
          <a:xfrm flipV="1">
            <a:off x="1494130" y="1469441"/>
            <a:ext cx="133502" cy="89703"/>
          </a:xfrm>
          <a:prstGeom prst="line">
            <a:avLst/>
          </a:prstGeom>
          <a:noFill/>
          <a:ln w="279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6" name="Shape 44"/>
          <p:cNvSpPr/>
          <p:nvPr/>
        </p:nvSpPr>
        <p:spPr>
          <a:xfrm flipV="1">
            <a:off x="1627632" y="1379738"/>
            <a:ext cx="333756" cy="89703"/>
          </a:xfrm>
          <a:prstGeom prst="line">
            <a:avLst/>
          </a:prstGeom>
          <a:noFill/>
          <a:ln w="279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7" name="Shape 45"/>
          <p:cNvSpPr/>
          <p:nvPr/>
        </p:nvSpPr>
        <p:spPr>
          <a:xfrm flipV="1">
            <a:off x="1961388" y="1349837"/>
            <a:ext cx="333756" cy="29901"/>
          </a:xfrm>
          <a:prstGeom prst="line">
            <a:avLst/>
          </a:prstGeom>
          <a:noFill/>
          <a:ln w="279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8" name="Shape 46"/>
          <p:cNvSpPr/>
          <p:nvPr/>
        </p:nvSpPr>
        <p:spPr>
          <a:xfrm flipV="1">
            <a:off x="2295144" y="1319936"/>
            <a:ext cx="333756" cy="29901"/>
          </a:xfrm>
          <a:prstGeom prst="line">
            <a:avLst/>
          </a:prstGeom>
          <a:noFill/>
          <a:ln w="279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9" name="Shape 47"/>
          <p:cNvSpPr/>
          <p:nvPr/>
        </p:nvSpPr>
        <p:spPr>
          <a:xfrm flipV="1">
            <a:off x="2628900" y="1290036"/>
            <a:ext cx="333756" cy="29901"/>
          </a:xfrm>
          <a:prstGeom prst="line">
            <a:avLst/>
          </a:prstGeom>
          <a:noFill/>
          <a:ln w="279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0" name="Shape 48"/>
          <p:cNvSpPr/>
          <p:nvPr/>
        </p:nvSpPr>
        <p:spPr>
          <a:xfrm flipV="1">
            <a:off x="2962656" y="1260135"/>
            <a:ext cx="667512" cy="29901"/>
          </a:xfrm>
          <a:prstGeom prst="line">
            <a:avLst/>
          </a:prstGeom>
          <a:noFill/>
          <a:ln w="279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1" name="Shape 49"/>
          <p:cNvSpPr/>
          <p:nvPr/>
        </p:nvSpPr>
        <p:spPr>
          <a:xfrm flipV="1">
            <a:off x="3630168" y="1230234"/>
            <a:ext cx="667512" cy="29901"/>
          </a:xfrm>
          <a:prstGeom prst="line">
            <a:avLst/>
          </a:prstGeom>
          <a:noFill/>
          <a:ln w="279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2" name="Shape 50"/>
          <p:cNvSpPr/>
          <p:nvPr/>
        </p:nvSpPr>
        <p:spPr>
          <a:xfrm flipV="1">
            <a:off x="4297680" y="1200333"/>
            <a:ext cx="667512" cy="29901"/>
          </a:xfrm>
          <a:prstGeom prst="line">
            <a:avLst/>
          </a:prstGeom>
          <a:noFill/>
          <a:ln w="279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3" name="Shape 51"/>
          <p:cNvSpPr/>
          <p:nvPr/>
        </p:nvSpPr>
        <p:spPr>
          <a:xfrm>
            <a:off x="4965192" y="1200333"/>
            <a:ext cx="667512" cy="914"/>
          </a:xfrm>
          <a:prstGeom prst="line">
            <a:avLst/>
          </a:prstGeom>
          <a:noFill/>
          <a:ln w="279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4" name="Shape 52"/>
          <p:cNvSpPr/>
          <p:nvPr/>
        </p:nvSpPr>
        <p:spPr>
          <a:xfrm flipV="1">
            <a:off x="5632704" y="1170432"/>
            <a:ext cx="667512" cy="29901"/>
          </a:xfrm>
          <a:prstGeom prst="line">
            <a:avLst/>
          </a:prstGeom>
          <a:noFill/>
          <a:ln w="279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5" name="Shape 53"/>
          <p:cNvSpPr/>
          <p:nvPr/>
        </p:nvSpPr>
        <p:spPr>
          <a:xfrm>
            <a:off x="6300216" y="1170432"/>
            <a:ext cx="667512" cy="914"/>
          </a:xfrm>
          <a:prstGeom prst="line">
            <a:avLst/>
          </a:prstGeom>
          <a:noFill/>
          <a:ln w="279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6" name="Shape 54"/>
          <p:cNvSpPr/>
          <p:nvPr/>
        </p:nvSpPr>
        <p:spPr>
          <a:xfrm>
            <a:off x="6967728" y="1170432"/>
            <a:ext cx="667512" cy="914"/>
          </a:xfrm>
          <a:prstGeom prst="line">
            <a:avLst/>
          </a:prstGeom>
          <a:noFill/>
          <a:ln w="279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7" name="Shape 55"/>
          <p:cNvSpPr/>
          <p:nvPr/>
        </p:nvSpPr>
        <p:spPr>
          <a:xfrm flipV="1">
            <a:off x="960120" y="3143890"/>
            <a:ext cx="66751" cy="1016630"/>
          </a:xfrm>
          <a:prstGeom prst="line">
            <a:avLst/>
          </a:prstGeom>
          <a:noFill/>
          <a:ln w="2794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8" name="Shape 56"/>
          <p:cNvSpPr/>
          <p:nvPr/>
        </p:nvSpPr>
        <p:spPr>
          <a:xfrm flipV="1">
            <a:off x="1026871" y="2665476"/>
            <a:ext cx="66751" cy="478414"/>
          </a:xfrm>
          <a:prstGeom prst="line">
            <a:avLst/>
          </a:prstGeom>
          <a:noFill/>
          <a:ln w="2794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9" name="Shape 57"/>
          <p:cNvSpPr/>
          <p:nvPr/>
        </p:nvSpPr>
        <p:spPr>
          <a:xfrm flipV="1">
            <a:off x="1093622" y="2276765"/>
            <a:ext cx="133502" cy="388711"/>
          </a:xfrm>
          <a:prstGeom prst="line">
            <a:avLst/>
          </a:prstGeom>
          <a:noFill/>
          <a:ln w="2794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0" name="Shape 58"/>
          <p:cNvSpPr/>
          <p:nvPr/>
        </p:nvSpPr>
        <p:spPr>
          <a:xfrm flipV="1">
            <a:off x="1227125" y="2067458"/>
            <a:ext cx="133502" cy="209306"/>
          </a:xfrm>
          <a:prstGeom prst="line">
            <a:avLst/>
          </a:prstGeom>
          <a:noFill/>
          <a:ln w="2794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1" name="Shape 59"/>
          <p:cNvSpPr/>
          <p:nvPr/>
        </p:nvSpPr>
        <p:spPr>
          <a:xfrm flipV="1">
            <a:off x="1360627" y="1917954"/>
            <a:ext cx="133502" cy="149504"/>
          </a:xfrm>
          <a:prstGeom prst="line">
            <a:avLst/>
          </a:prstGeom>
          <a:noFill/>
          <a:ln w="2794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2" name="Shape 60"/>
          <p:cNvSpPr/>
          <p:nvPr/>
        </p:nvSpPr>
        <p:spPr>
          <a:xfrm flipV="1">
            <a:off x="1494130" y="1798350"/>
            <a:ext cx="133502" cy="119604"/>
          </a:xfrm>
          <a:prstGeom prst="line">
            <a:avLst/>
          </a:prstGeom>
          <a:noFill/>
          <a:ln w="2794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3" name="Shape 61"/>
          <p:cNvSpPr/>
          <p:nvPr/>
        </p:nvSpPr>
        <p:spPr>
          <a:xfrm flipV="1">
            <a:off x="1627632" y="1648846"/>
            <a:ext cx="333756" cy="149504"/>
          </a:xfrm>
          <a:prstGeom prst="line">
            <a:avLst/>
          </a:prstGeom>
          <a:noFill/>
          <a:ln w="2794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4" name="Shape 62"/>
          <p:cNvSpPr/>
          <p:nvPr/>
        </p:nvSpPr>
        <p:spPr>
          <a:xfrm flipV="1">
            <a:off x="1961388" y="1559143"/>
            <a:ext cx="333756" cy="89703"/>
          </a:xfrm>
          <a:prstGeom prst="line">
            <a:avLst/>
          </a:prstGeom>
          <a:noFill/>
          <a:ln w="2794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5" name="Shape 63"/>
          <p:cNvSpPr/>
          <p:nvPr/>
        </p:nvSpPr>
        <p:spPr>
          <a:xfrm flipV="1">
            <a:off x="2295144" y="1499342"/>
            <a:ext cx="333756" cy="59802"/>
          </a:xfrm>
          <a:prstGeom prst="line">
            <a:avLst/>
          </a:prstGeom>
          <a:noFill/>
          <a:ln w="2794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6" name="Shape 64"/>
          <p:cNvSpPr/>
          <p:nvPr/>
        </p:nvSpPr>
        <p:spPr>
          <a:xfrm flipV="1">
            <a:off x="2628900" y="1439540"/>
            <a:ext cx="333756" cy="59802"/>
          </a:xfrm>
          <a:prstGeom prst="line">
            <a:avLst/>
          </a:prstGeom>
          <a:noFill/>
          <a:ln w="2794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7" name="Shape 65"/>
          <p:cNvSpPr/>
          <p:nvPr/>
        </p:nvSpPr>
        <p:spPr>
          <a:xfrm flipV="1">
            <a:off x="2962656" y="1379738"/>
            <a:ext cx="667512" cy="59802"/>
          </a:xfrm>
          <a:prstGeom prst="line">
            <a:avLst/>
          </a:prstGeom>
          <a:noFill/>
          <a:ln w="2794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8" name="Shape 66"/>
          <p:cNvSpPr/>
          <p:nvPr/>
        </p:nvSpPr>
        <p:spPr>
          <a:xfrm flipV="1">
            <a:off x="3630168" y="1319936"/>
            <a:ext cx="667512" cy="59802"/>
          </a:xfrm>
          <a:prstGeom prst="line">
            <a:avLst/>
          </a:prstGeom>
          <a:noFill/>
          <a:ln w="2794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9" name="Shape 67"/>
          <p:cNvSpPr/>
          <p:nvPr/>
        </p:nvSpPr>
        <p:spPr>
          <a:xfrm flipV="1">
            <a:off x="4297680" y="1290036"/>
            <a:ext cx="667512" cy="29901"/>
          </a:xfrm>
          <a:prstGeom prst="line">
            <a:avLst/>
          </a:prstGeom>
          <a:noFill/>
          <a:ln w="2794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0" name="Shape 68"/>
          <p:cNvSpPr/>
          <p:nvPr/>
        </p:nvSpPr>
        <p:spPr>
          <a:xfrm flipV="1">
            <a:off x="4965192" y="1260135"/>
            <a:ext cx="667512" cy="29901"/>
          </a:xfrm>
          <a:prstGeom prst="line">
            <a:avLst/>
          </a:prstGeom>
          <a:noFill/>
          <a:ln w="2794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1" name="Shape 69"/>
          <p:cNvSpPr/>
          <p:nvPr/>
        </p:nvSpPr>
        <p:spPr>
          <a:xfrm flipV="1">
            <a:off x="5632704" y="1230234"/>
            <a:ext cx="667512" cy="29901"/>
          </a:xfrm>
          <a:prstGeom prst="line">
            <a:avLst/>
          </a:prstGeom>
          <a:noFill/>
          <a:ln w="2794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2" name="Shape 70"/>
          <p:cNvSpPr/>
          <p:nvPr/>
        </p:nvSpPr>
        <p:spPr>
          <a:xfrm flipV="1">
            <a:off x="6300216" y="1200333"/>
            <a:ext cx="667512" cy="29901"/>
          </a:xfrm>
          <a:prstGeom prst="line">
            <a:avLst/>
          </a:prstGeom>
          <a:noFill/>
          <a:ln w="2794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3" name="Shape 71"/>
          <p:cNvSpPr/>
          <p:nvPr/>
        </p:nvSpPr>
        <p:spPr>
          <a:xfrm flipV="1">
            <a:off x="6967728" y="1170432"/>
            <a:ext cx="667512" cy="29901"/>
          </a:xfrm>
          <a:prstGeom prst="line">
            <a:avLst/>
          </a:prstGeom>
          <a:noFill/>
          <a:ln w="2794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4" name="Shape 72"/>
          <p:cNvSpPr/>
          <p:nvPr/>
        </p:nvSpPr>
        <p:spPr>
          <a:xfrm flipV="1">
            <a:off x="960120" y="2874782"/>
            <a:ext cx="66751" cy="1285738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5" name="Shape 73"/>
          <p:cNvSpPr/>
          <p:nvPr/>
        </p:nvSpPr>
        <p:spPr>
          <a:xfrm flipV="1">
            <a:off x="1026871" y="2336566"/>
            <a:ext cx="66751" cy="538216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6" name="Shape 74"/>
          <p:cNvSpPr/>
          <p:nvPr/>
        </p:nvSpPr>
        <p:spPr>
          <a:xfrm flipV="1">
            <a:off x="1093622" y="1947855"/>
            <a:ext cx="133502" cy="388711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7" name="Shape 75"/>
          <p:cNvSpPr/>
          <p:nvPr/>
        </p:nvSpPr>
        <p:spPr>
          <a:xfrm flipV="1">
            <a:off x="1227125" y="1738549"/>
            <a:ext cx="133502" cy="209306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8" name="Shape 76"/>
          <p:cNvSpPr/>
          <p:nvPr/>
        </p:nvSpPr>
        <p:spPr>
          <a:xfrm flipV="1">
            <a:off x="1360627" y="1618945"/>
            <a:ext cx="133502" cy="119604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9" name="Shape 77"/>
          <p:cNvSpPr/>
          <p:nvPr/>
        </p:nvSpPr>
        <p:spPr>
          <a:xfrm flipV="1">
            <a:off x="1494130" y="1529243"/>
            <a:ext cx="133502" cy="89703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0" name="Shape 78"/>
          <p:cNvSpPr/>
          <p:nvPr/>
        </p:nvSpPr>
        <p:spPr>
          <a:xfrm flipV="1">
            <a:off x="1627632" y="1439540"/>
            <a:ext cx="333756" cy="89703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1" name="Shape 79"/>
          <p:cNvSpPr/>
          <p:nvPr/>
        </p:nvSpPr>
        <p:spPr>
          <a:xfrm flipV="1">
            <a:off x="1961388" y="1379738"/>
            <a:ext cx="333756" cy="59802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2" name="Shape 80"/>
          <p:cNvSpPr/>
          <p:nvPr/>
        </p:nvSpPr>
        <p:spPr>
          <a:xfrm flipV="1">
            <a:off x="2295144" y="1349837"/>
            <a:ext cx="333756" cy="29901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3" name="Shape 81"/>
          <p:cNvSpPr/>
          <p:nvPr/>
        </p:nvSpPr>
        <p:spPr>
          <a:xfrm flipV="1">
            <a:off x="2628900" y="1290036"/>
            <a:ext cx="333756" cy="59802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4" name="Shape 82"/>
          <p:cNvSpPr/>
          <p:nvPr/>
        </p:nvSpPr>
        <p:spPr>
          <a:xfrm flipV="1">
            <a:off x="2962656" y="1260135"/>
            <a:ext cx="667512" cy="29901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5" name="Shape 83"/>
          <p:cNvSpPr/>
          <p:nvPr/>
        </p:nvSpPr>
        <p:spPr>
          <a:xfrm flipV="1">
            <a:off x="3630168" y="1230234"/>
            <a:ext cx="667512" cy="29901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6" name="Shape 84"/>
          <p:cNvSpPr/>
          <p:nvPr/>
        </p:nvSpPr>
        <p:spPr>
          <a:xfrm>
            <a:off x="4297680" y="1230234"/>
            <a:ext cx="667512" cy="914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7" name="Shape 85"/>
          <p:cNvSpPr/>
          <p:nvPr/>
        </p:nvSpPr>
        <p:spPr>
          <a:xfrm flipV="1">
            <a:off x="4965192" y="1200333"/>
            <a:ext cx="667512" cy="29901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8" name="Shape 86"/>
          <p:cNvSpPr/>
          <p:nvPr/>
        </p:nvSpPr>
        <p:spPr>
          <a:xfrm flipV="1">
            <a:off x="5632704" y="1170432"/>
            <a:ext cx="667512" cy="29901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9" name="Shape 87"/>
          <p:cNvSpPr/>
          <p:nvPr/>
        </p:nvSpPr>
        <p:spPr>
          <a:xfrm>
            <a:off x="6300216" y="1170432"/>
            <a:ext cx="667512" cy="914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0" name="Shape 88"/>
          <p:cNvSpPr/>
          <p:nvPr/>
        </p:nvSpPr>
        <p:spPr>
          <a:xfrm>
            <a:off x="6967728" y="1170432"/>
            <a:ext cx="667512" cy="914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1" name="Shape 89"/>
          <p:cNvSpPr/>
          <p:nvPr/>
        </p:nvSpPr>
        <p:spPr>
          <a:xfrm>
            <a:off x="7726680" y="1234440"/>
            <a:ext cx="1325880" cy="2423160"/>
          </a:xfrm>
          <a:prstGeom prst="rect">
            <a:avLst/>
          </a:prstGeom>
          <a:solidFill>
            <a:srgbClr val="E3F0FF"/>
          </a:solidFill>
          <a:ln w="762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2" name="Text 90"/>
          <p:cNvSpPr/>
          <p:nvPr/>
        </p:nvSpPr>
        <p:spPr>
          <a:xfrm>
            <a:off x="7799832" y="1325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7799832" y="1783080"/>
            <a:ext cx="274320" cy="914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4" name="Text 92"/>
          <p:cNvSpPr/>
          <p:nvPr/>
        </p:nvSpPr>
        <p:spPr>
          <a:xfrm>
            <a:off x="8138160" y="16916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8138160" y="18928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0.959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7799832" y="2258568"/>
            <a:ext cx="274320" cy="914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7" name="Text 95"/>
          <p:cNvSpPr/>
          <p:nvPr/>
        </p:nvSpPr>
        <p:spPr>
          <a:xfrm>
            <a:off x="8138160" y="21671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 (k=5)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8138160" y="23682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0.922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7799832" y="2734056"/>
            <a:ext cx="274320" cy="914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0" name="Text 98"/>
          <p:cNvSpPr/>
          <p:nvPr/>
        </p:nvSpPr>
        <p:spPr>
          <a:xfrm>
            <a:off x="8138160" y="26426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8138160" y="28437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0.956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7799832" y="3209544"/>
            <a:ext cx="274320" cy="914"/>
          </a:xfrm>
          <a:prstGeom prst="line">
            <a:avLst/>
          </a:prstGeom>
          <a:noFill/>
          <a:ln w="254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3" name="Text 101"/>
          <p:cNvSpPr/>
          <p:nvPr/>
        </p:nvSpPr>
        <p:spPr>
          <a:xfrm>
            <a:off x="8138160" y="3118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Guess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8138160" y="33192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0.500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&amp; Time Series Forecasting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sensor profiling · ARIMA(2,1,2) · LSTM neural network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41080" y="201168"/>
            <a:ext cx="347472" cy="347472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E3F0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320040" y="48691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FlowShift  |  Urban Traffic &amp; Transit Demand — Los Angeles 2021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8691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115568"/>
            <a:ext cx="402336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1" name="Shape 9"/>
          <p:cNvSpPr/>
          <p:nvPr/>
        </p:nvSpPr>
        <p:spPr>
          <a:xfrm>
            <a:off x="320040" y="1115568"/>
            <a:ext cx="4023360" cy="6400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45720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Sensor Clustering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664208"/>
            <a:ext cx="1051560" cy="32918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4" name="Text 12"/>
          <p:cNvSpPr/>
          <p:nvPr/>
        </p:nvSpPr>
        <p:spPr>
          <a:xfrm>
            <a:off x="457200" y="166420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572768" y="168249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  (elbow + silhouette)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157984"/>
            <a:ext cx="1051560" cy="329184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7" name="Text 15"/>
          <p:cNvSpPr/>
          <p:nvPr/>
        </p:nvSpPr>
        <p:spPr>
          <a:xfrm>
            <a:off x="457200" y="215798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72768" y="21762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&amp; lower-volume routes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1051560" cy="329184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0" name="Text 18"/>
          <p:cNvSpPr/>
          <p:nvPr/>
        </p:nvSpPr>
        <p:spPr>
          <a:xfrm>
            <a:off x="457200" y="26517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572768" y="26700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corridors — LA Basin, Bay Area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145536"/>
            <a:ext cx="1051560" cy="32918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3" name="Text 21"/>
          <p:cNvSpPr/>
          <p:nvPr/>
        </p:nvSpPr>
        <p:spPr>
          <a:xfrm>
            <a:off x="457200" y="31455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572768" y="316382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dense in Districts 7 and 4/12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39312"/>
            <a:ext cx="1051560" cy="329184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6" name="Text 24"/>
          <p:cNvSpPr/>
          <p:nvPr/>
        </p:nvSpPr>
        <p:spPr>
          <a:xfrm>
            <a:off x="457200" y="363931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572768" y="36576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8,509 sensors classified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1115568"/>
            <a:ext cx="402336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29" name="Shape 27"/>
          <p:cNvSpPr/>
          <p:nvPr/>
        </p:nvSpPr>
        <p:spPr>
          <a:xfrm>
            <a:off x="4800600" y="1115568"/>
            <a:ext cx="4023360" cy="6400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0" name="Text 28"/>
          <p:cNvSpPr/>
          <p:nvPr/>
        </p:nvSpPr>
        <p:spPr>
          <a:xfrm>
            <a:off x="493776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Forecasting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37760" y="1645920"/>
            <a:ext cx="1508760" cy="29260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2" name="Text 30"/>
          <p:cNvSpPr/>
          <p:nvPr/>
        </p:nvSpPr>
        <p:spPr>
          <a:xfrm>
            <a:off x="4937760" y="16459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46520" y="1645920"/>
            <a:ext cx="777240" cy="29260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4" name="Text 32"/>
          <p:cNvSpPr/>
          <p:nvPr/>
        </p:nvSpPr>
        <p:spPr>
          <a:xfrm>
            <a:off x="6446520" y="16459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223760" y="1645920"/>
            <a:ext cx="777240" cy="29260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6" name="Text 34"/>
          <p:cNvSpPr/>
          <p:nvPr/>
        </p:nvSpPr>
        <p:spPr>
          <a:xfrm>
            <a:off x="7223760" y="16459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001000" y="1645920"/>
            <a:ext cx="548640" cy="29260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8" name="Text 36"/>
          <p:cNvSpPr/>
          <p:nvPr/>
        </p:nvSpPr>
        <p:spPr>
          <a:xfrm>
            <a:off x="8001000" y="16459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937760" y="1956816"/>
            <a:ext cx="1508760" cy="365760"/>
          </a:xfrm>
          <a:prstGeom prst="rect">
            <a:avLst/>
          </a:prstGeom>
          <a:solidFill>
            <a:srgbClr val="E3F0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0" name="Text 38"/>
          <p:cNvSpPr/>
          <p:nvPr/>
        </p:nvSpPr>
        <p:spPr>
          <a:xfrm>
            <a:off x="4974336" y="1956816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ARIMA(2,1,2)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46520" y="1956816"/>
            <a:ext cx="777240" cy="365760"/>
          </a:xfrm>
          <a:prstGeom prst="rect">
            <a:avLst/>
          </a:prstGeom>
          <a:solidFill>
            <a:srgbClr val="E3F0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2" name="Text 40"/>
          <p:cNvSpPr/>
          <p:nvPr/>
        </p:nvSpPr>
        <p:spPr>
          <a:xfrm>
            <a:off x="6483096" y="1956816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19,851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223760" y="1956816"/>
            <a:ext cx="777240" cy="365760"/>
          </a:xfrm>
          <a:prstGeom prst="rect">
            <a:avLst/>
          </a:prstGeom>
          <a:solidFill>
            <a:srgbClr val="E3F0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4" name="Text 42"/>
          <p:cNvSpPr/>
          <p:nvPr/>
        </p:nvSpPr>
        <p:spPr>
          <a:xfrm>
            <a:off x="7260336" y="1956816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40,844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001000" y="1956816"/>
            <a:ext cx="548640" cy="365760"/>
          </a:xfrm>
          <a:prstGeom prst="rect">
            <a:avLst/>
          </a:prstGeom>
          <a:solidFill>
            <a:srgbClr val="E3F0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6" name="Text 44"/>
          <p:cNvSpPr/>
          <p:nvPr/>
        </p:nvSpPr>
        <p:spPr>
          <a:xfrm>
            <a:off x="8037576" y="1956816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937760" y="2359152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8" name="Text 46"/>
          <p:cNvSpPr/>
          <p:nvPr/>
        </p:nvSpPr>
        <p:spPr>
          <a:xfrm>
            <a:off x="4974336" y="2359152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(30 ep)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46520" y="2359152"/>
            <a:ext cx="777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0" name="Text 48"/>
          <p:cNvSpPr/>
          <p:nvPr/>
        </p:nvSpPr>
        <p:spPr>
          <a:xfrm>
            <a:off x="6483096" y="2359152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48,443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223760" y="2359152"/>
            <a:ext cx="777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2" name="Text 50"/>
          <p:cNvSpPr/>
          <p:nvPr/>
        </p:nvSpPr>
        <p:spPr>
          <a:xfrm>
            <a:off x="7260336" y="2359152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62,466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001000" y="2359152"/>
            <a:ext cx="548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4" name="Text 52"/>
          <p:cNvSpPr/>
          <p:nvPr/>
        </p:nvSpPr>
        <p:spPr>
          <a:xfrm>
            <a:off x="8037576" y="235915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0.995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937760" y="2834640"/>
            <a:ext cx="804672" cy="3200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6" name="Text 54"/>
          <p:cNvSpPr/>
          <p:nvPr/>
        </p:nvSpPr>
        <p:spPr>
          <a:xfrm>
            <a:off x="4937760" y="283464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797296" y="2852928"/>
            <a:ext cx="2834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13,531.7 · BIC 13,553.4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937760" y="3264408"/>
            <a:ext cx="804672" cy="32004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9" name="Text 57"/>
          <p:cNvSpPr/>
          <p:nvPr/>
        </p:nvSpPr>
        <p:spPr>
          <a:xfrm>
            <a:off x="4937760" y="3264408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797296" y="3282696"/>
            <a:ext cx="2834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· hidden 64 · dropout 0.2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937760" y="3694176"/>
            <a:ext cx="804672" cy="3200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62" name="Text 60"/>
          <p:cNvSpPr/>
          <p:nvPr/>
        </p:nvSpPr>
        <p:spPr>
          <a:xfrm>
            <a:off x="4937760" y="3694176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797296" y="3712464"/>
            <a:ext cx="2834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RTX 4070 Laptop (CUDA)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937760" y="4123944"/>
            <a:ext cx="804672" cy="32004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65" name="Text 63"/>
          <p:cNvSpPr/>
          <p:nvPr/>
        </p:nvSpPr>
        <p:spPr>
          <a:xfrm>
            <a:off x="4937760" y="4123944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797296" y="4142232"/>
            <a:ext cx="2834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0.00105 → 0.00048 (epoch 1→30)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2926080" cy="36576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502920" cy="71323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/>
          <p:nvPr/>
        </p:nvSpPr>
        <p:spPr>
          <a:xfrm>
            <a:off x="411480" y="93268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10058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and ridership are positively correlated (r = 0.73, p &lt; 0.01). Both metrics rose through 2021 driven by pandemic recovery — not a simple modal shift.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901952"/>
            <a:ext cx="502920" cy="713232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0" name="Text 8"/>
          <p:cNvSpPr/>
          <p:nvPr/>
        </p:nvSpPr>
        <p:spPr>
          <a:xfrm>
            <a:off x="411480" y="190195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4128" y="1975104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(with lag) is the best regression model: R² = 0.9992, MAE = 15,923. Without lag, RF achieves R² = 0.955 — the realistic prediction benchmark.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871216"/>
            <a:ext cx="502920" cy="71323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3" name="Text 11"/>
          <p:cNvSpPr/>
          <p:nvPr/>
        </p:nvSpPr>
        <p:spPr>
          <a:xfrm>
            <a:off x="411480" y="287121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24128" y="294436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is highly predictable from calendar features alone (AUC &gt; 0.95), confirming strong time-of-day and day-of-week structure in the flow data.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840480"/>
            <a:ext cx="502920" cy="713232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411480" y="38404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24128" y="391363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reveals two sensor archetypes: high-flow urban corridors vs. peripheral routes. Future work: spatial join to transit stops and causal inference methods.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1604</Words>
  <Application>Microsoft Office PowerPoint</Application>
  <PresentationFormat>On-screen Show (16:9)</PresentationFormat>
  <Paragraphs>400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FlowShift — Urban Traffic &amp; Transit Demand LA</dc:title>
  <dc:subject>PptxGenJS Presentation</dc:subject>
  <dc:creator>Data Science and Algorithms — BIT CS</dc:creator>
  <cp:lastModifiedBy>Kantaphon Kitsanakarakat</cp:lastModifiedBy>
  <cp:revision>1</cp:revision>
  <dcterms:created xsi:type="dcterms:W3CDTF">2026-04-19T13:26:29Z</dcterms:created>
  <dcterms:modified xsi:type="dcterms:W3CDTF">2026-04-21T01:04:44Z</dcterms:modified>
</cp:coreProperties>
</file>